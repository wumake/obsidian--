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44"/>
  </p:handoutMasterIdLst>
  <p:sldIdLst>
    <p:sldId id="256" r:id="rId3"/>
    <p:sldId id="575" r:id="rId5"/>
    <p:sldId id="566" r:id="rId6"/>
    <p:sldId id="585" r:id="rId7"/>
    <p:sldId id="586" r:id="rId8"/>
    <p:sldId id="555" r:id="rId9"/>
    <p:sldId id="561" r:id="rId10"/>
    <p:sldId id="530" r:id="rId11"/>
    <p:sldId id="544" r:id="rId12"/>
    <p:sldId id="588" r:id="rId13"/>
    <p:sldId id="527" r:id="rId14"/>
    <p:sldId id="615" r:id="rId15"/>
    <p:sldId id="616" r:id="rId16"/>
    <p:sldId id="617" r:id="rId17"/>
    <p:sldId id="618" r:id="rId18"/>
    <p:sldId id="619" r:id="rId19"/>
    <p:sldId id="620" r:id="rId20"/>
    <p:sldId id="621" r:id="rId21"/>
    <p:sldId id="622" r:id="rId22"/>
    <p:sldId id="623" r:id="rId23"/>
    <p:sldId id="602" r:id="rId24"/>
    <p:sldId id="603" r:id="rId25"/>
    <p:sldId id="604" r:id="rId26"/>
    <p:sldId id="605" r:id="rId27"/>
    <p:sldId id="606" r:id="rId28"/>
    <p:sldId id="607" r:id="rId29"/>
    <p:sldId id="608" r:id="rId30"/>
    <p:sldId id="609" r:id="rId31"/>
    <p:sldId id="610" r:id="rId32"/>
    <p:sldId id="589" r:id="rId33"/>
    <p:sldId id="598" r:id="rId34"/>
    <p:sldId id="595" r:id="rId35"/>
    <p:sldId id="590" r:id="rId36"/>
    <p:sldId id="611" r:id="rId37"/>
    <p:sldId id="612" r:id="rId38"/>
    <p:sldId id="613" r:id="rId39"/>
    <p:sldId id="614" r:id="rId40"/>
    <p:sldId id="587" r:id="rId41"/>
    <p:sldId id="596" r:id="rId42"/>
    <p:sldId id="289" r:id="rId43"/>
  </p:sldIdLst>
  <p:sldSz cx="9144000" cy="6858000" type="screen4x3"/>
  <p:notesSz cx="7099300" cy="10234930"/>
  <p:custDataLst>
    <p:tags r:id="rId48"/>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6"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006E68"/>
    <a:srgbClr val="02BD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DC18C1D-BDCA-4A22-9011-F874BA03C812}" styleName="表样式 1">
    <a:wholeTbl>
      <a:tcTxStyle>
        <a:fontRef idx="none">
          <a:schemeClr val="tx1"/>
        </a:fontRef>
      </a:tcTxStyle>
      <a:tcStyle>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lastCol>
      <a:tcTxStyle b="on">
        <a:fontRef idx="none">
          <a:schemeClr val="tx1"/>
        </a:fontRef>
      </a:tcTxStyle>
      <a:tcStyle>
        <a:tcBdr/>
        <a:fill>
          <a:solidFill>
            <a:schemeClr val="accent1">
              <a:lumMod val="40000"/>
              <a:lumOff val="60000"/>
              <a:alpha val="40000"/>
            </a:schemeClr>
          </a:solidFill>
        </a:fill>
      </a:tcStyle>
    </a:lastCol>
    <a:firstCol>
      <a:tcTxStyle b="on">
        <a:fontRef idx="none">
          <a:schemeClr val="tx1"/>
        </a:fontRef>
      </a:tcTxStyle>
      <a:tcStyle>
        <a:tcBdr/>
        <a:fill>
          <a:solidFill>
            <a:schemeClr val="accent1">
              <a:lumMod val="40000"/>
              <a:lumOff val="60000"/>
              <a:alpha val="40000"/>
            </a:schemeClr>
          </a:solidFill>
        </a:fill>
      </a:tcStyle>
    </a:firstCol>
    <a:lastRow>
      <a:tcTxStyle b="on">
        <a:fontRef idx="none">
          <a:schemeClr val="accent1"/>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lastRow>
    <a:seCell>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seCell>
    <a:swCell>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C632A1DA-AC86-4508-A014-749AFEAAB151}" styleName="表样式 1">
    <a:wholeTbl>
      <a:tcTxStyle>
        <a:fontRef idx="none">
          <a:schemeClr val="tx1"/>
        </a:fontRef>
      </a:tcTxStyle>
      <a:tcStyle>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lastCol>
      <a:tcTxStyle b="on">
        <a:fontRef idx="none">
          <a:schemeClr val="tx1"/>
        </a:fontRef>
      </a:tcTxStyle>
      <a:tcStyle>
        <a:tcBdr/>
        <a:fill>
          <a:solidFill>
            <a:schemeClr val="accent1">
              <a:lumMod val="40000"/>
              <a:lumOff val="60000"/>
              <a:alpha val="40000"/>
            </a:schemeClr>
          </a:solidFill>
        </a:fill>
      </a:tcStyle>
    </a:lastCol>
    <a:firstCol>
      <a:tcTxStyle b="on">
        <a:fontRef idx="none">
          <a:schemeClr val="tx1"/>
        </a:fontRef>
      </a:tcTxStyle>
      <a:tcStyle>
        <a:tcBdr/>
        <a:fill>
          <a:solidFill>
            <a:schemeClr val="accent1">
              <a:lumMod val="40000"/>
              <a:lumOff val="60000"/>
              <a:alpha val="40000"/>
            </a:schemeClr>
          </a:solidFill>
        </a:fill>
      </a:tcStyle>
    </a:firstCol>
    <a:lastRow>
      <a:tcTxStyle b="on">
        <a:fontRef idx="none">
          <a:schemeClr val="accent1"/>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lastRow>
    <a:seCell>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seCell>
    <a:swCell>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B8C28C4-22F4-4A2A-ABE2-610BF05FE7CF}" styleName="表样式 1">
    <a:wholeTbl>
      <a:tcTxStyle>
        <a:fontRef idx="none">
          <a:schemeClr val="tx1"/>
        </a:fontRef>
      </a:tcTxStyle>
      <a:tcStyle>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lastCol>
      <a:tcTxStyle b="on">
        <a:fontRef idx="none">
          <a:schemeClr val="tx1"/>
        </a:fontRef>
      </a:tcTxStyle>
      <a:tcStyle>
        <a:tcBdr/>
        <a:fill>
          <a:solidFill>
            <a:schemeClr val="accent1">
              <a:lumMod val="40000"/>
              <a:lumOff val="60000"/>
              <a:alpha val="40000"/>
            </a:schemeClr>
          </a:solidFill>
        </a:fill>
      </a:tcStyle>
    </a:lastCol>
    <a:firstCol>
      <a:tcTxStyle b="on">
        <a:fontRef idx="none">
          <a:schemeClr val="tx1"/>
        </a:fontRef>
      </a:tcTxStyle>
      <a:tcStyle>
        <a:tcBdr/>
        <a:fill>
          <a:solidFill>
            <a:schemeClr val="accent1">
              <a:lumMod val="40000"/>
              <a:lumOff val="60000"/>
              <a:alpha val="40000"/>
            </a:schemeClr>
          </a:solidFill>
        </a:fill>
      </a:tcStyle>
    </a:firstCol>
    <a:lastRow>
      <a:tcTxStyle b="on">
        <a:fontRef idx="none">
          <a:schemeClr val="accent1"/>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lastRow>
    <a:seCell>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seCell>
    <a:swCell>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4733"/>
    <p:restoredTop sz="81189"/>
  </p:normalViewPr>
  <p:slideViewPr>
    <p:cSldViewPr showGuides="1">
      <p:cViewPr varScale="1">
        <p:scale>
          <a:sx n="72" d="100"/>
          <a:sy n="72" d="100"/>
        </p:scale>
        <p:origin x="1252" y="64"/>
      </p:cViewPr>
      <p:guideLst>
        <p:guide orient="horz" pos="2256"/>
        <p:guide pos="2856"/>
      </p:guideLst>
    </p:cSldViewPr>
  </p:slideViewPr>
  <p:notesTextViewPr>
    <p:cViewPr>
      <p:scale>
        <a:sx n="1" d="1"/>
        <a:sy n="1" d="1"/>
      </p:scale>
      <p:origin x="0" y="0"/>
    </p:cViewPr>
  </p:notesText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69.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F9C1A87-648F-4FA3-8298-F7FF69248063}" type="doc">
      <dgm:prSet loTypeId="urn:microsoft.com/office/officeart/2005/8/layout/hProcess9" loCatId="process" qsTypeId="urn:microsoft.com/office/officeart/2005/8/quickstyle/simple1" qsCatId="simple" csTypeId="urn:microsoft.com/office/officeart/2005/8/colors/accent1_2" csCatId="accent1" phldr="1"/>
      <dgm:spPr/>
    </dgm:pt>
    <dgm:pt modelId="{220DFBB3-6A2B-48E2-96FE-229E7135E226}">
      <dgm:prSet phldrT="[文本]" phldr="0" custT="0"/>
      <dgm:spPr/>
      <dgm:t>
        <a:bodyPr vert="horz" wrap="square"/>
        <a:p>
          <a:pPr>
            <a:lnSpc>
              <a:spcPct val="100000"/>
            </a:lnSpc>
            <a:spcBef>
              <a:spcPct val="0"/>
            </a:spcBef>
            <a:spcAft>
              <a:spcPct val="35000"/>
            </a:spcAft>
          </a:pPr>
          <a:r>
            <a:rPr lang="en-US" altLang="zh-CN"/>
            <a:t>2017</a:t>
          </a:r>
          <a:r>
            <a:rPr lang="zh-CN" altLang="en-US"/>
            <a:t>年</a:t>
          </a:r>
          <a:r>
            <a:rPr lang="en-US" altLang="zh-CN"/>
            <a:t>——</a:t>
          </a:r>
          <a:r>
            <a:rPr lang="zh-CN" altLang="en-US"/>
            <a:t>启动</a:t>
          </a:r>
          <a:r>
            <a:rPr lang="zh-CN" altLang="en-US"/>
            <a:t>跨区域</a:t>
          </a:r>
          <a:r>
            <a:rPr lang="zh-CN" altLang="en-US"/>
            <a:t>省间</a:t>
          </a:r>
          <a:r>
            <a:rPr lang="zh-CN" altLang="en-US"/>
            <a:t>富裕可再生能源</a:t>
          </a:r>
          <a:r>
            <a:rPr lang="zh-CN" altLang="en-US"/>
            <a:t>电力现货</a:t>
          </a:r>
          <a:r>
            <a:rPr lang="zh-CN" altLang="en-US"/>
            <a:t>交易</a:t>
          </a:r>
          <a:r>
            <a:rPr lang="zh-CN" altLang="en-US"/>
            <a:t>试点</a:t>
          </a:r>
          <a:r>
            <a:rPr lang="zh-CN" altLang="en-US"/>
            <a:t/>
          </a:r>
          <a:endParaRPr lang="zh-CN" altLang="en-US"/>
        </a:p>
      </dgm:t>
    </dgm:pt>
    <dgm:pt modelId="{6799A159-375E-48BE-AABD-9A2FE821DAF2}" cxnId="{53857FB8-9527-4484-A3A8-AB9504E30EF1}" type="parTrans">
      <dgm:prSet/>
      <dgm:spPr/>
    </dgm:pt>
    <dgm:pt modelId="{3E8FE182-047D-4DBF-B997-A26D7EF167CE}" cxnId="{53857FB8-9527-4484-A3A8-AB9504E30EF1}" type="sibTrans">
      <dgm:prSet/>
      <dgm:spPr/>
    </dgm:pt>
    <dgm:pt modelId="{2BAA06EE-C86F-49AF-99BB-79BA0A7024A5}">
      <dgm:prSet phldrT="[文本]" phldr="0" custT="0"/>
      <dgm:spPr/>
      <dgm:t>
        <a:bodyPr vert="horz" wrap="square"/>
        <a:p>
          <a:pPr>
            <a:lnSpc>
              <a:spcPct val="100000"/>
            </a:lnSpc>
            <a:spcBef>
              <a:spcPct val="0"/>
            </a:spcBef>
            <a:spcAft>
              <a:spcPct val="35000"/>
            </a:spcAft>
          </a:pPr>
          <a:r>
            <a:rPr lang="en-US" altLang="zh-CN"/>
            <a:t>2021</a:t>
          </a:r>
          <a:r>
            <a:rPr lang="zh-CN" altLang="en-US"/>
            <a:t>年</a:t>
          </a:r>
          <a:r>
            <a:rPr lang="en-US" altLang="zh-CN"/>
            <a:t>——</a:t>
          </a:r>
          <a:r>
            <a:rPr lang="zh-CN" altLang="en-US"/>
            <a:t>印发</a:t>
          </a:r>
          <a:r>
            <a:rPr lang="zh-CN" altLang="en-US"/>
            <a:t>《</a:t>
          </a:r>
          <a:r>
            <a:rPr lang="zh-CN" altLang="en-US"/>
            <a:t>省间</a:t>
          </a:r>
          <a:r>
            <a:rPr lang="zh-CN" altLang="en-US"/>
            <a:t>电力现货</a:t>
          </a:r>
          <a:r>
            <a:rPr lang="zh-CN" altLang="en-US"/>
            <a:t>交易规则（</a:t>
          </a:r>
          <a:r>
            <a:rPr lang="zh-CN" altLang="en-US"/>
            <a:t>试行</a:t>
          </a:r>
          <a:r>
            <a:rPr lang="zh-CN" altLang="en-US"/>
            <a:t>）</a:t>
          </a:r>
          <a:r>
            <a:rPr lang="zh-CN" altLang="en-US"/>
            <a:t>》</a:t>
          </a:r>
          <a:r>
            <a:rPr lang="zh-CN" altLang="en-US"/>
            <a:t/>
          </a:r>
          <a:endParaRPr lang="zh-CN" altLang="en-US"/>
        </a:p>
      </dgm:t>
    </dgm:pt>
    <dgm:pt modelId="{A5CFD625-30CE-461F-8B81-D06F77FA42EF}" cxnId="{46A2F4D1-A13E-4670-90A6-D509DDF3E37C}" type="parTrans">
      <dgm:prSet/>
      <dgm:spPr/>
    </dgm:pt>
    <dgm:pt modelId="{C409FDE6-5B12-4918-B71D-6D01D512B111}" cxnId="{46A2F4D1-A13E-4670-90A6-D509DDF3E37C}" type="sibTrans">
      <dgm:prSet/>
      <dgm:spPr/>
    </dgm:pt>
    <dgm:pt modelId="{F3610FD5-CB40-4155-A302-E1ED46CA7965}">
      <dgm:prSet phldrT="[文本]" phldr="0" custT="0"/>
      <dgm:spPr/>
      <dgm:t>
        <a:bodyPr vert="horz" wrap="square"/>
        <a:p>
          <a:pPr>
            <a:lnSpc>
              <a:spcPct val="100000"/>
            </a:lnSpc>
            <a:spcBef>
              <a:spcPct val="0"/>
            </a:spcBef>
            <a:spcAft>
              <a:spcPct val="35000"/>
            </a:spcAft>
          </a:pPr>
          <a:r>
            <a:rPr lang="en-US" altLang="zh-CN" b="1">
              <a:solidFill>
                <a:schemeClr val="bg1"/>
              </a:solidFill>
              <a:sym typeface="+mn-ea"/>
            </a:rPr>
            <a:t>2024</a:t>
          </a:r>
          <a:r>
            <a:rPr lang="zh-CN" altLang="en-US" b="1">
              <a:solidFill>
                <a:schemeClr val="bg1"/>
              </a:solidFill>
              <a:sym typeface="+mn-ea"/>
            </a:rPr>
            <a:t>年</a:t>
          </a:r>
          <a:r>
            <a:rPr lang="en-US" altLang="zh-CN" b="1">
              <a:solidFill>
                <a:schemeClr val="bg1"/>
              </a:solidFill>
              <a:sym typeface="+mn-ea"/>
            </a:rPr>
            <a:t>10</a:t>
          </a:r>
          <a:r>
            <a:rPr lang="zh-CN" altLang="en-US" b="1">
              <a:solidFill>
                <a:schemeClr val="bg1"/>
              </a:solidFill>
              <a:sym typeface="+mn-ea"/>
            </a:rPr>
            <a:t>月</a:t>
          </a:r>
          <a:r>
            <a:rPr lang="en-US" altLang="zh-CN" b="1">
              <a:solidFill>
                <a:schemeClr val="bg1"/>
              </a:solidFill>
              <a:sym typeface="+mn-ea"/>
            </a:rPr>
            <a:t>15</a:t>
          </a:r>
          <a:r>
            <a:rPr lang="zh-CN" altLang="en-US" b="1">
              <a:solidFill>
                <a:schemeClr val="bg1"/>
              </a:solidFill>
              <a:sym typeface="+mn-ea"/>
            </a:rPr>
            <a:t>日</a:t>
          </a:r>
          <a:r>
            <a:rPr lang="en-US" altLang="zh-CN" b="1">
              <a:solidFill>
                <a:schemeClr val="bg1"/>
              </a:solidFill>
              <a:sym typeface="+mn-ea"/>
            </a:rPr>
            <a:t>——</a:t>
          </a:r>
          <a:r>
            <a:rPr lang="zh-CN" altLang="en-US" b="1">
              <a:solidFill>
                <a:schemeClr val="bg1"/>
              </a:solidFill>
              <a:sym typeface="+mn-ea"/>
            </a:rPr>
            <a:t>省间电力现货市场转入正常运行</a:t>
          </a:r>
          <a:r>
            <a:rPr lang="zh-CN" altLang="en-US" b="1">
              <a:solidFill>
                <a:schemeClr val="bg1"/>
              </a:solidFill>
              <a:sym typeface="+mn-ea"/>
            </a:rPr>
            <a:t/>
          </a:r>
          <a:endParaRPr lang="zh-CN" altLang="en-US" b="1">
            <a:solidFill>
              <a:schemeClr val="bg1"/>
            </a:solidFill>
            <a:sym typeface="+mn-ea"/>
          </a:endParaRPr>
        </a:p>
      </dgm:t>
    </dgm:pt>
    <dgm:pt modelId="{5412155B-9E11-4BF1-82F9-EADF6AFF0F60}" cxnId="{83C07614-D76E-4C4B-B944-B34476329E18}" type="parTrans">
      <dgm:prSet/>
      <dgm:spPr/>
    </dgm:pt>
    <dgm:pt modelId="{0E659347-3E53-4D9E-9630-9B59FF0356FD}" cxnId="{83C07614-D76E-4C4B-B944-B34476329E18}" type="sibTrans">
      <dgm:prSet/>
      <dgm:spPr/>
    </dgm:pt>
    <dgm:pt modelId="{91D2FD2E-B682-4DAF-83C9-8AD657F26776}">
      <dgm:prSet phldr="0" custT="0"/>
      <dgm:spPr/>
      <dgm:t>
        <a:bodyPr vert="horz" wrap="square"/>
        <a:p>
          <a:pPr>
            <a:lnSpc>
              <a:spcPct val="100000"/>
            </a:lnSpc>
            <a:spcBef>
              <a:spcPct val="0"/>
            </a:spcBef>
            <a:spcAft>
              <a:spcPct val="35000"/>
            </a:spcAft>
          </a:pPr>
          <a:r>
            <a:rPr lang="en-US" altLang="zh-CN"/>
            <a:t>2025</a:t>
          </a:r>
          <a:r>
            <a:rPr lang="zh-CN" altLang="en-US"/>
            <a:t>年</a:t>
          </a:r>
          <a:r>
            <a:rPr lang="en-US" altLang="zh-CN"/>
            <a:t>4</a:t>
          </a:r>
          <a:r>
            <a:rPr lang="zh-CN" altLang="en-US"/>
            <a:t>月</a:t>
          </a:r>
          <a:r>
            <a:rPr lang="en-US" altLang="zh-CN"/>
            <a:t>16</a:t>
          </a:r>
          <a:r>
            <a:rPr lang="zh-CN" altLang="en-US"/>
            <a:t>日</a:t>
          </a:r>
          <a:r>
            <a:rPr lang="en-US" altLang="zh-CN"/>
            <a:t>——</a:t>
          </a:r>
          <a:r>
            <a:rPr lang="zh-CN" altLang="en-US"/>
            <a:t>《</a:t>
          </a:r>
          <a:r>
            <a:rPr lang="zh-CN" altLang="en-US" b="1"/>
            <a:t>关于全面加快电力现货市场建设工作的通知</a:t>
          </a:r>
          <a:r>
            <a:rPr lang="zh-CN" altLang="en-US"/>
            <a:t>》</a:t>
          </a:r>
          <a:r>
            <a:rPr lang="zh-CN" altLang="en-US"/>
            <a:t/>
          </a:r>
          <a:endParaRPr lang="zh-CN" altLang="en-US"/>
        </a:p>
      </dgm:t>
    </dgm:pt>
    <dgm:pt modelId="{34F9EBBA-0F4C-424D-A217-6E496B66ADEA}" cxnId="{A1CC8425-7C9C-47A2-BADC-00883B037DF8}" type="parTrans">
      <dgm:prSet/>
      <dgm:spPr/>
    </dgm:pt>
    <dgm:pt modelId="{E4758786-E0F6-4274-8D4F-B9E2E999737A}" cxnId="{A1CC8425-7C9C-47A2-BADC-00883B037DF8}" type="sibTrans">
      <dgm:prSet/>
      <dgm:spPr/>
    </dgm:pt>
    <dgm:pt modelId="{FF5EBCE2-33A1-4410-8CCE-241621ACBF4A}" type="pres">
      <dgm:prSet presAssocID="{0F9C1A87-648F-4FA3-8298-F7FF69248063}" presName="CompostProcess" presStyleCnt="0">
        <dgm:presLayoutVars>
          <dgm:dir/>
          <dgm:resizeHandles val="exact"/>
        </dgm:presLayoutVars>
      </dgm:prSet>
      <dgm:spPr/>
    </dgm:pt>
    <dgm:pt modelId="{5C766BF9-8E89-4CF9-B19C-78006AB9D0FF}" type="pres">
      <dgm:prSet presAssocID="{0F9C1A87-648F-4FA3-8298-F7FF69248063}" presName="arrow" presStyleLbl="bgShp" presStyleIdx="0" presStyleCnt="1"/>
      <dgm:spPr/>
    </dgm:pt>
    <dgm:pt modelId="{44C3D485-6283-4E5E-8A42-8B1B6385595E}" type="pres">
      <dgm:prSet presAssocID="{0F9C1A87-648F-4FA3-8298-F7FF69248063}" presName="linearProcess" presStyleCnt="0"/>
      <dgm:spPr/>
    </dgm:pt>
    <dgm:pt modelId="{88977C2E-9DA8-43F7-869A-FA4A7946B9D0}" type="pres">
      <dgm:prSet presAssocID="{220DFBB3-6A2B-48E2-96FE-229E7135E226}" presName="textNode" presStyleLbl="node1" presStyleIdx="0" presStyleCnt="4">
        <dgm:presLayoutVars>
          <dgm:bulletEnabled val="1"/>
        </dgm:presLayoutVars>
      </dgm:prSet>
      <dgm:spPr/>
    </dgm:pt>
    <dgm:pt modelId="{409696F9-775D-4DF9-8C31-B566981A86A8}" type="pres">
      <dgm:prSet presAssocID="{3E8FE182-047D-4DBF-B997-A26D7EF167CE}" presName="sibTrans" presStyleCnt="0"/>
      <dgm:spPr/>
    </dgm:pt>
    <dgm:pt modelId="{B0141BFD-552C-43F6-9DD9-B107954BE5A0}" type="pres">
      <dgm:prSet presAssocID="{2BAA06EE-C86F-49AF-99BB-79BA0A7024A5}" presName="textNode" presStyleLbl="node1" presStyleIdx="1" presStyleCnt="4">
        <dgm:presLayoutVars>
          <dgm:bulletEnabled val="1"/>
        </dgm:presLayoutVars>
      </dgm:prSet>
      <dgm:spPr/>
    </dgm:pt>
    <dgm:pt modelId="{1B3EEB7B-99F3-4351-A080-D5700D4E3F26}" type="pres">
      <dgm:prSet presAssocID="{C409FDE6-5B12-4918-B71D-6D01D512B111}" presName="sibTrans" presStyleCnt="0"/>
      <dgm:spPr/>
    </dgm:pt>
    <dgm:pt modelId="{42404743-5237-4B72-A3D1-12E21DAAED91}" type="pres">
      <dgm:prSet presAssocID="{F3610FD5-CB40-4155-A302-E1ED46CA7965}" presName="textNode" presStyleLbl="node1" presStyleIdx="2" presStyleCnt="4">
        <dgm:presLayoutVars>
          <dgm:bulletEnabled val="1"/>
        </dgm:presLayoutVars>
      </dgm:prSet>
      <dgm:spPr/>
    </dgm:pt>
    <dgm:pt modelId="{7D41B4AF-5827-4826-A0FE-E985F7F6CD97}" type="pres">
      <dgm:prSet presAssocID="{0E659347-3E53-4D9E-9630-9B59FF0356FD}" presName="sibTrans" presStyleCnt="0"/>
      <dgm:spPr/>
    </dgm:pt>
    <dgm:pt modelId="{0ACD1F6A-B7D6-4D9C-AD3B-FE5FA8A23FC6}" type="pres">
      <dgm:prSet presAssocID="{91D2FD2E-B682-4DAF-83C9-8AD657F26776}" presName="textNode" presStyleLbl="node1" presStyleIdx="3" presStyleCnt="4">
        <dgm:presLayoutVars>
          <dgm:bulletEnabled val="1"/>
        </dgm:presLayoutVars>
      </dgm:prSet>
      <dgm:spPr/>
    </dgm:pt>
  </dgm:ptLst>
  <dgm:cxnLst>
    <dgm:cxn modelId="{53857FB8-9527-4484-A3A8-AB9504E30EF1}" srcId="{0F9C1A87-648F-4FA3-8298-F7FF69248063}" destId="{220DFBB3-6A2B-48E2-96FE-229E7135E226}" srcOrd="0" destOrd="0" parTransId="{6799A159-375E-48BE-AABD-9A2FE821DAF2}" sibTransId="{3E8FE182-047D-4DBF-B997-A26D7EF167CE}"/>
    <dgm:cxn modelId="{46A2F4D1-A13E-4670-90A6-D509DDF3E37C}" srcId="{0F9C1A87-648F-4FA3-8298-F7FF69248063}" destId="{2BAA06EE-C86F-49AF-99BB-79BA0A7024A5}" srcOrd="1" destOrd="0" parTransId="{A5CFD625-30CE-461F-8B81-D06F77FA42EF}" sibTransId="{C409FDE6-5B12-4918-B71D-6D01D512B111}"/>
    <dgm:cxn modelId="{83C07614-D76E-4C4B-B944-B34476329E18}" srcId="{0F9C1A87-648F-4FA3-8298-F7FF69248063}" destId="{F3610FD5-CB40-4155-A302-E1ED46CA7965}" srcOrd="2" destOrd="0" parTransId="{5412155B-9E11-4BF1-82F9-EADF6AFF0F60}" sibTransId="{0E659347-3E53-4D9E-9630-9B59FF0356FD}"/>
    <dgm:cxn modelId="{A1CC8425-7C9C-47A2-BADC-00883B037DF8}" srcId="{0F9C1A87-648F-4FA3-8298-F7FF69248063}" destId="{91D2FD2E-B682-4DAF-83C9-8AD657F26776}" srcOrd="3" destOrd="0" parTransId="{34F9EBBA-0F4C-424D-A217-6E496B66ADEA}" sibTransId="{E4758786-E0F6-4274-8D4F-B9E2E999737A}"/>
    <dgm:cxn modelId="{CCFAD4A6-BE24-4E19-B35A-ACA76925D4CD}" type="presOf" srcId="{0F9C1A87-648F-4FA3-8298-F7FF69248063}" destId="{FF5EBCE2-33A1-4410-8CCE-241621ACBF4A}" srcOrd="0" destOrd="0" presId="urn:microsoft.com/office/officeart/2005/8/layout/hProcess9"/>
    <dgm:cxn modelId="{34A20B52-9305-4A6C-BA91-007944B22EEC}" type="presParOf" srcId="{FF5EBCE2-33A1-4410-8CCE-241621ACBF4A}" destId="{5C766BF9-8E89-4CF9-B19C-78006AB9D0FF}" srcOrd="0" destOrd="0" presId="urn:microsoft.com/office/officeart/2005/8/layout/hProcess9"/>
    <dgm:cxn modelId="{4E138714-0825-4404-B23C-8B0FA6A0DF73}" type="presParOf" srcId="{FF5EBCE2-33A1-4410-8CCE-241621ACBF4A}" destId="{44C3D485-6283-4E5E-8A42-8B1B6385595E}" srcOrd="1" destOrd="0" presId="urn:microsoft.com/office/officeart/2005/8/layout/hProcess9"/>
    <dgm:cxn modelId="{7335DE21-CB05-4680-9D5B-ACFE073074AC}" type="presParOf" srcId="{44C3D485-6283-4E5E-8A42-8B1B6385595E}" destId="{88977C2E-9DA8-43F7-869A-FA4A7946B9D0}" srcOrd="0" destOrd="1" presId="urn:microsoft.com/office/officeart/2005/8/layout/hProcess9"/>
    <dgm:cxn modelId="{DCF53940-06F8-4817-8916-29B871E777F9}" type="presOf" srcId="{220DFBB3-6A2B-48E2-96FE-229E7135E226}" destId="{88977C2E-9DA8-43F7-869A-FA4A7946B9D0}" srcOrd="0" destOrd="0" presId="urn:microsoft.com/office/officeart/2005/8/layout/hProcess9"/>
    <dgm:cxn modelId="{9E1E93DB-EF2E-477E-954C-B99EFBF6E6D6}" type="presParOf" srcId="{44C3D485-6283-4E5E-8A42-8B1B6385595E}" destId="{409696F9-775D-4DF9-8C31-B566981A86A8}" srcOrd="1" destOrd="1" presId="urn:microsoft.com/office/officeart/2005/8/layout/hProcess9"/>
    <dgm:cxn modelId="{BBDDC871-B680-4E13-B250-F3358CF716E1}" type="presParOf" srcId="{44C3D485-6283-4E5E-8A42-8B1B6385595E}" destId="{B0141BFD-552C-43F6-9DD9-B107954BE5A0}" srcOrd="2" destOrd="1" presId="urn:microsoft.com/office/officeart/2005/8/layout/hProcess9"/>
    <dgm:cxn modelId="{24624F96-1F55-453B-8A46-1E2E98B42E34}" type="presOf" srcId="{2BAA06EE-C86F-49AF-99BB-79BA0A7024A5}" destId="{B0141BFD-552C-43F6-9DD9-B107954BE5A0}" srcOrd="0" destOrd="0" presId="urn:microsoft.com/office/officeart/2005/8/layout/hProcess9"/>
    <dgm:cxn modelId="{64B1719B-FC7C-4E98-B622-2A81EE8E15E5}" type="presParOf" srcId="{44C3D485-6283-4E5E-8A42-8B1B6385595E}" destId="{1B3EEB7B-99F3-4351-A080-D5700D4E3F26}" srcOrd="3" destOrd="1" presId="urn:microsoft.com/office/officeart/2005/8/layout/hProcess9"/>
    <dgm:cxn modelId="{F3EBFC84-F5F0-40D2-9285-FA03BB68DDC5}" type="presParOf" srcId="{44C3D485-6283-4E5E-8A42-8B1B6385595E}" destId="{42404743-5237-4B72-A3D1-12E21DAAED91}" srcOrd="4" destOrd="1" presId="urn:microsoft.com/office/officeart/2005/8/layout/hProcess9"/>
    <dgm:cxn modelId="{BF2BB1CF-5D26-47B8-BD2F-6B90EF875F34}" type="presOf" srcId="{F3610FD5-CB40-4155-A302-E1ED46CA7965}" destId="{42404743-5237-4B72-A3D1-12E21DAAED91}" srcOrd="0" destOrd="0" presId="urn:microsoft.com/office/officeart/2005/8/layout/hProcess9"/>
    <dgm:cxn modelId="{613D64B6-0811-40B4-B3EE-27ED861602CB}" type="presParOf" srcId="{44C3D485-6283-4E5E-8A42-8B1B6385595E}" destId="{7D41B4AF-5827-4826-A0FE-E985F7F6CD97}" srcOrd="5" destOrd="1" presId="urn:microsoft.com/office/officeart/2005/8/layout/hProcess9"/>
    <dgm:cxn modelId="{0CF7E46B-4C11-466E-9BCA-AAD8E067C293}" type="presParOf" srcId="{44C3D485-6283-4E5E-8A42-8B1B6385595E}" destId="{0ACD1F6A-B7D6-4D9C-AD3B-FE5FA8A23FC6}" srcOrd="6" destOrd="1" presId="urn:microsoft.com/office/officeart/2005/8/layout/hProcess9"/>
    <dgm:cxn modelId="{1260FD52-7856-4D75-A098-0ECB7598A58E}" type="presOf" srcId="{91D2FD2E-B682-4DAF-83C9-8AD657F26776}" destId="{0ACD1F6A-B7D6-4D9C-AD3B-FE5FA8A23FC6}" srcOrd="0" destOrd="0" presId="urn:microsoft.com/office/officeart/2005/8/layout/hProcess9"/>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9C1A87-648F-4FA3-8298-F7FF69248063}" type="doc">
      <dgm:prSet loTypeId="process" loCatId="process" qsTypeId="urn:microsoft.com/office/officeart/2005/8/quickstyle/simple1" qsCatId="simple" csTypeId="urn:microsoft.com/office/officeart/2005/8/colors/accent2_5" csCatId="accent1" phldr="0"/>
      <dgm:spPr/>
    </dgm:pt>
    <dgm:pt modelId="{220DFBB3-6A2B-48E2-96FE-229E7135E226}">
      <dgm:prSet phldrT="[文本]" phldr="0" custT="0"/>
      <dgm:spPr/>
      <dgm:t>
        <a:bodyPr vert="horz" wrap="square"/>
        <a:p>
          <a:pPr>
            <a:lnSpc>
              <a:spcPct val="100000"/>
            </a:lnSpc>
            <a:spcBef>
              <a:spcPct val="0"/>
            </a:spcBef>
            <a:spcAft>
              <a:spcPct val="35000"/>
            </a:spcAft>
          </a:pPr>
          <a:r>
            <a:rPr lang="en-US" altLang="zh-CN"/>
            <a:t>2015</a:t>
          </a:r>
          <a:r>
            <a:rPr lang="zh-CN" altLang="en-US"/>
            <a:t>年</a:t>
          </a:r>
          <a:r>
            <a:rPr lang="en-US" altLang="zh-CN"/>
            <a:t>7</a:t>
          </a:r>
          <a:r>
            <a:rPr lang="zh-CN" altLang="en-US"/>
            <a:t>月</a:t>
          </a:r>
          <a:r>
            <a:rPr lang="en-US" altLang="zh-CN"/>
            <a:t>6</a:t>
          </a:r>
          <a:r>
            <a:rPr lang="zh-CN" altLang="en-US"/>
            <a:t>日</a:t>
          </a:r>
          <a:r>
            <a:rPr lang="en-US" altLang="zh-CN"/>
            <a:t>——</a:t>
          </a:r>
          <a:r>
            <a:rPr lang="zh-CN" altLang="en-US"/>
            <a:t>《</a:t>
          </a:r>
          <a:r>
            <a:rPr lang="zh-CN" altLang="en-US"/>
            <a:t>关于</a:t>
          </a:r>
          <a:r>
            <a:rPr lang="zh-CN" altLang="en-US"/>
            <a:t>促进智能电网</a:t>
          </a:r>
          <a:r>
            <a:rPr lang="zh-CN" altLang="en-US"/>
            <a:t>发展</a:t>
          </a:r>
          <a:r>
            <a:rPr lang="zh-CN" altLang="en-US"/>
            <a:t>的</a:t>
          </a:r>
          <a:r>
            <a:rPr lang="zh-CN" altLang="en-US"/>
            <a:t>指导意见</a:t>
          </a:r>
          <a:r>
            <a:rPr lang="zh-CN" altLang="en-US"/>
            <a:t>》</a:t>
          </a:r>
          <a:r>
            <a:rPr lang="zh-CN" altLang="en-US"/>
            <a:t/>
          </a:r>
          <a:endParaRPr lang="zh-CN" altLang="en-US"/>
        </a:p>
      </dgm:t>
    </dgm:pt>
    <dgm:pt modelId="{6799A159-375E-48BE-AABD-9A2FE821DAF2}" cxnId="{5CA58EDF-9123-4C57-B122-638265C2DC01}" type="parTrans">
      <dgm:prSet/>
      <dgm:spPr/>
    </dgm:pt>
    <dgm:pt modelId="{3E8FE182-047D-4DBF-B997-A26D7EF167CE}" cxnId="{5CA58EDF-9123-4C57-B122-638265C2DC01}" type="sibTrans">
      <dgm:prSet/>
      <dgm:spPr/>
    </dgm:pt>
    <dgm:pt modelId="{2BAA06EE-C86F-49AF-99BB-79BA0A7024A5}">
      <dgm:prSet phldrT="[文本]" phldr="0" custT="0"/>
      <dgm:spPr/>
      <dgm:t>
        <a:bodyPr vert="horz" wrap="square"/>
        <a:p>
          <a:pPr>
            <a:lnSpc>
              <a:spcPct val="100000"/>
            </a:lnSpc>
            <a:spcBef>
              <a:spcPct val="0"/>
            </a:spcBef>
            <a:spcAft>
              <a:spcPct val="35000"/>
            </a:spcAft>
          </a:pPr>
          <a:r>
            <a:rPr lang="en-US" altLang="zh-CN"/>
            <a:t>2021</a:t>
          </a:r>
          <a:r>
            <a:rPr lang="zh-CN" altLang="en-US"/>
            <a:t>年</a:t>
          </a:r>
          <a:r>
            <a:rPr lang="en-US" altLang="zh-CN"/>
            <a:t>2</a:t>
          </a:r>
          <a:r>
            <a:rPr lang="zh-CN" altLang="en-US"/>
            <a:t>月</a:t>
          </a:r>
          <a:r>
            <a:rPr lang="en-US" altLang="zh-CN"/>
            <a:t>25</a:t>
          </a:r>
          <a:r>
            <a:rPr lang="zh-CN" altLang="en-US"/>
            <a:t>日</a:t>
          </a:r>
          <a:r>
            <a:rPr lang="en-US" altLang="zh-CN"/>
            <a:t>——</a:t>
          </a:r>
          <a:r>
            <a:rPr lang="zh-CN" altLang="en-US"/>
            <a:t>《</a:t>
          </a:r>
          <a:r>
            <a:rPr lang="zh-CN" altLang="en-US"/>
            <a:t>关于</a:t>
          </a:r>
          <a:r>
            <a:rPr lang="zh-CN" altLang="en-US"/>
            <a:t>推进</a:t>
          </a:r>
          <a:r>
            <a:rPr lang="zh-CN" altLang="en-US"/>
            <a:t>电力源网荷储</a:t>
          </a:r>
          <a:r>
            <a:rPr lang="zh-CN" altLang="en-US"/>
            <a:t>一体化</a:t>
          </a:r>
          <a:r>
            <a:rPr lang="zh-CN" altLang="en-US"/>
            <a:t>和</a:t>
          </a:r>
          <a:r>
            <a:rPr lang="zh-CN" altLang="en-US"/>
            <a:t>多能</a:t>
          </a:r>
          <a:r>
            <a:rPr lang="zh-CN" altLang="en-US"/>
            <a:t>互补</a:t>
          </a:r>
          <a:r>
            <a:rPr lang="zh-CN" altLang="en-US"/>
            <a:t>发展</a:t>
          </a:r>
          <a:r>
            <a:rPr lang="zh-CN" altLang="en-US"/>
            <a:t>的</a:t>
          </a:r>
          <a:r>
            <a:rPr lang="zh-CN" altLang="en-US"/>
            <a:t>指导意见》</a:t>
          </a:r>
          <a:r>
            <a:rPr lang="zh-CN" altLang="en-US"/>
            <a:t>》</a:t>
          </a:r>
          <a:r>
            <a:rPr lang="zh-CN" altLang="en-US"/>
            <a:t/>
          </a:r>
          <a:endParaRPr lang="zh-CN" altLang="en-US"/>
        </a:p>
      </dgm:t>
    </dgm:pt>
    <dgm:pt modelId="{A5CFD625-30CE-461F-8B81-D06F77FA42EF}" cxnId="{EBB63ABD-519B-48B2-8463-6142DEF6C37B}" type="parTrans">
      <dgm:prSet/>
      <dgm:spPr/>
    </dgm:pt>
    <dgm:pt modelId="{C409FDE6-5B12-4918-B71D-6D01D512B111}" cxnId="{EBB63ABD-519B-48B2-8463-6142DEF6C37B}" type="sibTrans">
      <dgm:prSet/>
      <dgm:spPr/>
    </dgm:pt>
    <dgm:pt modelId="{FC7A33FF-D06C-4F63-BA21-0E91215FEBDA}">
      <dgm:prSet phldr="0" custT="0"/>
      <dgm:spPr/>
      <dgm:t>
        <a:bodyPr vert="horz" wrap="square"/>
        <a:p>
          <a:pPr>
            <a:lnSpc>
              <a:spcPct val="100000"/>
            </a:lnSpc>
            <a:spcBef>
              <a:spcPct val="0"/>
            </a:spcBef>
            <a:spcAft>
              <a:spcPct val="35000"/>
            </a:spcAft>
          </a:pPr>
          <a:r>
            <a:rPr lang="en-US" altLang="zh-CN"/>
            <a:t>2023</a:t>
          </a:r>
          <a:r>
            <a:rPr lang="zh-CN" altLang="en-US"/>
            <a:t>年</a:t>
          </a:r>
          <a:r>
            <a:rPr lang="en-US" altLang="zh-CN"/>
            <a:t>10</a:t>
          </a:r>
          <a:r>
            <a:rPr lang="zh-CN" altLang="en-US"/>
            <a:t>月</a:t>
          </a:r>
          <a:r>
            <a:rPr lang="en-US" altLang="zh-CN"/>
            <a:t>12</a:t>
          </a:r>
          <a:r>
            <a:rPr lang="zh-CN" altLang="en-US"/>
            <a:t>日</a:t>
          </a:r>
          <a:r>
            <a:rPr lang="en-US" altLang="zh-CN"/>
            <a:t>——</a:t>
          </a:r>
          <a:r>
            <a:rPr lang="zh-CN" altLang="en-US"/>
            <a:t>《</a:t>
          </a:r>
          <a:r>
            <a:rPr lang="zh-CN" altLang="en-US"/>
            <a:t>关于进一步</a:t>
          </a:r>
          <a:r>
            <a:rPr lang="zh-CN" altLang="en-US"/>
            <a:t>加快</a:t>
          </a:r>
          <a:r>
            <a:rPr lang="zh-CN" altLang="en-US"/>
            <a:t>电力</a:t>
          </a:r>
          <a:r>
            <a:rPr lang="zh-CN" altLang="en-US" b="1"/>
            <a:t>现货</a:t>
          </a:r>
          <a:r>
            <a:rPr lang="zh-CN" altLang="en-US"/>
            <a:t>市场</a:t>
          </a:r>
          <a:r>
            <a:rPr lang="zh-CN" altLang="en-US"/>
            <a:t>建设工作</a:t>
          </a:r>
          <a:r>
            <a:rPr lang="zh-CN" altLang="en-US"/>
            <a:t>的</a:t>
          </a:r>
          <a:r>
            <a:rPr lang="zh-CN" altLang="en-US"/>
            <a:t>通知</a:t>
          </a:r>
          <a:r>
            <a:rPr lang="zh-CN" altLang="en-US"/>
            <a:t>》</a:t>
          </a:r>
          <a:r>
            <a:rPr lang="zh-CN" altLang="en-US"/>
            <a:t/>
          </a:r>
          <a:endParaRPr lang="zh-CN" altLang="en-US"/>
        </a:p>
      </dgm:t>
    </dgm:pt>
    <dgm:pt modelId="{D2FFF8FF-4F1F-4E9F-B3D4-F1D6F4C3FADC}" cxnId="{7C0AA4F1-40DA-4AEF-92EC-15C648F70A5C}" type="parTrans">
      <dgm:prSet/>
      <dgm:spPr/>
    </dgm:pt>
    <dgm:pt modelId="{3E4BC420-41C1-410E-8651-53D89C9EFAF0}" cxnId="{7C0AA4F1-40DA-4AEF-92EC-15C648F70A5C}" type="sibTrans">
      <dgm:prSet/>
      <dgm:spPr/>
    </dgm:pt>
    <dgm:pt modelId="{3AFC91D7-D2D3-495F-8952-10B0180E30F4}">
      <dgm:prSet phldr="0" custT="0"/>
      <dgm:spPr/>
      <dgm:t>
        <a:bodyPr vert="horz" wrap="square"/>
        <a:p>
          <a:pPr>
            <a:lnSpc>
              <a:spcPct val="100000"/>
            </a:lnSpc>
            <a:spcBef>
              <a:spcPct val="0"/>
            </a:spcBef>
            <a:spcAft>
              <a:spcPct val="35000"/>
            </a:spcAft>
          </a:pPr>
          <a:r>
            <a:rPr lang="en-US"/>
            <a:t>2024</a:t>
          </a:r>
          <a:r>
            <a:rPr lang="zh-CN" altLang="en-US"/>
            <a:t>年</a:t>
          </a:r>
          <a:r>
            <a:rPr lang="en-US" altLang="zh-CN"/>
            <a:t>6</a:t>
          </a:r>
          <a:r>
            <a:rPr lang="zh-CN" altLang="en-US"/>
            <a:t>月</a:t>
          </a:r>
          <a:r>
            <a:rPr lang="en-US" altLang="zh-CN"/>
            <a:t>1</a:t>
          </a:r>
          <a:r>
            <a:rPr lang="zh-CN" altLang="en-US"/>
            <a:t>日</a:t>
          </a:r>
          <a:r>
            <a:rPr lang="en-US" altLang="zh-CN"/>
            <a:t>——</a:t>
          </a:r>
          <a:r>
            <a:rPr lang="zh-CN" altLang="en-US"/>
            <a:t>《</a:t>
          </a:r>
          <a:r>
            <a:rPr lang="zh-CN" altLang="en-US"/>
            <a:t>电力市场</a:t>
          </a:r>
          <a:r>
            <a:rPr lang="zh-CN" altLang="en-US"/>
            <a:t>监管办法</a:t>
          </a:r>
          <a:r>
            <a:rPr lang="zh-CN" altLang="en-US"/>
            <a:t>》</a:t>
          </a:r>
          <a:r>
            <a:rPr lang="zh-CN" altLang="en-US"/>
            <a:t/>
          </a:r>
          <a:endParaRPr lang="zh-CN" altLang="en-US"/>
        </a:p>
      </dgm:t>
    </dgm:pt>
    <dgm:pt modelId="{00ACFF24-7F7A-4487-94F3-C21A07D59914}" cxnId="{D4D0FEF9-FE9C-4966-8FEF-CA3F07379A69}" type="parTrans">
      <dgm:prSet/>
      <dgm:spPr/>
    </dgm:pt>
    <dgm:pt modelId="{6973F231-6071-4618-8359-CA2673EFD6F6}" cxnId="{D4D0FEF9-FE9C-4966-8FEF-CA3F07379A69}" type="sibTrans">
      <dgm:prSet/>
      <dgm:spPr/>
    </dgm:pt>
    <dgm:pt modelId="{F3610FD5-CB40-4155-A302-E1ED46CA7965}">
      <dgm:prSet phldrT="[文本]" phldr="0" custT="1"/>
      <dgm:spPr/>
      <dgm:t>
        <a:bodyPr vert="horz" wrap="square"/>
        <a:p>
          <a:pPr>
            <a:lnSpc>
              <a:spcPct val="100000"/>
            </a:lnSpc>
            <a:spcBef>
              <a:spcPct val="0"/>
            </a:spcBef>
            <a:spcAft>
              <a:spcPct val="35000"/>
            </a:spcAft>
          </a:pPr>
          <a:r>
            <a:rPr lang="en-US" altLang="zh-CN" sz="900" b="1"/>
            <a:t>2025</a:t>
          </a:r>
          <a:r>
            <a:rPr lang="zh-CN" altLang="en-US" sz="900" b="1"/>
            <a:t>年</a:t>
          </a:r>
          <a:r>
            <a:rPr lang="en-US" altLang="zh-CN" sz="900" b="1"/>
            <a:t>3</a:t>
          </a:r>
          <a:r>
            <a:rPr lang="zh-CN" altLang="en-US" sz="900" b="1"/>
            <a:t>月</a:t>
          </a:r>
          <a:r>
            <a:rPr lang="en-US" altLang="zh-CN" sz="900" b="1"/>
            <a:t>25</a:t>
          </a:r>
          <a:r>
            <a:rPr lang="zh-CN" altLang="en-US" sz="900" b="1"/>
            <a:t>日</a:t>
          </a:r>
          <a:r>
            <a:rPr lang="en-US" altLang="zh-CN" sz="900" b="1"/>
            <a:t>——</a:t>
          </a:r>
          <a:r>
            <a:rPr lang="zh-CN" altLang="en-US" sz="900" b="1"/>
            <a:t>《</a:t>
          </a:r>
          <a:r>
            <a:rPr lang="zh-CN" altLang="en-US" sz="900" b="1"/>
            <a:t>关于加快推进虚拟电厂发展的指导意见</a:t>
          </a:r>
          <a:r>
            <a:rPr lang="zh-CN" altLang="en-US" sz="900" b="1"/>
            <a:t>》</a:t>
          </a:r>
          <a:r>
            <a:rPr lang="zh-CN" altLang="en-US" sz="900" b="1"/>
            <a:t/>
          </a:r>
          <a:endParaRPr lang="zh-CN" altLang="en-US" sz="900" b="1"/>
        </a:p>
      </dgm:t>
    </dgm:pt>
    <dgm:pt modelId="{5412155B-9E11-4BF1-82F9-EADF6AFF0F60}" cxnId="{7ABBB42E-52F7-47AB-8B84-3B06A9215F8C}" type="parTrans">
      <dgm:prSet/>
      <dgm:spPr/>
    </dgm:pt>
    <dgm:pt modelId="{0E659347-3E53-4D9E-9630-9B59FF0356FD}" cxnId="{7ABBB42E-52F7-47AB-8B84-3B06A9215F8C}" type="sibTrans">
      <dgm:prSet/>
      <dgm:spPr/>
    </dgm:pt>
    <dgm:pt modelId="{FF5EBCE2-33A1-4410-8CCE-241621ACBF4A}" type="pres">
      <dgm:prSet presAssocID="{0F9C1A87-648F-4FA3-8298-F7FF69248063}" presName="CompostProcess" presStyleCnt="0">
        <dgm:presLayoutVars>
          <dgm:dir/>
          <dgm:resizeHandles val="exact"/>
        </dgm:presLayoutVars>
      </dgm:prSet>
      <dgm:spPr/>
    </dgm:pt>
    <dgm:pt modelId="{5C766BF9-8E89-4CF9-B19C-78006AB9D0FF}" type="pres">
      <dgm:prSet presAssocID="{0F9C1A87-648F-4FA3-8298-F7FF69248063}" presName="arrow" presStyleLbl="bgShp" presStyleIdx="0" presStyleCnt="1"/>
      <dgm:spPr/>
    </dgm:pt>
    <dgm:pt modelId="{44C3D485-6283-4E5E-8A42-8B1B6385595E}" type="pres">
      <dgm:prSet presAssocID="{0F9C1A87-648F-4FA3-8298-F7FF69248063}" presName="linearProcess" presStyleCnt="0"/>
      <dgm:spPr/>
    </dgm:pt>
    <dgm:pt modelId="{88977C2E-9DA8-43F7-869A-FA4A7946B9D0}" type="pres">
      <dgm:prSet presAssocID="{220DFBB3-6A2B-48E2-96FE-229E7135E226}" presName="textNode" presStyleLbl="node1" presStyleIdx="0" presStyleCnt="5">
        <dgm:presLayoutVars>
          <dgm:bulletEnabled val="1"/>
        </dgm:presLayoutVars>
      </dgm:prSet>
      <dgm:spPr/>
    </dgm:pt>
    <dgm:pt modelId="{409696F9-775D-4DF9-8C31-B566981A86A8}" type="pres">
      <dgm:prSet presAssocID="{3E8FE182-047D-4DBF-B997-A26D7EF167CE}" presName="sibTrans" presStyleCnt="0"/>
      <dgm:spPr/>
    </dgm:pt>
    <dgm:pt modelId="{B0141BFD-552C-43F6-9DD9-B107954BE5A0}" type="pres">
      <dgm:prSet presAssocID="{2BAA06EE-C86F-49AF-99BB-79BA0A7024A5}" presName="textNode" presStyleLbl="node1" presStyleIdx="1" presStyleCnt="5">
        <dgm:presLayoutVars>
          <dgm:bulletEnabled val="1"/>
        </dgm:presLayoutVars>
      </dgm:prSet>
      <dgm:spPr/>
    </dgm:pt>
    <dgm:pt modelId="{1B3EEB7B-99F3-4351-A080-D5700D4E3F26}" type="pres">
      <dgm:prSet presAssocID="{C409FDE6-5B12-4918-B71D-6D01D512B111}" presName="sibTrans" presStyleCnt="0"/>
      <dgm:spPr/>
    </dgm:pt>
    <dgm:pt modelId="{2D2EC123-DDAD-4004-8608-8FBD3A998A0B}" type="pres">
      <dgm:prSet presAssocID="{FC7A33FF-D06C-4F63-BA21-0E91215FEBDA}" presName="textNode" presStyleLbl="node1" presStyleIdx="2" presStyleCnt="5">
        <dgm:presLayoutVars>
          <dgm:bulletEnabled val="1"/>
        </dgm:presLayoutVars>
      </dgm:prSet>
      <dgm:spPr/>
    </dgm:pt>
    <dgm:pt modelId="{C3E4C77B-1BE1-401E-811D-2653545DD5CD}" type="pres">
      <dgm:prSet presAssocID="{3E4BC420-41C1-410E-8651-53D89C9EFAF0}" presName="sibTrans" presStyleCnt="0"/>
      <dgm:spPr/>
    </dgm:pt>
    <dgm:pt modelId="{8CF32149-948B-4AF4-9A39-32B777948FE7}" type="pres">
      <dgm:prSet presAssocID="{3AFC91D7-D2D3-495F-8952-10B0180E30F4}" presName="textNode" presStyleLbl="node1" presStyleIdx="3" presStyleCnt="5">
        <dgm:presLayoutVars>
          <dgm:bulletEnabled val="1"/>
        </dgm:presLayoutVars>
      </dgm:prSet>
      <dgm:spPr/>
    </dgm:pt>
    <dgm:pt modelId="{BDCF9DAA-A332-4931-8AFA-3AC05B65110F}" type="pres">
      <dgm:prSet presAssocID="{6973F231-6071-4618-8359-CA2673EFD6F6}" presName="sibTrans" presStyleCnt="0"/>
      <dgm:spPr/>
    </dgm:pt>
    <dgm:pt modelId="{42404743-5237-4B72-A3D1-12E21DAAED91}" type="pres">
      <dgm:prSet presAssocID="{F3610FD5-CB40-4155-A302-E1ED46CA7965}" presName="textNode" presStyleLbl="node1" presStyleIdx="4" presStyleCnt="5">
        <dgm:presLayoutVars>
          <dgm:bulletEnabled val="1"/>
        </dgm:presLayoutVars>
      </dgm:prSet>
      <dgm:spPr/>
    </dgm:pt>
  </dgm:ptLst>
  <dgm:cxnLst>
    <dgm:cxn modelId="{5CA58EDF-9123-4C57-B122-638265C2DC01}" srcId="{0F9C1A87-648F-4FA3-8298-F7FF69248063}" destId="{220DFBB3-6A2B-48E2-96FE-229E7135E226}" srcOrd="0" destOrd="0" parTransId="{6799A159-375E-48BE-AABD-9A2FE821DAF2}" sibTransId="{3E8FE182-047D-4DBF-B997-A26D7EF167CE}"/>
    <dgm:cxn modelId="{EBB63ABD-519B-48B2-8463-6142DEF6C37B}" srcId="{0F9C1A87-648F-4FA3-8298-F7FF69248063}" destId="{2BAA06EE-C86F-49AF-99BB-79BA0A7024A5}" srcOrd="1" destOrd="0" parTransId="{A5CFD625-30CE-461F-8B81-D06F77FA42EF}" sibTransId="{C409FDE6-5B12-4918-B71D-6D01D512B111}"/>
    <dgm:cxn modelId="{7C0AA4F1-40DA-4AEF-92EC-15C648F70A5C}" srcId="{0F9C1A87-648F-4FA3-8298-F7FF69248063}" destId="{FC7A33FF-D06C-4F63-BA21-0E91215FEBDA}" srcOrd="2" destOrd="0" parTransId="{D2FFF8FF-4F1F-4E9F-B3D4-F1D6F4C3FADC}" sibTransId="{3E4BC420-41C1-410E-8651-53D89C9EFAF0}"/>
    <dgm:cxn modelId="{D4D0FEF9-FE9C-4966-8FEF-CA3F07379A69}" srcId="{0F9C1A87-648F-4FA3-8298-F7FF69248063}" destId="{3AFC91D7-D2D3-495F-8952-10B0180E30F4}" srcOrd="3" destOrd="0" parTransId="{00ACFF24-7F7A-4487-94F3-C21A07D59914}" sibTransId="{6973F231-6071-4618-8359-CA2673EFD6F6}"/>
    <dgm:cxn modelId="{7ABBB42E-52F7-47AB-8B84-3B06A9215F8C}" srcId="{0F9C1A87-648F-4FA3-8298-F7FF69248063}" destId="{F3610FD5-CB40-4155-A302-E1ED46CA7965}" srcOrd="4" destOrd="0" parTransId="{5412155B-9E11-4BF1-82F9-EADF6AFF0F60}" sibTransId="{0E659347-3E53-4D9E-9630-9B59FF0356FD}"/>
    <dgm:cxn modelId="{ED982E4D-5D42-4097-A0B0-D0081731B00B}" type="presOf" srcId="{0F9C1A87-648F-4FA3-8298-F7FF69248063}" destId="{FF5EBCE2-33A1-4410-8CCE-241621ACBF4A}" srcOrd="0" destOrd="0" presId="urn:microsoft.com/office/officeart/2005/8/layout/hProcess9"/>
    <dgm:cxn modelId="{54697EED-75A7-477C-9AFE-DC863F2487DB}" type="presParOf" srcId="{FF5EBCE2-33A1-4410-8CCE-241621ACBF4A}" destId="{5C766BF9-8E89-4CF9-B19C-78006AB9D0FF}" srcOrd="0" destOrd="0" presId="urn:microsoft.com/office/officeart/2005/8/layout/hProcess9"/>
    <dgm:cxn modelId="{7BD08B92-D857-4080-8123-33C450AFD704}" type="presParOf" srcId="{FF5EBCE2-33A1-4410-8CCE-241621ACBF4A}" destId="{44C3D485-6283-4E5E-8A42-8B1B6385595E}" srcOrd="1" destOrd="0" presId="urn:microsoft.com/office/officeart/2005/8/layout/hProcess9"/>
    <dgm:cxn modelId="{146E7DD7-EF80-4B43-9DB1-5C94EFAD7D18}" type="presParOf" srcId="{44C3D485-6283-4E5E-8A42-8B1B6385595E}" destId="{88977C2E-9DA8-43F7-869A-FA4A7946B9D0}" srcOrd="0" destOrd="1" presId="urn:microsoft.com/office/officeart/2005/8/layout/hProcess9"/>
    <dgm:cxn modelId="{3C12CFA1-1DD7-4197-9CF4-58B4746640E5}" type="presOf" srcId="{220DFBB3-6A2B-48E2-96FE-229E7135E226}" destId="{88977C2E-9DA8-43F7-869A-FA4A7946B9D0}" srcOrd="0" destOrd="0" presId="urn:microsoft.com/office/officeart/2005/8/layout/hProcess9"/>
    <dgm:cxn modelId="{F6347594-D5BD-430E-9414-600DCE66CCEA}" type="presParOf" srcId="{44C3D485-6283-4E5E-8A42-8B1B6385595E}" destId="{409696F9-775D-4DF9-8C31-B566981A86A8}" srcOrd="1" destOrd="1" presId="urn:microsoft.com/office/officeart/2005/8/layout/hProcess9"/>
    <dgm:cxn modelId="{C055E3A2-BF00-4C48-BF66-BA3506B996D2}" type="presParOf" srcId="{44C3D485-6283-4E5E-8A42-8B1B6385595E}" destId="{B0141BFD-552C-43F6-9DD9-B107954BE5A0}" srcOrd="2" destOrd="1" presId="urn:microsoft.com/office/officeart/2005/8/layout/hProcess9"/>
    <dgm:cxn modelId="{48C5F409-D7AE-450C-9174-982BB8C116B2}" type="presOf" srcId="{2BAA06EE-C86F-49AF-99BB-79BA0A7024A5}" destId="{B0141BFD-552C-43F6-9DD9-B107954BE5A0}" srcOrd="0" destOrd="0" presId="urn:microsoft.com/office/officeart/2005/8/layout/hProcess9"/>
    <dgm:cxn modelId="{0018AEBC-DEE5-4362-9FE4-8F49EA72106E}" type="presParOf" srcId="{44C3D485-6283-4E5E-8A42-8B1B6385595E}" destId="{1B3EEB7B-99F3-4351-A080-D5700D4E3F26}" srcOrd="3" destOrd="1" presId="urn:microsoft.com/office/officeart/2005/8/layout/hProcess9"/>
    <dgm:cxn modelId="{4D4139A9-E179-459D-A190-1ED3C13E5C55}" type="presParOf" srcId="{44C3D485-6283-4E5E-8A42-8B1B6385595E}" destId="{2D2EC123-DDAD-4004-8608-8FBD3A998A0B}" srcOrd="4" destOrd="1" presId="urn:microsoft.com/office/officeart/2005/8/layout/hProcess9"/>
    <dgm:cxn modelId="{66D1FB80-D48D-4159-8AEA-154927F601E3}" type="presOf" srcId="{FC7A33FF-D06C-4F63-BA21-0E91215FEBDA}" destId="{2D2EC123-DDAD-4004-8608-8FBD3A998A0B}" srcOrd="0" destOrd="0" presId="urn:microsoft.com/office/officeart/2005/8/layout/hProcess9"/>
    <dgm:cxn modelId="{04FD9979-8A17-4E03-9ED2-0020BD7B0C96}" type="presParOf" srcId="{44C3D485-6283-4E5E-8A42-8B1B6385595E}" destId="{C3E4C77B-1BE1-401E-811D-2653545DD5CD}" srcOrd="5" destOrd="1" presId="urn:microsoft.com/office/officeart/2005/8/layout/hProcess9"/>
    <dgm:cxn modelId="{7A3C07E7-D264-47A2-A6F7-336A6075478A}" type="presParOf" srcId="{44C3D485-6283-4E5E-8A42-8B1B6385595E}" destId="{8CF32149-948B-4AF4-9A39-32B777948FE7}" srcOrd="6" destOrd="1" presId="urn:microsoft.com/office/officeart/2005/8/layout/hProcess9"/>
    <dgm:cxn modelId="{B665AC24-FCE5-4697-AE82-9892B0E6AE73}" type="presOf" srcId="{3AFC91D7-D2D3-495F-8952-10B0180E30F4}" destId="{8CF32149-948B-4AF4-9A39-32B777948FE7}" srcOrd="0" destOrd="0" presId="urn:microsoft.com/office/officeart/2005/8/layout/hProcess9"/>
    <dgm:cxn modelId="{E016F685-CDAF-4F51-8DDB-E1B01A84383A}" type="presParOf" srcId="{44C3D485-6283-4E5E-8A42-8B1B6385595E}" destId="{BDCF9DAA-A332-4931-8AFA-3AC05B65110F}" srcOrd="7" destOrd="1" presId="urn:microsoft.com/office/officeart/2005/8/layout/hProcess9"/>
    <dgm:cxn modelId="{4D7EF579-ADA6-4A33-BC24-8F555ADD3694}" type="presParOf" srcId="{44C3D485-6283-4E5E-8A42-8B1B6385595E}" destId="{42404743-5237-4B72-A3D1-12E21DAAED91}" srcOrd="8" destOrd="1" presId="urn:microsoft.com/office/officeart/2005/8/layout/hProcess9"/>
    <dgm:cxn modelId="{B4EEF57A-2E7D-499A-BEB5-76AE4C6BF2FE}" type="presOf" srcId="{F3610FD5-CB40-4155-A302-E1ED46CA7965}" destId="{42404743-5237-4B72-A3D1-12E21DAAED91}" srcOrd="0" destOrd="0" presId="urn:microsoft.com/office/officeart/2005/8/layout/hProcess9"/>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347335" cy="1381125"/>
        <a:chOff x="0" y="0"/>
        <a:chExt cx="5347335" cy="1381125"/>
      </a:xfrm>
    </dsp:grpSpPr>
    <dsp:sp modelId="{5C766BF9-8E89-4CF9-B19C-78006AB9D0FF}">
      <dsp:nvSpPr>
        <dsp:cNvPr id="3" name="右箭头 2"/>
        <dsp:cNvSpPr/>
      </dsp:nvSpPr>
      <dsp:spPr bwMode="white">
        <a:xfrm>
          <a:off x="401050" y="0"/>
          <a:ext cx="4545235" cy="1381125"/>
        </a:xfrm>
        <a:prstGeom prst="rightArrow">
          <a:avLst/>
        </a:prstGeom>
      </dsp:spPr>
      <dsp:style>
        <a:lnRef idx="0">
          <a:schemeClr val="accent1"/>
        </a:lnRef>
        <a:fillRef idx="1">
          <a:schemeClr val="accent1">
            <a:tint val="40000"/>
          </a:schemeClr>
        </a:fillRef>
        <a:effectRef idx="0">
          <a:scrgbClr r="0" g="0" b="0"/>
        </a:effectRef>
        <a:fontRef idx="minor"/>
      </dsp:style>
      <dsp:txXfrm>
        <a:off x="401050" y="0"/>
        <a:ext cx="4545235" cy="1381125"/>
      </dsp:txXfrm>
    </dsp:sp>
    <dsp:sp modelId="{88977C2E-9DA8-43F7-869A-FA4A7946B9D0}">
      <dsp:nvSpPr>
        <dsp:cNvPr id="4" name="圆角矩形 3"/>
        <dsp:cNvSpPr/>
      </dsp:nvSpPr>
      <dsp:spPr bwMode="white">
        <a:xfrm>
          <a:off x="0" y="414338"/>
          <a:ext cx="1188297" cy="55245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30480" tIns="30480" rIns="30480" bIns="3048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ltLang="zh-CN"/>
            <a:t>2017</a:t>
          </a:r>
          <a:r>
            <a:rPr lang="zh-CN" altLang="en-US"/>
            <a:t>年</a:t>
          </a:r>
          <a:r>
            <a:rPr lang="en-US" altLang="zh-CN"/>
            <a:t>——</a:t>
          </a:r>
          <a:r>
            <a:rPr lang="zh-CN" altLang="en-US"/>
            <a:t>启动</a:t>
          </a:r>
          <a:r>
            <a:rPr lang="zh-CN" altLang="en-US"/>
            <a:t>跨区域</a:t>
          </a:r>
          <a:r>
            <a:rPr lang="zh-CN" altLang="en-US"/>
            <a:t>省间</a:t>
          </a:r>
          <a:r>
            <a:rPr lang="zh-CN" altLang="en-US"/>
            <a:t>富裕可再生能源</a:t>
          </a:r>
          <a:r>
            <a:rPr lang="zh-CN" altLang="en-US"/>
            <a:t>电力现货</a:t>
          </a:r>
          <a:r>
            <a:rPr lang="zh-CN" altLang="en-US"/>
            <a:t>交易</a:t>
          </a:r>
          <a:r>
            <a:rPr lang="zh-CN" altLang="en-US"/>
            <a:t>试点</a:t>
          </a:r>
          <a:endParaRPr lang="zh-CN" altLang="en-US"/>
        </a:p>
      </dsp:txBody>
      <dsp:txXfrm>
        <a:off x="0" y="414338"/>
        <a:ext cx="1188297" cy="552450"/>
      </dsp:txXfrm>
    </dsp:sp>
    <dsp:sp modelId="{B0141BFD-552C-43F6-9DD9-B107954BE5A0}">
      <dsp:nvSpPr>
        <dsp:cNvPr id="5" name="圆角矩形 4"/>
        <dsp:cNvSpPr/>
      </dsp:nvSpPr>
      <dsp:spPr bwMode="white">
        <a:xfrm>
          <a:off x="1386346" y="414338"/>
          <a:ext cx="1188297" cy="55245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30480" tIns="30480" rIns="30480" bIns="3048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ltLang="zh-CN"/>
            <a:t>2021</a:t>
          </a:r>
          <a:r>
            <a:rPr lang="zh-CN" altLang="en-US"/>
            <a:t>年</a:t>
          </a:r>
          <a:r>
            <a:rPr lang="en-US" altLang="zh-CN"/>
            <a:t>——</a:t>
          </a:r>
          <a:r>
            <a:rPr lang="zh-CN" altLang="en-US"/>
            <a:t>印发</a:t>
          </a:r>
          <a:r>
            <a:rPr lang="zh-CN" altLang="en-US"/>
            <a:t>《</a:t>
          </a:r>
          <a:r>
            <a:rPr lang="zh-CN" altLang="en-US"/>
            <a:t>省间</a:t>
          </a:r>
          <a:r>
            <a:rPr lang="zh-CN" altLang="en-US"/>
            <a:t>电力现货</a:t>
          </a:r>
          <a:r>
            <a:rPr lang="zh-CN" altLang="en-US"/>
            <a:t>交易规则（</a:t>
          </a:r>
          <a:r>
            <a:rPr lang="zh-CN" altLang="en-US"/>
            <a:t>试行</a:t>
          </a:r>
          <a:r>
            <a:rPr lang="zh-CN" altLang="en-US"/>
            <a:t>）</a:t>
          </a:r>
          <a:r>
            <a:rPr lang="zh-CN" altLang="en-US"/>
            <a:t>》</a:t>
          </a:r>
          <a:endParaRPr lang="zh-CN" altLang="en-US"/>
        </a:p>
      </dsp:txBody>
      <dsp:txXfrm>
        <a:off x="1386346" y="414338"/>
        <a:ext cx="1188297" cy="552450"/>
      </dsp:txXfrm>
    </dsp:sp>
    <dsp:sp modelId="{42404743-5237-4B72-A3D1-12E21DAAED91}">
      <dsp:nvSpPr>
        <dsp:cNvPr id="6" name="圆角矩形 5"/>
        <dsp:cNvSpPr/>
      </dsp:nvSpPr>
      <dsp:spPr bwMode="white">
        <a:xfrm>
          <a:off x="2772692" y="414338"/>
          <a:ext cx="1188297" cy="55245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30480" tIns="30480" rIns="30480" bIns="3048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ltLang="zh-CN" b="1">
              <a:solidFill>
                <a:schemeClr val="bg1"/>
              </a:solidFill>
              <a:sym typeface="+mn-ea"/>
            </a:rPr>
            <a:t>2024</a:t>
          </a:r>
          <a:r>
            <a:rPr lang="zh-CN" altLang="en-US" b="1">
              <a:solidFill>
                <a:schemeClr val="bg1"/>
              </a:solidFill>
              <a:sym typeface="+mn-ea"/>
            </a:rPr>
            <a:t>年</a:t>
          </a:r>
          <a:r>
            <a:rPr lang="en-US" altLang="zh-CN" b="1">
              <a:solidFill>
                <a:schemeClr val="bg1"/>
              </a:solidFill>
              <a:sym typeface="+mn-ea"/>
            </a:rPr>
            <a:t>10</a:t>
          </a:r>
          <a:r>
            <a:rPr lang="zh-CN" altLang="en-US" b="1">
              <a:solidFill>
                <a:schemeClr val="bg1"/>
              </a:solidFill>
              <a:sym typeface="+mn-ea"/>
            </a:rPr>
            <a:t>月</a:t>
          </a:r>
          <a:r>
            <a:rPr lang="en-US" altLang="zh-CN" b="1">
              <a:solidFill>
                <a:schemeClr val="bg1"/>
              </a:solidFill>
              <a:sym typeface="+mn-ea"/>
            </a:rPr>
            <a:t>15</a:t>
          </a:r>
          <a:r>
            <a:rPr lang="zh-CN" altLang="en-US" b="1">
              <a:solidFill>
                <a:schemeClr val="bg1"/>
              </a:solidFill>
              <a:sym typeface="+mn-ea"/>
            </a:rPr>
            <a:t>日</a:t>
          </a:r>
          <a:r>
            <a:rPr lang="en-US" altLang="zh-CN" b="1">
              <a:solidFill>
                <a:schemeClr val="bg1"/>
              </a:solidFill>
              <a:sym typeface="+mn-ea"/>
            </a:rPr>
            <a:t>——</a:t>
          </a:r>
          <a:r>
            <a:rPr lang="zh-CN" altLang="en-US" b="1">
              <a:solidFill>
                <a:schemeClr val="bg1"/>
              </a:solidFill>
              <a:sym typeface="+mn-ea"/>
            </a:rPr>
            <a:t>省间电力现货市场转入正常运行</a:t>
          </a:r>
          <a:endParaRPr lang="zh-CN" altLang="en-US" b="1">
            <a:solidFill>
              <a:schemeClr val="bg1"/>
            </a:solidFill>
            <a:sym typeface="+mn-ea"/>
          </a:endParaRPr>
        </a:p>
      </dsp:txBody>
      <dsp:txXfrm>
        <a:off x="2772692" y="414338"/>
        <a:ext cx="1188297" cy="552450"/>
      </dsp:txXfrm>
    </dsp:sp>
    <dsp:sp modelId="{0ACD1F6A-B7D6-4D9C-AD3B-FE5FA8A23FC6}">
      <dsp:nvSpPr>
        <dsp:cNvPr id="7" name="圆角矩形 6"/>
        <dsp:cNvSpPr/>
      </dsp:nvSpPr>
      <dsp:spPr bwMode="white">
        <a:xfrm>
          <a:off x="4159038" y="414338"/>
          <a:ext cx="1188297" cy="55245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30480" tIns="30480" rIns="30480" bIns="3048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ltLang="zh-CN"/>
            <a:t>2025</a:t>
          </a:r>
          <a:r>
            <a:rPr lang="zh-CN" altLang="en-US"/>
            <a:t>年</a:t>
          </a:r>
          <a:r>
            <a:rPr lang="en-US" altLang="zh-CN"/>
            <a:t>4</a:t>
          </a:r>
          <a:r>
            <a:rPr lang="zh-CN" altLang="en-US"/>
            <a:t>月</a:t>
          </a:r>
          <a:r>
            <a:rPr lang="en-US" altLang="zh-CN"/>
            <a:t>16</a:t>
          </a:r>
          <a:r>
            <a:rPr lang="zh-CN" altLang="en-US"/>
            <a:t>日</a:t>
          </a:r>
          <a:r>
            <a:rPr lang="en-US" altLang="zh-CN"/>
            <a:t>——</a:t>
          </a:r>
          <a:r>
            <a:rPr lang="zh-CN" altLang="en-US"/>
            <a:t>《</a:t>
          </a:r>
          <a:r>
            <a:rPr lang="zh-CN" altLang="en-US" b="1"/>
            <a:t>关于全面加快电力现货市场建设工作的通知</a:t>
          </a:r>
          <a:r>
            <a:rPr lang="zh-CN" altLang="en-US"/>
            <a:t>》</a:t>
          </a:r>
          <a:endParaRPr lang="zh-CN" altLang="en-US"/>
        </a:p>
      </dsp:txBody>
      <dsp:txXfrm>
        <a:off x="4159038" y="414338"/>
        <a:ext cx="1188297" cy="55245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14415" cy="1874520"/>
        <a:chOff x="0" y="0"/>
        <a:chExt cx="6114415" cy="1874520"/>
      </a:xfrm>
    </dsp:grpSpPr>
    <dsp:sp modelId="{5C766BF9-8E89-4CF9-B19C-78006AB9D0FF}">
      <dsp:nvSpPr>
        <dsp:cNvPr id="3" name="右箭头 2"/>
        <dsp:cNvSpPr/>
      </dsp:nvSpPr>
      <dsp:spPr bwMode="white">
        <a:xfrm>
          <a:off x="458581" y="0"/>
          <a:ext cx="5197253" cy="1874520"/>
        </a:xfrm>
        <a:prstGeom prst="rightArrow">
          <a:avLst/>
        </a:prstGeom>
      </dsp:spPr>
      <dsp:style>
        <a:lnRef idx="0">
          <a:schemeClr val="dk1"/>
        </a:lnRef>
        <a:fillRef idx="1">
          <a:schemeClr val="accent2">
            <a:tint val="40000"/>
          </a:schemeClr>
        </a:fillRef>
        <a:effectRef idx="0">
          <a:scrgbClr r="0" g="0" b="0"/>
        </a:effectRef>
        <a:fontRef idx="minor"/>
      </dsp:style>
      <dsp:txXfrm>
        <a:off x="458581" y="0"/>
        <a:ext cx="5197253" cy="1874520"/>
      </dsp:txXfrm>
    </dsp:sp>
    <dsp:sp modelId="{88977C2E-9DA8-43F7-869A-FA4A7946B9D0}">
      <dsp:nvSpPr>
        <dsp:cNvPr id="4" name="圆角矩形 3"/>
        <dsp:cNvSpPr/>
      </dsp:nvSpPr>
      <dsp:spPr bwMode="white">
        <a:xfrm>
          <a:off x="0" y="562356"/>
          <a:ext cx="1079014" cy="749808"/>
        </a:xfrm>
        <a:prstGeom prst="roundRect">
          <a:avLst/>
        </a:prstGeom>
      </dsp:spPr>
      <dsp:style>
        <a:lnRef idx="2">
          <a:schemeClr val="lt1"/>
        </a:lnRef>
        <a:fillRef idx="1">
          <a:schemeClr val="accent2">
            <a:alpha val="90000"/>
            <a:hueOff val="0"/>
            <a:satOff val="0"/>
            <a:lumOff val="0"/>
            <a:alpha val="90196"/>
          </a:schemeClr>
        </a:fillRef>
        <a:effectRef idx="0">
          <a:scrgbClr r="0" g="0" b="0"/>
        </a:effectRef>
        <a:fontRef idx="minor">
          <a:schemeClr val="lt1"/>
        </a:fontRef>
      </dsp:style>
      <dsp:txBody>
        <a:bodyPr vert="horz" wrap="square" lIns="30480" tIns="30480" rIns="30480" bIns="3048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ltLang="zh-CN"/>
            <a:t>2015</a:t>
          </a:r>
          <a:r>
            <a:rPr lang="zh-CN" altLang="en-US"/>
            <a:t>年</a:t>
          </a:r>
          <a:r>
            <a:rPr lang="en-US" altLang="zh-CN"/>
            <a:t>7</a:t>
          </a:r>
          <a:r>
            <a:rPr lang="zh-CN" altLang="en-US"/>
            <a:t>月</a:t>
          </a:r>
          <a:r>
            <a:rPr lang="en-US" altLang="zh-CN"/>
            <a:t>6</a:t>
          </a:r>
          <a:r>
            <a:rPr lang="zh-CN" altLang="en-US"/>
            <a:t>日</a:t>
          </a:r>
          <a:r>
            <a:rPr lang="en-US" altLang="zh-CN"/>
            <a:t>——</a:t>
          </a:r>
          <a:r>
            <a:rPr lang="zh-CN" altLang="en-US"/>
            <a:t>《</a:t>
          </a:r>
          <a:r>
            <a:rPr lang="zh-CN" altLang="en-US"/>
            <a:t>关于</a:t>
          </a:r>
          <a:r>
            <a:rPr lang="zh-CN" altLang="en-US"/>
            <a:t>促进智能电网</a:t>
          </a:r>
          <a:r>
            <a:rPr lang="zh-CN" altLang="en-US"/>
            <a:t>发展</a:t>
          </a:r>
          <a:r>
            <a:rPr lang="zh-CN" altLang="en-US"/>
            <a:t>的</a:t>
          </a:r>
          <a:r>
            <a:rPr lang="zh-CN" altLang="en-US"/>
            <a:t>指导意见</a:t>
          </a:r>
          <a:r>
            <a:rPr lang="zh-CN" altLang="en-US"/>
            <a:t>》</a:t>
          </a:r>
          <a:endParaRPr lang="zh-CN" altLang="en-US"/>
        </a:p>
      </dsp:txBody>
      <dsp:txXfrm>
        <a:off x="0" y="562356"/>
        <a:ext cx="1079014" cy="749808"/>
      </dsp:txXfrm>
    </dsp:sp>
    <dsp:sp modelId="{B0141BFD-552C-43F6-9DD9-B107954BE5A0}">
      <dsp:nvSpPr>
        <dsp:cNvPr id="5" name="圆角矩形 4"/>
        <dsp:cNvSpPr/>
      </dsp:nvSpPr>
      <dsp:spPr bwMode="white">
        <a:xfrm>
          <a:off x="1258850" y="562356"/>
          <a:ext cx="1079014" cy="749808"/>
        </a:xfrm>
        <a:prstGeom prst="roundRect">
          <a:avLst/>
        </a:prstGeom>
      </dsp:spPr>
      <dsp:style>
        <a:lnRef idx="2">
          <a:schemeClr val="lt1"/>
        </a:lnRef>
        <a:fillRef idx="1">
          <a:schemeClr val="accent2">
            <a:alpha val="90000"/>
            <a:hueOff val="0"/>
            <a:satOff val="0"/>
            <a:lumOff val="0"/>
            <a:alpha val="80196"/>
          </a:schemeClr>
        </a:fillRef>
        <a:effectRef idx="0">
          <a:scrgbClr r="0" g="0" b="0"/>
        </a:effectRef>
        <a:fontRef idx="minor">
          <a:schemeClr val="lt1"/>
        </a:fontRef>
      </dsp:style>
      <dsp:txBody>
        <a:bodyPr vert="horz" wrap="square" lIns="30480" tIns="30480" rIns="30480" bIns="3048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ltLang="zh-CN"/>
            <a:t>2021</a:t>
          </a:r>
          <a:r>
            <a:rPr lang="zh-CN" altLang="en-US"/>
            <a:t>年</a:t>
          </a:r>
          <a:r>
            <a:rPr lang="en-US" altLang="zh-CN"/>
            <a:t>2</a:t>
          </a:r>
          <a:r>
            <a:rPr lang="zh-CN" altLang="en-US"/>
            <a:t>月</a:t>
          </a:r>
          <a:r>
            <a:rPr lang="en-US" altLang="zh-CN"/>
            <a:t>25</a:t>
          </a:r>
          <a:r>
            <a:rPr lang="zh-CN" altLang="en-US"/>
            <a:t>日</a:t>
          </a:r>
          <a:r>
            <a:rPr lang="en-US" altLang="zh-CN"/>
            <a:t>——</a:t>
          </a:r>
          <a:r>
            <a:rPr lang="zh-CN" altLang="en-US"/>
            <a:t>《</a:t>
          </a:r>
          <a:r>
            <a:rPr lang="zh-CN" altLang="en-US"/>
            <a:t>关于</a:t>
          </a:r>
          <a:r>
            <a:rPr lang="zh-CN" altLang="en-US"/>
            <a:t>推进</a:t>
          </a:r>
          <a:r>
            <a:rPr lang="zh-CN" altLang="en-US"/>
            <a:t>电力源网荷储</a:t>
          </a:r>
          <a:r>
            <a:rPr lang="zh-CN" altLang="en-US"/>
            <a:t>一体化</a:t>
          </a:r>
          <a:r>
            <a:rPr lang="zh-CN" altLang="en-US"/>
            <a:t>和</a:t>
          </a:r>
          <a:r>
            <a:rPr lang="zh-CN" altLang="en-US"/>
            <a:t>多能</a:t>
          </a:r>
          <a:r>
            <a:rPr lang="zh-CN" altLang="en-US"/>
            <a:t>互补</a:t>
          </a:r>
          <a:r>
            <a:rPr lang="zh-CN" altLang="en-US"/>
            <a:t>发展</a:t>
          </a:r>
          <a:r>
            <a:rPr lang="zh-CN" altLang="en-US"/>
            <a:t>的</a:t>
          </a:r>
          <a:r>
            <a:rPr lang="zh-CN" altLang="en-US"/>
            <a:t>指导意见》</a:t>
          </a:r>
          <a:r>
            <a:rPr lang="zh-CN" altLang="en-US"/>
            <a:t>》</a:t>
          </a:r>
          <a:endParaRPr lang="zh-CN" altLang="en-US"/>
        </a:p>
      </dsp:txBody>
      <dsp:txXfrm>
        <a:off x="1258850" y="562356"/>
        <a:ext cx="1079014" cy="749808"/>
      </dsp:txXfrm>
    </dsp:sp>
    <dsp:sp modelId="{2D2EC123-DDAD-4004-8608-8FBD3A998A0B}">
      <dsp:nvSpPr>
        <dsp:cNvPr id="6" name="圆角矩形 5"/>
        <dsp:cNvSpPr/>
      </dsp:nvSpPr>
      <dsp:spPr bwMode="white">
        <a:xfrm>
          <a:off x="2517700" y="562356"/>
          <a:ext cx="1079014" cy="749808"/>
        </a:xfrm>
        <a:prstGeom prst="roundRect">
          <a:avLst/>
        </a:prstGeom>
      </dsp:spPr>
      <dsp:style>
        <a:lnRef idx="2">
          <a:schemeClr val="lt1"/>
        </a:lnRef>
        <a:fillRef idx="1">
          <a:schemeClr val="accent2">
            <a:alpha val="90000"/>
            <a:hueOff val="0"/>
            <a:satOff val="0"/>
            <a:lumOff val="0"/>
            <a:alpha val="70196"/>
          </a:schemeClr>
        </a:fillRef>
        <a:effectRef idx="0">
          <a:scrgbClr r="0" g="0" b="0"/>
        </a:effectRef>
        <a:fontRef idx="minor">
          <a:schemeClr val="lt1"/>
        </a:fontRef>
      </dsp:style>
      <dsp:txBody>
        <a:bodyPr vert="horz" wrap="square" lIns="30480" tIns="30480" rIns="30480" bIns="3048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ltLang="zh-CN"/>
            <a:t>2023</a:t>
          </a:r>
          <a:r>
            <a:rPr lang="zh-CN" altLang="en-US"/>
            <a:t>年</a:t>
          </a:r>
          <a:r>
            <a:rPr lang="en-US" altLang="zh-CN"/>
            <a:t>10</a:t>
          </a:r>
          <a:r>
            <a:rPr lang="zh-CN" altLang="en-US"/>
            <a:t>月</a:t>
          </a:r>
          <a:r>
            <a:rPr lang="en-US" altLang="zh-CN"/>
            <a:t>12</a:t>
          </a:r>
          <a:r>
            <a:rPr lang="zh-CN" altLang="en-US"/>
            <a:t>日</a:t>
          </a:r>
          <a:r>
            <a:rPr lang="en-US" altLang="zh-CN"/>
            <a:t>——</a:t>
          </a:r>
          <a:r>
            <a:rPr lang="zh-CN" altLang="en-US"/>
            <a:t>《</a:t>
          </a:r>
          <a:r>
            <a:rPr lang="zh-CN" altLang="en-US"/>
            <a:t>关于进一步</a:t>
          </a:r>
          <a:r>
            <a:rPr lang="zh-CN" altLang="en-US"/>
            <a:t>加快</a:t>
          </a:r>
          <a:r>
            <a:rPr lang="zh-CN" altLang="en-US"/>
            <a:t>电力</a:t>
          </a:r>
          <a:r>
            <a:rPr lang="zh-CN" altLang="en-US" b="1"/>
            <a:t>现货</a:t>
          </a:r>
          <a:r>
            <a:rPr lang="zh-CN" altLang="en-US"/>
            <a:t>市场</a:t>
          </a:r>
          <a:r>
            <a:rPr lang="zh-CN" altLang="en-US"/>
            <a:t>建设工作</a:t>
          </a:r>
          <a:r>
            <a:rPr lang="zh-CN" altLang="en-US"/>
            <a:t>的</a:t>
          </a:r>
          <a:r>
            <a:rPr lang="zh-CN" altLang="en-US"/>
            <a:t>通知</a:t>
          </a:r>
          <a:r>
            <a:rPr lang="zh-CN" altLang="en-US"/>
            <a:t>》</a:t>
          </a:r>
          <a:endParaRPr lang="zh-CN" altLang="en-US"/>
        </a:p>
      </dsp:txBody>
      <dsp:txXfrm>
        <a:off x="2517700" y="562356"/>
        <a:ext cx="1079014" cy="749808"/>
      </dsp:txXfrm>
    </dsp:sp>
    <dsp:sp modelId="{8CF32149-948B-4AF4-9A39-32B777948FE7}">
      <dsp:nvSpPr>
        <dsp:cNvPr id="7" name="圆角矩形 6"/>
        <dsp:cNvSpPr/>
      </dsp:nvSpPr>
      <dsp:spPr bwMode="white">
        <a:xfrm>
          <a:off x="3776550" y="562356"/>
          <a:ext cx="1079014" cy="749808"/>
        </a:xfrm>
        <a:prstGeom prst="roundRect">
          <a:avLst/>
        </a:prstGeom>
      </dsp:spPr>
      <dsp:style>
        <a:lnRef idx="2">
          <a:schemeClr val="lt1"/>
        </a:lnRef>
        <a:fillRef idx="1">
          <a:schemeClr val="accent2">
            <a:alpha val="90000"/>
            <a:hueOff val="0"/>
            <a:satOff val="0"/>
            <a:lumOff val="0"/>
            <a:alpha val="60196"/>
          </a:schemeClr>
        </a:fillRef>
        <a:effectRef idx="0">
          <a:scrgbClr r="0" g="0" b="0"/>
        </a:effectRef>
        <a:fontRef idx="minor">
          <a:schemeClr val="lt1"/>
        </a:fontRef>
      </dsp:style>
      <dsp:txBody>
        <a:bodyPr vert="horz" wrap="square" lIns="30480" tIns="30480" rIns="30480" bIns="3048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t>2024</a:t>
          </a:r>
          <a:r>
            <a:rPr lang="zh-CN" altLang="en-US"/>
            <a:t>年</a:t>
          </a:r>
          <a:r>
            <a:rPr lang="en-US" altLang="zh-CN"/>
            <a:t>6</a:t>
          </a:r>
          <a:r>
            <a:rPr lang="zh-CN" altLang="en-US"/>
            <a:t>月</a:t>
          </a:r>
          <a:r>
            <a:rPr lang="en-US" altLang="zh-CN"/>
            <a:t>1</a:t>
          </a:r>
          <a:r>
            <a:rPr lang="zh-CN" altLang="en-US"/>
            <a:t>日</a:t>
          </a:r>
          <a:r>
            <a:rPr lang="en-US" altLang="zh-CN"/>
            <a:t>——</a:t>
          </a:r>
          <a:r>
            <a:rPr lang="zh-CN" altLang="en-US"/>
            <a:t>《</a:t>
          </a:r>
          <a:r>
            <a:rPr lang="zh-CN" altLang="en-US"/>
            <a:t>电力市场</a:t>
          </a:r>
          <a:r>
            <a:rPr lang="zh-CN" altLang="en-US"/>
            <a:t>监管办法</a:t>
          </a:r>
          <a:r>
            <a:rPr lang="zh-CN" altLang="en-US"/>
            <a:t>》</a:t>
          </a:r>
          <a:endParaRPr lang="zh-CN" altLang="en-US"/>
        </a:p>
      </dsp:txBody>
      <dsp:txXfrm>
        <a:off x="3776550" y="562356"/>
        <a:ext cx="1079014" cy="749808"/>
      </dsp:txXfrm>
    </dsp:sp>
    <dsp:sp modelId="{42404743-5237-4B72-A3D1-12E21DAAED91}">
      <dsp:nvSpPr>
        <dsp:cNvPr id="8" name="圆角矩形 7"/>
        <dsp:cNvSpPr/>
      </dsp:nvSpPr>
      <dsp:spPr bwMode="white">
        <a:xfrm>
          <a:off x="5035401" y="562356"/>
          <a:ext cx="1079014" cy="749808"/>
        </a:xfrm>
        <a:prstGeom prst="roundRect">
          <a:avLst/>
        </a:prstGeom>
      </dsp:spPr>
      <dsp:style>
        <a:lnRef idx="2">
          <a:schemeClr val="lt1"/>
        </a:lnRef>
        <a:fillRef idx="1">
          <a:schemeClr val="accent2">
            <a:alpha val="90000"/>
            <a:hueOff val="0"/>
            <a:satOff val="0"/>
            <a:lumOff val="0"/>
            <a:alpha val="50196"/>
          </a:schemeClr>
        </a:fillRef>
        <a:effectRef idx="0">
          <a:scrgbClr r="0" g="0" b="0"/>
        </a:effectRef>
        <a:fontRef idx="minor">
          <a:schemeClr val="lt1"/>
        </a:fontRef>
      </dsp:style>
      <dsp:txBody>
        <a:bodyPr vert="horz" wrap="square" lIns="34290" tIns="34290" rIns="34290" bIns="3429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altLang="zh-CN" sz="900" b="1"/>
            <a:t>2025</a:t>
          </a:r>
          <a:r>
            <a:rPr lang="zh-CN" altLang="en-US" sz="900" b="1"/>
            <a:t>年</a:t>
          </a:r>
          <a:r>
            <a:rPr lang="en-US" altLang="zh-CN" sz="900" b="1"/>
            <a:t>3</a:t>
          </a:r>
          <a:r>
            <a:rPr lang="zh-CN" altLang="en-US" sz="900" b="1"/>
            <a:t>月</a:t>
          </a:r>
          <a:r>
            <a:rPr lang="en-US" altLang="zh-CN" sz="900" b="1"/>
            <a:t>25</a:t>
          </a:r>
          <a:r>
            <a:rPr lang="zh-CN" altLang="en-US" sz="900" b="1"/>
            <a:t>日</a:t>
          </a:r>
          <a:r>
            <a:rPr lang="en-US" altLang="zh-CN" sz="900" b="1"/>
            <a:t>——</a:t>
          </a:r>
          <a:r>
            <a:rPr lang="zh-CN" altLang="en-US" sz="900" b="1"/>
            <a:t>《</a:t>
          </a:r>
          <a:r>
            <a:rPr lang="zh-CN" altLang="en-US" sz="900" b="1"/>
            <a:t>关于加快推进虚拟电厂发展的指导意见</a:t>
          </a:r>
          <a:r>
            <a:rPr lang="zh-CN" altLang="en-US" sz="900" b="1"/>
            <a:t>》</a:t>
          </a:r>
          <a:endParaRPr lang="zh-CN" altLang="en-US" sz="900" b="1"/>
        </a:p>
      </dsp:txBody>
      <dsp:txXfrm>
        <a:off x="5035401" y="562356"/>
        <a:ext cx="1079014" cy="74980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6575" cy="512763"/>
          </a:xfrm>
          <a:prstGeom prst="rect">
            <a:avLst/>
          </a:prstGeom>
        </p:spPr>
        <p:txBody>
          <a:bodyPr vert="horz" lIns="99048" tIns="49524" rIns="99048" bIns="49524" rtlCol="0"/>
          <a:lstStyle>
            <a:lvl1pPr algn="l">
              <a:defRPr kumimoji="1" sz="13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4021138" y="0"/>
            <a:ext cx="3076575" cy="512763"/>
          </a:xfrm>
          <a:prstGeom prst="rect">
            <a:avLst/>
          </a:prstGeom>
        </p:spPr>
        <p:txBody>
          <a:bodyPr vert="horz" lIns="99048" tIns="49524" rIns="99048" bIns="49524" rtlCol="0"/>
          <a:lstStyle>
            <a:lvl1pPr algn="r">
              <a:defRPr kumimoji="1" sz="1300"/>
            </a:lvl1pPr>
          </a:lstStyle>
          <a:p>
            <a:pPr marL="0" marR="0" lvl="0" indent="0" algn="r" defTabSz="914400" rtl="0" eaLnBrk="0" fontAlgn="base" latinLnBrk="0" hangingPunct="0">
              <a:lnSpc>
                <a:spcPct val="100000"/>
              </a:lnSpc>
              <a:spcBef>
                <a:spcPct val="0"/>
              </a:spcBef>
              <a:spcAft>
                <a:spcPct val="0"/>
              </a:spcAft>
              <a:buClrTx/>
              <a:buSzTx/>
              <a:buFontTx/>
              <a:buNone/>
              <a:defRPr/>
            </a:pPr>
            <a:fld id="{E95F9A97-54B4-4C30-AC4D-C5D334205467}" type="datetime1">
              <a:rPr kumimoji="1"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1"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9721850"/>
            <a:ext cx="3076575" cy="512763"/>
          </a:xfrm>
          <a:prstGeom prst="rect">
            <a:avLst/>
          </a:prstGeom>
        </p:spPr>
        <p:txBody>
          <a:bodyPr vert="horz" lIns="99048" tIns="49524" rIns="99048" bIns="49524" rtlCol="0" anchor="b"/>
          <a:lstStyle>
            <a:lvl1pPr algn="l">
              <a:defRPr kumimoji="1" sz="13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4021138" y="9721850"/>
            <a:ext cx="3076575" cy="512763"/>
          </a:xfrm>
          <a:prstGeom prst="rect">
            <a:avLst/>
          </a:prstGeom>
        </p:spPr>
        <p:txBody>
          <a:bodyPr vert="horz" wrap="square" lIns="99048" tIns="49524" rIns="99048" bIns="49524" numCol="1" anchor="b" anchorCtr="0" compatLnSpc="1"/>
          <a:p>
            <a:pPr lvl="0" algn="r">
              <a:buNone/>
            </a:pPr>
            <a:fld id="{9A0DB2DC-4C9A-4742-B13C-FB6460FD3503}" type="slidenum">
              <a:rPr lang="zh-CN" altLang="en-US" sz="1300" dirty="0"/>
            </a:fld>
            <a:endParaRPr lang="zh-CN" altLang="en-US" sz="1300"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1"/>
          <p:cNvSpPr>
            <a:spLocks noGrp="1" noChangeArrowheads="1"/>
          </p:cNvSpPr>
          <p:nvPr>
            <p:ph type="hdr" sz="quarter" idx="4294967295"/>
          </p:nvPr>
        </p:nvSpPr>
        <p:spPr bwMode="auto">
          <a:xfrm>
            <a:off x="0" y="0"/>
            <a:ext cx="3076575" cy="511175"/>
          </a:xfrm>
          <a:prstGeom prst="rect">
            <a:avLst/>
          </a:prstGeom>
          <a:noFill/>
          <a:ln>
            <a:noFill/>
          </a:ln>
        </p:spPr>
        <p:txBody>
          <a:bodyPr vert="horz" wrap="square" lIns="99048" tIns="49524" rIns="99048" bIns="49524" numCol="1" anchor="t" anchorCtr="0" compatLnSpc="1"/>
          <a:lstStyle>
            <a:lvl1pPr eaLnBrk="1" hangingPunct="1">
              <a:buFont typeface="Arial" panose="020B0604020202020204" pitchFamily="34" charset="0"/>
              <a:buNone/>
              <a:defRPr sz="13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noChangeArrowheads="1"/>
          </p:cNvSpPr>
          <p:nvPr>
            <p:ph type="dt" idx="1"/>
          </p:nvPr>
        </p:nvSpPr>
        <p:spPr bwMode="auto">
          <a:xfrm>
            <a:off x="4021138" y="0"/>
            <a:ext cx="3076575" cy="511175"/>
          </a:xfrm>
          <a:prstGeom prst="rect">
            <a:avLst/>
          </a:prstGeom>
          <a:noFill/>
          <a:ln>
            <a:noFill/>
          </a:ln>
        </p:spPr>
        <p:txBody>
          <a:bodyPr vert="horz" wrap="square" lIns="99048" tIns="49524" rIns="99048" bIns="49524" numCol="1" anchor="t" anchorCtr="0" compatLnSpc="1"/>
          <a:lstStyle>
            <a:lvl1pPr algn="r" eaLnBrk="1" hangingPunct="1">
              <a:buFont typeface="Arial" panose="020B0604020202020204" pitchFamily="34" charset="0"/>
              <a:buNone/>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A1D718E-CA86-4D0B-B52F-98C1ED645392}" type="datetime1">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幻灯片图像占位符 3"/>
          <p:cNvSpPr>
            <a:spLocks noGrp="1" noRot="1" noChangeAspect="1"/>
          </p:cNvSpPr>
          <p:nvPr>
            <p:ph type="sldImg" idx="2"/>
          </p:nvPr>
        </p:nvSpPr>
        <p:spPr>
          <a:xfrm>
            <a:off x="991659" y="768350"/>
            <a:ext cx="5115984" cy="3836988"/>
          </a:xfrm>
          <a:prstGeom prst="rect">
            <a:avLst/>
          </a:prstGeom>
          <a:noFill/>
          <a:ln w="12700">
            <a:noFill/>
          </a:ln>
        </p:spPr>
      </p:sp>
      <p:sp>
        <p:nvSpPr>
          <p:cNvPr id="2053" name="备注占位符 4"/>
          <p:cNvSpPr>
            <a:spLocks noGrp="1" noRot="1" noChangeAspect="1" noChangeArrowheads="1"/>
          </p:cNvSpPr>
          <p:nvPr/>
        </p:nvSpPr>
        <p:spPr bwMode="auto">
          <a:xfrm>
            <a:off x="709613" y="4860925"/>
            <a:ext cx="5680075" cy="4605338"/>
          </a:xfrm>
          <a:prstGeom prst="rect">
            <a:avLst/>
          </a:prstGeom>
          <a:noFill/>
          <a:ln>
            <a:noFill/>
          </a:ln>
        </p:spPr>
        <p:txBody>
          <a:bodyPr lIns="99048" tIns="49524" rIns="99048" bIns="49524" anchor="ctr"/>
          <a:lstStyle>
            <a:lvl1pPr defTabSz="0">
              <a:defRPr>
                <a:solidFill>
                  <a:schemeClr val="tx1"/>
                </a:solidFill>
                <a:latin typeface="Arial" panose="020B0604020202020204" pitchFamily="34" charset="0"/>
                <a:ea typeface="宋体" panose="02010600030101010101" pitchFamily="2" charset="-122"/>
              </a:defRPr>
            </a:lvl1pPr>
            <a:lvl2pPr marL="742950" indent="-285750" defTabSz="0">
              <a:defRPr>
                <a:solidFill>
                  <a:schemeClr val="tx1"/>
                </a:solidFill>
                <a:latin typeface="Arial" panose="020B0604020202020204" pitchFamily="34" charset="0"/>
                <a:ea typeface="宋体" panose="02010600030101010101" pitchFamily="2" charset="-122"/>
              </a:defRPr>
            </a:lvl2pPr>
            <a:lvl3pPr marL="1143000" indent="-228600" defTabSz="0">
              <a:defRPr>
                <a:solidFill>
                  <a:schemeClr val="tx1"/>
                </a:solidFill>
                <a:latin typeface="Arial" panose="020B0604020202020204" pitchFamily="34" charset="0"/>
                <a:ea typeface="宋体" panose="02010600030101010101" pitchFamily="2" charset="-122"/>
              </a:defRPr>
            </a:lvl3pPr>
            <a:lvl4pPr marL="1600200" indent="-228600" defTabSz="0">
              <a:defRPr>
                <a:solidFill>
                  <a:schemeClr val="tx1"/>
                </a:solidFill>
                <a:latin typeface="Arial" panose="020B0604020202020204" pitchFamily="34" charset="0"/>
                <a:ea typeface="宋体" panose="02010600030101010101" pitchFamily="2" charset="-122"/>
              </a:defRPr>
            </a:lvl4pPr>
            <a:lvl5pPr marL="2057400" indent="-228600" defTabSz="0">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0" rtl="0" eaLnBrk="0" fontAlgn="base" latinLnBrk="0" hangingPunct="0">
              <a:lnSpc>
                <a:spcPct val="100000"/>
              </a:lnSpc>
              <a:spcBef>
                <a:spcPct val="30000"/>
              </a:spcBef>
              <a:spcAft>
                <a:spcPct val="0"/>
              </a:spcAft>
              <a:buClrTx/>
              <a:buSzTx/>
              <a:buFontTx/>
              <a:buNone/>
              <a:defRPr/>
            </a:pPr>
            <a:r>
              <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0" rtl="0" eaLnBrk="0" fontAlgn="base" latinLnBrk="0" hangingPunct="0">
              <a:lnSpc>
                <a:spcPct val="100000"/>
              </a:lnSpc>
              <a:spcBef>
                <a:spcPct val="30000"/>
              </a:spcBef>
              <a:spcAft>
                <a:spcPct val="0"/>
              </a:spcAft>
              <a:buClrTx/>
              <a:buSzTx/>
              <a:buFontTx/>
              <a:buNone/>
              <a:defRPr/>
            </a:pPr>
            <a:r>
              <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0" rtl="0" eaLnBrk="0" fontAlgn="base" latinLnBrk="0" hangingPunct="0">
              <a:lnSpc>
                <a:spcPct val="100000"/>
              </a:lnSpc>
              <a:spcBef>
                <a:spcPct val="30000"/>
              </a:spcBef>
              <a:spcAft>
                <a:spcPct val="0"/>
              </a:spcAft>
              <a:buClrTx/>
              <a:buSzTx/>
              <a:buFontTx/>
              <a:buNone/>
              <a:defRPr/>
            </a:pPr>
            <a:r>
              <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0" rtl="0" eaLnBrk="0" fontAlgn="base" latinLnBrk="0" hangingPunct="0">
              <a:lnSpc>
                <a:spcPct val="100000"/>
              </a:lnSpc>
              <a:spcBef>
                <a:spcPct val="30000"/>
              </a:spcBef>
              <a:spcAft>
                <a:spcPct val="0"/>
              </a:spcAft>
              <a:buClrTx/>
              <a:buSzTx/>
              <a:buFontTx/>
              <a:buNone/>
              <a:defRPr/>
            </a:pPr>
            <a:r>
              <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0" rtl="0" eaLnBrk="0" fontAlgn="base" latinLnBrk="0" hangingPunct="0">
              <a:lnSpc>
                <a:spcPct val="100000"/>
              </a:lnSpc>
              <a:spcBef>
                <a:spcPct val="30000"/>
              </a:spcBef>
              <a:spcAft>
                <a:spcPct val="0"/>
              </a:spcAft>
              <a:buClrTx/>
              <a:buSzTx/>
              <a:buFontTx/>
              <a:buNone/>
              <a:defRPr/>
            </a:pPr>
            <a:r>
              <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页脚占位符 5"/>
          <p:cNvSpPr>
            <a:spLocks noGrp="1" noChangeArrowheads="1"/>
          </p:cNvSpPr>
          <p:nvPr>
            <p:ph type="ftr" sz="quarter" idx="4"/>
          </p:nvPr>
        </p:nvSpPr>
        <p:spPr bwMode="auto">
          <a:xfrm>
            <a:off x="0" y="9721850"/>
            <a:ext cx="3076575" cy="511175"/>
          </a:xfrm>
          <a:prstGeom prst="rect">
            <a:avLst/>
          </a:prstGeom>
          <a:noFill/>
          <a:ln>
            <a:noFill/>
          </a:ln>
        </p:spPr>
        <p:txBody>
          <a:bodyPr vert="horz" wrap="square" lIns="99048" tIns="49524" rIns="99048" bIns="49524" numCol="1" anchor="b" anchorCtr="0" compatLnSpc="1"/>
          <a:lstStyle>
            <a:lvl1pPr eaLnBrk="1" hangingPunct="1">
              <a:buFont typeface="Arial" panose="020B0604020202020204" pitchFamily="34" charset="0"/>
              <a:buNone/>
              <a:defRPr sz="13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noChangeArrowheads="1"/>
          </p:cNvSpPr>
          <p:nvPr>
            <p:ph type="sldNum" sz="quarter" idx="5"/>
          </p:nvPr>
        </p:nvSpPr>
        <p:spPr bwMode="auto">
          <a:xfrm>
            <a:off x="4021138" y="9721850"/>
            <a:ext cx="3076575" cy="511175"/>
          </a:xfrm>
          <a:prstGeom prst="rect">
            <a:avLst/>
          </a:prstGeom>
          <a:noFill/>
          <a:ln>
            <a:noFill/>
          </a:ln>
        </p:spPr>
        <p:txBody>
          <a:bodyPr vert="horz" wrap="square" lIns="99048" tIns="49524" rIns="99048" bIns="49524" numCol="1" anchor="b" anchorCtr="0" compatLnSpc="1"/>
          <a:p>
            <a:pPr lvl="0" algn="r" eaLnBrk="1" hangingPunct="1">
              <a:buNone/>
            </a:pPr>
            <a:fld id="{9A0DB2DC-4C9A-4742-B13C-FB6460FD3503}" type="slidenum">
              <a:rPr lang="zh-CN" altLang="en-US" dirty="0"/>
            </a:fld>
            <a:endParaRPr lang="zh-CN" altLang="en-US" sz="1300" dirty="0"/>
          </a:p>
        </p:txBody>
      </p:sp>
    </p:spTree>
  </p:cSld>
  <p:clrMap bg1="lt1" tx1="dk1" bg2="lt2" tx2="dk2" accent1="accent1" accent2="accent2" accent3="accent3" accent4="accent4" accent5="accent5" accent6="accent6" hlink="hlink" folHlink="folHlink"/>
  <p:hf sldNum="0" hdr="0" ftr="0" dt="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noTextEdit="1"/>
          </p:cNvSpPr>
          <p:nvPr>
            <p:ph type="sldImg"/>
          </p:nvPr>
        </p:nvSpPr>
        <p:spPr/>
      </p:sp>
      <p:sp>
        <p:nvSpPr>
          <p:cNvPr id="6147" name="备注占位符 2"/>
          <p:cNvSpPr>
            <a:spLocks noGrp="1"/>
          </p:cNvSpPr>
          <p:nvPr>
            <p:ph type="body" idx="1"/>
          </p:nvPr>
        </p:nvSpPr>
        <p:spPr>
          <a:xfrm>
            <a:off x="709613" y="4860925"/>
            <a:ext cx="5680075" cy="4605338"/>
          </a:xfrm>
          <a:prstGeom prst="rect">
            <a:avLst/>
          </a:prstGeom>
          <a:noFill/>
          <a:ln w="9525">
            <a:noFill/>
          </a:ln>
        </p:spPr>
        <p:txBody>
          <a:bodyPr/>
          <a:p>
            <a:pPr marL="0" lvl="0" indent="0" algn="l" eaLnBrk="1" hangingPunct="1">
              <a:spcBef>
                <a:spcPct val="0"/>
              </a:spcBef>
              <a:buNone/>
            </a:pPr>
            <a:r>
              <a:rPr lang="zh-CN" altLang="zh-CN" kern="100" dirty="0">
                <a:effectLst/>
                <a:latin typeface="等线" panose="02010600030101010101" charset="-122"/>
                <a:ea typeface="等线" panose="02010600030101010101" charset="-122"/>
                <a:cs typeface="Times New Roman" panose="02020603050405020304" pitchFamily="18" charset="0"/>
                <a:sym typeface="+mn-ea"/>
              </a:rPr>
              <a:t>尊敬的各位专家、领导，大家上午好，非常荣幸能够代表</a:t>
            </a:r>
            <a:r>
              <a:rPr lang="zh-CN" altLang="zh-CN" kern="100" dirty="0">
                <a:effectLst/>
                <a:latin typeface="等线" panose="02010600030101010101" charset="-122"/>
                <a:ea typeface="等线" panose="02010600030101010101" charset="-122"/>
                <a:cs typeface="Times New Roman" panose="02020603050405020304" pitchFamily="18" charset="0"/>
                <a:sym typeface="+mn-ea"/>
              </a:rPr>
              <a:t>我们项目组进行本次的开题汇报</a:t>
            </a:r>
            <a:endParaRPr lang="zh-CN" altLang="en-US" dirty="0"/>
          </a:p>
        </p:txBody>
      </p:sp>
      <p:sp>
        <p:nvSpPr>
          <p:cNvPr id="6148" name="灯片编号占位符 4"/>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sz="13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Slide Image Placeholder 1"/>
          <p:cNvSpPr>
            <a:spLocks noGrp="1" noRot="1" noChangeAspect="1" noTextEdit="1"/>
          </p:cNvSpPr>
          <p:nvPr>
            <p:ph type="sldImg"/>
          </p:nvPr>
        </p:nvSpPr>
        <p:spPr/>
      </p:sp>
      <p:sp>
        <p:nvSpPr>
          <p:cNvPr id="8195" name="Notes Placeholder 2"/>
          <p:cNvSpPr>
            <a:spLocks noGrp="1"/>
          </p:cNvSpPr>
          <p:nvPr>
            <p:ph type="body" idx="1"/>
          </p:nvPr>
        </p:nvSpPr>
        <p:spPr>
          <a:xfrm>
            <a:off x="-2147483648" y="-2147483648"/>
            <a:ext cx="0" cy="0"/>
          </a:xfrm>
          <a:prstGeom prst="rect">
            <a:avLst/>
          </a:prstGeom>
          <a:noFill/>
          <a:ln w="9525">
            <a:noFill/>
          </a:ln>
        </p:spPr>
        <p:txBody>
          <a:bodyPr/>
          <a:p>
            <a:pPr lvl="0"/>
            <a:r>
              <a:rPr lang="zh-CN" altLang="en-US" dirty="0"/>
              <a:t>接下来我将从项目背景及目标、研究内容、技术路线及调研工作以还有进度安排四部分来分别</a:t>
            </a:r>
            <a:r>
              <a:rPr lang="zh-CN" altLang="en-US" dirty="0"/>
              <a:t>进行汇报</a:t>
            </a:r>
            <a:endParaRPr lang="zh-CN" altLang="en-US" dirty="0"/>
          </a:p>
        </p:txBody>
      </p:sp>
      <p:sp>
        <p:nvSpPr>
          <p:cNvPr id="8196" name="Slide Number Placeholder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Slide Image Placeholder 1"/>
          <p:cNvSpPr>
            <a:spLocks noGrp="1" noRot="1" noChangeAspect="1" noTextEdit="1"/>
          </p:cNvSpPr>
          <p:nvPr>
            <p:ph type="sldImg"/>
          </p:nvPr>
        </p:nvSpPr>
        <p:spPr/>
      </p:sp>
      <p:sp>
        <p:nvSpPr>
          <p:cNvPr id="10243" name="Notes Placeholder 2"/>
          <p:cNvSpPr>
            <a:spLocks noGrp="1"/>
          </p:cNvSpPr>
          <p:nvPr>
            <p:ph type="body" idx="1"/>
          </p:nvPr>
        </p:nvSpPr>
        <p:spPr>
          <a:xfrm>
            <a:off x="-2147483648" y="-2147483648"/>
            <a:ext cx="0" cy="0"/>
          </a:xfrm>
          <a:prstGeom prst="rect">
            <a:avLst/>
          </a:prstGeom>
          <a:noFill/>
          <a:ln w="9525">
            <a:noFill/>
          </a:ln>
        </p:spPr>
        <p:txBody>
          <a:bodyPr/>
          <a:p>
            <a:pPr lvl="0"/>
            <a:r>
              <a:rPr lang="zh-CN" altLang="en-US" dirty="0"/>
              <a:t>在双碳的目标背景下，我国新能源正实现跨越式发展，供需双侧不确定性增强且电力系统安全运行和新能源消纳矛盾开始显现。在这新型电力系统和电力市场建设的加快推进</a:t>
            </a:r>
            <a:r>
              <a:rPr lang="zh-CN" altLang="en-US" dirty="0"/>
              <a:t>的背景下，虚拟电厂作为电力系统新业态、新模式，作用日益显著，需求日益增长，发展条件日益成熟。</a:t>
            </a:r>
            <a:r>
              <a:rPr lang="zh-CN" altLang="en-US" noProof="0" dirty="0">
                <a:latin typeface="微软雅黑" panose="020B0503020204020204" pitchFamily="34" charset="-122"/>
                <a:ea typeface="微软雅黑" panose="020B0503020204020204" pitchFamily="34" charset="-122"/>
                <a:sym typeface="+mn-ea"/>
              </a:rPr>
              <a:t>近年来，国家和地方政府也出台了一系列支持虚拟电厂发展的政策。</a:t>
            </a:r>
            <a:r>
              <a:rPr lang="zh-CN" altLang="en-US" dirty="0"/>
              <a:t>为落实《加快构建新型电力系统行动方案（</a:t>
            </a:r>
            <a:r>
              <a:rPr lang="en-US" altLang="zh-CN" dirty="0"/>
              <a:t>2024—2027</a:t>
            </a:r>
            <a:r>
              <a:rPr lang="zh-CN" altLang="en-US" dirty="0"/>
              <a:t>年）》这一行动方案的有关要求，加快推进虚拟电厂发展，今年</a:t>
            </a:r>
            <a:r>
              <a:rPr lang="en-US" altLang="zh-CN" dirty="0"/>
              <a:t>3</a:t>
            </a:r>
            <a:r>
              <a:rPr lang="zh-CN" altLang="en-US" dirty="0"/>
              <a:t>月</a:t>
            </a:r>
            <a:r>
              <a:rPr lang="en-US" altLang="zh-CN" dirty="0"/>
              <a:t>25</a:t>
            </a:r>
            <a:r>
              <a:rPr lang="zh-CN" altLang="en-US" dirty="0"/>
              <a:t>号发改委和能源局印发了《关于加快推进虚拟电厂发展的指导意见》，作为</a:t>
            </a:r>
            <a:r>
              <a:rPr lang="zh-CN" altLang="en-US" b="1" noProof="0" dirty="0">
                <a:solidFill>
                  <a:srgbClr val="FF0000"/>
                </a:solidFill>
                <a:latin typeface="微软雅黑" panose="020B0503020204020204" pitchFamily="34" charset="-122"/>
                <a:ea typeface="Kaiti SC"/>
                <a:sym typeface="+mn-ea"/>
              </a:rPr>
              <a:t>首份虚拟电厂国家级专项指导意见，</a:t>
            </a:r>
            <a:r>
              <a:rPr lang="zh-CN" altLang="en-US" dirty="0"/>
              <a:t>该意见明确虚拟电厂的定义和功能定位的同时，也对虚拟电厂的进一步建设</a:t>
            </a:r>
            <a:r>
              <a:rPr lang="zh-CN" altLang="en-US" dirty="0"/>
              <a:t>提出了要求。</a:t>
            </a:r>
            <a:endParaRPr lang="zh-CN" altLang="en-US" dirty="0"/>
          </a:p>
        </p:txBody>
      </p:sp>
      <p:sp>
        <p:nvSpPr>
          <p:cNvPr id="10244" name="Slide Number Placeholder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Slide Image Placeholder 1"/>
          <p:cNvSpPr>
            <a:spLocks noGrp="1" noRot="1" noChangeAspect="1" noTextEdit="1"/>
          </p:cNvSpPr>
          <p:nvPr>
            <p:ph type="sldImg"/>
          </p:nvPr>
        </p:nvSpPr>
        <p:spPr/>
      </p:sp>
      <p:sp>
        <p:nvSpPr>
          <p:cNvPr id="12291" name="Notes Placeholder 2"/>
          <p:cNvSpPr>
            <a:spLocks noGrp="1"/>
          </p:cNvSpPr>
          <p:nvPr>
            <p:ph type="body" idx="1"/>
          </p:nvPr>
        </p:nvSpPr>
        <p:spPr>
          <a:xfrm>
            <a:off x="-2147483648" y="-2147483648"/>
            <a:ext cx="0" cy="0"/>
          </a:xfrm>
          <a:prstGeom prst="rect">
            <a:avLst/>
          </a:prstGeom>
          <a:noFill/>
          <a:ln w="9525">
            <a:noFill/>
          </a:ln>
        </p:spPr>
        <p:txBody>
          <a:bodyPr/>
          <a:p>
            <a:pPr lvl="0"/>
            <a:r>
              <a:rPr lang="zh-CN" altLang="en-US" noProof="0" dirty="0">
                <a:latin typeface="微软雅黑" panose="020B0503020204020204" pitchFamily="34" charset="-122"/>
                <a:ea typeface="微软雅黑" panose="020B0503020204020204" pitchFamily="34" charset="-122"/>
                <a:sym typeface="+mn-ea"/>
              </a:rPr>
              <a:t>华中区域电力市场也在积极推进虚拟电厂参与。</a:t>
            </a:r>
            <a:r>
              <a:rPr lang="en-US" altLang="zh-CN" noProof="0" dirty="0">
                <a:latin typeface="微软雅黑" panose="020B0503020204020204" pitchFamily="34" charset="-122"/>
                <a:ea typeface="微软雅黑" panose="020B0503020204020204" pitchFamily="34" charset="-122"/>
                <a:sym typeface="+mn-ea"/>
              </a:rPr>
              <a:t>2024</a:t>
            </a:r>
            <a:r>
              <a:rPr lang="zh-CN" altLang="en-US" noProof="0" dirty="0">
                <a:latin typeface="微软雅黑" panose="020B0503020204020204" pitchFamily="34" charset="-122"/>
                <a:ea typeface="微软雅黑" panose="020B0503020204020204" pitchFamily="34" charset="-122"/>
                <a:sym typeface="+mn-ea"/>
              </a:rPr>
              <a:t>年</a:t>
            </a:r>
            <a:r>
              <a:rPr lang="en-US" altLang="zh-CN" noProof="0" dirty="0">
                <a:latin typeface="微软雅黑" panose="020B0503020204020204" pitchFamily="34" charset="-122"/>
                <a:ea typeface="微软雅黑" panose="020B0503020204020204" pitchFamily="34" charset="-122"/>
                <a:sym typeface="+mn-ea"/>
              </a:rPr>
              <a:t>7</a:t>
            </a:r>
            <a:r>
              <a:rPr lang="zh-CN" altLang="en-US" noProof="0" dirty="0">
                <a:latin typeface="微软雅黑" panose="020B0503020204020204" pitchFamily="34" charset="-122"/>
                <a:ea typeface="微软雅黑" panose="020B0503020204020204" pitchFamily="34" charset="-122"/>
                <a:sym typeface="+mn-ea"/>
              </a:rPr>
              <a:t>月华中能监局发布的</a:t>
            </a:r>
            <a:r>
              <a:rPr lang="en-US" altLang="zh-CN" b="1" noProof="0" dirty="0">
                <a:solidFill>
                  <a:srgbClr val="FF0000"/>
                </a:solidFill>
                <a:latin typeface="微软雅黑" panose="020B0503020204020204" pitchFamily="34" charset="-122"/>
                <a:ea typeface="微软雅黑" panose="020B0503020204020204" pitchFamily="34" charset="-122"/>
                <a:sym typeface="+mn-ea"/>
              </a:rPr>
              <a:t>《</a:t>
            </a:r>
            <a:r>
              <a:rPr lang="zh-CN" altLang="en-US" b="1" noProof="0" dirty="0">
                <a:solidFill>
                  <a:srgbClr val="FF0000"/>
                </a:solidFill>
                <a:latin typeface="微软雅黑" panose="020B0503020204020204" pitchFamily="34" charset="-122"/>
                <a:ea typeface="微软雅黑" panose="020B0503020204020204" pitchFamily="34" charset="-122"/>
                <a:sym typeface="+mn-ea"/>
              </a:rPr>
              <a:t>华中区域省间电力中长期交易规则</a:t>
            </a:r>
            <a:r>
              <a:rPr lang="en-US" altLang="zh-CN" b="1" noProof="0" dirty="0">
                <a:solidFill>
                  <a:srgbClr val="FF0000"/>
                </a:solidFill>
                <a:latin typeface="微软雅黑" panose="020B0503020204020204" pitchFamily="34" charset="-122"/>
                <a:ea typeface="微软雅黑" panose="020B0503020204020204" pitchFamily="34" charset="-122"/>
                <a:sym typeface="+mn-ea"/>
              </a:rPr>
              <a:t>》</a:t>
            </a:r>
            <a:r>
              <a:rPr lang="zh-CN" altLang="en-US" noProof="0" dirty="0">
                <a:latin typeface="微软雅黑" panose="020B0503020204020204" pitchFamily="34" charset="-122"/>
                <a:ea typeface="微软雅黑" panose="020B0503020204020204" pitchFamily="34" charset="-122"/>
                <a:sym typeface="+mn-ea"/>
              </a:rPr>
              <a:t>明确</a:t>
            </a:r>
            <a:r>
              <a:rPr lang="zh-CN" altLang="en-US" b="1" noProof="0" dirty="0">
                <a:solidFill>
                  <a:srgbClr val="FF0000"/>
                </a:solidFill>
                <a:latin typeface="微软雅黑" panose="020B0503020204020204" pitchFamily="34" charset="-122"/>
                <a:ea typeface="微软雅黑" panose="020B0503020204020204" pitchFamily="34" charset="-122"/>
                <a:sym typeface="+mn-ea"/>
              </a:rPr>
              <a:t>允许虚拟电厂参与省间交易</a:t>
            </a:r>
            <a:r>
              <a:rPr lang="zh-CN" altLang="en-US" noProof="0" dirty="0">
                <a:latin typeface="微软雅黑" panose="020B0503020204020204" pitchFamily="34" charset="-122"/>
                <a:ea typeface="微软雅黑" panose="020B0503020204020204" pitchFamily="34" charset="-122"/>
                <a:sym typeface="+mn-ea"/>
              </a:rPr>
              <a:t>，并对其准入条件做出了规定。然而，</a:t>
            </a:r>
            <a:r>
              <a:rPr lang="zh-CN" altLang="en-US" b="1" noProof="0" dirty="0">
                <a:solidFill>
                  <a:srgbClr val="FF0000"/>
                </a:solidFill>
                <a:latin typeface="微软雅黑" panose="020B0503020204020204" pitchFamily="34" charset="-122"/>
                <a:ea typeface="微软雅黑" panose="020B0503020204020204" pitchFamily="34" charset="-122"/>
                <a:sym typeface="+mn-ea"/>
              </a:rPr>
              <a:t>虚拟电厂作为新型市场主体</a:t>
            </a:r>
            <a:r>
              <a:rPr lang="zh-CN" altLang="en-US" noProof="0" dirty="0">
                <a:latin typeface="微软雅黑" panose="020B0503020204020204" pitchFamily="34" charset="-122"/>
                <a:ea typeface="微软雅黑" panose="020B0503020204020204" pitchFamily="34" charset="-122"/>
                <a:sym typeface="+mn-ea"/>
              </a:rPr>
              <a:t>，其参与华中区域电网运行的潜力、调峰调频服务的调控策略、现货交易市场机制、风险评估与管理制度仍有待深入研究。</a:t>
            </a:r>
            <a:endParaRPr kumimoji="0" lang="en-US" altLang="zh-CN" kern="1200" cap="none" spc="0" normalizeH="0" baseline="0" noProof="0" dirty="0">
              <a:latin typeface="微软雅黑" panose="020B0503020204020204" pitchFamily="34" charset="-122"/>
              <a:ea typeface="微软雅黑" panose="020B0503020204020204" pitchFamily="34" charset="-122"/>
              <a:cs typeface="+mn-cs"/>
            </a:endParaRPr>
          </a:p>
          <a:p>
            <a:pPr lvl="0"/>
            <a:endParaRPr lang="zh-CN" altLang="en-US" dirty="0"/>
          </a:p>
        </p:txBody>
      </p:sp>
      <p:sp>
        <p:nvSpPr>
          <p:cNvPr id="12292" name="Slide Number Placeholder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Slide Image Placeholder 1"/>
          <p:cNvSpPr>
            <a:spLocks noGrp="1" noRot="1" noChangeAspect="1" noTextEdit="1"/>
          </p:cNvSpPr>
          <p:nvPr>
            <p:ph type="sldImg"/>
          </p:nvPr>
        </p:nvSpPr>
        <p:spPr/>
      </p:sp>
      <p:sp>
        <p:nvSpPr>
          <p:cNvPr id="14339" name="Notes Placeholder 2"/>
          <p:cNvSpPr>
            <a:spLocks noGrp="1"/>
          </p:cNvSpPr>
          <p:nvPr>
            <p:ph type="body" idx="1"/>
          </p:nvPr>
        </p:nvSpPr>
        <p:spPr>
          <a:xfrm>
            <a:off x="-2147483648" y="-2147483648"/>
            <a:ext cx="0" cy="0"/>
          </a:xfrm>
          <a:prstGeom prst="rect">
            <a:avLst/>
          </a:prstGeom>
          <a:noFill/>
          <a:ln w="9525">
            <a:noFill/>
          </a:ln>
        </p:spPr>
        <p:txBody>
          <a:bodyPr/>
          <a:p>
            <a:pPr lvl="0"/>
            <a:r>
              <a:rPr lang="zh-CN" altLang="en-US" dirty="0"/>
              <a:t>因此</a:t>
            </a:r>
            <a:r>
              <a:rPr lang="zh-CN" altLang="en-US" dirty="0">
                <a:latin typeface="微软雅黑" panose="020B0503020204020204" pitchFamily="34" charset="-122"/>
                <a:ea typeface="微软雅黑" panose="020B0503020204020204" pitchFamily="34" charset="-122"/>
                <a:sym typeface="+mn-ea"/>
              </a:rPr>
              <a:t>本项目</a:t>
            </a:r>
            <a:r>
              <a:rPr lang="zh-CN" altLang="en-US" dirty="0">
                <a:latin typeface="微软雅黑" panose="020B0503020204020204" pitchFamily="34" charset="-122"/>
                <a:ea typeface="微软雅黑" panose="020B0503020204020204" pitchFamily="34" charset="-122"/>
                <a:sym typeface="+mn-ea"/>
              </a:rPr>
              <a:t>旨在充分调研</a:t>
            </a:r>
            <a:r>
              <a:rPr lang="zh-CN" altLang="en-US" b="1" dirty="0">
                <a:solidFill>
                  <a:srgbClr val="FF0000"/>
                </a:solidFill>
                <a:latin typeface="微软雅黑" panose="020B0503020204020204" pitchFamily="34" charset="-122"/>
                <a:ea typeface="微软雅黑" panose="020B0503020204020204" pitchFamily="34" charset="-122"/>
                <a:sym typeface="+mn-ea"/>
              </a:rPr>
              <a:t>华中区域虚拟电厂建设和运营现状</a:t>
            </a:r>
            <a:r>
              <a:rPr lang="zh-CN" altLang="en-US" dirty="0">
                <a:latin typeface="微软雅黑" panose="020B0503020204020204" pitchFamily="34" charset="-122"/>
                <a:ea typeface="微软雅黑" panose="020B0503020204020204" pitchFamily="34" charset="-122"/>
                <a:sym typeface="+mn-ea"/>
              </a:rPr>
              <a:t>基础上，结合各省</a:t>
            </a:r>
            <a:r>
              <a:rPr lang="zh-CN" altLang="en-US" b="1" dirty="0">
                <a:solidFill>
                  <a:srgbClr val="FF0000"/>
                </a:solidFill>
                <a:latin typeface="微软雅黑" panose="020B0503020204020204" pitchFamily="34" charset="-122"/>
                <a:ea typeface="微软雅黑" panose="020B0503020204020204" pitchFamily="34" charset="-122"/>
                <a:sym typeface="+mn-ea"/>
              </a:rPr>
              <a:t>负荷特性</a:t>
            </a:r>
            <a:r>
              <a:rPr lang="zh-CN" altLang="en-US" dirty="0">
                <a:latin typeface="微软雅黑" panose="020B0503020204020204" pitchFamily="34" charset="-122"/>
                <a:ea typeface="微软雅黑" panose="020B0503020204020204" pitchFamily="34" charset="-122"/>
                <a:sym typeface="+mn-ea"/>
              </a:rPr>
              <a:t>、</a:t>
            </a:r>
            <a:r>
              <a:rPr lang="zh-CN" altLang="en-US" b="1" dirty="0">
                <a:solidFill>
                  <a:srgbClr val="FF0000"/>
                </a:solidFill>
                <a:latin typeface="微软雅黑" panose="020B0503020204020204" pitchFamily="34" charset="-122"/>
                <a:ea typeface="微软雅黑" panose="020B0503020204020204" pitchFamily="34" charset="-122"/>
                <a:sym typeface="+mn-ea"/>
              </a:rPr>
              <a:t>电源结构</a:t>
            </a:r>
            <a:r>
              <a:rPr lang="zh-CN" altLang="en-US" dirty="0">
                <a:latin typeface="微软雅黑" panose="020B0503020204020204" pitchFamily="34" charset="-122"/>
                <a:ea typeface="微软雅黑" panose="020B0503020204020204" pitchFamily="34" charset="-122"/>
                <a:sym typeface="+mn-ea"/>
              </a:rPr>
              <a:t>、</a:t>
            </a:r>
            <a:r>
              <a:rPr lang="zh-CN" altLang="en-US" b="1" dirty="0">
                <a:solidFill>
                  <a:srgbClr val="FF0000"/>
                </a:solidFill>
                <a:latin typeface="微软雅黑" panose="020B0503020204020204" pitchFamily="34" charset="-122"/>
                <a:ea typeface="微软雅黑" panose="020B0503020204020204" pitchFamily="34" charset="-122"/>
                <a:sym typeface="+mn-ea"/>
              </a:rPr>
              <a:t>输电通道容量</a:t>
            </a:r>
            <a:r>
              <a:rPr lang="zh-CN" altLang="en-US" dirty="0">
                <a:latin typeface="微软雅黑" panose="020B0503020204020204" pitchFamily="34" charset="-122"/>
                <a:ea typeface="微软雅黑" panose="020B0503020204020204" pitchFamily="34" charset="-122"/>
                <a:sym typeface="+mn-ea"/>
              </a:rPr>
              <a:t>等进行</a:t>
            </a:r>
            <a:r>
              <a:rPr lang="zh-CN" altLang="en-US" b="1" dirty="0">
                <a:solidFill>
                  <a:srgbClr val="FF0000"/>
                </a:solidFill>
                <a:latin typeface="微软雅黑" panose="020B0503020204020204" pitchFamily="34" charset="-122"/>
                <a:ea typeface="微软雅黑" panose="020B0503020204020204" pitchFamily="34" charset="-122"/>
                <a:sym typeface="+mn-ea"/>
              </a:rPr>
              <a:t>技术可行性分析</a:t>
            </a:r>
            <a:r>
              <a:rPr lang="zh-CN" altLang="en-US" dirty="0">
                <a:latin typeface="微软雅黑" panose="020B0503020204020204" pitchFamily="34" charset="-122"/>
                <a:ea typeface="微软雅黑" panose="020B0503020204020204" pitchFamily="34" charset="-122"/>
                <a:sym typeface="+mn-ea"/>
              </a:rPr>
              <a:t>和</a:t>
            </a:r>
            <a:r>
              <a:rPr lang="zh-CN" altLang="en-US" b="1" dirty="0">
                <a:solidFill>
                  <a:srgbClr val="FF0000"/>
                </a:solidFill>
                <a:latin typeface="微软雅黑" panose="020B0503020204020204" pitchFamily="34" charset="-122"/>
                <a:ea typeface="微软雅黑" panose="020B0503020204020204" pitchFamily="34" charset="-122"/>
                <a:sym typeface="+mn-ea"/>
              </a:rPr>
              <a:t>经济潜力分析</a:t>
            </a:r>
            <a:r>
              <a:rPr lang="zh-CN" altLang="en-US" dirty="0">
                <a:latin typeface="微软雅黑" panose="020B0503020204020204" pitchFamily="34" charset="-122"/>
                <a:ea typeface="微软雅黑" panose="020B0503020204020204" pitchFamily="34" charset="-122"/>
                <a:sym typeface="+mn-ea"/>
              </a:rPr>
              <a:t>，对虚拟电厂参与电力系统</a:t>
            </a:r>
            <a:r>
              <a:rPr lang="zh-CN" altLang="en-US" b="1" dirty="0">
                <a:solidFill>
                  <a:srgbClr val="FF0000"/>
                </a:solidFill>
                <a:latin typeface="微软雅黑" panose="020B0503020204020204" pitchFamily="34" charset="-122"/>
                <a:ea typeface="微软雅黑" panose="020B0503020204020204" pitchFamily="34" charset="-122"/>
                <a:sym typeface="+mn-ea"/>
              </a:rPr>
              <a:t>调峰调频服务</a:t>
            </a:r>
            <a:r>
              <a:rPr lang="zh-CN" altLang="en-US" dirty="0">
                <a:latin typeface="微软雅黑" panose="020B0503020204020204" pitchFamily="34" charset="-122"/>
                <a:ea typeface="微软雅黑" panose="020B0503020204020204" pitchFamily="34" charset="-122"/>
                <a:sym typeface="+mn-ea"/>
              </a:rPr>
              <a:t>的各个典型场景进行调控策略及经济性分析，研究虚拟电厂参与</a:t>
            </a:r>
            <a:r>
              <a:rPr lang="zh-CN" altLang="en-US" b="1" dirty="0">
                <a:solidFill>
                  <a:srgbClr val="FF0000"/>
                </a:solidFill>
                <a:latin typeface="微软雅黑" panose="020B0503020204020204" pitchFamily="34" charset="-122"/>
                <a:ea typeface="微软雅黑" panose="020B0503020204020204" pitchFamily="34" charset="-122"/>
                <a:sym typeface="+mn-ea"/>
              </a:rPr>
              <a:t>省间电力现货市场</a:t>
            </a:r>
            <a:r>
              <a:rPr lang="zh-CN" altLang="en-US" dirty="0">
                <a:latin typeface="微软雅黑" panose="020B0503020204020204" pitchFamily="34" charset="-122"/>
                <a:ea typeface="微软雅黑" panose="020B0503020204020204" pitchFamily="34" charset="-122"/>
                <a:sym typeface="+mn-ea"/>
              </a:rPr>
              <a:t>的机制，并从</a:t>
            </a:r>
            <a:r>
              <a:rPr lang="zh-CN" altLang="en-US" b="1" dirty="0">
                <a:solidFill>
                  <a:srgbClr val="FF0000"/>
                </a:solidFill>
                <a:latin typeface="微软雅黑" panose="020B0503020204020204" pitchFamily="34" charset="-122"/>
                <a:ea typeface="微软雅黑" panose="020B0503020204020204" pitchFamily="34" charset="-122"/>
                <a:sym typeface="+mn-ea"/>
              </a:rPr>
              <a:t>电网安全稳定运行</a:t>
            </a:r>
            <a:r>
              <a:rPr lang="zh-CN" altLang="en-US" dirty="0">
                <a:latin typeface="微软雅黑" panose="020B0503020204020204" pitchFamily="34" charset="-122"/>
                <a:ea typeface="微软雅黑" panose="020B0503020204020204" pitchFamily="34" charset="-122"/>
                <a:sym typeface="+mn-ea"/>
              </a:rPr>
              <a:t>的角度出发，对虚拟电厂规模化运行后给电网运行带来的风险进行评估以及制定应对管理策略，切实发挥</a:t>
            </a:r>
            <a:r>
              <a:rPr lang="zh-CN" altLang="en-US" b="1" dirty="0">
                <a:solidFill>
                  <a:srgbClr val="FF0000"/>
                </a:solidFill>
                <a:latin typeface="微软雅黑" panose="020B0503020204020204" pitchFamily="34" charset="-122"/>
                <a:ea typeface="微软雅黑" panose="020B0503020204020204" pitchFamily="34" charset="-122"/>
                <a:sym typeface="+mn-ea"/>
              </a:rPr>
              <a:t>虚拟电厂这一新型市场主体</a:t>
            </a:r>
            <a:r>
              <a:rPr lang="zh-CN" altLang="en-US" dirty="0">
                <a:latin typeface="微软雅黑" panose="020B0503020204020204" pitchFamily="34" charset="-122"/>
                <a:ea typeface="微软雅黑" panose="020B0503020204020204" pitchFamily="34" charset="-122"/>
                <a:sym typeface="+mn-ea"/>
              </a:rPr>
              <a:t>在</a:t>
            </a:r>
            <a:r>
              <a:rPr lang="zh-CN" altLang="en-US" b="1" dirty="0">
                <a:solidFill>
                  <a:srgbClr val="FF0000"/>
                </a:solidFill>
                <a:latin typeface="微软雅黑" panose="020B0503020204020204" pitchFamily="34" charset="-122"/>
                <a:ea typeface="微软雅黑" panose="020B0503020204020204" pitchFamily="34" charset="-122"/>
                <a:sym typeface="+mn-ea"/>
              </a:rPr>
              <a:t>资源优化配置</a:t>
            </a:r>
            <a:r>
              <a:rPr lang="zh-CN" altLang="en-US" dirty="0">
                <a:latin typeface="微软雅黑" panose="020B0503020204020204" pitchFamily="34" charset="-122"/>
                <a:ea typeface="微软雅黑" panose="020B0503020204020204" pitchFamily="34" charset="-122"/>
                <a:sym typeface="+mn-ea"/>
              </a:rPr>
              <a:t>、</a:t>
            </a:r>
            <a:r>
              <a:rPr lang="zh-CN" altLang="en-US" b="1" dirty="0">
                <a:solidFill>
                  <a:srgbClr val="FF0000"/>
                </a:solidFill>
                <a:latin typeface="微软雅黑" panose="020B0503020204020204" pitchFamily="34" charset="-122"/>
                <a:ea typeface="微软雅黑" panose="020B0503020204020204" pitchFamily="34" charset="-122"/>
                <a:sym typeface="+mn-ea"/>
              </a:rPr>
              <a:t>电力系统灵活调节</a:t>
            </a:r>
            <a:r>
              <a:rPr lang="zh-CN" altLang="en-US" dirty="0">
                <a:latin typeface="微软雅黑" panose="020B0503020204020204" pitchFamily="34" charset="-122"/>
                <a:ea typeface="微软雅黑" panose="020B0503020204020204" pitchFamily="34" charset="-122"/>
                <a:sym typeface="+mn-ea"/>
              </a:rPr>
              <a:t>以及</a:t>
            </a:r>
            <a:r>
              <a:rPr lang="zh-CN" altLang="en-US" b="1" dirty="0">
                <a:solidFill>
                  <a:srgbClr val="FF0000"/>
                </a:solidFill>
                <a:latin typeface="微软雅黑" panose="020B0503020204020204" pitchFamily="34" charset="-122"/>
                <a:ea typeface="微软雅黑" panose="020B0503020204020204" pitchFamily="34" charset="-122"/>
                <a:sym typeface="+mn-ea"/>
              </a:rPr>
              <a:t>新型电力系统构建</a:t>
            </a:r>
            <a:r>
              <a:rPr lang="zh-CN" altLang="en-US" dirty="0">
                <a:latin typeface="微软雅黑" panose="020B0503020204020204" pitchFamily="34" charset="-122"/>
                <a:ea typeface="微软雅黑" panose="020B0503020204020204" pitchFamily="34" charset="-122"/>
                <a:sym typeface="+mn-ea"/>
              </a:rPr>
              <a:t>和</a:t>
            </a:r>
            <a:r>
              <a:rPr lang="zh-CN" altLang="en-US" b="1" dirty="0">
                <a:solidFill>
                  <a:srgbClr val="FF0000"/>
                </a:solidFill>
                <a:latin typeface="微软雅黑" panose="020B0503020204020204" pitchFamily="34" charset="-122"/>
                <a:ea typeface="微软雅黑" panose="020B0503020204020204" pitchFamily="34" charset="-122"/>
                <a:sym typeface="+mn-ea"/>
              </a:rPr>
              <a:t>能源绿色低碳转型</a:t>
            </a:r>
            <a:r>
              <a:rPr lang="zh-CN" altLang="en-US" dirty="0">
                <a:latin typeface="微软雅黑" panose="020B0503020204020204" pitchFamily="34" charset="-122"/>
                <a:ea typeface="微软雅黑" panose="020B0503020204020204" pitchFamily="34" charset="-122"/>
                <a:sym typeface="+mn-ea"/>
              </a:rPr>
              <a:t>中的重要作用。</a:t>
            </a:r>
            <a:endParaRPr lang="zh-CN" altLang="en-US" dirty="0"/>
          </a:p>
        </p:txBody>
      </p:sp>
      <p:sp>
        <p:nvSpPr>
          <p:cNvPr id="14340" name="Slide Number Placeholder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Slide Image Placeholder 1"/>
          <p:cNvSpPr>
            <a:spLocks noGrp="1" noRot="1" noChangeAspect="1" noTextEdit="1"/>
          </p:cNvSpPr>
          <p:nvPr>
            <p:ph type="sldImg"/>
          </p:nvPr>
        </p:nvSpPr>
        <p:spPr/>
      </p:sp>
      <p:sp>
        <p:nvSpPr>
          <p:cNvPr id="16387" name="Notes Placeholder 2"/>
          <p:cNvSpPr>
            <a:spLocks noGrp="1"/>
          </p:cNvSpPr>
          <p:nvPr>
            <p:ph type="body" idx="1"/>
          </p:nvPr>
        </p:nvSpPr>
        <p:spPr>
          <a:xfrm>
            <a:off x="-2147483648" y="-2147483648"/>
            <a:ext cx="0" cy="0"/>
          </a:xfrm>
          <a:prstGeom prst="rect">
            <a:avLst/>
          </a:prstGeom>
          <a:noFill/>
          <a:ln w="9525">
            <a:noFill/>
          </a:ln>
        </p:spPr>
        <p:txBody>
          <a:bodyPr/>
          <a:p>
            <a:pPr lvl="0"/>
            <a:r>
              <a:rPr lang="zh-CN" altLang="en-US" dirty="0"/>
              <a:t>针对合同中提到的四项研究内容我们</a:t>
            </a:r>
            <a:r>
              <a:rPr lang="zh-CN" altLang="en-US" dirty="0"/>
              <a:t>逐个进行了深层理解</a:t>
            </a:r>
            <a:r>
              <a:rPr lang="zh-CN" altLang="en-US" dirty="0"/>
              <a:t>和分析</a:t>
            </a:r>
            <a:endParaRPr lang="zh-CN" altLang="en-US" dirty="0"/>
          </a:p>
        </p:txBody>
      </p:sp>
      <p:sp>
        <p:nvSpPr>
          <p:cNvPr id="16388" name="Slide Number Placeholder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8434" name="Rectangle 2"/>
          <p:cNvSpPr>
            <a:spLocks noGrp="1" noRot="1" noChangeAspect="1" noTextEdit="1"/>
          </p:cNvSpPr>
          <p:nvPr>
            <p:ph type="sldImg"/>
          </p:nvPr>
        </p:nvSpPr>
        <p:spPr>
          <a:xfrm>
            <a:off x="1743818380" y="2100867338"/>
            <a:ext cx="807330533" cy="605497900"/>
          </a:xfrm>
        </p:spPr>
      </p:sp>
      <p:sp>
        <p:nvSpPr>
          <p:cNvPr id="18435" name="Rectangle 3"/>
          <p:cNvSpPr>
            <a:spLocks noGrp="1" noRot="1" noChangeAspect="1"/>
          </p:cNvSpPr>
          <p:nvPr>
            <p:ph type="body" idx="1"/>
          </p:nvPr>
        </p:nvSpPr>
        <p:spPr>
          <a:xfrm>
            <a:off x="473075" y="1790700"/>
            <a:ext cx="8520113" cy="5065713"/>
          </a:xfrm>
          <a:prstGeom prst="rect">
            <a:avLst/>
          </a:prstGeom>
          <a:noFill/>
          <a:ln w="9525">
            <a:noFill/>
          </a:ln>
        </p:spPr>
        <p:txBody>
          <a:bodyPr lIns="99048" tIns="49524" rIns="99048" bIns="49524"/>
          <a:p>
            <a:pPr lvl="0"/>
            <a:r>
              <a:rPr lang="zh-CN" altLang="en-US" dirty="0"/>
              <a:t>针对研究内容</a:t>
            </a:r>
            <a:r>
              <a:rPr lang="en-US" altLang="zh-CN" dirty="0"/>
              <a:t>1</a:t>
            </a:r>
            <a:r>
              <a:rPr lang="zh-CN" altLang="en-US" dirty="0">
                <a:ln>
                  <a:noFill/>
                </a:ln>
                <a:effectLst/>
                <a:sym typeface="+mn-ea"/>
              </a:rPr>
              <a:t>华中区域虚拟电厂发展现状及资源灵活调控潜力分析，我们主要聚焦于现状梳理即调研华中区域虚拟电厂建设运营情况，包括数量、规模、类型等、资源特性分析和潜力评估分析三方面；</a:t>
            </a:r>
            <a:br>
              <a:rPr lang="zh-CN" altLang="en-US" dirty="0">
                <a:ln>
                  <a:noFill/>
                </a:ln>
                <a:effectLst/>
                <a:sym typeface="+mn-ea"/>
              </a:rPr>
            </a:br>
            <a:r>
              <a:rPr lang="zh-CN" altLang="en-US" dirty="0">
                <a:ln>
                  <a:noFill/>
                </a:ln>
                <a:effectLst/>
                <a:sym typeface="+mn-ea"/>
              </a:rPr>
              <a:t>对研究内容</a:t>
            </a:r>
            <a:r>
              <a:rPr lang="en-US" altLang="zh-CN" dirty="0">
                <a:ln>
                  <a:noFill/>
                </a:ln>
                <a:effectLst/>
                <a:sym typeface="+mn-ea"/>
              </a:rPr>
              <a:t>2</a:t>
            </a:r>
            <a:r>
              <a:rPr lang="zh-CN" altLang="en-US" dirty="0">
                <a:ln>
                  <a:noFill/>
                </a:ln>
                <a:effectLst/>
                <a:sym typeface="+mn-ea"/>
              </a:rPr>
              <a:t>我们则重点研究虚拟电厂参与电力系统调峰调频服务的调控策略，包括设计实时功率分配策略等，同时</a:t>
            </a:r>
            <a:r>
              <a:rPr lang="zh-CN" altLang="en-US" dirty="0">
                <a:ln>
                  <a:noFill/>
                </a:ln>
                <a:effectLst/>
                <a:sym typeface="+mn-ea"/>
              </a:rPr>
              <a:t>从成本、收益两个维度对各种调控策略进行经济性分析</a:t>
            </a:r>
            <a:endParaRPr lang="zh-CN" altLang="en-US" dirty="0">
              <a:ln>
                <a:noFill/>
              </a:ln>
              <a:effectLst/>
              <a:sym typeface="+mn-ea"/>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0482" name="Rectangle 2"/>
          <p:cNvSpPr>
            <a:spLocks noGrp="1" noRot="1" noChangeAspect="1" noTextEdit="1"/>
          </p:cNvSpPr>
          <p:nvPr>
            <p:ph type="sldImg"/>
          </p:nvPr>
        </p:nvSpPr>
        <p:spPr>
          <a:xfrm>
            <a:off x="1743818380" y="2100867338"/>
            <a:ext cx="807330533" cy="605497900"/>
          </a:xfrm>
        </p:spPr>
      </p:sp>
      <p:sp>
        <p:nvSpPr>
          <p:cNvPr id="20483" name="Rectangle 3"/>
          <p:cNvSpPr>
            <a:spLocks noGrp="1" noRot="1" noChangeAspect="1"/>
          </p:cNvSpPr>
          <p:nvPr>
            <p:ph type="body" idx="1"/>
          </p:nvPr>
        </p:nvSpPr>
        <p:spPr>
          <a:xfrm>
            <a:off x="473075" y="1790700"/>
            <a:ext cx="8520113" cy="5065713"/>
          </a:xfrm>
          <a:prstGeom prst="rect">
            <a:avLst/>
          </a:prstGeom>
          <a:noFill/>
          <a:ln w="9525">
            <a:noFill/>
          </a:ln>
        </p:spPr>
        <p:txBody>
          <a:bodyPr lIns="99048" tIns="49524" rIns="99048" bIns="49524"/>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pPr>
            <a:r>
              <a:rPr lang="zh-CN" altLang="en-US" dirty="0"/>
              <a:t>研究内容</a:t>
            </a:r>
            <a:r>
              <a:rPr lang="en-US" altLang="zh-CN" dirty="0"/>
              <a:t>3</a:t>
            </a:r>
            <a:r>
              <a:rPr lang="zh-CN" altLang="en-US" dirty="0"/>
              <a:t>则围绕机制进行设计和分析，在研究现有政策和机制的基础上进行市场机制完善包括准入与退出机制和交易规则，以及</a:t>
            </a:r>
            <a:r>
              <a:rPr lang="zh-CN" altLang="en-US" dirty="0"/>
              <a:t>配套机制的构建。</a:t>
            </a:r>
            <a:endParaRPr lang="zh-CN" altLang="en-US" dirty="0"/>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pPr>
            <a:r>
              <a:rPr lang="zh-CN" altLang="en-US" dirty="0"/>
              <a:t>最后针对</a:t>
            </a:r>
            <a:r>
              <a:rPr lang="zh-CN" altLang="en-US" dirty="0">
                <a:ln>
                  <a:noFill/>
                </a:ln>
                <a:effectLst/>
                <a:sym typeface="+mn-ea"/>
              </a:rPr>
              <a:t>虚拟电厂对电网运行的风险评估及应对管理策略展开研究，对虚拟电厂成规模后市场力影响进行研究分析，评估对调控运行带来的风险；考虑不确定性的虚拟电厂运行风险应对方法</a:t>
            </a:r>
            <a:endParaRPr lang="zh-CN" altLang="en-US" dirty="0">
              <a:ln>
                <a:noFill/>
              </a:ln>
              <a:effectLst/>
              <a:sym typeface="+mn-ea"/>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本项目涉及了</a:t>
            </a:r>
            <a:r>
              <a:rPr lang="en-US" altLang="zh-CN"/>
              <a:t>“</a:t>
            </a:r>
            <a:r>
              <a:rPr lang="zh-CN" altLang="en-US"/>
              <a:t>数据</a:t>
            </a:r>
            <a:r>
              <a:rPr lang="en-US" altLang="zh-CN"/>
              <a:t>—</a:t>
            </a:r>
            <a:r>
              <a:rPr lang="zh-CN" altLang="en-US"/>
              <a:t>技术</a:t>
            </a:r>
            <a:r>
              <a:rPr lang="en-US" altLang="zh-CN"/>
              <a:t>—</a:t>
            </a:r>
            <a:r>
              <a:rPr lang="zh-CN" altLang="en-US"/>
              <a:t>规则</a:t>
            </a:r>
            <a:r>
              <a:rPr lang="en-US" altLang="zh-CN"/>
              <a:t>—</a:t>
            </a:r>
            <a:r>
              <a:rPr lang="zh-CN" altLang="en-US"/>
              <a:t>管理</a:t>
            </a:r>
            <a:r>
              <a:rPr lang="en-US" altLang="zh-CN"/>
              <a:t>”</a:t>
            </a:r>
            <a:r>
              <a:rPr lang="zh-CN" altLang="en-US"/>
              <a:t>四个维度，在研究过程中</a:t>
            </a:r>
            <a:r>
              <a:rPr lang="zh-CN" altLang="en-US"/>
              <a:t>主要面临以下关键挑战：</a:t>
            </a:r>
            <a:endParaRPr lang="zh-CN" altLang="en-US"/>
          </a:p>
          <a:p>
            <a:r>
              <a:rPr lang="zh-CN" altLang="en-US"/>
              <a:t>在数据基础与现状分析</a:t>
            </a:r>
            <a:r>
              <a:rPr lang="zh-CN" altLang="en-US"/>
              <a:t>方面：需通过调研厘清华中区域虚拟电厂的规模、类型、能力及利益相关方，精准识别当前运行中的问题，为研究奠定可靠基础。</a:t>
            </a:r>
            <a:endParaRPr lang="en-US" altLang="zh-CN"/>
          </a:p>
          <a:p>
            <a:r>
              <a:rPr lang="zh-CN" altLang="en-US"/>
              <a:t>其次</a:t>
            </a:r>
            <a:r>
              <a:rPr lang="zh-CN" altLang="en-US"/>
              <a:t>涉及复杂多目标协同优化：虚拟电厂参与调频调峰需协调内部分布式资源与外部调度、交易，涉及多目标决策（如经济性、响应速度、稳定性），策略设计与求解方法具有较高技术复杂度。</a:t>
            </a:r>
            <a:endParaRPr lang="en-US" altLang="zh-CN"/>
          </a:p>
          <a:p>
            <a:r>
              <a:rPr lang="zh-CN" altLang="en-US"/>
              <a:t>在省间现货市场规则设计</a:t>
            </a:r>
            <a:r>
              <a:rPr lang="zh-CN" altLang="en-US"/>
              <a:t>方面：需解决调度与交易时序衔接、出清结算边界等问题，构建符合实际的理论分析框架。</a:t>
            </a:r>
            <a:endParaRPr lang="en-US" altLang="zh-CN"/>
          </a:p>
          <a:p>
            <a:r>
              <a:rPr lang="zh-CN" altLang="en-US"/>
              <a:t>风险管理</a:t>
            </a:r>
            <a:r>
              <a:rPr lang="zh-CN" altLang="en-US"/>
              <a:t>研究：需兼顾现行政策解构与创新管理规则设计，平衡合规性与灵活性，对系统性研究能力提出较高要求。</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本项目在</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电力市场理论、管理科学、电力系统工程</a:t>
            </a:r>
            <a:r>
              <a:rPr lang="zh-CN" altLang="en-US"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等既有规范理论体系之上，</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创新地结合虚拟电厂实践工作</a:t>
            </a:r>
            <a:r>
              <a:rPr lang="zh-CN" altLang="en-US"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，通过理论分析、循证研究丰富和具体化了既有理论在实践中的创新应用，</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拓展了既有电力市场理论与方法和虚拟电厂管理运行的新应用领域</a:t>
            </a:r>
            <a:r>
              <a:rPr lang="zh-CN" altLang="en-US"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，既验证了经典理论，又提出了应用导向的理论体系与可操作的工作策略，具有鲜明的</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理论创新意义</a:t>
            </a:r>
            <a:r>
              <a:rPr lang="zh-CN" altLang="en-US"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和</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现实借鉴价值</a:t>
            </a:r>
            <a:r>
              <a:rPr lang="zh-CN" altLang="en-US"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Slide Image Placeholder 1"/>
          <p:cNvSpPr>
            <a:spLocks noGrp="1" noRot="1" noChangeAspect="1" noTextEdit="1"/>
          </p:cNvSpPr>
          <p:nvPr>
            <p:ph type="sldImg"/>
          </p:nvPr>
        </p:nvSpPr>
        <p:spPr/>
      </p:sp>
      <p:sp>
        <p:nvSpPr>
          <p:cNvPr id="24579" name="Notes Placeholder 2"/>
          <p:cNvSpPr>
            <a:spLocks noGrp="1"/>
          </p:cNvSpPr>
          <p:nvPr>
            <p:ph type="body" idx="1"/>
          </p:nvPr>
        </p:nvSpPr>
        <p:spPr>
          <a:xfrm>
            <a:off x="-2147483648" y="-2147483648"/>
            <a:ext cx="0" cy="0"/>
          </a:xfrm>
          <a:prstGeom prst="rect">
            <a:avLst/>
          </a:prstGeom>
          <a:noFill/>
          <a:ln w="9525">
            <a:noFill/>
          </a:ln>
        </p:spPr>
        <p:txBody>
          <a:bodyPr/>
          <a:p>
            <a:pPr lvl="0"/>
            <a:r>
              <a:rPr lang="zh-CN" altLang="en-US" dirty="0"/>
              <a:t>首先我们对国内外虚拟电厂的建设情况进行了</a:t>
            </a:r>
            <a:r>
              <a:rPr lang="zh-CN" altLang="en-US" dirty="0"/>
              <a:t>初步研究</a:t>
            </a:r>
            <a:endParaRPr lang="zh-CN" altLang="en-US" dirty="0"/>
          </a:p>
        </p:txBody>
      </p:sp>
      <p:sp>
        <p:nvSpPr>
          <p:cNvPr id="24580" name="Slide Number Placeholder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随着新型电力系统建设推进，近年来国家多部委在政策文件中对虚拟电厂发展予以支持，仅</a:t>
            </a:r>
            <a:r>
              <a:rPr lang="en-US" altLang="zh-CN"/>
              <a:t>2024</a:t>
            </a:r>
            <a:r>
              <a:rPr lang="zh-CN" altLang="en-US"/>
              <a:t>年相继出台了十多项国家层面虚拟电厂相关政策，引导虚拟电厂新型主体参与电力系统调节，凸显了国家对于虚拟电厂发展的</a:t>
            </a:r>
            <a:r>
              <a:rPr lang="zh-CN" altLang="en-US"/>
              <a:t>重视，表中只进行了部分展示。</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与此同时，各省紧跟国家政策趋势，根据自身虚拟电厂发展阶段和地方特色出台了专项发展规划和管理办法等，</a:t>
            </a:r>
            <a:r>
              <a:rPr lang="zh-CN" altLang="en-US"/>
              <a:t>系统性推进虚拟电厂发展，部分省份也为推动虚拟电厂参与绿电交易发布专项政策，同时储能凭借独特调节优势成为虚拟电厂重要组成，部分省份发布新型储能相关管理办法。如图是对地方层面</a:t>
            </a:r>
            <a:r>
              <a:rPr lang="en-US" altLang="zh-CN"/>
              <a:t>2024</a:t>
            </a:r>
            <a:r>
              <a:rPr lang="zh-CN" altLang="en-US"/>
              <a:t>年虚拟电厂相关政策文件汇总。我们也将国家层面以及华中区域和山东广东等省份的现行相关政策进行了</a:t>
            </a:r>
            <a:r>
              <a:rPr lang="zh-CN" altLang="en-US"/>
              <a:t>汇编。</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总体来看国内虚拟电厂</a:t>
            </a:r>
            <a:r>
              <a:rPr lang="zh-CN" altLang="en-US" dirty="0">
                <a:ea typeface="Kaiti SC" pitchFamily="2" charset="-122"/>
                <a:sym typeface="+mn-ea"/>
              </a:rPr>
              <a:t>呈现“负荷型”和“综合型”两类并存的情况，负荷型虚拟电厂主要集中在经济发达地区，这些地区符合段资源丰富，而综合型虚拟电厂则集中在分布式可再生能源丰富的</a:t>
            </a:r>
            <a:r>
              <a:rPr lang="zh-CN" altLang="en-US" dirty="0">
                <a:ea typeface="Kaiti SC" pitchFamily="2" charset="-122"/>
                <a:sym typeface="+mn-ea"/>
              </a:rPr>
              <a:t>地区。</a:t>
            </a:r>
            <a:endParaRPr lang="zh-CN" altLang="en-US" dirty="0">
              <a:ea typeface="Kaiti SC" pitchFamily="2" charset="-122"/>
              <a:sym typeface="+mn-ea"/>
            </a:endParaRPr>
          </a:p>
          <a:p>
            <a:r>
              <a:rPr lang="zh-CN" altLang="en-US" dirty="0">
                <a:ea typeface="Kaiti SC" pitchFamily="2" charset="-122"/>
                <a:sym typeface="+mn-ea"/>
              </a:rPr>
              <a:t>从运营模式来看，目前大多数虚拟电厂项目由政府部门和电力机构主导，且主要通过参与需求侧响应来获得补贴，盈利模式较为单一，虽然各地中长期、现货、备用和辅助服务市场正逐步向虚拟电厂放开，但同时也带来了更高的要求和更复杂的规则。各省虚拟电厂参与的运营方式</a:t>
            </a:r>
            <a:r>
              <a:rPr lang="zh-CN" altLang="en-US" dirty="0">
                <a:ea typeface="Kaiti SC" pitchFamily="2" charset="-122"/>
                <a:sym typeface="+mn-ea"/>
              </a:rPr>
              <a:t>均有所差异</a:t>
            </a:r>
            <a:endParaRPr lang="zh-CN" altLang="en-US" dirty="0">
              <a:ea typeface="Kaiti SC" pitchFamily="2" charset="-122"/>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例如山西虚拟电厂已试点参与现货市场，并在《电力现货市场实施细则（</a:t>
            </a:r>
            <a:r>
              <a:rPr lang="en-US" altLang="zh-CN"/>
              <a:t>V15.0</a:t>
            </a:r>
            <a:r>
              <a:rPr lang="zh-CN" altLang="en-US"/>
              <a:t>）》中规定</a:t>
            </a:r>
            <a:r>
              <a:rPr lang="en-US" altLang="zh-CN"/>
              <a:t>“</a:t>
            </a:r>
            <a:r>
              <a:rPr lang="zh-CN" altLang="en-US"/>
              <a:t>负荷类</a:t>
            </a:r>
            <a:r>
              <a:rPr lang="en-US" altLang="zh-CN"/>
              <a:t>”</a:t>
            </a:r>
            <a:r>
              <a:rPr lang="zh-CN" altLang="en-US"/>
              <a:t>虚拟电厂，以</a:t>
            </a:r>
            <a:r>
              <a:rPr lang="en-US" altLang="zh-CN"/>
              <a:t>“</a:t>
            </a:r>
            <a:r>
              <a:rPr lang="zh-CN" altLang="en-US"/>
              <a:t>报量报价</a:t>
            </a:r>
            <a:r>
              <a:rPr lang="en-US" altLang="zh-CN"/>
              <a:t>”</a:t>
            </a:r>
            <a:r>
              <a:rPr lang="zh-CN" altLang="en-US"/>
              <a:t>方式参与现货市场；在上海虚拟电厂常态化参与市场化需求响应</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受限于我国电力市场建设整体推进节奏，虚拟电厂参与市场交易的相关机制建设仍在逐步完善，目前主要通过参与电力市场交易（仅部分省份的调峰辅助服务市场、现货市场）或者政策性需求响应两个渠道</a:t>
            </a:r>
            <a:r>
              <a:rPr lang="zh-CN" altLang="en-US"/>
              <a:t>获取收益</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dirty="0">
                <a:sym typeface="+mn-ea"/>
              </a:rPr>
              <a:t>而虚拟电厂建设在国外开展较早，目前，美国、日本和以德国为代表的欧盟等国家均已实施了虚拟电厂相关项目，并形成相对完整的商业模式与产业链。且良好的市场机制建设进程也为虚拟电厂商业化运营打下了</a:t>
            </a:r>
            <a:r>
              <a:rPr lang="zh-CN" altLang="en-US" dirty="0">
                <a:sym typeface="+mn-ea"/>
              </a:rPr>
              <a:t>坚实的基础。</a:t>
            </a:r>
            <a:endParaRPr lang="zh-CN" altLang="en-US" dirty="0">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研究发现，美国虚拟电厂</a:t>
            </a:r>
            <a:r>
              <a:rPr lang="zh-CN" altLang="en-US" b="1" noProof="0" dirty="0">
                <a:ln>
                  <a:noFill/>
                </a:ln>
                <a:solidFill>
                  <a:srgbClr val="FF0000"/>
                </a:solidFill>
                <a:effectLst/>
                <a:uLnTx/>
                <a:uFillTx/>
                <a:ea typeface="宋体" panose="02010600030101010101" pitchFamily="2" charset="-122"/>
                <a:sym typeface="+mn-ea"/>
              </a:rPr>
              <a:t>聚焦负荷资源，</a:t>
            </a:r>
            <a:r>
              <a:rPr lang="zh-CN" altLang="en-US"/>
              <a:t>通过参与电能量、辅助服务市场获取收益，培育了特斯拉等知名虚拟电厂运营商；欧洲的虚拟电厂</a:t>
            </a:r>
            <a:r>
              <a:rPr lang="zh-CN" altLang="en-US" b="1" dirty="0">
                <a:solidFill>
                  <a:srgbClr val="FF0000"/>
                </a:solidFill>
                <a:sym typeface="+mn-ea"/>
              </a:rPr>
              <a:t>以分布式电源、储能资源为主，主要针对实现分布式电源可靠并网和电力市场运营；澳大利亚以用户侧储能为主，提供频率控制辅助服务</a:t>
            </a:r>
            <a:endParaRPr lang="zh-CN" altLang="en-US" b="1" dirty="0">
              <a:solidFill>
                <a:srgbClr val="FF0000"/>
              </a:solidFill>
              <a:latin typeface="Arial" panose="020B0604020202020204" pitchFamily="34" charset="0"/>
              <a:sym typeface="+mn-ea"/>
            </a:endParaRPr>
          </a:p>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总体来看，国外的虚拟电厂主要</a:t>
            </a:r>
            <a:r>
              <a:rPr lang="zh-CN" altLang="en-US" dirty="0">
                <a:sym typeface="+mn-ea"/>
              </a:rPr>
              <a:t>通过提供灵活性服务、电价套利，降低调峰成本、负荷平衡成本等运行成本，优化基础设施投资等方式获利；</a:t>
            </a:r>
            <a:endParaRPr lang="zh-CN" altLang="en-US" dirty="0">
              <a:sym typeface="+mn-ea"/>
            </a:endParaRPr>
          </a:p>
          <a:p>
            <a:r>
              <a:rPr lang="zh-CN" altLang="en-US" b="1" dirty="0">
                <a:solidFill>
                  <a:srgbClr val="FF0000"/>
                </a:solidFill>
                <a:sym typeface="+mn-ea"/>
              </a:rPr>
              <a:t>从组织实施来看</a:t>
            </a:r>
            <a:r>
              <a:rPr lang="zh-CN" altLang="en-US" dirty="0">
                <a:sym typeface="+mn-ea"/>
              </a:rPr>
              <a:t>，电网公司、售电企业、发电企业、专业运营商都可以主导运营虚拟电厂；</a:t>
            </a:r>
            <a:endParaRPr lang="zh-CN" altLang="en-US" dirty="0">
              <a:sym typeface="+mn-ea"/>
            </a:endParaRPr>
          </a:p>
          <a:p>
            <a:r>
              <a:rPr lang="zh-CN" altLang="en-US" b="1" dirty="0">
                <a:solidFill>
                  <a:srgbClr val="FF0000"/>
                </a:solidFill>
                <a:sym typeface="+mn-ea"/>
              </a:rPr>
              <a:t>从激励模式来看</a:t>
            </a:r>
            <a:r>
              <a:rPr lang="zh-CN" altLang="en-US" dirty="0">
                <a:sym typeface="+mn-ea"/>
              </a:rPr>
              <a:t>，运营商主要采取</a:t>
            </a:r>
            <a:r>
              <a:rPr lang="zh-CN" altLang="en-US" dirty="0">
                <a:sym typeface="+mn-ea"/>
              </a:rPr>
              <a:t>优惠电价、固定费用、利润分成三种方式；</a:t>
            </a:r>
            <a:endParaRPr lang="zh-CN" altLang="en-US" dirty="0">
              <a:sym typeface="+mn-ea"/>
            </a:endParaRPr>
          </a:p>
          <a:p>
            <a:r>
              <a:rPr lang="zh-CN" altLang="en-US" b="1" dirty="0">
                <a:solidFill>
                  <a:srgbClr val="FF0000"/>
                </a:solidFill>
                <a:sym typeface="+mn-ea"/>
              </a:rPr>
              <a:t>从政府监管来看</a:t>
            </a:r>
            <a:r>
              <a:rPr lang="zh-CN" altLang="en-US" dirty="0">
                <a:sym typeface="+mn-ea"/>
              </a:rPr>
              <a:t>，通过完善的法律条款和清晰的市场规则奠定虚拟电厂运营基础。</a:t>
            </a:r>
            <a:endParaRPr lang="zh-CN" altLang="en-US" dirty="0">
              <a:latin typeface="Arial" panose="020B0604020202020204" pitchFamily="34" charset="0"/>
              <a:sym typeface="+mn-ea"/>
            </a:endParaRPr>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对比国内外虚拟电厂可以发现在聚合资源类型、市场成熟度、商业模式成熟度方面都有较大差别。国外聚合资源类型包括源荷储，而国内以负荷侧为主；国外相较于国内</a:t>
            </a:r>
            <a:r>
              <a:rPr lang="zh-CN" altLang="en-US" dirty="0">
                <a:ea typeface="Kaiti SC"/>
                <a:sym typeface="+mn-ea"/>
              </a:rPr>
              <a:t>辅助服务市场和电力现货市场</a:t>
            </a:r>
            <a:r>
              <a:rPr lang="zh-CN" altLang="en-US" b="1" dirty="0">
                <a:ea typeface="Kaiti SC"/>
                <a:sym typeface="+mn-ea"/>
              </a:rPr>
              <a:t>较为成熟</a:t>
            </a:r>
            <a:r>
              <a:rPr lang="zh-CN" altLang="en-US" dirty="0">
                <a:ea typeface="Kaiti SC"/>
                <a:sym typeface="+mn-ea"/>
              </a:rPr>
              <a:t>,相关配套机制</a:t>
            </a:r>
            <a:r>
              <a:rPr lang="zh-CN" altLang="en-US" b="1" dirty="0">
                <a:ea typeface="Kaiti SC"/>
                <a:sym typeface="+mn-ea"/>
              </a:rPr>
              <a:t>较为健全；且国内的虚拟电厂商业模式尚不清晰，尚未形成成熟稳定的盈利模式。</a:t>
            </a:r>
            <a:r>
              <a:rPr lang="zh-CN" altLang="en-US" b="1" dirty="0">
                <a:ea typeface="Kaiti SC"/>
                <a:sym typeface="+mn-ea"/>
              </a:rPr>
              <a:t>及随着虚拟电厂产业发展热度的持续提升，需要建立标准规范体系、加速完善市场机制、提升关键技术性能、培育运营商核心能力，支撑虚拟电厂规范化、市场化、常态化、规模化发展。</a:t>
            </a:r>
            <a:endParaRPr lang="zh-CN" altLang="en-US" b="1" dirty="0">
              <a:ea typeface="Kaiti SC"/>
              <a:sym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针对本项目各研究内容，我们初步设计了相应的研究路线并进行了各部分相关政策梳理工作为后续研究</a:t>
            </a:r>
            <a:r>
              <a:rPr lang="zh-CN" altLang="en-US"/>
              <a:t>打基础。研究内容</a:t>
            </a:r>
            <a:r>
              <a:rPr lang="en-US" altLang="zh-CN"/>
              <a:t>1</a:t>
            </a:r>
            <a:r>
              <a:rPr lang="zh-CN" altLang="en-US"/>
              <a:t>主要涉及现场调研、文献调研以及针对调研结果进行归纳分析，</a:t>
            </a:r>
            <a:r>
              <a:rPr lang="zh-CN" altLang="en-US" noProof="0" dirty="0">
                <a:ln>
                  <a:noFill/>
                </a:ln>
                <a:effectLst/>
                <a:uLnTx/>
                <a:uFillTx/>
                <a:latin typeface="Kaiti SC" pitchFamily="2" charset="-122"/>
                <a:ea typeface="Kaiti SC" pitchFamily="2" charset="-122"/>
                <a:sym typeface="+mn-ea"/>
              </a:rPr>
              <a:t>评估虚拟电厂参与省间电力市场的技术可行性和经济潜力</a:t>
            </a:r>
            <a:endParaRPr kumimoji="0" lang="en-US" altLang="zh-CN"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lstStyle/>
          <a:p>
            <a:r>
              <a:rPr lang="zh-CN" altLang="en-US"/>
              <a:t>线上调研发现，国家层面以及华中地区部分</a:t>
            </a:r>
            <a:r>
              <a:rPr lang="zh-CN" altLang="en-US"/>
              <a:t>省份均已出台相关政策，以加快推进虚拟电厂的发展进程。</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四省中湖北省虚拟电厂的建设较为领先，</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政策体系完善，已发布虚拟电厂注册操作指南、入市服务指南，并且已有虚拟电厂参与辅助服务市场和现货市场交易；</a:t>
            </a:r>
            <a:endPar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a:p>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湖南省</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今年内</a:t>
            </a:r>
            <a:r>
              <a:rPr lang="en-US" altLang="zh-CN" dirty="0">
                <a:solidFill>
                  <a:prstClr val="black">
                    <a:lumMod val="75000"/>
                    <a:lumOff val="25000"/>
                  </a:prstClr>
                </a:solidFill>
                <a:latin typeface="微软雅黑" panose="020B0503020204020204" pitchFamily="34" charset="-122"/>
                <a:ea typeface="微软雅黑" panose="020B0503020204020204" pitchFamily="34" charset="-122"/>
                <a:sym typeface="+mn-ea"/>
              </a:rPr>
              <a:t>2</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家虚拟电厂以独立市场主体身份首次参与交易，标志着湖南省虚拟电厂进入市场化发展新阶段。</a:t>
            </a:r>
            <a:endPar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a:p>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江西省和河南省的虚拟电厂发展进度</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则较为缓慢。</a:t>
            </a:r>
            <a:endPar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根据现有</a:t>
            </a:r>
            <a:r>
              <a:rPr lang="zh-CN" altLang="en-US"/>
              <a:t>学术研究，虚拟电厂主要参与到辅助服务和电能量两个市场，其中负荷型虚拟电厂主要参与辅助服务市场，聚合的是功率调节型资源，包括工业负荷、商业负荷、电动汽车和储能等；电源型虚拟电厂主要参与电能量市场，聚合能量输型资源，包括可控性发电、半可控性发电等资源，例如分布式风光。</a:t>
            </a:r>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lstStyle/>
          <a:p>
            <a:pPr rtl="0">
              <a:lnSpc>
                <a:spcPts val="2100"/>
              </a:lnSpc>
            </a:pPr>
            <a:r>
              <a:rPr lang="zh-CN" altLang="en-US" dirty="0">
                <a:solidFill>
                  <a:srgbClr val="000000"/>
                </a:solidFill>
                <a:effectLst/>
                <a:sym typeface="+mn-ea"/>
              </a:rPr>
              <a:t>结合调研情况，</a:t>
            </a:r>
            <a:r>
              <a:rPr lang="zh-CN" altLang="en-US" dirty="0">
                <a:solidFill>
                  <a:srgbClr val="000000"/>
                </a:solidFill>
                <a:effectLst/>
                <a:sym typeface="+mn-ea"/>
              </a:rPr>
              <a:t>我们将围绕虚拟电厂参与省间电力市场问题，从</a:t>
            </a:r>
            <a:r>
              <a:rPr lang="zh-CN" altLang="en-US" dirty="0">
                <a:solidFill>
                  <a:schemeClr val="accent1"/>
                </a:solidFill>
                <a:effectLst/>
                <a:sym typeface="+mn-ea"/>
              </a:rPr>
              <a:t>交易资源层面和支撑设施层面</a:t>
            </a:r>
            <a:r>
              <a:rPr lang="zh-CN" altLang="en-US" dirty="0">
                <a:solidFill>
                  <a:srgbClr val="000000"/>
                </a:solidFill>
                <a:effectLst/>
                <a:sym typeface="+mn-ea"/>
              </a:rPr>
              <a:t>梳理相关要素情况，通过探究资源时空差异</a:t>
            </a:r>
            <a:r>
              <a:rPr lang="zh-CN" altLang="en-US" dirty="0">
                <a:solidFill>
                  <a:schemeClr val="accent1"/>
                </a:solidFill>
                <a:effectLst/>
                <a:sym typeface="+mn-ea"/>
              </a:rPr>
              <a:t>能否形成交易空间、是否满足电力传输通信及信息集成电网调度需要</a:t>
            </a:r>
            <a:r>
              <a:rPr lang="zh-CN" altLang="en-US" dirty="0">
                <a:solidFill>
                  <a:srgbClr val="000000"/>
                </a:solidFill>
                <a:effectLst/>
                <a:sym typeface="+mn-ea"/>
              </a:rPr>
              <a:t>等，经多要素收集挖掘与省间差异比较，进行技术可行性评估。</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lstStyle/>
          <a:p>
            <a:r>
              <a:rPr lang="zh-CN" altLang="en-US" dirty="0">
                <a:solidFill>
                  <a:srgbClr val="000000"/>
                </a:solidFill>
                <a:effectLst/>
                <a:sym typeface="+mn-ea"/>
              </a:rPr>
              <a:t>并按如图所示的</a:t>
            </a:r>
            <a:r>
              <a:rPr lang="zh-CN" altLang="en-US" dirty="0">
                <a:solidFill>
                  <a:srgbClr val="000000"/>
                </a:solidFill>
                <a:effectLst/>
                <a:sym typeface="+mn-ea"/>
              </a:rPr>
              <a:t>研究思路，从调控潜力测算与潜在效益来源两方面评估虚拟电厂参与省间电力市场的经济潜力</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r>
              <a:rPr lang="zh-CN" altLang="en-US" dirty="0">
                <a:sym typeface="+mn-ea"/>
              </a:rPr>
              <a:t>研究内容</a:t>
            </a:r>
            <a:r>
              <a:rPr lang="en-US" altLang="zh-CN" dirty="0">
                <a:sym typeface="+mn-ea"/>
              </a:rPr>
              <a:t>2</a:t>
            </a:r>
            <a:r>
              <a:rPr lang="zh-CN" altLang="en-US" dirty="0">
                <a:sym typeface="+mn-ea"/>
              </a:rPr>
              <a:t>聚焦</a:t>
            </a:r>
            <a:r>
              <a:rPr lang="zh-CN" altLang="en-US" dirty="0">
                <a:solidFill>
                  <a:srgbClr val="FF0000"/>
                </a:solidFill>
                <a:ea typeface="黑体" panose="02010609060101010101" pitchFamily="49" charset="-122"/>
                <a:sym typeface="+mn-ea"/>
              </a:rPr>
              <a:t>虚拟电厂参与电力系统调峰调频服务的调控策略及经济性分析，现有政策已有相关支撑且示范项目参与电网调峰已较为普遍，但缺乏对其调控策略和经济性的分析</a:t>
            </a:r>
            <a:endParaRPr lang="zh-CN" altLang="en-US" dirty="0">
              <a:solidFill>
                <a:srgbClr val="FF0000"/>
              </a:solidFill>
              <a:ea typeface="黑体" panose="02010609060101010101" pitchFamily="49" charset="-122"/>
              <a:sym typeface="+mn-e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r>
              <a:rPr lang="zh-CN" altLang="en-US" dirty="0"/>
              <a:t>针对</a:t>
            </a:r>
            <a:r>
              <a:rPr lang="zh-CN" altLang="en-US" dirty="0"/>
              <a:t>该研究内容，我们以现有调峰调频市场机制下虚拟电厂的调控策略作为基础来开展创新性研究，从成本和收益两个维度进行不同典型场景下虚拟电厂调控策略的经济性</a:t>
            </a:r>
            <a:r>
              <a:rPr lang="zh-CN" altLang="en-US" dirty="0"/>
              <a:t>分析。</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r>
              <a:rPr lang="zh-CN" altLang="en-US" dirty="0"/>
              <a:t>该部分主要有两个</a:t>
            </a:r>
            <a:r>
              <a:rPr lang="zh-CN" altLang="en-US" dirty="0"/>
              <a:t>创新研究思路：</a:t>
            </a:r>
            <a:endParaRPr lang="zh-CN" altLang="en-US" dirty="0"/>
          </a:p>
          <a:p>
            <a:r>
              <a:rPr lang="zh-CN" altLang="en-US" dirty="0"/>
              <a:t>首先针对</a:t>
            </a:r>
            <a:r>
              <a:rPr lang="zh-CN" altLang="en-US" dirty="0">
                <a:latin typeface="微软雅黑" panose="020B0503020204020204" pitchFamily="34" charset="-122"/>
                <a:ea typeface="微软雅黑" panose="020B0503020204020204" pitchFamily="34" charset="-122"/>
                <a:sym typeface="+mn-ea"/>
              </a:rPr>
              <a:t>当前虚拟电厂聚焦于单一辅助服务，导致收益依赖</a:t>
            </a:r>
            <a:r>
              <a:rPr lang="zh-CN" altLang="en-US" b="1" u="sng" dirty="0">
                <a:solidFill>
                  <a:srgbClr val="0062A6"/>
                </a:solidFill>
                <a:latin typeface="微软雅黑" panose="020B0503020204020204" pitchFamily="34" charset="-122"/>
                <a:ea typeface="微软雅黑" panose="020B0503020204020204" pitchFamily="34" charset="-122"/>
                <a:sym typeface="+mn-ea"/>
              </a:rPr>
              <a:t>单一市场价格，抗风险能力弱的问题，创新性</a:t>
            </a:r>
            <a:r>
              <a:rPr lang="zh-CN" altLang="en-US" dirty="0">
                <a:latin typeface="微软雅黑" panose="020B0503020204020204" pitchFamily="34" charset="-122"/>
                <a:ea typeface="微软雅黑" panose="020B0503020204020204" pitchFamily="34" charset="-122"/>
                <a:sym typeface="+mn-ea"/>
              </a:rPr>
              <a:t>构建“</a:t>
            </a:r>
            <a:r>
              <a:rPr lang="zh-CN" altLang="en-US" b="1" u="sng" dirty="0">
                <a:solidFill>
                  <a:srgbClr val="0062A6"/>
                </a:solidFill>
                <a:latin typeface="微软雅黑" panose="020B0503020204020204" pitchFamily="34" charset="-122"/>
                <a:ea typeface="微软雅黑" panose="020B0503020204020204" pitchFamily="34" charset="-122"/>
                <a:sym typeface="+mn-ea"/>
              </a:rPr>
              <a:t>多服务协同调控框架</a:t>
            </a:r>
            <a:r>
              <a:rPr lang="zh-CN" altLang="en-US"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通过动态分配资源参与调峰调频服务，避免资源闲置、冲突。最终实现“</a:t>
            </a:r>
            <a:r>
              <a:rPr lang="zh-CN" altLang="en-US" b="1" u="sng" dirty="0">
                <a:solidFill>
                  <a:srgbClr val="0062A6"/>
                </a:solidFill>
                <a:latin typeface="微软雅黑" panose="020B0503020204020204" pitchFamily="34" charset="-122"/>
                <a:ea typeface="微软雅黑" panose="020B0503020204020204" pitchFamily="34" charset="-122"/>
                <a:sym typeface="+mn-ea"/>
              </a:rPr>
              <a:t>资源利用率最大化 </a:t>
            </a:r>
            <a:r>
              <a:rPr lang="en-US" altLang="zh-CN" b="1" u="sng" dirty="0">
                <a:solidFill>
                  <a:srgbClr val="0062A6"/>
                </a:solidFill>
                <a:latin typeface="微软雅黑" panose="020B0503020204020204" pitchFamily="34" charset="-122"/>
                <a:ea typeface="微软雅黑" panose="020B0503020204020204" pitchFamily="34" charset="-122"/>
                <a:sym typeface="+mn-ea"/>
              </a:rPr>
              <a:t>+ </a:t>
            </a:r>
            <a:r>
              <a:rPr lang="zh-CN" altLang="en-US" b="1" u="sng" dirty="0">
                <a:solidFill>
                  <a:srgbClr val="0062A6"/>
                </a:solidFill>
                <a:latin typeface="微软雅黑" panose="020B0503020204020204" pitchFamily="34" charset="-122"/>
                <a:ea typeface="微软雅黑" panose="020B0503020204020204" pitchFamily="34" charset="-122"/>
                <a:sym typeface="+mn-ea"/>
              </a:rPr>
              <a:t>收益结构多元化</a:t>
            </a:r>
            <a:r>
              <a:rPr lang="zh-CN" altLang="en-US" dirty="0">
                <a:latin typeface="微软雅黑" panose="020B0503020204020204" pitchFamily="34" charset="-122"/>
                <a:ea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sym typeface="+mn-ea"/>
            </a:endParaRPr>
          </a:p>
          <a:p>
            <a:r>
              <a:rPr lang="zh-CN" altLang="en-US" dirty="0"/>
              <a:t>其次为解决</a:t>
            </a:r>
            <a:r>
              <a:rPr lang="zh-CN" altLang="en-US" dirty="0">
                <a:latin typeface="微软雅黑" panose="020B0503020204020204" pitchFamily="34" charset="-122"/>
                <a:ea typeface="微软雅黑" panose="020B0503020204020204" pitchFamily="34" charset="-122"/>
                <a:sym typeface="+mn-ea"/>
              </a:rPr>
              <a:t>单个虚拟电厂因资源分布不均和规模限制</a:t>
            </a:r>
            <a:r>
              <a:rPr lang="zh-CN" altLang="en-US" dirty="0">
                <a:latin typeface="微软雅黑" panose="020B0503020204020204" pitchFamily="34" charset="-122"/>
                <a:ea typeface="微软雅黑" panose="020B0503020204020204" pitchFamily="34" charset="-122"/>
                <a:sym typeface="+mn-ea"/>
              </a:rPr>
              <a:t>易导致的</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局部过调、全局失衡</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问题，</a:t>
            </a:r>
            <a:r>
              <a:rPr lang="zh-CN" altLang="en-US" dirty="0">
                <a:latin typeface="微软雅黑" panose="020B0503020204020204" pitchFamily="34" charset="-122"/>
                <a:ea typeface="微软雅黑" panose="020B0503020204020204" pitchFamily="34" charset="-122"/>
                <a:sym typeface="+mn-ea"/>
              </a:rPr>
              <a:t>提出 “</a:t>
            </a:r>
            <a:r>
              <a:rPr lang="zh-CN" altLang="en-US" b="1" u="sng" dirty="0">
                <a:solidFill>
                  <a:srgbClr val="0062A6"/>
                </a:solidFill>
                <a:latin typeface="微软雅黑" panose="020B0503020204020204" pitchFamily="34" charset="-122"/>
                <a:ea typeface="微软雅黑" panose="020B0503020204020204" pitchFamily="34" charset="-122"/>
                <a:sym typeface="+mn-ea"/>
              </a:rPr>
              <a:t>多 </a:t>
            </a:r>
            <a:r>
              <a:rPr lang="en-US" altLang="zh-CN" b="1" u="sng" dirty="0">
                <a:solidFill>
                  <a:srgbClr val="0062A6"/>
                </a:solidFill>
                <a:latin typeface="微软雅黑" panose="020B0503020204020204" pitchFamily="34" charset="-122"/>
                <a:ea typeface="微软雅黑" panose="020B0503020204020204" pitchFamily="34" charset="-122"/>
                <a:sym typeface="+mn-ea"/>
              </a:rPr>
              <a:t>VPP </a:t>
            </a:r>
            <a:r>
              <a:rPr lang="zh-CN" altLang="en-US" b="1" u="sng" dirty="0">
                <a:solidFill>
                  <a:srgbClr val="0062A6"/>
                </a:solidFill>
                <a:latin typeface="微软雅黑" panose="020B0503020204020204" pitchFamily="34" charset="-122"/>
                <a:ea typeface="微软雅黑" panose="020B0503020204020204" pitchFamily="34" charset="-122"/>
                <a:sym typeface="+mn-ea"/>
              </a:rPr>
              <a:t>联合运营体</a:t>
            </a:r>
            <a:r>
              <a:rPr lang="zh-CN" altLang="en-US" dirty="0">
                <a:latin typeface="微软雅黑" panose="020B0503020204020204" pitchFamily="34" charset="-122"/>
                <a:ea typeface="微软雅黑" panose="020B0503020204020204" pitchFamily="34" charset="-122"/>
                <a:sym typeface="+mn-ea"/>
              </a:rPr>
              <a:t>” 模式，联合优化总需求量，配套“</a:t>
            </a:r>
            <a:r>
              <a:rPr lang="zh-CN" altLang="en-US" b="1" u="sng" dirty="0">
                <a:solidFill>
                  <a:srgbClr val="0062A6"/>
                </a:solidFill>
                <a:latin typeface="微软雅黑" panose="020B0503020204020204" pitchFamily="34" charset="-122"/>
                <a:ea typeface="微软雅黑" panose="020B0503020204020204" pitchFamily="34" charset="-122"/>
                <a:sym typeface="+mn-ea"/>
              </a:rPr>
              <a:t>利益共享机制</a:t>
            </a:r>
            <a:r>
              <a:rPr lang="zh-CN" altLang="en-US" dirty="0">
                <a:latin typeface="微软雅黑" panose="020B0503020204020204" pitchFamily="34" charset="-122"/>
                <a:ea typeface="微软雅黑" panose="020B0503020204020204" pitchFamily="34" charset="-122"/>
                <a:sym typeface="+mn-ea"/>
              </a:rPr>
              <a:t>”。最终实现“</a:t>
            </a:r>
            <a:r>
              <a:rPr lang="en-US" altLang="zh-CN" b="1" u="sng" dirty="0">
                <a:solidFill>
                  <a:srgbClr val="0062A6"/>
                </a:solidFill>
                <a:latin typeface="微软雅黑" panose="020B0503020204020204" pitchFamily="34" charset="-122"/>
                <a:ea typeface="微软雅黑" panose="020B0503020204020204" pitchFamily="34" charset="-122"/>
                <a:sym typeface="+mn-ea"/>
              </a:rPr>
              <a:t>1+1</a:t>
            </a:r>
            <a:r>
              <a:rPr lang="zh-CN" altLang="en-US" b="1" u="sng" dirty="0">
                <a:solidFill>
                  <a:srgbClr val="0062A6"/>
                </a:solidFill>
                <a:latin typeface="微软雅黑" panose="020B0503020204020204" pitchFamily="34" charset="-122"/>
                <a:ea typeface="微软雅黑" panose="020B0503020204020204" pitchFamily="34" charset="-122"/>
                <a:sym typeface="+mn-ea"/>
              </a:rPr>
              <a:t>＞</a:t>
            </a:r>
            <a:r>
              <a:rPr lang="en-US" altLang="zh-CN" b="1" u="sng" dirty="0">
                <a:solidFill>
                  <a:srgbClr val="0062A6"/>
                </a:solidFill>
                <a:latin typeface="微软雅黑" panose="020B0503020204020204" pitchFamily="34" charset="-122"/>
                <a:ea typeface="微软雅黑" panose="020B0503020204020204" pitchFamily="34" charset="-122"/>
                <a:sym typeface="+mn-ea"/>
              </a:rPr>
              <a:t>2</a:t>
            </a:r>
            <a:r>
              <a:rPr lang="zh-CN" altLang="en-US" dirty="0">
                <a:latin typeface="微软雅黑" panose="020B0503020204020204" pitchFamily="34" charset="-122"/>
                <a:ea typeface="微软雅黑" panose="020B0503020204020204" pitchFamily="34" charset="-122"/>
                <a:sym typeface="+mn-ea"/>
              </a:rPr>
              <a:t>”的规模效应。</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sym typeface="+mn-ea"/>
              </a:rPr>
              <a:t>研究内容三聚焦虚拟电厂参与省间电力现货市场的机制创新研究。</a:t>
            </a:r>
            <a:endParaRPr lang="zh-CN" altLang="en-US">
              <a:sym typeface="+mn-ea"/>
            </a:endParaRPr>
          </a:p>
          <a:p>
            <a:r>
              <a:rPr lang="zh-CN" altLang="en-US">
                <a:sym typeface="+mn-ea"/>
              </a:rPr>
              <a:t>当前，我国省间电力现货市场建设已取得重要进展：从最初的跨区域省间富余可再生能源现货交易起步，现已形成涵盖日前和日内交易的市场体系。虚拟电厂作为新主体新业态也需加入到省间现货市场</a:t>
            </a:r>
            <a:r>
              <a:rPr lang="zh-CN" altLang="en-US">
                <a:sym typeface="+mn-ea"/>
              </a:rPr>
              <a:t>交易中。</a:t>
            </a:r>
            <a:endParaRPr lang="zh-CN" altLang="en-US">
              <a:sym typeface="+mn-ea"/>
            </a:endParaRPr>
          </a:p>
          <a:p>
            <a:r>
              <a:rPr lang="zh-CN" altLang="en-US">
                <a:sym typeface="+mn-ea"/>
              </a:rPr>
              <a:t>国家政策层面持续发力，</a:t>
            </a:r>
            <a:r>
              <a:rPr lang="en-US" altLang="zh-CN">
                <a:sym typeface="+mn-ea"/>
              </a:rPr>
              <a:t>3</a:t>
            </a:r>
            <a:r>
              <a:rPr lang="zh-CN" altLang="en-US">
                <a:sym typeface="+mn-ea"/>
              </a:rPr>
              <a:t>月</a:t>
            </a:r>
            <a:r>
              <a:rPr lang="en-US" altLang="zh-CN">
                <a:sym typeface="+mn-ea"/>
              </a:rPr>
              <a:t>25</a:t>
            </a:r>
            <a:r>
              <a:rPr lang="zh-CN" altLang="en-US">
                <a:sym typeface="+mn-ea"/>
              </a:rPr>
              <a:t>日发布的</a:t>
            </a:r>
            <a:r>
              <a:rPr lang="en-US" altLang="zh-CN">
                <a:sym typeface="+mn-ea"/>
              </a:rPr>
              <a:t>357</a:t>
            </a:r>
            <a:r>
              <a:rPr lang="zh-CN" altLang="en-US">
                <a:sym typeface="+mn-ea"/>
              </a:rPr>
              <a:t>号文明确提出要健全市场主体参与电能量市场的机制，特别强调在条件成熟地区探索虚拟电厂参与跨省电力交易；</a:t>
            </a:r>
            <a:r>
              <a:rPr lang="en-US" altLang="zh-CN">
                <a:sym typeface="+mn-ea"/>
              </a:rPr>
              <a:t>4</a:t>
            </a:r>
            <a:r>
              <a:rPr lang="zh-CN" altLang="en-US">
                <a:sym typeface="+mn-ea"/>
              </a:rPr>
              <a:t>月</a:t>
            </a:r>
            <a:r>
              <a:rPr lang="en-US" altLang="zh-CN">
                <a:sym typeface="+mn-ea"/>
              </a:rPr>
              <a:t>16</a:t>
            </a:r>
            <a:r>
              <a:rPr lang="zh-CN" altLang="en-US">
                <a:sym typeface="+mn-ea"/>
              </a:rPr>
              <a:t>日发布的</a:t>
            </a:r>
            <a:r>
              <a:rPr lang="en-US" altLang="zh-CN">
                <a:sym typeface="+mn-ea"/>
              </a:rPr>
              <a:t>394</a:t>
            </a:r>
            <a:r>
              <a:rPr lang="zh-CN" altLang="en-US">
                <a:sym typeface="+mn-ea"/>
              </a:rPr>
              <a:t>号文《关于全面加快电力现货市场建设工作的通知》进一步要求加紧研究包括虚拟电厂在内的新型市场主体直接参与省间现货交易的机制设计。这些政策导向为本研究提供了重要的制度依据和发展方向。</a:t>
            </a:r>
            <a:endParaRPr lang="zh-CN" altLang="en-US">
              <a:sym typeface="+mn-e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该部分研究内容可以分为三块：</a:t>
            </a:r>
            <a:endParaRPr lang="zh-CN" altLang="en-US"/>
          </a:p>
          <a:p>
            <a:r>
              <a:rPr lang="zh-CN" altLang="en-US"/>
              <a:t>一、完善虚拟电厂的市场准入和退出机制，主要先总结</a:t>
            </a:r>
            <a:r>
              <a:rPr lang="zh-CN" altLang="en-US" noProof="0" dirty="0">
                <a:ln>
                  <a:noFill/>
                </a:ln>
                <a:effectLst/>
                <a:uLnTx/>
                <a:uFillTx/>
                <a:latin typeface="微软雅黑" panose="020B0503020204020204" pitchFamily="34" charset="-122"/>
                <a:ea typeface="微软雅黑" panose="020B0503020204020204" pitchFamily="34" charset="-122"/>
                <a:sym typeface="+mn-ea"/>
              </a:rPr>
              <a:t>现有省内虚拟电厂参与电能量市场的准入与退出规则，进行对比分析</a:t>
            </a:r>
            <a:r>
              <a:rPr lang="zh-CN" altLang="en-US"/>
              <a:t>；</a:t>
            </a:r>
            <a:endParaRPr lang="zh-CN" altLang="en-US"/>
          </a:p>
          <a:p>
            <a:r>
              <a:rPr lang="zh-CN" altLang="en-US"/>
              <a:t>二、</a:t>
            </a:r>
            <a:r>
              <a:rPr lang="zh-CN" altLang="en-US" noProof="0" dirty="0">
                <a:ln>
                  <a:noFill/>
                </a:ln>
                <a:effectLst/>
                <a:uLnTx/>
                <a:uFillTx/>
                <a:latin typeface="微软雅黑" panose="020B0503020204020204" pitchFamily="34" charset="-122"/>
                <a:ea typeface="微软雅黑" panose="020B0503020204020204" pitchFamily="34" charset="-122"/>
                <a:sym typeface="+mn-ea"/>
              </a:rPr>
              <a:t>设计虚拟电厂参与省间现货市场的</a:t>
            </a:r>
            <a:r>
              <a:rPr lang="zh-CN" altLang="en-US" b="1" noProof="0" dirty="0">
                <a:ln>
                  <a:noFill/>
                </a:ln>
                <a:effectLst/>
                <a:uLnTx/>
                <a:uFillTx/>
                <a:latin typeface="微软雅黑" panose="020B0503020204020204" pitchFamily="34" charset="-122"/>
                <a:ea typeface="微软雅黑" panose="020B0503020204020204" pitchFamily="34" charset="-122"/>
                <a:sym typeface="+mn-ea"/>
              </a:rPr>
              <a:t>交易规则，</a:t>
            </a:r>
            <a:r>
              <a:rPr lang="zh-CN" altLang="en-US" noProof="0" dirty="0">
                <a:ln>
                  <a:noFill/>
                </a:ln>
                <a:effectLst/>
                <a:uLnTx/>
                <a:uFillTx/>
                <a:latin typeface="微软雅黑" panose="020B0503020204020204" pitchFamily="34" charset="-122"/>
                <a:ea typeface="微软雅黑" panose="020B0503020204020204" pitchFamily="34" charset="-122"/>
                <a:sym typeface="+mn-ea"/>
              </a:rPr>
              <a:t>包括报价机制、出清规则、结算方式等</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r>
              <a:rPr lang="zh-CN" altLang="en-US"/>
              <a:t>三、</a:t>
            </a:r>
            <a:r>
              <a:rPr lang="zh-CN" altLang="en-US" noProof="0" dirty="0">
                <a:ln>
                  <a:noFill/>
                </a:ln>
                <a:effectLst/>
                <a:uLnTx/>
                <a:uFillTx/>
                <a:latin typeface="微软雅黑" panose="020B0503020204020204" pitchFamily="34" charset="-122"/>
                <a:ea typeface="微软雅黑" panose="020B0503020204020204" pitchFamily="34" charset="-122"/>
                <a:sym typeface="+mn-ea"/>
              </a:rPr>
              <a:t>完善虚拟电厂参与省间现货市场的</a:t>
            </a:r>
            <a:r>
              <a:rPr lang="zh-CN" altLang="en-US" b="1" noProof="0" dirty="0">
                <a:ln>
                  <a:noFill/>
                </a:ln>
                <a:effectLst/>
                <a:uLnTx/>
                <a:uFillTx/>
                <a:latin typeface="微软雅黑" panose="020B0503020204020204" pitchFamily="34" charset="-122"/>
                <a:ea typeface="微软雅黑" panose="020B0503020204020204" pitchFamily="34" charset="-122"/>
                <a:sym typeface="+mn-ea"/>
              </a:rPr>
              <a:t>技术标准与管理规范，</a:t>
            </a:r>
            <a:r>
              <a:rPr lang="zh-CN" altLang="en-US" noProof="0" dirty="0">
                <a:ln>
                  <a:noFill/>
                </a:ln>
                <a:effectLst/>
                <a:uLnTx/>
                <a:uFillTx/>
                <a:latin typeface="微软雅黑" panose="020B0503020204020204" pitchFamily="34" charset="-122"/>
                <a:ea typeface="微软雅黑" panose="020B0503020204020204" pitchFamily="34" charset="-122"/>
                <a:sym typeface="+mn-ea"/>
              </a:rPr>
              <a:t>可参考《虚拟电厂管理规范》《虚拟电厂资源配置与评估技术规范》等国家标准，提出跨省</a:t>
            </a:r>
            <a:r>
              <a:rPr lang="en-US" altLang="zh-CN" noProof="0" dirty="0">
                <a:ln>
                  <a:noFill/>
                </a:ln>
                <a:effectLst/>
                <a:uLnTx/>
                <a:uFillTx/>
                <a:latin typeface="微软雅黑" panose="020B0503020204020204" pitchFamily="34" charset="-122"/>
                <a:ea typeface="微软雅黑" panose="020B0503020204020204" pitchFamily="34" charset="-122"/>
                <a:sym typeface="+mn-ea"/>
              </a:rPr>
              <a:t>VPP</a:t>
            </a:r>
            <a:r>
              <a:rPr lang="zh-CN" altLang="en-US" noProof="0" dirty="0">
                <a:ln>
                  <a:noFill/>
                </a:ln>
                <a:effectLst/>
                <a:uLnTx/>
                <a:uFillTx/>
                <a:latin typeface="微软雅黑" panose="020B0503020204020204" pitchFamily="34" charset="-122"/>
                <a:ea typeface="微软雅黑" panose="020B0503020204020204" pitchFamily="34" charset="-122"/>
                <a:sym typeface="+mn-ea"/>
              </a:rPr>
              <a:t>的协同调度框架</a:t>
            </a:r>
            <a:endParaRPr kumimoji="0" lang="zh-CN" altLang="en-US" b="0" i="0" u="none" strike="noStrike" cap="none"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sym typeface="+mn-ea"/>
            </a:endParaRPr>
          </a:p>
          <a:p>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研究将省间富裕可再生资源交易市场机制作为基础，迁移到负荷型虚拟电厂参与省间市场的机制</a:t>
            </a:r>
            <a:r>
              <a:rPr lang="zh-CN" altLang="en-US"/>
              <a:t>设计上</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机制设计以</a:t>
            </a:r>
            <a:r>
              <a:rPr lang="en-US" altLang="zh-CN"/>
              <a:t>“</a:t>
            </a:r>
            <a:r>
              <a:rPr lang="zh-CN" altLang="en-US"/>
              <a:t>虚拟电厂内部平衡后，以整体形态参与现货市场</a:t>
            </a:r>
            <a:r>
              <a:rPr lang="en-US" altLang="zh-CN"/>
              <a:t>”</a:t>
            </a:r>
            <a:r>
              <a:rPr lang="zh-CN" altLang="en-US"/>
              <a:t>为</a:t>
            </a:r>
            <a:r>
              <a:rPr lang="zh-CN" altLang="en-US"/>
              <a:t>前提，确保虚拟电厂作为独立市场主体具备完整的运营能力和责任边界，</a:t>
            </a:r>
            <a:endPar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r>
              <a:rPr lang="zh-CN" altLang="en-US"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重点探讨准入和退出机制、并入现有电力市场规则可行性、交易规则等。</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pPr marL="0" indent="0">
              <a:buFont typeface="Arial" panose="020B0604020202020204" pitchFamily="34" charset="0"/>
              <a:buNone/>
            </a:pPr>
            <a:r>
              <a:rPr lang="zh-CN" altLang="en-US"/>
              <a:t>针对研究内容</a:t>
            </a:r>
            <a:r>
              <a:rPr lang="en-US" altLang="zh-CN"/>
              <a:t>4</a:t>
            </a:r>
            <a:r>
              <a:rPr lang="zh-CN" altLang="en-US" b="1" dirty="0">
                <a:solidFill>
                  <a:srgbClr val="FF0000"/>
                </a:solidFill>
                <a:ea typeface="黑体" panose="02010609060101010101" pitchFamily="49" charset="-122"/>
                <a:sym typeface="+mn-ea"/>
              </a:rPr>
              <a:t>虚拟电厂对电网运行的风险评估及应对管理策略，</a:t>
            </a:r>
            <a:r>
              <a:rPr lang="zh-CN" altLang="en-US" dirty="0">
                <a:solidFill>
                  <a:srgbClr val="FF0000"/>
                </a:solidFill>
                <a:ea typeface="黑体" panose="02010609060101010101" pitchFamily="49" charset="-122"/>
                <a:sym typeface="+mn-ea"/>
              </a:rPr>
              <a:t>通过对国家和区域现行政策的系统梳理，我们发现虚拟电厂安全风险防控主要从两个维度展开：首先是提升虚拟电厂参与电力系统运行的安全水平；其次是提升虚拟电厂自身安全水平</a:t>
            </a:r>
            <a:endParaRPr lang="zh-CN" altLang="en-US" dirty="0">
              <a:solidFill>
                <a:srgbClr val="FF0000"/>
              </a:solidFill>
              <a:ea typeface="黑体" panose="02010609060101010101" pitchFamily="49" charset="-122"/>
              <a:sym typeface="+mn-ea"/>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其产生风险的内因主要在于三方</a:t>
            </a:r>
            <a:r>
              <a:rPr lang="zh-CN" altLang="en-US"/>
              <a:t>两层，上层协同风险：主要涉及虚拟电厂聚合商与电网调度机构之间的协同运行，包括调控指令响应、市场竞价交易及辅助服务供给等双向交互过程中的协调风险。</a:t>
            </a:r>
            <a:endParaRPr lang="zh-CN" altLang="en-US"/>
          </a:p>
          <a:p>
            <a:r>
              <a:rPr lang="zh-CN" altLang="en-US"/>
              <a:t>下层博弈风险：体现在虚拟电厂之间及其与分布式资源的多目标冲突，具体包括：调度策略差异、利益分配优化及市场竞争博弈等操作层面的协调问题。</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该图较清楚的展示了上下两层操作中风险评估的维度以及对应的</a:t>
            </a:r>
            <a:r>
              <a:rPr lang="zh-CN" altLang="en-US"/>
              <a:t>管理策略。</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具体来说，在上层操作中</a:t>
            </a:r>
            <a:r>
              <a:rPr lang="zh-CN" altLang="en-US"/>
              <a:t>主要存在三方面风险：一是资源响应不及时或出力偏差可能影响系统频率电压稳定，加剧电网平衡压力；二是集中报价行为可能导致市场异常波动，扰乱出清秩序；三是通信与控制问题可能引发指令执行偏差，威胁电网安全。</a:t>
            </a:r>
            <a:endParaRPr lang="zh-CN" altLang="en-US"/>
          </a:p>
          <a:p>
            <a:r>
              <a:rPr lang="zh-CN" altLang="en-US"/>
              <a:t>在下层操作中虚拟电厂与分布式资源的</a:t>
            </a:r>
            <a:r>
              <a:rPr lang="zh-CN" altLang="en-US"/>
              <a:t>协同运行也面临三重</a:t>
            </a:r>
            <a:r>
              <a:rPr lang="zh-CN" altLang="en-US"/>
              <a:t>风险：首先，协调不力可能导致供需失衡，加大电网调控难度；其次，资源类型过度集中可能威胁电网运行稳定性；最后，技术复杂性和信息不透明易引发市场信任危机。</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Slide Image Placeholder 1"/>
          <p:cNvSpPr>
            <a:spLocks noGrp="1" noRot="1" noChangeAspect="1" noTextEdit="1"/>
          </p:cNvSpPr>
          <p:nvPr>
            <p:ph type="sldImg"/>
          </p:nvPr>
        </p:nvSpPr>
        <p:spPr/>
      </p:sp>
      <p:sp>
        <p:nvSpPr>
          <p:cNvPr id="44035" name="Notes Placeholder 2"/>
          <p:cNvSpPr>
            <a:spLocks noGrp="1"/>
          </p:cNvSpPr>
          <p:nvPr>
            <p:ph type="body" idx="1"/>
          </p:nvPr>
        </p:nvSpPr>
        <p:spPr>
          <a:xfrm>
            <a:off x="-2147483648" y="-2147483648"/>
            <a:ext cx="0" cy="0"/>
          </a:xfrm>
          <a:prstGeom prst="rect">
            <a:avLst/>
          </a:prstGeom>
          <a:noFill/>
          <a:ln w="9525">
            <a:noFill/>
          </a:ln>
        </p:spPr>
        <p:txBody>
          <a:bodyPr/>
          <a:p>
            <a:pPr lvl="0"/>
            <a:r>
              <a:rPr lang="zh-CN" altLang="en-US" dirty="0"/>
              <a:t>最后是项目组的</a:t>
            </a:r>
            <a:r>
              <a:rPr lang="zh-CN" altLang="en-US" dirty="0"/>
              <a:t>进度安排</a:t>
            </a:r>
            <a:endParaRPr lang="zh-CN" altLang="en-US" dirty="0"/>
          </a:p>
        </p:txBody>
      </p:sp>
      <p:sp>
        <p:nvSpPr>
          <p:cNvPr id="44036" name="Slide Number Placeholder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a:xfrm>
            <a:off x="709613" y="4926013"/>
            <a:ext cx="5680075" cy="4029075"/>
          </a:xfrm>
          <a:prstGeom prst="rect">
            <a:avLst/>
          </a:prstGeom>
          <a:noFill/>
          <a:ln w="9525">
            <a:noFill/>
          </a:ln>
        </p:spPr>
        <p:txBody>
          <a:bodyPr/>
          <a:p>
            <a:pPr lvl="0"/>
            <a:r>
              <a:rPr lang="zh-CN" altLang="en-US" dirty="0"/>
              <a:t>通过合理的时间安排，项目组将高效开展研究，保证按时结项并达到</a:t>
            </a:r>
            <a:r>
              <a:rPr lang="zh-CN" altLang="en-US" dirty="0"/>
              <a:t>验收标准</a:t>
            </a:r>
            <a:endParaRPr lang="zh-CN" altLang="en-US" dirty="0"/>
          </a:p>
        </p:txBody>
      </p:sp>
      <p:sp>
        <p:nvSpPr>
          <p:cNvPr id="46084"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nchorCtr="0"/>
          <a:p>
            <a:pPr lvl="0" algn="r" eaLnBrk="1" hangingPunct="1"/>
            <a:fld id="{9A0DB2DC-4C9A-4742-B13C-FB6460FD3503}" type="slidenum">
              <a:rPr lang="zh-CN" altLang="en-US" dirty="0"/>
            </a:fld>
            <a:endParaRPr lang="zh-CN" altLang="en-US" sz="13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p>
            <a:r>
              <a:rPr lang="zh-CN" altLang="en-US"/>
              <a:t>我的汇报到此结束，感谢倾听，</a:t>
            </a:r>
            <a:r>
              <a:rPr lang="zh-CN" altLang="en-US"/>
              <a:t>也请各位领导和专家给出宝贵的</a:t>
            </a:r>
            <a:r>
              <a:rPr lang="zh-CN" altLang="en-US"/>
              <a:t>意见建议。</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r>
              <a:rPr lang="zh-CN" altLang="en-US"/>
              <a:t>编辑母版文本样式
第二级
第三级
第四级
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编辑母版文本样式
第二级
第三级
第四级
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457200" y="1600200"/>
            <a:ext cx="4038600" cy="4525963"/>
          </a:xfrm>
        </p:spPr>
        <p:txBody>
          <a:bodyPr/>
          <a:lstStyle/>
          <a:p>
            <a:r>
              <a:rPr lang="zh-CN" altLang="en-US"/>
              <a:t>编辑母版文本样式
第二级
第三级
第四级
第五级</a:t>
            </a:r>
            <a:endParaRPr lang="zh-CN" altLang="en-US"/>
          </a:p>
        </p:txBody>
      </p:sp>
      <p:sp>
        <p:nvSpPr>
          <p:cNvPr id="4" name="内容占位符 3"/>
          <p:cNvSpPr>
            <a:spLocks noGrp="1"/>
          </p:cNvSpPr>
          <p:nvPr>
            <p:ph sz="half" idx="2" hasCustomPrompt="1"/>
          </p:nvPr>
        </p:nvSpPr>
        <p:spPr>
          <a:xfrm>
            <a:off x="4648200" y="1600200"/>
            <a:ext cx="4038600" cy="4525963"/>
          </a:xfrm>
        </p:spPr>
        <p:txBody>
          <a:bodyPr/>
          <a:lstStyle/>
          <a:p>
            <a:r>
              <a:rPr lang="zh-CN" altLang="en-US"/>
              <a:t>编辑母版文本样式
第二级
第三级
第四级
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a:t>编辑母版文本样式
第二级
第三级
第四级
第五级</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r>
              <a:rPr lang="zh-CN" altLang="en-US"/>
              <a:t>编辑母版文本样式
第二级
第三级
第四级
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a:t>编辑母版文本样式
第二级
第三级
第四级
第五级</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r>
              <a:rPr lang="zh-CN" altLang="en-US"/>
              <a:t>编辑母版文本样式
第二级
第三级
第四级
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zh-CN" altLang="en-US"/>
              <a:t>编辑母版文本样式
第二级
第三级
第四级
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编辑母版文本样式
第二级
第三级
第四级
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sym typeface="Calibri" panose="020F0502020204030204" pitchFamily="34" charset="0"/>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编辑母版文本样式
第二级
第三级
第四级
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r>
              <a:rPr lang="zh-CN" altLang="en-US"/>
              <a:t>编辑母版文本样式
第二级
第三级
第四级
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457200" y="274638"/>
            <a:ext cx="6019800" cy="5851525"/>
          </a:xfrm>
        </p:spPr>
        <p:txBody>
          <a:bodyPr vert="eaVert"/>
          <a:lstStyle/>
          <a:p>
            <a:r>
              <a:rPr lang="zh-CN" altLang="en-US"/>
              <a:t>编辑母版文本样式
第二级
第三级
第四级
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45440"/>
            <a:ext cx="8115300" cy="1072515"/>
          </a:xfrm>
        </p:spPr>
        <p:txBody>
          <a:bodyPr/>
          <a:lstStyle/>
          <a:p>
            <a:r>
              <a:rPr lang="en-US"/>
              <a:t>Click to edit Master title style</a:t>
            </a:r>
            <a:endParaRPr lang="en-US"/>
          </a:p>
        </p:txBody>
      </p:sp>
      <p:sp>
        <p:nvSpPr>
          <p:cNvPr id="3" name="日期占位符 3"/>
          <p:cNvSpPr>
            <a:spLocks noGrp="1" noChangeArrowheads="1"/>
          </p:cNvSpPr>
          <p:nvPr>
            <p:ph type="dt" sz="half" idx="2"/>
          </p:nvPr>
        </p:nvSpPr>
        <p:spPr bwMode="auto">
          <a:xfrm>
            <a:off x="457200" y="6356350"/>
            <a:ext cx="2133600" cy="36512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4"/>
          <p:cNvSpPr>
            <a:spLocks noGrp="1" noChangeArrowheads="1"/>
          </p:cNvSpPr>
          <p:nvPr>
            <p:ph type="ftr" sz="quarter" idx="3"/>
          </p:nvPr>
        </p:nvSpPr>
        <p:spPr bwMode="auto">
          <a:xfrm>
            <a:off x="3124200" y="6356350"/>
            <a:ext cx="2895600" cy="3651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5"/>
          <p:cNvSpPr>
            <a:spLocks noGrp="1" noChangeArrowheads="1"/>
          </p:cNvSpPr>
          <p:nvPr>
            <p:ph type="sldNum" sz="quarter" idx="4"/>
          </p:nvPr>
        </p:nvSpPr>
        <p:spPr bwMode="auto">
          <a:xfrm>
            <a:off x="6553200" y="6356350"/>
            <a:ext cx="21336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en-US" altLang="en-US" dirty="0">
                <a:latin typeface="黑体" panose="02010609060101010101" pitchFamily="49" charset="-122"/>
                <a:ea typeface="黑体" panose="02010609060101010101" pitchFamily="49" charset="-122"/>
                <a:sym typeface="黑体" panose="02010609060101010101" pitchFamily="49" charset="-122"/>
              </a:rPr>
            </a:fld>
            <a:endParaRPr lang="en-US" altLang="en-US" dirty="0">
              <a:latin typeface="黑体" panose="02010609060101010101" pitchFamily="49" charset="-122"/>
              <a:ea typeface="黑体" panose="02010609060101010101" pitchFamily="49" charset="-122"/>
              <a:sym typeface="黑体" panose="02010609060101010101" pitchFamily="49" charset="-122"/>
            </a:endParaRPr>
          </a:p>
        </p:txBody>
      </p:sp>
      <p:sp>
        <p:nvSpPr>
          <p:cNvPr id="8" name="文本框 7"/>
          <p:cNvSpPr txBox="1"/>
          <p:nvPr userDrawn="1"/>
        </p:nvSpPr>
        <p:spPr>
          <a:xfrm>
            <a:off x="7532370" y="243840"/>
            <a:ext cx="3048000" cy="368300"/>
          </a:xfrm>
          <a:prstGeom prst="rect">
            <a:avLst/>
          </a:prstGeom>
          <a:noFill/>
        </p:spPr>
        <p:txBody>
          <a:bodyPr wrap="square" rtlCol="0">
            <a:spAutoFit/>
          </a:bodyPr>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p>
            <a:pPr lvl="0"/>
            <a:r>
              <a:rPr lang="zh-CN" altLang="zh-CN" dirty="0"/>
              <a:t>单击此处编辑母版标题样式</a:t>
            </a:r>
            <a:endParaRPr lang="zh-CN" altLang="zh-CN" dirty="0"/>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5/18/19</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a:defRPr sz="1200" b="1">
                <a:solidFill>
                  <a:srgbClr val="898989"/>
                </a:solidFill>
                <a:latin typeface="黑体" panose="02010609060101010101" pitchFamily="49" charset="-122"/>
                <a:ea typeface="黑体" panose="02010609060101010101" pitchFamily="49" charset="-122"/>
              </a:defRPr>
            </a:lvl1pPr>
          </a:lstStyle>
          <a:p>
            <a:pPr lvl="0" eaLnBrk="1" hangingPunct="1">
              <a:buNone/>
            </a:pPr>
            <a:fld id="{9A0DB2DC-4C9A-4742-B13C-FB6460FD3503}" type="slidenum">
              <a:rPr lang="zh-CN" altLang="en-US" dirty="0">
                <a:sym typeface="黑体" panose="02010609060101010101" pitchFamily="49" charset="-122"/>
              </a:rPr>
            </a:fld>
            <a:endParaRPr lang="zh-CN" altLang="en-US" dirty="0">
              <a:sym typeface="黑体" panose="02010609060101010101" pitchFamily="49" charset="-122"/>
            </a:endParaRPr>
          </a:p>
        </p:txBody>
      </p:sp>
      <p:grpSp>
        <p:nvGrpSpPr>
          <p:cNvPr id="8" name="组合 13"/>
          <p:cNvGrpSpPr/>
          <p:nvPr userDrawn="1"/>
        </p:nvGrpSpPr>
        <p:grpSpPr bwMode="auto">
          <a:xfrm>
            <a:off x="7189470" y="211455"/>
            <a:ext cx="1603327" cy="530778"/>
            <a:chOff x="563563" y="5610225"/>
            <a:chExt cx="1582737" cy="463551"/>
          </a:xfrm>
          <a:solidFill>
            <a:srgbClr val="006E68">
              <a:alpha val="33000"/>
            </a:srgbClr>
          </a:solidFill>
        </p:grpSpPr>
        <p:sp>
          <p:nvSpPr>
            <p:cNvPr id="9" name="Freeform 12"/>
            <p:cNvSpPr>
              <a:spLocks noEditPoints="1"/>
            </p:cNvSpPr>
            <p:nvPr/>
          </p:nvSpPr>
          <p:spPr bwMode="auto">
            <a:xfrm>
              <a:off x="609600" y="5665788"/>
              <a:ext cx="58737" cy="58738"/>
            </a:xfrm>
            <a:custGeom>
              <a:avLst/>
              <a:gdLst>
                <a:gd name="T0" fmla="*/ 14 w 23"/>
                <a:gd name="T1" fmla="*/ 13 h 23"/>
                <a:gd name="T2" fmla="*/ 12 w 23"/>
                <a:gd name="T3" fmla="*/ 11 h 23"/>
                <a:gd name="T4" fmla="*/ 13 w 23"/>
                <a:gd name="T5" fmla="*/ 10 h 23"/>
                <a:gd name="T6" fmla="*/ 13 w 23"/>
                <a:gd name="T7" fmla="*/ 12 h 23"/>
                <a:gd name="T8" fmla="*/ 15 w 23"/>
                <a:gd name="T9" fmla="*/ 12 h 23"/>
                <a:gd name="T10" fmla="*/ 16 w 23"/>
                <a:gd name="T11" fmla="*/ 12 h 23"/>
                <a:gd name="T12" fmla="*/ 14 w 23"/>
                <a:gd name="T13" fmla="*/ 13 h 23"/>
                <a:gd name="T14" fmla="*/ 11 w 23"/>
                <a:gd name="T15" fmla="*/ 19 h 23"/>
                <a:gd name="T16" fmla="*/ 12 w 23"/>
                <a:gd name="T17" fmla="*/ 18 h 23"/>
                <a:gd name="T18" fmla="*/ 17 w 23"/>
                <a:gd name="T19" fmla="*/ 12 h 23"/>
                <a:gd name="T20" fmla="*/ 19 w 23"/>
                <a:gd name="T21" fmla="*/ 11 h 23"/>
                <a:gd name="T22" fmla="*/ 17 w 23"/>
                <a:gd name="T23" fmla="*/ 10 h 23"/>
                <a:gd name="T24" fmla="*/ 16 w 23"/>
                <a:gd name="T25" fmla="*/ 11 h 23"/>
                <a:gd name="T26" fmla="*/ 16 w 23"/>
                <a:gd name="T27" fmla="*/ 10 h 23"/>
                <a:gd name="T28" fmla="*/ 15 w 23"/>
                <a:gd name="T29" fmla="*/ 10 h 23"/>
                <a:gd name="T30" fmla="*/ 15 w 23"/>
                <a:gd name="T31" fmla="*/ 10 h 23"/>
                <a:gd name="T32" fmla="*/ 14 w 23"/>
                <a:gd name="T33" fmla="*/ 10 h 23"/>
                <a:gd name="T34" fmla="*/ 15 w 23"/>
                <a:gd name="T35" fmla="*/ 9 h 23"/>
                <a:gd name="T36" fmla="*/ 13 w 23"/>
                <a:gd name="T37" fmla="*/ 7 h 23"/>
                <a:gd name="T38" fmla="*/ 13 w 23"/>
                <a:gd name="T39" fmla="*/ 8 h 23"/>
                <a:gd name="T40" fmla="*/ 11 w 23"/>
                <a:gd name="T41" fmla="*/ 10 h 23"/>
                <a:gd name="T42" fmla="*/ 10 w 23"/>
                <a:gd name="T43" fmla="*/ 9 h 23"/>
                <a:gd name="T44" fmla="*/ 11 w 23"/>
                <a:gd name="T45" fmla="*/ 7 h 23"/>
                <a:gd name="T46" fmla="*/ 13 w 23"/>
                <a:gd name="T47" fmla="*/ 6 h 23"/>
                <a:gd name="T48" fmla="*/ 11 w 23"/>
                <a:gd name="T49" fmla="*/ 4 h 23"/>
                <a:gd name="T50" fmla="*/ 10 w 23"/>
                <a:gd name="T51" fmla="*/ 6 h 23"/>
                <a:gd name="T52" fmla="*/ 5 w 23"/>
                <a:gd name="T53" fmla="*/ 11 h 23"/>
                <a:gd name="T54" fmla="*/ 4 w 23"/>
                <a:gd name="T55" fmla="*/ 12 h 23"/>
                <a:gd name="T56" fmla="*/ 5 w 23"/>
                <a:gd name="T57" fmla="*/ 13 h 23"/>
                <a:gd name="T58" fmla="*/ 7 w 23"/>
                <a:gd name="T59" fmla="*/ 12 h 23"/>
                <a:gd name="T60" fmla="*/ 8 w 23"/>
                <a:gd name="T61" fmla="*/ 10 h 23"/>
                <a:gd name="T62" fmla="*/ 9 w 23"/>
                <a:gd name="T63" fmla="*/ 12 h 23"/>
                <a:gd name="T64" fmla="*/ 8 w 23"/>
                <a:gd name="T65" fmla="*/ 13 h 23"/>
                <a:gd name="T66" fmla="*/ 7 w 23"/>
                <a:gd name="T67" fmla="*/ 14 h 23"/>
                <a:gd name="T68" fmla="*/ 9 w 23"/>
                <a:gd name="T69" fmla="*/ 15 h 23"/>
                <a:gd name="T70" fmla="*/ 10 w 23"/>
                <a:gd name="T71" fmla="*/ 14 h 23"/>
                <a:gd name="T72" fmla="*/ 11 w 23"/>
                <a:gd name="T73" fmla="*/ 13 h 23"/>
                <a:gd name="T74" fmla="*/ 13 w 23"/>
                <a:gd name="T75" fmla="*/ 15 h 23"/>
                <a:gd name="T76" fmla="*/ 11 w 23"/>
                <a:gd name="T77" fmla="*/ 16 h 23"/>
                <a:gd name="T78" fmla="*/ 10 w 23"/>
                <a:gd name="T79" fmla="*/ 18 h 23"/>
                <a:gd name="T80" fmla="*/ 11 w 23"/>
                <a:gd name="T81" fmla="*/ 19 h 23"/>
                <a:gd name="T82" fmla="*/ 1 w 23"/>
                <a:gd name="T83" fmla="*/ 13 h 23"/>
                <a:gd name="T84" fmla="*/ 10 w 23"/>
                <a:gd name="T85" fmla="*/ 21 h 23"/>
                <a:gd name="T86" fmla="*/ 12 w 23"/>
                <a:gd name="T87" fmla="*/ 23 h 23"/>
                <a:gd name="T88" fmla="*/ 13 w 23"/>
                <a:gd name="T89" fmla="*/ 21 h 23"/>
                <a:gd name="T90" fmla="*/ 13 w 23"/>
                <a:gd name="T91" fmla="*/ 21 h 23"/>
                <a:gd name="T92" fmla="*/ 21 w 23"/>
                <a:gd name="T93" fmla="*/ 13 h 23"/>
                <a:gd name="T94" fmla="*/ 21 w 23"/>
                <a:gd name="T95" fmla="*/ 13 h 23"/>
                <a:gd name="T96" fmla="*/ 23 w 23"/>
                <a:gd name="T97" fmla="*/ 12 h 23"/>
                <a:gd name="T98" fmla="*/ 21 w 23"/>
                <a:gd name="T99" fmla="*/ 10 h 23"/>
                <a:gd name="T100" fmla="*/ 12 w 23"/>
                <a:gd name="T101" fmla="*/ 2 h 23"/>
                <a:gd name="T102" fmla="*/ 11 w 23"/>
                <a:gd name="T103" fmla="*/ 0 h 23"/>
                <a:gd name="T104" fmla="*/ 10 w 23"/>
                <a:gd name="T105" fmla="*/ 2 h 23"/>
                <a:gd name="T106" fmla="*/ 1 w 23"/>
                <a:gd name="T107" fmla="*/ 10 h 23"/>
                <a:gd name="T108" fmla="*/ 0 w 23"/>
                <a:gd name="T109" fmla="*/ 12 h 23"/>
                <a:gd name="T110" fmla="*/ 1 w 23"/>
                <a:gd name="T111" fmla="*/ 13 h 23"/>
                <a:gd name="T112" fmla="*/ 3 w 23"/>
                <a:gd name="T113" fmla="*/ 11 h 23"/>
                <a:gd name="T114" fmla="*/ 11 w 23"/>
                <a:gd name="T115" fmla="*/ 3 h 23"/>
                <a:gd name="T116" fmla="*/ 20 w 23"/>
                <a:gd name="T117" fmla="*/ 12 h 23"/>
                <a:gd name="T118" fmla="*/ 12 w 23"/>
                <a:gd name="T119" fmla="*/ 20 h 23"/>
                <a:gd name="T120" fmla="*/ 3 w 23"/>
                <a:gd name="T121" fmla="*/ 1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 h="23">
                  <a:moveTo>
                    <a:pt x="14" y="13"/>
                  </a:moveTo>
                  <a:cubicBezTo>
                    <a:pt x="12" y="11"/>
                    <a:pt x="12" y="11"/>
                    <a:pt x="12" y="11"/>
                  </a:cubicBezTo>
                  <a:cubicBezTo>
                    <a:pt x="13" y="10"/>
                    <a:pt x="13" y="10"/>
                    <a:pt x="13" y="10"/>
                  </a:cubicBezTo>
                  <a:cubicBezTo>
                    <a:pt x="13" y="11"/>
                    <a:pt x="13" y="11"/>
                    <a:pt x="13" y="12"/>
                  </a:cubicBezTo>
                  <a:cubicBezTo>
                    <a:pt x="14" y="12"/>
                    <a:pt x="15" y="12"/>
                    <a:pt x="15" y="12"/>
                  </a:cubicBezTo>
                  <a:cubicBezTo>
                    <a:pt x="15" y="12"/>
                    <a:pt x="15" y="12"/>
                    <a:pt x="16" y="12"/>
                  </a:cubicBezTo>
                  <a:lnTo>
                    <a:pt x="14" y="13"/>
                  </a:lnTo>
                  <a:close/>
                  <a:moveTo>
                    <a:pt x="11" y="19"/>
                  </a:moveTo>
                  <a:cubicBezTo>
                    <a:pt x="12" y="18"/>
                    <a:pt x="12" y="18"/>
                    <a:pt x="12" y="18"/>
                  </a:cubicBezTo>
                  <a:cubicBezTo>
                    <a:pt x="17" y="12"/>
                    <a:pt x="17" y="12"/>
                    <a:pt x="17" y="12"/>
                  </a:cubicBezTo>
                  <a:cubicBezTo>
                    <a:pt x="19" y="11"/>
                    <a:pt x="19" y="11"/>
                    <a:pt x="19" y="11"/>
                  </a:cubicBezTo>
                  <a:cubicBezTo>
                    <a:pt x="17" y="10"/>
                    <a:pt x="17" y="10"/>
                    <a:pt x="17" y="10"/>
                  </a:cubicBezTo>
                  <a:cubicBezTo>
                    <a:pt x="16" y="11"/>
                    <a:pt x="16" y="11"/>
                    <a:pt x="16" y="11"/>
                  </a:cubicBezTo>
                  <a:cubicBezTo>
                    <a:pt x="16" y="10"/>
                    <a:pt x="16" y="10"/>
                    <a:pt x="16" y="10"/>
                  </a:cubicBezTo>
                  <a:cubicBezTo>
                    <a:pt x="15" y="10"/>
                    <a:pt x="15" y="10"/>
                    <a:pt x="15" y="10"/>
                  </a:cubicBezTo>
                  <a:cubicBezTo>
                    <a:pt x="15" y="10"/>
                    <a:pt x="15" y="10"/>
                    <a:pt x="15" y="10"/>
                  </a:cubicBezTo>
                  <a:cubicBezTo>
                    <a:pt x="14" y="10"/>
                    <a:pt x="14" y="10"/>
                    <a:pt x="14" y="10"/>
                  </a:cubicBezTo>
                  <a:cubicBezTo>
                    <a:pt x="15" y="9"/>
                    <a:pt x="15" y="9"/>
                    <a:pt x="15" y="9"/>
                  </a:cubicBezTo>
                  <a:cubicBezTo>
                    <a:pt x="13" y="7"/>
                    <a:pt x="13" y="7"/>
                    <a:pt x="13" y="7"/>
                  </a:cubicBezTo>
                  <a:cubicBezTo>
                    <a:pt x="13" y="8"/>
                    <a:pt x="13" y="8"/>
                    <a:pt x="13" y="8"/>
                  </a:cubicBezTo>
                  <a:cubicBezTo>
                    <a:pt x="11" y="10"/>
                    <a:pt x="11" y="10"/>
                    <a:pt x="11" y="10"/>
                  </a:cubicBezTo>
                  <a:cubicBezTo>
                    <a:pt x="10" y="9"/>
                    <a:pt x="10" y="9"/>
                    <a:pt x="10" y="9"/>
                  </a:cubicBezTo>
                  <a:cubicBezTo>
                    <a:pt x="11" y="7"/>
                    <a:pt x="11" y="7"/>
                    <a:pt x="11" y="7"/>
                  </a:cubicBezTo>
                  <a:cubicBezTo>
                    <a:pt x="13" y="6"/>
                    <a:pt x="13" y="6"/>
                    <a:pt x="13" y="6"/>
                  </a:cubicBezTo>
                  <a:cubicBezTo>
                    <a:pt x="11" y="4"/>
                    <a:pt x="11" y="4"/>
                    <a:pt x="11" y="4"/>
                  </a:cubicBezTo>
                  <a:cubicBezTo>
                    <a:pt x="10" y="6"/>
                    <a:pt x="10" y="6"/>
                    <a:pt x="10" y="6"/>
                  </a:cubicBezTo>
                  <a:cubicBezTo>
                    <a:pt x="5" y="11"/>
                    <a:pt x="5" y="11"/>
                    <a:pt x="5" y="11"/>
                  </a:cubicBezTo>
                  <a:cubicBezTo>
                    <a:pt x="4" y="12"/>
                    <a:pt x="4" y="12"/>
                    <a:pt x="4" y="12"/>
                  </a:cubicBezTo>
                  <a:cubicBezTo>
                    <a:pt x="5" y="13"/>
                    <a:pt x="5" y="13"/>
                    <a:pt x="5" y="13"/>
                  </a:cubicBezTo>
                  <a:cubicBezTo>
                    <a:pt x="7" y="12"/>
                    <a:pt x="7" y="12"/>
                    <a:pt x="7" y="12"/>
                  </a:cubicBezTo>
                  <a:cubicBezTo>
                    <a:pt x="8" y="10"/>
                    <a:pt x="8" y="10"/>
                    <a:pt x="8" y="10"/>
                  </a:cubicBezTo>
                  <a:cubicBezTo>
                    <a:pt x="9" y="12"/>
                    <a:pt x="9" y="12"/>
                    <a:pt x="9" y="12"/>
                  </a:cubicBezTo>
                  <a:cubicBezTo>
                    <a:pt x="8" y="13"/>
                    <a:pt x="8" y="13"/>
                    <a:pt x="8" y="13"/>
                  </a:cubicBezTo>
                  <a:cubicBezTo>
                    <a:pt x="7" y="14"/>
                    <a:pt x="7" y="14"/>
                    <a:pt x="7" y="14"/>
                  </a:cubicBezTo>
                  <a:cubicBezTo>
                    <a:pt x="9" y="15"/>
                    <a:pt x="9" y="15"/>
                    <a:pt x="9" y="15"/>
                  </a:cubicBezTo>
                  <a:cubicBezTo>
                    <a:pt x="10" y="14"/>
                    <a:pt x="10" y="14"/>
                    <a:pt x="10" y="14"/>
                  </a:cubicBezTo>
                  <a:cubicBezTo>
                    <a:pt x="11" y="13"/>
                    <a:pt x="11" y="13"/>
                    <a:pt x="11" y="13"/>
                  </a:cubicBezTo>
                  <a:cubicBezTo>
                    <a:pt x="13" y="15"/>
                    <a:pt x="13" y="15"/>
                    <a:pt x="13" y="15"/>
                  </a:cubicBezTo>
                  <a:cubicBezTo>
                    <a:pt x="11" y="16"/>
                    <a:pt x="11" y="16"/>
                    <a:pt x="11" y="16"/>
                  </a:cubicBezTo>
                  <a:cubicBezTo>
                    <a:pt x="10" y="18"/>
                    <a:pt x="10" y="18"/>
                    <a:pt x="10" y="18"/>
                  </a:cubicBezTo>
                  <a:lnTo>
                    <a:pt x="11" y="19"/>
                  </a:lnTo>
                  <a:close/>
                  <a:moveTo>
                    <a:pt x="1" y="13"/>
                  </a:moveTo>
                  <a:cubicBezTo>
                    <a:pt x="10" y="21"/>
                    <a:pt x="10" y="21"/>
                    <a:pt x="10" y="21"/>
                  </a:cubicBezTo>
                  <a:cubicBezTo>
                    <a:pt x="12" y="23"/>
                    <a:pt x="12" y="23"/>
                    <a:pt x="12" y="23"/>
                  </a:cubicBezTo>
                  <a:cubicBezTo>
                    <a:pt x="13" y="21"/>
                    <a:pt x="13" y="21"/>
                    <a:pt x="13" y="21"/>
                  </a:cubicBezTo>
                  <a:cubicBezTo>
                    <a:pt x="13" y="21"/>
                    <a:pt x="13" y="21"/>
                    <a:pt x="13" y="21"/>
                  </a:cubicBezTo>
                  <a:cubicBezTo>
                    <a:pt x="21" y="13"/>
                    <a:pt x="21" y="13"/>
                    <a:pt x="21" y="13"/>
                  </a:cubicBezTo>
                  <a:cubicBezTo>
                    <a:pt x="21" y="13"/>
                    <a:pt x="21" y="13"/>
                    <a:pt x="21" y="13"/>
                  </a:cubicBezTo>
                  <a:cubicBezTo>
                    <a:pt x="23" y="12"/>
                    <a:pt x="23" y="12"/>
                    <a:pt x="23" y="12"/>
                  </a:cubicBezTo>
                  <a:cubicBezTo>
                    <a:pt x="21" y="10"/>
                    <a:pt x="21" y="10"/>
                    <a:pt x="21" y="10"/>
                  </a:cubicBezTo>
                  <a:cubicBezTo>
                    <a:pt x="12" y="2"/>
                    <a:pt x="12" y="2"/>
                    <a:pt x="12" y="2"/>
                  </a:cubicBezTo>
                  <a:cubicBezTo>
                    <a:pt x="11" y="0"/>
                    <a:pt x="11" y="0"/>
                    <a:pt x="11" y="0"/>
                  </a:cubicBezTo>
                  <a:cubicBezTo>
                    <a:pt x="10" y="2"/>
                    <a:pt x="10" y="2"/>
                    <a:pt x="10" y="2"/>
                  </a:cubicBezTo>
                  <a:cubicBezTo>
                    <a:pt x="1" y="10"/>
                    <a:pt x="1" y="10"/>
                    <a:pt x="1" y="10"/>
                  </a:cubicBezTo>
                  <a:cubicBezTo>
                    <a:pt x="0" y="12"/>
                    <a:pt x="0" y="12"/>
                    <a:pt x="0" y="12"/>
                  </a:cubicBezTo>
                  <a:lnTo>
                    <a:pt x="1" y="13"/>
                  </a:lnTo>
                  <a:close/>
                  <a:moveTo>
                    <a:pt x="3" y="11"/>
                  </a:moveTo>
                  <a:cubicBezTo>
                    <a:pt x="11" y="3"/>
                    <a:pt x="11" y="3"/>
                    <a:pt x="11" y="3"/>
                  </a:cubicBezTo>
                  <a:cubicBezTo>
                    <a:pt x="20" y="12"/>
                    <a:pt x="20" y="12"/>
                    <a:pt x="20" y="12"/>
                  </a:cubicBezTo>
                  <a:cubicBezTo>
                    <a:pt x="12" y="20"/>
                    <a:pt x="12" y="20"/>
                    <a:pt x="12" y="20"/>
                  </a:cubicBezTo>
                  <a:lnTo>
                    <a:pt x="3" y="11"/>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0" name="Freeform 13"/>
            <p:cNvSpPr>
              <a:spLocks noEditPoints="1"/>
            </p:cNvSpPr>
            <p:nvPr/>
          </p:nvSpPr>
          <p:spPr bwMode="auto">
            <a:xfrm>
              <a:off x="665163" y="5627688"/>
              <a:ext cx="55562" cy="53975"/>
            </a:xfrm>
            <a:custGeom>
              <a:avLst/>
              <a:gdLst>
                <a:gd name="T0" fmla="*/ 12 w 22"/>
                <a:gd name="T1" fmla="*/ 13 h 21"/>
                <a:gd name="T2" fmla="*/ 10 w 22"/>
                <a:gd name="T3" fmla="*/ 15 h 21"/>
                <a:gd name="T4" fmla="*/ 7 w 22"/>
                <a:gd name="T5" fmla="*/ 17 h 21"/>
                <a:gd name="T6" fmla="*/ 7 w 22"/>
                <a:gd name="T7" fmla="*/ 16 h 21"/>
                <a:gd name="T8" fmla="*/ 10 w 22"/>
                <a:gd name="T9" fmla="*/ 12 h 21"/>
                <a:gd name="T10" fmla="*/ 8 w 22"/>
                <a:gd name="T11" fmla="*/ 13 h 21"/>
                <a:gd name="T12" fmla="*/ 6 w 22"/>
                <a:gd name="T13" fmla="*/ 14 h 21"/>
                <a:gd name="T14" fmla="*/ 6 w 22"/>
                <a:gd name="T15" fmla="*/ 12 h 21"/>
                <a:gd name="T16" fmla="*/ 7 w 22"/>
                <a:gd name="T17" fmla="*/ 10 h 21"/>
                <a:gd name="T18" fmla="*/ 4 w 22"/>
                <a:gd name="T19" fmla="*/ 9 h 21"/>
                <a:gd name="T20" fmla="*/ 13 w 22"/>
                <a:gd name="T21" fmla="*/ 5 h 21"/>
                <a:gd name="T22" fmla="*/ 15 w 22"/>
                <a:gd name="T23" fmla="*/ 6 h 21"/>
                <a:gd name="T24" fmla="*/ 11 w 22"/>
                <a:gd name="T25" fmla="*/ 8 h 21"/>
                <a:gd name="T26" fmla="*/ 11 w 22"/>
                <a:gd name="T27" fmla="*/ 10 h 21"/>
                <a:gd name="T28" fmla="*/ 13 w 22"/>
                <a:gd name="T29" fmla="*/ 11 h 21"/>
                <a:gd name="T30" fmla="*/ 14 w 22"/>
                <a:gd name="T31" fmla="*/ 7 h 21"/>
                <a:gd name="T32" fmla="*/ 17 w 22"/>
                <a:gd name="T33" fmla="*/ 7 h 21"/>
                <a:gd name="T34" fmla="*/ 17 w 22"/>
                <a:gd name="T35" fmla="*/ 11 h 21"/>
                <a:gd name="T36" fmla="*/ 22 w 22"/>
                <a:gd name="T37" fmla="*/ 12 h 21"/>
                <a:gd name="T38" fmla="*/ 22 w 22"/>
                <a:gd name="T39" fmla="*/ 15 h 21"/>
                <a:gd name="T40" fmla="*/ 16 w 22"/>
                <a:gd name="T41" fmla="*/ 13 h 21"/>
                <a:gd name="T42" fmla="*/ 14 w 22"/>
                <a:gd name="T43" fmla="*/ 12 h 21"/>
                <a:gd name="T44" fmla="*/ 15 w 22"/>
                <a:gd name="T45" fmla="*/ 14 h 21"/>
                <a:gd name="T46" fmla="*/ 16 w 22"/>
                <a:gd name="T47" fmla="*/ 17 h 21"/>
                <a:gd name="T48" fmla="*/ 13 w 22"/>
                <a:gd name="T49" fmla="*/ 18 h 21"/>
                <a:gd name="T50" fmla="*/ 14 w 22"/>
                <a:gd name="T51" fmla="*/ 16 h 21"/>
                <a:gd name="T52" fmla="*/ 13 w 22"/>
                <a:gd name="T53" fmla="*/ 15 h 21"/>
                <a:gd name="T54" fmla="*/ 12 w 22"/>
                <a:gd name="T55" fmla="*/ 17 h 21"/>
                <a:gd name="T56" fmla="*/ 8 w 22"/>
                <a:gd name="T57" fmla="*/ 21 h 21"/>
                <a:gd name="T58" fmla="*/ 6 w 22"/>
                <a:gd name="T59" fmla="*/ 20 h 21"/>
                <a:gd name="T60" fmla="*/ 2 w 22"/>
                <a:gd name="T61" fmla="*/ 12 h 21"/>
                <a:gd name="T62" fmla="*/ 1 w 22"/>
                <a:gd name="T63" fmla="*/ 9 h 21"/>
                <a:gd name="T64" fmla="*/ 2 w 22"/>
                <a:gd name="T65" fmla="*/ 7 h 21"/>
                <a:gd name="T66" fmla="*/ 5 w 22"/>
                <a:gd name="T67" fmla="*/ 4 h 21"/>
                <a:gd name="T68" fmla="*/ 7 w 22"/>
                <a:gd name="T69" fmla="*/ 3 h 21"/>
                <a:gd name="T70" fmla="*/ 9 w 22"/>
                <a:gd name="T71" fmla="*/ 4 h 21"/>
                <a:gd name="T72" fmla="*/ 15 w 22"/>
                <a:gd name="T73" fmla="*/ 0 h 21"/>
                <a:gd name="T74" fmla="*/ 17 w 22"/>
                <a:gd name="T75" fmla="*/ 3 h 21"/>
                <a:gd name="T76" fmla="*/ 15 w 22"/>
                <a:gd name="T77" fmla="*/ 5 h 21"/>
                <a:gd name="T78" fmla="*/ 14 w 22"/>
                <a:gd name="T79" fmla="*/ 3 h 21"/>
                <a:gd name="T80" fmla="*/ 4 w 22"/>
                <a:gd name="T81" fmla="*/ 10 h 21"/>
                <a:gd name="T82" fmla="*/ 2 w 22"/>
                <a:gd name="T83"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 h="21">
                  <a:moveTo>
                    <a:pt x="10" y="16"/>
                  </a:moveTo>
                  <a:cubicBezTo>
                    <a:pt x="11" y="15"/>
                    <a:pt x="11" y="14"/>
                    <a:pt x="12" y="13"/>
                  </a:cubicBezTo>
                  <a:cubicBezTo>
                    <a:pt x="12" y="13"/>
                    <a:pt x="12" y="13"/>
                    <a:pt x="11" y="12"/>
                  </a:cubicBezTo>
                  <a:cubicBezTo>
                    <a:pt x="11" y="14"/>
                    <a:pt x="10" y="14"/>
                    <a:pt x="10" y="15"/>
                  </a:cubicBezTo>
                  <a:cubicBezTo>
                    <a:pt x="9" y="16"/>
                    <a:pt x="8" y="17"/>
                    <a:pt x="7" y="18"/>
                  </a:cubicBezTo>
                  <a:cubicBezTo>
                    <a:pt x="7" y="18"/>
                    <a:pt x="7" y="18"/>
                    <a:pt x="7" y="17"/>
                  </a:cubicBezTo>
                  <a:cubicBezTo>
                    <a:pt x="6" y="17"/>
                    <a:pt x="6" y="17"/>
                    <a:pt x="5" y="17"/>
                  </a:cubicBezTo>
                  <a:cubicBezTo>
                    <a:pt x="6" y="16"/>
                    <a:pt x="6" y="16"/>
                    <a:pt x="7" y="16"/>
                  </a:cubicBezTo>
                  <a:cubicBezTo>
                    <a:pt x="7" y="15"/>
                    <a:pt x="8" y="15"/>
                    <a:pt x="8" y="14"/>
                  </a:cubicBezTo>
                  <a:cubicBezTo>
                    <a:pt x="9" y="13"/>
                    <a:pt x="9" y="13"/>
                    <a:pt x="10" y="12"/>
                  </a:cubicBezTo>
                  <a:cubicBezTo>
                    <a:pt x="9" y="12"/>
                    <a:pt x="9" y="12"/>
                    <a:pt x="9" y="12"/>
                  </a:cubicBezTo>
                  <a:cubicBezTo>
                    <a:pt x="9" y="12"/>
                    <a:pt x="8" y="13"/>
                    <a:pt x="8" y="13"/>
                  </a:cubicBezTo>
                  <a:cubicBezTo>
                    <a:pt x="8" y="14"/>
                    <a:pt x="7" y="14"/>
                    <a:pt x="6" y="15"/>
                  </a:cubicBezTo>
                  <a:cubicBezTo>
                    <a:pt x="6" y="15"/>
                    <a:pt x="6" y="15"/>
                    <a:pt x="6" y="14"/>
                  </a:cubicBezTo>
                  <a:cubicBezTo>
                    <a:pt x="5" y="14"/>
                    <a:pt x="5" y="14"/>
                    <a:pt x="4" y="14"/>
                  </a:cubicBezTo>
                  <a:cubicBezTo>
                    <a:pt x="5" y="13"/>
                    <a:pt x="5" y="13"/>
                    <a:pt x="6" y="12"/>
                  </a:cubicBezTo>
                  <a:cubicBezTo>
                    <a:pt x="7" y="12"/>
                    <a:pt x="8" y="11"/>
                    <a:pt x="9" y="9"/>
                  </a:cubicBezTo>
                  <a:cubicBezTo>
                    <a:pt x="7" y="10"/>
                    <a:pt x="7" y="10"/>
                    <a:pt x="7" y="10"/>
                  </a:cubicBezTo>
                  <a:cubicBezTo>
                    <a:pt x="5" y="11"/>
                    <a:pt x="5" y="11"/>
                    <a:pt x="5" y="11"/>
                  </a:cubicBezTo>
                  <a:cubicBezTo>
                    <a:pt x="4" y="9"/>
                    <a:pt x="4" y="9"/>
                    <a:pt x="4" y="9"/>
                  </a:cubicBezTo>
                  <a:cubicBezTo>
                    <a:pt x="6" y="9"/>
                    <a:pt x="6" y="9"/>
                    <a:pt x="6" y="9"/>
                  </a:cubicBezTo>
                  <a:cubicBezTo>
                    <a:pt x="13" y="5"/>
                    <a:pt x="13" y="5"/>
                    <a:pt x="13" y="5"/>
                  </a:cubicBezTo>
                  <a:cubicBezTo>
                    <a:pt x="14" y="4"/>
                    <a:pt x="14" y="4"/>
                    <a:pt x="14" y="4"/>
                  </a:cubicBezTo>
                  <a:cubicBezTo>
                    <a:pt x="15" y="6"/>
                    <a:pt x="15" y="6"/>
                    <a:pt x="15" y="6"/>
                  </a:cubicBezTo>
                  <a:cubicBezTo>
                    <a:pt x="13" y="7"/>
                    <a:pt x="13" y="7"/>
                    <a:pt x="13" y="7"/>
                  </a:cubicBezTo>
                  <a:cubicBezTo>
                    <a:pt x="11" y="8"/>
                    <a:pt x="11" y="8"/>
                    <a:pt x="11" y="8"/>
                  </a:cubicBezTo>
                  <a:cubicBezTo>
                    <a:pt x="11" y="8"/>
                    <a:pt x="12" y="8"/>
                    <a:pt x="12" y="8"/>
                  </a:cubicBezTo>
                  <a:cubicBezTo>
                    <a:pt x="12" y="9"/>
                    <a:pt x="11" y="10"/>
                    <a:pt x="11" y="10"/>
                  </a:cubicBezTo>
                  <a:cubicBezTo>
                    <a:pt x="11" y="10"/>
                    <a:pt x="12" y="10"/>
                    <a:pt x="12" y="10"/>
                  </a:cubicBezTo>
                  <a:cubicBezTo>
                    <a:pt x="13" y="11"/>
                    <a:pt x="13" y="11"/>
                    <a:pt x="13" y="11"/>
                  </a:cubicBezTo>
                  <a:cubicBezTo>
                    <a:pt x="13" y="9"/>
                    <a:pt x="14" y="8"/>
                    <a:pt x="14" y="8"/>
                  </a:cubicBezTo>
                  <a:cubicBezTo>
                    <a:pt x="14" y="7"/>
                    <a:pt x="14" y="7"/>
                    <a:pt x="14" y="7"/>
                  </a:cubicBezTo>
                  <a:cubicBezTo>
                    <a:pt x="15" y="7"/>
                    <a:pt x="15" y="7"/>
                    <a:pt x="15" y="7"/>
                  </a:cubicBezTo>
                  <a:cubicBezTo>
                    <a:pt x="15" y="7"/>
                    <a:pt x="16" y="7"/>
                    <a:pt x="17" y="7"/>
                  </a:cubicBezTo>
                  <a:cubicBezTo>
                    <a:pt x="16" y="8"/>
                    <a:pt x="16" y="9"/>
                    <a:pt x="16" y="10"/>
                  </a:cubicBezTo>
                  <a:cubicBezTo>
                    <a:pt x="16" y="10"/>
                    <a:pt x="16" y="10"/>
                    <a:pt x="17" y="11"/>
                  </a:cubicBezTo>
                  <a:cubicBezTo>
                    <a:pt x="17" y="11"/>
                    <a:pt x="18" y="12"/>
                    <a:pt x="19" y="12"/>
                  </a:cubicBezTo>
                  <a:cubicBezTo>
                    <a:pt x="20" y="12"/>
                    <a:pt x="21" y="12"/>
                    <a:pt x="22" y="12"/>
                  </a:cubicBezTo>
                  <a:cubicBezTo>
                    <a:pt x="22" y="13"/>
                    <a:pt x="22" y="13"/>
                    <a:pt x="22" y="13"/>
                  </a:cubicBezTo>
                  <a:cubicBezTo>
                    <a:pt x="22" y="14"/>
                    <a:pt x="22" y="14"/>
                    <a:pt x="22" y="15"/>
                  </a:cubicBezTo>
                  <a:cubicBezTo>
                    <a:pt x="20" y="15"/>
                    <a:pt x="19" y="14"/>
                    <a:pt x="19" y="14"/>
                  </a:cubicBezTo>
                  <a:cubicBezTo>
                    <a:pt x="18" y="14"/>
                    <a:pt x="17" y="13"/>
                    <a:pt x="16" y="13"/>
                  </a:cubicBezTo>
                  <a:cubicBezTo>
                    <a:pt x="16" y="13"/>
                    <a:pt x="15" y="12"/>
                    <a:pt x="14" y="11"/>
                  </a:cubicBezTo>
                  <a:cubicBezTo>
                    <a:pt x="14" y="12"/>
                    <a:pt x="14" y="12"/>
                    <a:pt x="14" y="12"/>
                  </a:cubicBezTo>
                  <a:cubicBezTo>
                    <a:pt x="14" y="12"/>
                    <a:pt x="14" y="13"/>
                    <a:pt x="15" y="13"/>
                  </a:cubicBezTo>
                  <a:cubicBezTo>
                    <a:pt x="15" y="13"/>
                    <a:pt x="15" y="13"/>
                    <a:pt x="15" y="14"/>
                  </a:cubicBezTo>
                  <a:cubicBezTo>
                    <a:pt x="16" y="15"/>
                    <a:pt x="16" y="15"/>
                    <a:pt x="16" y="16"/>
                  </a:cubicBezTo>
                  <a:cubicBezTo>
                    <a:pt x="16" y="16"/>
                    <a:pt x="16" y="17"/>
                    <a:pt x="16" y="17"/>
                  </a:cubicBezTo>
                  <a:cubicBezTo>
                    <a:pt x="16" y="18"/>
                    <a:pt x="15" y="18"/>
                    <a:pt x="14" y="19"/>
                  </a:cubicBezTo>
                  <a:cubicBezTo>
                    <a:pt x="13" y="18"/>
                    <a:pt x="13" y="18"/>
                    <a:pt x="13" y="18"/>
                  </a:cubicBezTo>
                  <a:cubicBezTo>
                    <a:pt x="12" y="17"/>
                    <a:pt x="12" y="17"/>
                    <a:pt x="12" y="17"/>
                  </a:cubicBezTo>
                  <a:cubicBezTo>
                    <a:pt x="13" y="17"/>
                    <a:pt x="13" y="17"/>
                    <a:pt x="14" y="16"/>
                  </a:cubicBezTo>
                  <a:cubicBezTo>
                    <a:pt x="14" y="16"/>
                    <a:pt x="14" y="16"/>
                    <a:pt x="14" y="16"/>
                  </a:cubicBezTo>
                  <a:cubicBezTo>
                    <a:pt x="13" y="15"/>
                    <a:pt x="13" y="15"/>
                    <a:pt x="13" y="15"/>
                  </a:cubicBezTo>
                  <a:cubicBezTo>
                    <a:pt x="13" y="15"/>
                    <a:pt x="13" y="15"/>
                    <a:pt x="13" y="15"/>
                  </a:cubicBezTo>
                  <a:cubicBezTo>
                    <a:pt x="13" y="15"/>
                    <a:pt x="12" y="16"/>
                    <a:pt x="12" y="17"/>
                  </a:cubicBezTo>
                  <a:cubicBezTo>
                    <a:pt x="11" y="18"/>
                    <a:pt x="10" y="19"/>
                    <a:pt x="10" y="19"/>
                  </a:cubicBezTo>
                  <a:cubicBezTo>
                    <a:pt x="8" y="21"/>
                    <a:pt x="8" y="21"/>
                    <a:pt x="8" y="21"/>
                  </a:cubicBezTo>
                  <a:cubicBezTo>
                    <a:pt x="8" y="21"/>
                    <a:pt x="7" y="20"/>
                    <a:pt x="7" y="20"/>
                  </a:cubicBezTo>
                  <a:cubicBezTo>
                    <a:pt x="6" y="20"/>
                    <a:pt x="6" y="20"/>
                    <a:pt x="6" y="20"/>
                  </a:cubicBezTo>
                  <a:cubicBezTo>
                    <a:pt x="8" y="19"/>
                    <a:pt x="9" y="17"/>
                    <a:pt x="10" y="16"/>
                  </a:cubicBezTo>
                  <a:close/>
                  <a:moveTo>
                    <a:pt x="2" y="12"/>
                  </a:moveTo>
                  <a:cubicBezTo>
                    <a:pt x="2" y="11"/>
                    <a:pt x="2" y="11"/>
                    <a:pt x="2" y="11"/>
                  </a:cubicBezTo>
                  <a:cubicBezTo>
                    <a:pt x="1" y="9"/>
                    <a:pt x="1" y="9"/>
                    <a:pt x="1" y="9"/>
                  </a:cubicBezTo>
                  <a:cubicBezTo>
                    <a:pt x="0" y="8"/>
                    <a:pt x="0" y="8"/>
                    <a:pt x="0" y="8"/>
                  </a:cubicBezTo>
                  <a:cubicBezTo>
                    <a:pt x="2" y="7"/>
                    <a:pt x="2" y="7"/>
                    <a:pt x="2" y="7"/>
                  </a:cubicBezTo>
                  <a:cubicBezTo>
                    <a:pt x="7" y="5"/>
                    <a:pt x="7" y="5"/>
                    <a:pt x="7" y="5"/>
                  </a:cubicBezTo>
                  <a:cubicBezTo>
                    <a:pt x="6" y="5"/>
                    <a:pt x="6" y="5"/>
                    <a:pt x="5" y="4"/>
                  </a:cubicBezTo>
                  <a:cubicBezTo>
                    <a:pt x="5" y="4"/>
                    <a:pt x="6" y="4"/>
                    <a:pt x="6" y="4"/>
                  </a:cubicBezTo>
                  <a:cubicBezTo>
                    <a:pt x="6" y="4"/>
                    <a:pt x="6" y="3"/>
                    <a:pt x="7" y="3"/>
                  </a:cubicBezTo>
                  <a:cubicBezTo>
                    <a:pt x="8" y="3"/>
                    <a:pt x="8" y="3"/>
                    <a:pt x="9" y="3"/>
                  </a:cubicBezTo>
                  <a:cubicBezTo>
                    <a:pt x="9" y="3"/>
                    <a:pt x="9" y="4"/>
                    <a:pt x="9" y="4"/>
                  </a:cubicBezTo>
                  <a:cubicBezTo>
                    <a:pt x="13" y="1"/>
                    <a:pt x="13" y="1"/>
                    <a:pt x="13" y="1"/>
                  </a:cubicBezTo>
                  <a:cubicBezTo>
                    <a:pt x="15" y="0"/>
                    <a:pt x="15" y="0"/>
                    <a:pt x="15" y="0"/>
                  </a:cubicBezTo>
                  <a:cubicBezTo>
                    <a:pt x="16" y="2"/>
                    <a:pt x="16" y="2"/>
                    <a:pt x="16" y="2"/>
                  </a:cubicBezTo>
                  <a:cubicBezTo>
                    <a:pt x="17" y="3"/>
                    <a:pt x="17" y="3"/>
                    <a:pt x="17" y="3"/>
                  </a:cubicBezTo>
                  <a:cubicBezTo>
                    <a:pt x="17" y="4"/>
                    <a:pt x="17" y="4"/>
                    <a:pt x="17" y="4"/>
                  </a:cubicBezTo>
                  <a:cubicBezTo>
                    <a:pt x="15" y="5"/>
                    <a:pt x="15" y="5"/>
                    <a:pt x="15" y="5"/>
                  </a:cubicBezTo>
                  <a:cubicBezTo>
                    <a:pt x="15" y="4"/>
                    <a:pt x="15" y="4"/>
                    <a:pt x="15" y="4"/>
                  </a:cubicBezTo>
                  <a:cubicBezTo>
                    <a:pt x="14" y="3"/>
                    <a:pt x="14" y="3"/>
                    <a:pt x="14" y="3"/>
                  </a:cubicBezTo>
                  <a:cubicBezTo>
                    <a:pt x="3" y="9"/>
                    <a:pt x="3" y="9"/>
                    <a:pt x="3" y="9"/>
                  </a:cubicBezTo>
                  <a:cubicBezTo>
                    <a:pt x="4" y="10"/>
                    <a:pt x="4" y="10"/>
                    <a:pt x="4" y="10"/>
                  </a:cubicBezTo>
                  <a:cubicBezTo>
                    <a:pt x="4" y="11"/>
                    <a:pt x="4" y="11"/>
                    <a:pt x="4" y="11"/>
                  </a:cubicBezTo>
                  <a:lnTo>
                    <a:pt x="2" y="12"/>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1" name="Freeform 14"/>
            <p:cNvSpPr>
              <a:spLocks noEditPoints="1"/>
            </p:cNvSpPr>
            <p:nvPr/>
          </p:nvSpPr>
          <p:spPr bwMode="auto">
            <a:xfrm>
              <a:off x="735013" y="5610225"/>
              <a:ext cx="47625" cy="46038"/>
            </a:xfrm>
            <a:custGeom>
              <a:avLst/>
              <a:gdLst>
                <a:gd name="T0" fmla="*/ 3 w 19"/>
                <a:gd name="T1" fmla="*/ 6 h 18"/>
                <a:gd name="T2" fmla="*/ 6 w 19"/>
                <a:gd name="T3" fmla="*/ 5 h 18"/>
                <a:gd name="T4" fmla="*/ 7 w 19"/>
                <a:gd name="T5" fmla="*/ 7 h 18"/>
                <a:gd name="T6" fmla="*/ 3 w 19"/>
                <a:gd name="T7" fmla="*/ 8 h 18"/>
                <a:gd name="T8" fmla="*/ 3 w 19"/>
                <a:gd name="T9" fmla="*/ 6 h 18"/>
                <a:gd name="T10" fmla="*/ 1 w 19"/>
                <a:gd name="T11" fmla="*/ 5 h 18"/>
                <a:gd name="T12" fmla="*/ 2 w 19"/>
                <a:gd name="T13" fmla="*/ 12 h 18"/>
                <a:gd name="T14" fmla="*/ 2 w 19"/>
                <a:gd name="T15" fmla="*/ 14 h 18"/>
                <a:gd name="T16" fmla="*/ 4 w 19"/>
                <a:gd name="T17" fmla="*/ 14 h 18"/>
                <a:gd name="T18" fmla="*/ 4 w 19"/>
                <a:gd name="T19" fmla="*/ 14 h 18"/>
                <a:gd name="T20" fmla="*/ 8 w 19"/>
                <a:gd name="T21" fmla="*/ 13 h 18"/>
                <a:gd name="T22" fmla="*/ 8 w 19"/>
                <a:gd name="T23" fmla="*/ 16 h 18"/>
                <a:gd name="T24" fmla="*/ 8 w 19"/>
                <a:gd name="T25" fmla="*/ 17 h 18"/>
                <a:gd name="T26" fmla="*/ 9 w 19"/>
                <a:gd name="T27" fmla="*/ 17 h 18"/>
                <a:gd name="T28" fmla="*/ 11 w 19"/>
                <a:gd name="T29" fmla="*/ 17 h 18"/>
                <a:gd name="T30" fmla="*/ 14 w 19"/>
                <a:gd name="T31" fmla="*/ 17 h 18"/>
                <a:gd name="T32" fmla="*/ 16 w 19"/>
                <a:gd name="T33" fmla="*/ 17 h 18"/>
                <a:gd name="T34" fmla="*/ 17 w 19"/>
                <a:gd name="T35" fmla="*/ 16 h 18"/>
                <a:gd name="T36" fmla="*/ 18 w 19"/>
                <a:gd name="T37" fmla="*/ 16 h 18"/>
                <a:gd name="T38" fmla="*/ 19 w 19"/>
                <a:gd name="T39" fmla="*/ 13 h 18"/>
                <a:gd name="T40" fmla="*/ 16 w 19"/>
                <a:gd name="T41" fmla="*/ 12 h 18"/>
                <a:gd name="T42" fmla="*/ 16 w 19"/>
                <a:gd name="T43" fmla="*/ 13 h 18"/>
                <a:gd name="T44" fmla="*/ 16 w 19"/>
                <a:gd name="T45" fmla="*/ 14 h 18"/>
                <a:gd name="T46" fmla="*/ 15 w 19"/>
                <a:gd name="T47" fmla="*/ 15 h 18"/>
                <a:gd name="T48" fmla="*/ 13 w 19"/>
                <a:gd name="T49" fmla="*/ 15 h 18"/>
                <a:gd name="T50" fmla="*/ 11 w 19"/>
                <a:gd name="T51" fmla="*/ 15 h 18"/>
                <a:gd name="T52" fmla="*/ 10 w 19"/>
                <a:gd name="T53" fmla="*/ 15 h 18"/>
                <a:gd name="T54" fmla="*/ 10 w 19"/>
                <a:gd name="T55" fmla="*/ 15 h 18"/>
                <a:gd name="T56" fmla="*/ 10 w 19"/>
                <a:gd name="T57" fmla="*/ 13 h 18"/>
                <a:gd name="T58" fmla="*/ 14 w 19"/>
                <a:gd name="T59" fmla="*/ 12 h 18"/>
                <a:gd name="T60" fmla="*/ 14 w 19"/>
                <a:gd name="T61" fmla="*/ 13 h 18"/>
                <a:gd name="T62" fmla="*/ 16 w 19"/>
                <a:gd name="T63" fmla="*/ 12 h 18"/>
                <a:gd name="T64" fmla="*/ 16 w 19"/>
                <a:gd name="T65" fmla="*/ 10 h 18"/>
                <a:gd name="T66" fmla="*/ 15 w 19"/>
                <a:gd name="T67" fmla="*/ 3 h 18"/>
                <a:gd name="T68" fmla="*/ 15 w 19"/>
                <a:gd name="T69" fmla="*/ 2 h 18"/>
                <a:gd name="T70" fmla="*/ 13 w 19"/>
                <a:gd name="T71" fmla="*/ 2 h 18"/>
                <a:gd name="T72" fmla="*/ 8 w 19"/>
                <a:gd name="T73" fmla="*/ 3 h 18"/>
                <a:gd name="T74" fmla="*/ 8 w 19"/>
                <a:gd name="T75" fmla="*/ 2 h 18"/>
                <a:gd name="T76" fmla="*/ 8 w 19"/>
                <a:gd name="T77" fmla="*/ 0 h 18"/>
                <a:gd name="T78" fmla="*/ 6 w 19"/>
                <a:gd name="T79" fmla="*/ 1 h 18"/>
                <a:gd name="T80" fmla="*/ 6 w 19"/>
                <a:gd name="T81" fmla="*/ 2 h 18"/>
                <a:gd name="T82" fmla="*/ 6 w 19"/>
                <a:gd name="T83" fmla="*/ 3 h 18"/>
                <a:gd name="T84" fmla="*/ 2 w 19"/>
                <a:gd name="T85" fmla="*/ 4 h 18"/>
                <a:gd name="T86" fmla="*/ 0 w 19"/>
                <a:gd name="T87" fmla="*/ 4 h 18"/>
                <a:gd name="T88" fmla="*/ 1 w 19"/>
                <a:gd name="T89" fmla="*/ 5 h 18"/>
                <a:gd name="T90" fmla="*/ 3 w 19"/>
                <a:gd name="T91" fmla="*/ 10 h 18"/>
                <a:gd name="T92" fmla="*/ 7 w 19"/>
                <a:gd name="T93" fmla="*/ 9 h 18"/>
                <a:gd name="T94" fmla="*/ 7 w 19"/>
                <a:gd name="T95" fmla="*/ 11 h 18"/>
                <a:gd name="T96" fmla="*/ 4 w 19"/>
                <a:gd name="T97" fmla="*/ 12 h 18"/>
                <a:gd name="T98" fmla="*/ 3 w 19"/>
                <a:gd name="T99" fmla="*/ 10 h 18"/>
                <a:gd name="T100" fmla="*/ 9 w 19"/>
                <a:gd name="T101" fmla="*/ 5 h 18"/>
                <a:gd name="T102" fmla="*/ 13 w 19"/>
                <a:gd name="T103" fmla="*/ 4 h 18"/>
                <a:gd name="T104" fmla="*/ 13 w 19"/>
                <a:gd name="T105" fmla="*/ 6 h 18"/>
                <a:gd name="T106" fmla="*/ 9 w 19"/>
                <a:gd name="T107" fmla="*/ 7 h 18"/>
                <a:gd name="T108" fmla="*/ 9 w 19"/>
                <a:gd name="T109" fmla="*/ 5 h 18"/>
                <a:gd name="T110" fmla="*/ 9 w 19"/>
                <a:gd name="T111" fmla="*/ 9 h 18"/>
                <a:gd name="T112" fmla="*/ 13 w 19"/>
                <a:gd name="T113" fmla="*/ 8 h 18"/>
                <a:gd name="T114" fmla="*/ 14 w 19"/>
                <a:gd name="T115" fmla="*/ 10 h 18"/>
                <a:gd name="T116" fmla="*/ 10 w 19"/>
                <a:gd name="T117" fmla="*/ 11 h 18"/>
                <a:gd name="T118" fmla="*/ 9 w 19"/>
                <a:gd name="T119"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 h="18">
                  <a:moveTo>
                    <a:pt x="3" y="6"/>
                  </a:moveTo>
                  <a:cubicBezTo>
                    <a:pt x="6" y="5"/>
                    <a:pt x="6" y="5"/>
                    <a:pt x="6" y="5"/>
                  </a:cubicBezTo>
                  <a:cubicBezTo>
                    <a:pt x="7" y="7"/>
                    <a:pt x="7" y="7"/>
                    <a:pt x="7" y="7"/>
                  </a:cubicBezTo>
                  <a:cubicBezTo>
                    <a:pt x="3" y="8"/>
                    <a:pt x="3" y="8"/>
                    <a:pt x="3" y="8"/>
                  </a:cubicBezTo>
                  <a:lnTo>
                    <a:pt x="3" y="6"/>
                  </a:lnTo>
                  <a:close/>
                  <a:moveTo>
                    <a:pt x="1" y="5"/>
                  </a:moveTo>
                  <a:cubicBezTo>
                    <a:pt x="2" y="12"/>
                    <a:pt x="2" y="12"/>
                    <a:pt x="2" y="12"/>
                  </a:cubicBezTo>
                  <a:cubicBezTo>
                    <a:pt x="2" y="14"/>
                    <a:pt x="2" y="14"/>
                    <a:pt x="2" y="14"/>
                  </a:cubicBezTo>
                  <a:cubicBezTo>
                    <a:pt x="4" y="14"/>
                    <a:pt x="4" y="14"/>
                    <a:pt x="4" y="14"/>
                  </a:cubicBezTo>
                  <a:cubicBezTo>
                    <a:pt x="4" y="14"/>
                    <a:pt x="4" y="14"/>
                    <a:pt x="4" y="14"/>
                  </a:cubicBezTo>
                  <a:cubicBezTo>
                    <a:pt x="8" y="13"/>
                    <a:pt x="8" y="13"/>
                    <a:pt x="8" y="13"/>
                  </a:cubicBezTo>
                  <a:cubicBezTo>
                    <a:pt x="8" y="16"/>
                    <a:pt x="8" y="16"/>
                    <a:pt x="8" y="16"/>
                  </a:cubicBezTo>
                  <a:cubicBezTo>
                    <a:pt x="8" y="16"/>
                    <a:pt x="8" y="17"/>
                    <a:pt x="8" y="17"/>
                  </a:cubicBezTo>
                  <a:cubicBezTo>
                    <a:pt x="8" y="17"/>
                    <a:pt x="9" y="17"/>
                    <a:pt x="9" y="17"/>
                  </a:cubicBezTo>
                  <a:cubicBezTo>
                    <a:pt x="10" y="18"/>
                    <a:pt x="10" y="18"/>
                    <a:pt x="11" y="17"/>
                  </a:cubicBezTo>
                  <a:cubicBezTo>
                    <a:pt x="11" y="17"/>
                    <a:pt x="12" y="17"/>
                    <a:pt x="14" y="17"/>
                  </a:cubicBezTo>
                  <a:cubicBezTo>
                    <a:pt x="15" y="17"/>
                    <a:pt x="16" y="17"/>
                    <a:pt x="16" y="17"/>
                  </a:cubicBezTo>
                  <a:cubicBezTo>
                    <a:pt x="17" y="17"/>
                    <a:pt x="17" y="16"/>
                    <a:pt x="17" y="16"/>
                  </a:cubicBezTo>
                  <a:cubicBezTo>
                    <a:pt x="18" y="16"/>
                    <a:pt x="18" y="16"/>
                    <a:pt x="18" y="16"/>
                  </a:cubicBezTo>
                  <a:cubicBezTo>
                    <a:pt x="18" y="15"/>
                    <a:pt x="18" y="15"/>
                    <a:pt x="19" y="13"/>
                  </a:cubicBezTo>
                  <a:cubicBezTo>
                    <a:pt x="18" y="13"/>
                    <a:pt x="17" y="13"/>
                    <a:pt x="16" y="12"/>
                  </a:cubicBezTo>
                  <a:cubicBezTo>
                    <a:pt x="16" y="13"/>
                    <a:pt x="16" y="13"/>
                    <a:pt x="16" y="13"/>
                  </a:cubicBezTo>
                  <a:cubicBezTo>
                    <a:pt x="16" y="14"/>
                    <a:pt x="16" y="14"/>
                    <a:pt x="16" y="14"/>
                  </a:cubicBezTo>
                  <a:cubicBezTo>
                    <a:pt x="16" y="14"/>
                    <a:pt x="15" y="15"/>
                    <a:pt x="15" y="15"/>
                  </a:cubicBezTo>
                  <a:cubicBezTo>
                    <a:pt x="15" y="15"/>
                    <a:pt x="14" y="15"/>
                    <a:pt x="13" y="15"/>
                  </a:cubicBezTo>
                  <a:cubicBezTo>
                    <a:pt x="11" y="15"/>
                    <a:pt x="11" y="15"/>
                    <a:pt x="11" y="15"/>
                  </a:cubicBezTo>
                  <a:cubicBezTo>
                    <a:pt x="11" y="15"/>
                    <a:pt x="11" y="15"/>
                    <a:pt x="10" y="15"/>
                  </a:cubicBezTo>
                  <a:cubicBezTo>
                    <a:pt x="10" y="15"/>
                    <a:pt x="10" y="15"/>
                    <a:pt x="10" y="15"/>
                  </a:cubicBezTo>
                  <a:cubicBezTo>
                    <a:pt x="10" y="13"/>
                    <a:pt x="10" y="13"/>
                    <a:pt x="10" y="13"/>
                  </a:cubicBezTo>
                  <a:cubicBezTo>
                    <a:pt x="14" y="12"/>
                    <a:pt x="14" y="12"/>
                    <a:pt x="14" y="12"/>
                  </a:cubicBezTo>
                  <a:cubicBezTo>
                    <a:pt x="14" y="13"/>
                    <a:pt x="14" y="13"/>
                    <a:pt x="14" y="13"/>
                  </a:cubicBezTo>
                  <a:cubicBezTo>
                    <a:pt x="16" y="12"/>
                    <a:pt x="16" y="12"/>
                    <a:pt x="16" y="12"/>
                  </a:cubicBezTo>
                  <a:cubicBezTo>
                    <a:pt x="16" y="10"/>
                    <a:pt x="16" y="10"/>
                    <a:pt x="16" y="10"/>
                  </a:cubicBezTo>
                  <a:cubicBezTo>
                    <a:pt x="15" y="3"/>
                    <a:pt x="15" y="3"/>
                    <a:pt x="15" y="3"/>
                  </a:cubicBezTo>
                  <a:cubicBezTo>
                    <a:pt x="15" y="2"/>
                    <a:pt x="15" y="2"/>
                    <a:pt x="15" y="2"/>
                  </a:cubicBezTo>
                  <a:cubicBezTo>
                    <a:pt x="13" y="2"/>
                    <a:pt x="13" y="2"/>
                    <a:pt x="13" y="2"/>
                  </a:cubicBezTo>
                  <a:cubicBezTo>
                    <a:pt x="8" y="3"/>
                    <a:pt x="8" y="3"/>
                    <a:pt x="8" y="3"/>
                  </a:cubicBezTo>
                  <a:cubicBezTo>
                    <a:pt x="8" y="2"/>
                    <a:pt x="8" y="2"/>
                    <a:pt x="8" y="2"/>
                  </a:cubicBezTo>
                  <a:cubicBezTo>
                    <a:pt x="8" y="0"/>
                    <a:pt x="8" y="0"/>
                    <a:pt x="8" y="0"/>
                  </a:cubicBezTo>
                  <a:cubicBezTo>
                    <a:pt x="6" y="1"/>
                    <a:pt x="6" y="1"/>
                    <a:pt x="6" y="1"/>
                  </a:cubicBezTo>
                  <a:cubicBezTo>
                    <a:pt x="6" y="2"/>
                    <a:pt x="6" y="2"/>
                    <a:pt x="6" y="2"/>
                  </a:cubicBezTo>
                  <a:cubicBezTo>
                    <a:pt x="6" y="3"/>
                    <a:pt x="6" y="3"/>
                    <a:pt x="6" y="3"/>
                  </a:cubicBezTo>
                  <a:cubicBezTo>
                    <a:pt x="2" y="4"/>
                    <a:pt x="2" y="4"/>
                    <a:pt x="2" y="4"/>
                  </a:cubicBezTo>
                  <a:cubicBezTo>
                    <a:pt x="0" y="4"/>
                    <a:pt x="0" y="4"/>
                    <a:pt x="0" y="4"/>
                  </a:cubicBezTo>
                  <a:lnTo>
                    <a:pt x="1" y="5"/>
                  </a:lnTo>
                  <a:close/>
                  <a:moveTo>
                    <a:pt x="3" y="10"/>
                  </a:moveTo>
                  <a:cubicBezTo>
                    <a:pt x="7" y="9"/>
                    <a:pt x="7" y="9"/>
                    <a:pt x="7" y="9"/>
                  </a:cubicBezTo>
                  <a:cubicBezTo>
                    <a:pt x="7" y="11"/>
                    <a:pt x="7" y="11"/>
                    <a:pt x="7" y="11"/>
                  </a:cubicBezTo>
                  <a:cubicBezTo>
                    <a:pt x="4" y="12"/>
                    <a:pt x="4" y="12"/>
                    <a:pt x="4" y="12"/>
                  </a:cubicBezTo>
                  <a:lnTo>
                    <a:pt x="3" y="10"/>
                  </a:lnTo>
                  <a:close/>
                  <a:moveTo>
                    <a:pt x="9" y="5"/>
                  </a:moveTo>
                  <a:cubicBezTo>
                    <a:pt x="13" y="4"/>
                    <a:pt x="13" y="4"/>
                    <a:pt x="13" y="4"/>
                  </a:cubicBezTo>
                  <a:cubicBezTo>
                    <a:pt x="13" y="6"/>
                    <a:pt x="13" y="6"/>
                    <a:pt x="13" y="6"/>
                  </a:cubicBezTo>
                  <a:cubicBezTo>
                    <a:pt x="9" y="7"/>
                    <a:pt x="9" y="7"/>
                    <a:pt x="9" y="7"/>
                  </a:cubicBezTo>
                  <a:lnTo>
                    <a:pt x="9" y="5"/>
                  </a:lnTo>
                  <a:close/>
                  <a:moveTo>
                    <a:pt x="9" y="9"/>
                  </a:moveTo>
                  <a:cubicBezTo>
                    <a:pt x="13" y="8"/>
                    <a:pt x="13" y="8"/>
                    <a:pt x="13" y="8"/>
                  </a:cubicBezTo>
                  <a:cubicBezTo>
                    <a:pt x="14" y="10"/>
                    <a:pt x="14" y="10"/>
                    <a:pt x="14" y="10"/>
                  </a:cubicBezTo>
                  <a:cubicBezTo>
                    <a:pt x="10" y="11"/>
                    <a:pt x="10" y="11"/>
                    <a:pt x="10" y="11"/>
                  </a:cubicBezTo>
                  <a:lnTo>
                    <a:pt x="9" y="9"/>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2" name="Freeform 15"/>
            <p:cNvSpPr>
              <a:spLocks noEditPoints="1"/>
            </p:cNvSpPr>
            <p:nvPr/>
          </p:nvSpPr>
          <p:spPr bwMode="auto">
            <a:xfrm>
              <a:off x="803275" y="5610225"/>
              <a:ext cx="44450" cy="46038"/>
            </a:xfrm>
            <a:custGeom>
              <a:avLst/>
              <a:gdLst>
                <a:gd name="T0" fmla="*/ 5 w 18"/>
                <a:gd name="T1" fmla="*/ 6 h 18"/>
                <a:gd name="T2" fmla="*/ 5 w 18"/>
                <a:gd name="T3" fmla="*/ 10 h 18"/>
                <a:gd name="T4" fmla="*/ 4 w 18"/>
                <a:gd name="T5" fmla="*/ 6 h 18"/>
                <a:gd name="T6" fmla="*/ 3 w 18"/>
                <a:gd name="T7" fmla="*/ 14 h 18"/>
                <a:gd name="T8" fmla="*/ 4 w 18"/>
                <a:gd name="T9" fmla="*/ 13 h 18"/>
                <a:gd name="T10" fmla="*/ 6 w 18"/>
                <a:gd name="T11" fmla="*/ 12 h 18"/>
                <a:gd name="T12" fmla="*/ 7 w 18"/>
                <a:gd name="T13" fmla="*/ 12 h 18"/>
                <a:gd name="T14" fmla="*/ 7 w 18"/>
                <a:gd name="T15" fmla="*/ 12 h 18"/>
                <a:gd name="T16" fmla="*/ 8 w 18"/>
                <a:gd name="T17" fmla="*/ 9 h 18"/>
                <a:gd name="T18" fmla="*/ 9 w 18"/>
                <a:gd name="T19" fmla="*/ 7 h 18"/>
                <a:gd name="T20" fmla="*/ 10 w 18"/>
                <a:gd name="T21" fmla="*/ 10 h 18"/>
                <a:gd name="T22" fmla="*/ 9 w 18"/>
                <a:gd name="T23" fmla="*/ 12 h 18"/>
                <a:gd name="T24" fmla="*/ 8 w 18"/>
                <a:gd name="T25" fmla="*/ 14 h 18"/>
                <a:gd name="T26" fmla="*/ 10 w 18"/>
                <a:gd name="T27" fmla="*/ 14 h 18"/>
                <a:gd name="T28" fmla="*/ 12 w 18"/>
                <a:gd name="T29" fmla="*/ 13 h 18"/>
                <a:gd name="T30" fmla="*/ 14 w 18"/>
                <a:gd name="T31" fmla="*/ 13 h 18"/>
                <a:gd name="T32" fmla="*/ 13 w 18"/>
                <a:gd name="T33" fmla="*/ 10 h 18"/>
                <a:gd name="T34" fmla="*/ 14 w 18"/>
                <a:gd name="T35" fmla="*/ 7 h 18"/>
                <a:gd name="T36" fmla="*/ 14 w 18"/>
                <a:gd name="T37" fmla="*/ 6 h 18"/>
                <a:gd name="T38" fmla="*/ 12 w 18"/>
                <a:gd name="T39" fmla="*/ 5 h 18"/>
                <a:gd name="T40" fmla="*/ 11 w 18"/>
                <a:gd name="T41" fmla="*/ 6 h 18"/>
                <a:gd name="T42" fmla="*/ 9 w 18"/>
                <a:gd name="T43" fmla="*/ 7 h 18"/>
                <a:gd name="T44" fmla="*/ 10 w 18"/>
                <a:gd name="T45" fmla="*/ 5 h 18"/>
                <a:gd name="T46" fmla="*/ 8 w 18"/>
                <a:gd name="T47" fmla="*/ 4 h 18"/>
                <a:gd name="T48" fmla="*/ 7 w 18"/>
                <a:gd name="T49" fmla="*/ 5 h 18"/>
                <a:gd name="T50" fmla="*/ 6 w 18"/>
                <a:gd name="T51" fmla="*/ 5 h 18"/>
                <a:gd name="T52" fmla="*/ 4 w 18"/>
                <a:gd name="T53" fmla="*/ 5 h 18"/>
                <a:gd name="T54" fmla="*/ 15 w 18"/>
                <a:gd name="T55" fmla="*/ 5 h 18"/>
                <a:gd name="T56" fmla="*/ 13 w 18"/>
                <a:gd name="T57" fmla="*/ 16 h 18"/>
                <a:gd name="T58" fmla="*/ 11 w 18"/>
                <a:gd name="T59" fmla="*/ 16 h 18"/>
                <a:gd name="T60" fmla="*/ 12 w 18"/>
                <a:gd name="T61" fmla="*/ 18 h 18"/>
                <a:gd name="T62" fmla="*/ 14 w 18"/>
                <a:gd name="T63" fmla="*/ 18 h 18"/>
                <a:gd name="T64" fmla="*/ 16 w 18"/>
                <a:gd name="T65" fmla="*/ 17 h 18"/>
                <a:gd name="T66" fmla="*/ 18 w 18"/>
                <a:gd name="T67" fmla="*/ 3 h 18"/>
                <a:gd name="T68" fmla="*/ 5 w 18"/>
                <a:gd name="T69" fmla="*/ 1 h 18"/>
                <a:gd name="T70" fmla="*/ 3 w 18"/>
                <a:gd name="T71" fmla="*/ 3 h 18"/>
                <a:gd name="T72" fmla="*/ 0 w 18"/>
                <a:gd name="T73"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 h="18">
                  <a:moveTo>
                    <a:pt x="4" y="6"/>
                  </a:moveTo>
                  <a:cubicBezTo>
                    <a:pt x="5" y="6"/>
                    <a:pt x="5" y="6"/>
                    <a:pt x="5" y="6"/>
                  </a:cubicBezTo>
                  <a:cubicBezTo>
                    <a:pt x="5" y="7"/>
                    <a:pt x="5" y="7"/>
                    <a:pt x="6" y="9"/>
                  </a:cubicBezTo>
                  <a:cubicBezTo>
                    <a:pt x="5" y="9"/>
                    <a:pt x="5" y="10"/>
                    <a:pt x="5" y="10"/>
                  </a:cubicBezTo>
                  <a:cubicBezTo>
                    <a:pt x="4" y="11"/>
                    <a:pt x="4" y="11"/>
                    <a:pt x="3" y="11"/>
                  </a:cubicBezTo>
                  <a:lnTo>
                    <a:pt x="4" y="6"/>
                  </a:lnTo>
                  <a:close/>
                  <a:moveTo>
                    <a:pt x="3" y="16"/>
                  </a:moveTo>
                  <a:cubicBezTo>
                    <a:pt x="3" y="14"/>
                    <a:pt x="3" y="14"/>
                    <a:pt x="3" y="14"/>
                  </a:cubicBezTo>
                  <a:cubicBezTo>
                    <a:pt x="3" y="12"/>
                    <a:pt x="3" y="12"/>
                    <a:pt x="3" y="12"/>
                  </a:cubicBezTo>
                  <a:cubicBezTo>
                    <a:pt x="4" y="12"/>
                    <a:pt x="4" y="13"/>
                    <a:pt x="4" y="13"/>
                  </a:cubicBezTo>
                  <a:cubicBezTo>
                    <a:pt x="4" y="13"/>
                    <a:pt x="4" y="13"/>
                    <a:pt x="4" y="13"/>
                  </a:cubicBezTo>
                  <a:cubicBezTo>
                    <a:pt x="5" y="13"/>
                    <a:pt x="6" y="12"/>
                    <a:pt x="6" y="12"/>
                  </a:cubicBezTo>
                  <a:cubicBezTo>
                    <a:pt x="6" y="12"/>
                    <a:pt x="6" y="11"/>
                    <a:pt x="7" y="11"/>
                  </a:cubicBezTo>
                  <a:cubicBezTo>
                    <a:pt x="7" y="12"/>
                    <a:pt x="7" y="12"/>
                    <a:pt x="7" y="12"/>
                  </a:cubicBezTo>
                  <a:cubicBezTo>
                    <a:pt x="7" y="12"/>
                    <a:pt x="7" y="12"/>
                    <a:pt x="7" y="12"/>
                  </a:cubicBezTo>
                  <a:cubicBezTo>
                    <a:pt x="7" y="12"/>
                    <a:pt x="7" y="12"/>
                    <a:pt x="7" y="12"/>
                  </a:cubicBezTo>
                  <a:cubicBezTo>
                    <a:pt x="8" y="12"/>
                    <a:pt x="8" y="12"/>
                    <a:pt x="9" y="11"/>
                  </a:cubicBezTo>
                  <a:cubicBezTo>
                    <a:pt x="9" y="11"/>
                    <a:pt x="8" y="10"/>
                    <a:pt x="8" y="9"/>
                  </a:cubicBezTo>
                  <a:cubicBezTo>
                    <a:pt x="8" y="8"/>
                    <a:pt x="8" y="8"/>
                    <a:pt x="8" y="8"/>
                  </a:cubicBezTo>
                  <a:cubicBezTo>
                    <a:pt x="8" y="8"/>
                    <a:pt x="9" y="7"/>
                    <a:pt x="9" y="7"/>
                  </a:cubicBezTo>
                  <a:cubicBezTo>
                    <a:pt x="9" y="8"/>
                    <a:pt x="10" y="8"/>
                    <a:pt x="10" y="8"/>
                  </a:cubicBezTo>
                  <a:cubicBezTo>
                    <a:pt x="10" y="9"/>
                    <a:pt x="10" y="9"/>
                    <a:pt x="10" y="10"/>
                  </a:cubicBezTo>
                  <a:cubicBezTo>
                    <a:pt x="10" y="11"/>
                    <a:pt x="10" y="11"/>
                    <a:pt x="10" y="11"/>
                  </a:cubicBezTo>
                  <a:cubicBezTo>
                    <a:pt x="10" y="11"/>
                    <a:pt x="9" y="12"/>
                    <a:pt x="9" y="12"/>
                  </a:cubicBezTo>
                  <a:cubicBezTo>
                    <a:pt x="8" y="12"/>
                    <a:pt x="8" y="13"/>
                    <a:pt x="7" y="13"/>
                  </a:cubicBezTo>
                  <a:cubicBezTo>
                    <a:pt x="8" y="14"/>
                    <a:pt x="8" y="14"/>
                    <a:pt x="8" y="14"/>
                  </a:cubicBezTo>
                  <a:cubicBezTo>
                    <a:pt x="8" y="15"/>
                    <a:pt x="8" y="15"/>
                    <a:pt x="9" y="15"/>
                  </a:cubicBezTo>
                  <a:cubicBezTo>
                    <a:pt x="9" y="15"/>
                    <a:pt x="9" y="14"/>
                    <a:pt x="10" y="14"/>
                  </a:cubicBezTo>
                  <a:cubicBezTo>
                    <a:pt x="10" y="14"/>
                    <a:pt x="10" y="13"/>
                    <a:pt x="11" y="12"/>
                  </a:cubicBezTo>
                  <a:cubicBezTo>
                    <a:pt x="12" y="13"/>
                    <a:pt x="12" y="13"/>
                    <a:pt x="12" y="13"/>
                  </a:cubicBezTo>
                  <a:cubicBezTo>
                    <a:pt x="12" y="13"/>
                    <a:pt x="12" y="14"/>
                    <a:pt x="12" y="14"/>
                  </a:cubicBezTo>
                  <a:cubicBezTo>
                    <a:pt x="13" y="14"/>
                    <a:pt x="13" y="13"/>
                    <a:pt x="14" y="13"/>
                  </a:cubicBezTo>
                  <a:cubicBezTo>
                    <a:pt x="14" y="12"/>
                    <a:pt x="14" y="12"/>
                    <a:pt x="14" y="12"/>
                  </a:cubicBezTo>
                  <a:cubicBezTo>
                    <a:pt x="14" y="12"/>
                    <a:pt x="13" y="12"/>
                    <a:pt x="13" y="10"/>
                  </a:cubicBezTo>
                  <a:cubicBezTo>
                    <a:pt x="13" y="9"/>
                    <a:pt x="13" y="9"/>
                    <a:pt x="13" y="9"/>
                  </a:cubicBezTo>
                  <a:cubicBezTo>
                    <a:pt x="13" y="8"/>
                    <a:pt x="13" y="8"/>
                    <a:pt x="14" y="7"/>
                  </a:cubicBezTo>
                  <a:cubicBezTo>
                    <a:pt x="14" y="6"/>
                    <a:pt x="14" y="6"/>
                    <a:pt x="14" y="6"/>
                  </a:cubicBezTo>
                  <a:cubicBezTo>
                    <a:pt x="14" y="6"/>
                    <a:pt x="14" y="6"/>
                    <a:pt x="14" y="6"/>
                  </a:cubicBezTo>
                  <a:cubicBezTo>
                    <a:pt x="14" y="5"/>
                    <a:pt x="13" y="5"/>
                    <a:pt x="12" y="5"/>
                  </a:cubicBezTo>
                  <a:cubicBezTo>
                    <a:pt x="12" y="5"/>
                    <a:pt x="12" y="5"/>
                    <a:pt x="12" y="5"/>
                  </a:cubicBezTo>
                  <a:cubicBezTo>
                    <a:pt x="12" y="6"/>
                    <a:pt x="12" y="6"/>
                    <a:pt x="11" y="7"/>
                  </a:cubicBezTo>
                  <a:cubicBezTo>
                    <a:pt x="11" y="7"/>
                    <a:pt x="11" y="6"/>
                    <a:pt x="11" y="6"/>
                  </a:cubicBezTo>
                  <a:cubicBezTo>
                    <a:pt x="10" y="6"/>
                    <a:pt x="10" y="6"/>
                    <a:pt x="10" y="6"/>
                  </a:cubicBezTo>
                  <a:cubicBezTo>
                    <a:pt x="10" y="6"/>
                    <a:pt x="10" y="6"/>
                    <a:pt x="9" y="7"/>
                  </a:cubicBezTo>
                  <a:cubicBezTo>
                    <a:pt x="9" y="6"/>
                    <a:pt x="9" y="6"/>
                    <a:pt x="9" y="6"/>
                  </a:cubicBezTo>
                  <a:cubicBezTo>
                    <a:pt x="9" y="6"/>
                    <a:pt x="9" y="6"/>
                    <a:pt x="10" y="5"/>
                  </a:cubicBezTo>
                  <a:cubicBezTo>
                    <a:pt x="10" y="5"/>
                    <a:pt x="10" y="5"/>
                    <a:pt x="10" y="5"/>
                  </a:cubicBezTo>
                  <a:cubicBezTo>
                    <a:pt x="9" y="4"/>
                    <a:pt x="8" y="4"/>
                    <a:pt x="8" y="4"/>
                  </a:cubicBezTo>
                  <a:cubicBezTo>
                    <a:pt x="7" y="4"/>
                    <a:pt x="7" y="4"/>
                    <a:pt x="7" y="4"/>
                  </a:cubicBezTo>
                  <a:cubicBezTo>
                    <a:pt x="7" y="5"/>
                    <a:pt x="7" y="5"/>
                    <a:pt x="7" y="5"/>
                  </a:cubicBezTo>
                  <a:cubicBezTo>
                    <a:pt x="7" y="6"/>
                    <a:pt x="7" y="6"/>
                    <a:pt x="7" y="6"/>
                  </a:cubicBezTo>
                  <a:cubicBezTo>
                    <a:pt x="7" y="6"/>
                    <a:pt x="6" y="5"/>
                    <a:pt x="6" y="5"/>
                  </a:cubicBezTo>
                  <a:cubicBezTo>
                    <a:pt x="6" y="5"/>
                    <a:pt x="5" y="5"/>
                    <a:pt x="5" y="5"/>
                  </a:cubicBezTo>
                  <a:cubicBezTo>
                    <a:pt x="5" y="5"/>
                    <a:pt x="5" y="5"/>
                    <a:pt x="4" y="5"/>
                  </a:cubicBezTo>
                  <a:cubicBezTo>
                    <a:pt x="5" y="3"/>
                    <a:pt x="5" y="3"/>
                    <a:pt x="5" y="3"/>
                  </a:cubicBezTo>
                  <a:cubicBezTo>
                    <a:pt x="15" y="5"/>
                    <a:pt x="15" y="5"/>
                    <a:pt x="15" y="5"/>
                  </a:cubicBezTo>
                  <a:cubicBezTo>
                    <a:pt x="13" y="15"/>
                    <a:pt x="13" y="15"/>
                    <a:pt x="13" y="15"/>
                  </a:cubicBezTo>
                  <a:cubicBezTo>
                    <a:pt x="13" y="16"/>
                    <a:pt x="13" y="16"/>
                    <a:pt x="13" y="16"/>
                  </a:cubicBezTo>
                  <a:cubicBezTo>
                    <a:pt x="13" y="16"/>
                    <a:pt x="13" y="16"/>
                    <a:pt x="12" y="16"/>
                  </a:cubicBezTo>
                  <a:cubicBezTo>
                    <a:pt x="12" y="16"/>
                    <a:pt x="12" y="16"/>
                    <a:pt x="11" y="16"/>
                  </a:cubicBezTo>
                  <a:cubicBezTo>
                    <a:pt x="11" y="16"/>
                    <a:pt x="11" y="16"/>
                    <a:pt x="11" y="16"/>
                  </a:cubicBezTo>
                  <a:cubicBezTo>
                    <a:pt x="12" y="17"/>
                    <a:pt x="12" y="17"/>
                    <a:pt x="12" y="18"/>
                  </a:cubicBezTo>
                  <a:cubicBezTo>
                    <a:pt x="12" y="18"/>
                    <a:pt x="12" y="18"/>
                    <a:pt x="12" y="18"/>
                  </a:cubicBezTo>
                  <a:cubicBezTo>
                    <a:pt x="13" y="18"/>
                    <a:pt x="14" y="18"/>
                    <a:pt x="14" y="18"/>
                  </a:cubicBezTo>
                  <a:cubicBezTo>
                    <a:pt x="15" y="18"/>
                    <a:pt x="15" y="18"/>
                    <a:pt x="15" y="18"/>
                  </a:cubicBezTo>
                  <a:cubicBezTo>
                    <a:pt x="15" y="17"/>
                    <a:pt x="15" y="17"/>
                    <a:pt x="16" y="17"/>
                  </a:cubicBezTo>
                  <a:cubicBezTo>
                    <a:pt x="18" y="5"/>
                    <a:pt x="18" y="5"/>
                    <a:pt x="18" y="5"/>
                  </a:cubicBezTo>
                  <a:cubicBezTo>
                    <a:pt x="18" y="3"/>
                    <a:pt x="18" y="3"/>
                    <a:pt x="18" y="3"/>
                  </a:cubicBezTo>
                  <a:cubicBezTo>
                    <a:pt x="16" y="3"/>
                    <a:pt x="16" y="3"/>
                    <a:pt x="16" y="3"/>
                  </a:cubicBezTo>
                  <a:cubicBezTo>
                    <a:pt x="5" y="1"/>
                    <a:pt x="5" y="1"/>
                    <a:pt x="5" y="1"/>
                  </a:cubicBezTo>
                  <a:cubicBezTo>
                    <a:pt x="3" y="0"/>
                    <a:pt x="3" y="0"/>
                    <a:pt x="3" y="0"/>
                  </a:cubicBezTo>
                  <a:cubicBezTo>
                    <a:pt x="3" y="3"/>
                    <a:pt x="3" y="3"/>
                    <a:pt x="3" y="3"/>
                  </a:cubicBezTo>
                  <a:cubicBezTo>
                    <a:pt x="1" y="13"/>
                    <a:pt x="1" y="13"/>
                    <a:pt x="1" y="13"/>
                  </a:cubicBezTo>
                  <a:cubicBezTo>
                    <a:pt x="0" y="16"/>
                    <a:pt x="0" y="16"/>
                    <a:pt x="0" y="16"/>
                  </a:cubicBezTo>
                  <a:lnTo>
                    <a:pt x="3" y="16"/>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3" name="Freeform 16"/>
            <p:cNvSpPr>
              <a:spLocks noEditPoints="1"/>
            </p:cNvSpPr>
            <p:nvPr/>
          </p:nvSpPr>
          <p:spPr bwMode="auto">
            <a:xfrm>
              <a:off x="866775" y="5635625"/>
              <a:ext cx="42862" cy="46038"/>
            </a:xfrm>
            <a:custGeom>
              <a:avLst/>
              <a:gdLst>
                <a:gd name="T0" fmla="*/ 2 w 17"/>
                <a:gd name="T1" fmla="*/ 6 h 18"/>
                <a:gd name="T2" fmla="*/ 2 w 17"/>
                <a:gd name="T3" fmla="*/ 3 h 18"/>
                <a:gd name="T4" fmla="*/ 2 w 17"/>
                <a:gd name="T5" fmla="*/ 3 h 18"/>
                <a:gd name="T6" fmla="*/ 4 w 17"/>
                <a:gd name="T7" fmla="*/ 3 h 18"/>
                <a:gd name="T8" fmla="*/ 7 w 17"/>
                <a:gd name="T9" fmla="*/ 2 h 18"/>
                <a:gd name="T10" fmla="*/ 10 w 17"/>
                <a:gd name="T11" fmla="*/ 0 h 18"/>
                <a:gd name="T12" fmla="*/ 10 w 17"/>
                <a:gd name="T13" fmla="*/ 0 h 18"/>
                <a:gd name="T14" fmla="*/ 12 w 17"/>
                <a:gd name="T15" fmla="*/ 2 h 18"/>
                <a:gd name="T16" fmla="*/ 9 w 17"/>
                <a:gd name="T17" fmla="*/ 3 h 18"/>
                <a:gd name="T18" fmla="*/ 6 w 17"/>
                <a:gd name="T19" fmla="*/ 5 h 18"/>
                <a:gd name="T20" fmla="*/ 2 w 17"/>
                <a:gd name="T21" fmla="*/ 6 h 18"/>
                <a:gd name="T22" fmla="*/ 2 w 17"/>
                <a:gd name="T23" fmla="*/ 9 h 18"/>
                <a:gd name="T24" fmla="*/ 3 w 17"/>
                <a:gd name="T25" fmla="*/ 9 h 18"/>
                <a:gd name="T26" fmla="*/ 5 w 17"/>
                <a:gd name="T27" fmla="*/ 8 h 18"/>
                <a:gd name="T28" fmla="*/ 7 w 17"/>
                <a:gd name="T29" fmla="*/ 7 h 18"/>
                <a:gd name="T30" fmla="*/ 9 w 17"/>
                <a:gd name="T31" fmla="*/ 6 h 18"/>
                <a:gd name="T32" fmla="*/ 9 w 17"/>
                <a:gd name="T33" fmla="*/ 6 h 18"/>
                <a:gd name="T34" fmla="*/ 11 w 17"/>
                <a:gd name="T35" fmla="*/ 8 h 18"/>
                <a:gd name="T36" fmla="*/ 10 w 17"/>
                <a:gd name="T37" fmla="*/ 9 h 18"/>
                <a:gd name="T38" fmla="*/ 8 w 17"/>
                <a:gd name="T39" fmla="*/ 9 h 18"/>
                <a:gd name="T40" fmla="*/ 6 w 17"/>
                <a:gd name="T41" fmla="*/ 10 h 18"/>
                <a:gd name="T42" fmla="*/ 4 w 17"/>
                <a:gd name="T43" fmla="*/ 11 h 18"/>
                <a:gd name="T44" fmla="*/ 10 w 17"/>
                <a:gd name="T45" fmla="*/ 14 h 18"/>
                <a:gd name="T46" fmla="*/ 10 w 17"/>
                <a:gd name="T47" fmla="*/ 12 h 18"/>
                <a:gd name="T48" fmla="*/ 9 w 17"/>
                <a:gd name="T49" fmla="*/ 11 h 18"/>
                <a:gd name="T50" fmla="*/ 11 w 17"/>
                <a:gd name="T51" fmla="*/ 11 h 18"/>
                <a:gd name="T52" fmla="*/ 12 w 17"/>
                <a:gd name="T53" fmla="*/ 11 h 18"/>
                <a:gd name="T54" fmla="*/ 13 w 17"/>
                <a:gd name="T55" fmla="*/ 18 h 18"/>
                <a:gd name="T56" fmla="*/ 11 w 17"/>
                <a:gd name="T57" fmla="*/ 18 h 18"/>
                <a:gd name="T58" fmla="*/ 10 w 17"/>
                <a:gd name="T59" fmla="*/ 18 h 18"/>
                <a:gd name="T60" fmla="*/ 10 w 17"/>
                <a:gd name="T61" fmla="*/ 18 h 18"/>
                <a:gd name="T62" fmla="*/ 10 w 17"/>
                <a:gd name="T63" fmla="*/ 16 h 18"/>
                <a:gd name="T64" fmla="*/ 5 w 17"/>
                <a:gd name="T65" fmla="*/ 14 h 18"/>
                <a:gd name="T66" fmla="*/ 2 w 17"/>
                <a:gd name="T67" fmla="*/ 13 h 18"/>
                <a:gd name="T68" fmla="*/ 0 w 17"/>
                <a:gd name="T69" fmla="*/ 12 h 18"/>
                <a:gd name="T70" fmla="*/ 0 w 17"/>
                <a:gd name="T71" fmla="*/ 10 h 18"/>
                <a:gd name="T72" fmla="*/ 0 w 17"/>
                <a:gd name="T73" fmla="*/ 10 h 18"/>
                <a:gd name="T74" fmla="*/ 2 w 17"/>
                <a:gd name="T75" fmla="*/ 9 h 18"/>
                <a:gd name="T76" fmla="*/ 14 w 17"/>
                <a:gd name="T77" fmla="*/ 1 h 18"/>
                <a:gd name="T78" fmla="*/ 16 w 17"/>
                <a:gd name="T79" fmla="*/ 3 h 18"/>
                <a:gd name="T80" fmla="*/ 16 w 17"/>
                <a:gd name="T81" fmla="*/ 3 h 18"/>
                <a:gd name="T82" fmla="*/ 15 w 17"/>
                <a:gd name="T83" fmla="*/ 4 h 18"/>
                <a:gd name="T84" fmla="*/ 15 w 17"/>
                <a:gd name="T85" fmla="*/ 6 h 18"/>
                <a:gd name="T86" fmla="*/ 15 w 17"/>
                <a:gd name="T87" fmla="*/ 8 h 18"/>
                <a:gd name="T88" fmla="*/ 16 w 17"/>
                <a:gd name="T89" fmla="*/ 9 h 18"/>
                <a:gd name="T90" fmla="*/ 16 w 17"/>
                <a:gd name="T91" fmla="*/ 10 h 18"/>
                <a:gd name="T92" fmla="*/ 17 w 17"/>
                <a:gd name="T93" fmla="*/ 11 h 18"/>
                <a:gd name="T94" fmla="*/ 17 w 17"/>
                <a:gd name="T95" fmla="*/ 12 h 18"/>
                <a:gd name="T96" fmla="*/ 15 w 17"/>
                <a:gd name="T97" fmla="*/ 13 h 18"/>
                <a:gd name="T98" fmla="*/ 13 w 17"/>
                <a:gd name="T99" fmla="*/ 10 h 18"/>
                <a:gd name="T100" fmla="*/ 13 w 17"/>
                <a:gd name="T101" fmla="*/ 7 h 18"/>
                <a:gd name="T102" fmla="*/ 13 w 17"/>
                <a:gd name="T103" fmla="*/ 5 h 18"/>
                <a:gd name="T104" fmla="*/ 13 w 17"/>
                <a:gd name="T105" fmla="*/ 3 h 18"/>
                <a:gd name="T106" fmla="*/ 14 w 17"/>
                <a:gd name="T10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 h="18">
                  <a:moveTo>
                    <a:pt x="2" y="6"/>
                  </a:moveTo>
                  <a:cubicBezTo>
                    <a:pt x="2" y="5"/>
                    <a:pt x="2" y="4"/>
                    <a:pt x="2" y="3"/>
                  </a:cubicBezTo>
                  <a:cubicBezTo>
                    <a:pt x="2" y="3"/>
                    <a:pt x="2" y="3"/>
                    <a:pt x="2" y="3"/>
                  </a:cubicBezTo>
                  <a:cubicBezTo>
                    <a:pt x="2" y="3"/>
                    <a:pt x="3" y="3"/>
                    <a:pt x="4" y="3"/>
                  </a:cubicBezTo>
                  <a:cubicBezTo>
                    <a:pt x="5" y="2"/>
                    <a:pt x="6" y="2"/>
                    <a:pt x="7" y="2"/>
                  </a:cubicBezTo>
                  <a:cubicBezTo>
                    <a:pt x="8" y="1"/>
                    <a:pt x="9" y="1"/>
                    <a:pt x="10" y="0"/>
                  </a:cubicBezTo>
                  <a:cubicBezTo>
                    <a:pt x="10" y="0"/>
                    <a:pt x="10" y="0"/>
                    <a:pt x="10" y="0"/>
                  </a:cubicBezTo>
                  <a:cubicBezTo>
                    <a:pt x="11" y="0"/>
                    <a:pt x="11" y="1"/>
                    <a:pt x="12" y="2"/>
                  </a:cubicBezTo>
                  <a:cubicBezTo>
                    <a:pt x="11" y="2"/>
                    <a:pt x="10" y="3"/>
                    <a:pt x="9" y="3"/>
                  </a:cubicBezTo>
                  <a:cubicBezTo>
                    <a:pt x="8" y="4"/>
                    <a:pt x="7" y="4"/>
                    <a:pt x="6" y="5"/>
                  </a:cubicBezTo>
                  <a:cubicBezTo>
                    <a:pt x="4" y="5"/>
                    <a:pt x="3" y="5"/>
                    <a:pt x="2" y="6"/>
                  </a:cubicBezTo>
                  <a:close/>
                  <a:moveTo>
                    <a:pt x="2" y="9"/>
                  </a:moveTo>
                  <a:cubicBezTo>
                    <a:pt x="2" y="9"/>
                    <a:pt x="3" y="9"/>
                    <a:pt x="3" y="9"/>
                  </a:cubicBezTo>
                  <a:cubicBezTo>
                    <a:pt x="4" y="9"/>
                    <a:pt x="5" y="9"/>
                    <a:pt x="5" y="8"/>
                  </a:cubicBezTo>
                  <a:cubicBezTo>
                    <a:pt x="6" y="8"/>
                    <a:pt x="7" y="8"/>
                    <a:pt x="7" y="7"/>
                  </a:cubicBezTo>
                  <a:cubicBezTo>
                    <a:pt x="8" y="7"/>
                    <a:pt x="9" y="6"/>
                    <a:pt x="9" y="6"/>
                  </a:cubicBezTo>
                  <a:cubicBezTo>
                    <a:pt x="9" y="6"/>
                    <a:pt x="9" y="6"/>
                    <a:pt x="9" y="6"/>
                  </a:cubicBezTo>
                  <a:cubicBezTo>
                    <a:pt x="10" y="7"/>
                    <a:pt x="10" y="7"/>
                    <a:pt x="11" y="8"/>
                  </a:cubicBezTo>
                  <a:cubicBezTo>
                    <a:pt x="10" y="8"/>
                    <a:pt x="10" y="9"/>
                    <a:pt x="10" y="9"/>
                  </a:cubicBezTo>
                  <a:cubicBezTo>
                    <a:pt x="8" y="9"/>
                    <a:pt x="8" y="9"/>
                    <a:pt x="8" y="9"/>
                  </a:cubicBezTo>
                  <a:cubicBezTo>
                    <a:pt x="8" y="10"/>
                    <a:pt x="7" y="10"/>
                    <a:pt x="6" y="10"/>
                  </a:cubicBezTo>
                  <a:cubicBezTo>
                    <a:pt x="5" y="11"/>
                    <a:pt x="5" y="11"/>
                    <a:pt x="4" y="11"/>
                  </a:cubicBezTo>
                  <a:cubicBezTo>
                    <a:pt x="6" y="12"/>
                    <a:pt x="8" y="13"/>
                    <a:pt x="10" y="14"/>
                  </a:cubicBezTo>
                  <a:cubicBezTo>
                    <a:pt x="10" y="13"/>
                    <a:pt x="10" y="13"/>
                    <a:pt x="10" y="12"/>
                  </a:cubicBezTo>
                  <a:cubicBezTo>
                    <a:pt x="9" y="11"/>
                    <a:pt x="9" y="11"/>
                    <a:pt x="9" y="11"/>
                  </a:cubicBezTo>
                  <a:cubicBezTo>
                    <a:pt x="10" y="11"/>
                    <a:pt x="11" y="11"/>
                    <a:pt x="11" y="11"/>
                  </a:cubicBezTo>
                  <a:cubicBezTo>
                    <a:pt x="12" y="11"/>
                    <a:pt x="12" y="11"/>
                    <a:pt x="12" y="11"/>
                  </a:cubicBezTo>
                  <a:cubicBezTo>
                    <a:pt x="12" y="14"/>
                    <a:pt x="12" y="16"/>
                    <a:pt x="13" y="18"/>
                  </a:cubicBezTo>
                  <a:cubicBezTo>
                    <a:pt x="11" y="18"/>
                    <a:pt x="11" y="18"/>
                    <a:pt x="11" y="18"/>
                  </a:cubicBezTo>
                  <a:cubicBezTo>
                    <a:pt x="10" y="18"/>
                    <a:pt x="10" y="18"/>
                    <a:pt x="10" y="18"/>
                  </a:cubicBezTo>
                  <a:cubicBezTo>
                    <a:pt x="10" y="18"/>
                    <a:pt x="10" y="18"/>
                    <a:pt x="10" y="18"/>
                  </a:cubicBezTo>
                  <a:cubicBezTo>
                    <a:pt x="10" y="17"/>
                    <a:pt x="10" y="17"/>
                    <a:pt x="10" y="16"/>
                  </a:cubicBezTo>
                  <a:cubicBezTo>
                    <a:pt x="9" y="16"/>
                    <a:pt x="7" y="15"/>
                    <a:pt x="5" y="14"/>
                  </a:cubicBezTo>
                  <a:cubicBezTo>
                    <a:pt x="3" y="13"/>
                    <a:pt x="2" y="13"/>
                    <a:pt x="2" y="13"/>
                  </a:cubicBezTo>
                  <a:cubicBezTo>
                    <a:pt x="1" y="13"/>
                    <a:pt x="1" y="12"/>
                    <a:pt x="0" y="12"/>
                  </a:cubicBezTo>
                  <a:cubicBezTo>
                    <a:pt x="0" y="11"/>
                    <a:pt x="0" y="11"/>
                    <a:pt x="0" y="10"/>
                  </a:cubicBezTo>
                  <a:cubicBezTo>
                    <a:pt x="0" y="10"/>
                    <a:pt x="0" y="10"/>
                    <a:pt x="0" y="10"/>
                  </a:cubicBezTo>
                  <a:cubicBezTo>
                    <a:pt x="1" y="10"/>
                    <a:pt x="2" y="10"/>
                    <a:pt x="2" y="9"/>
                  </a:cubicBezTo>
                  <a:close/>
                  <a:moveTo>
                    <a:pt x="14" y="1"/>
                  </a:moveTo>
                  <a:cubicBezTo>
                    <a:pt x="14" y="2"/>
                    <a:pt x="15" y="2"/>
                    <a:pt x="16" y="3"/>
                  </a:cubicBezTo>
                  <a:cubicBezTo>
                    <a:pt x="16" y="3"/>
                    <a:pt x="16" y="3"/>
                    <a:pt x="16" y="3"/>
                  </a:cubicBezTo>
                  <a:cubicBezTo>
                    <a:pt x="16" y="3"/>
                    <a:pt x="15" y="4"/>
                    <a:pt x="15" y="4"/>
                  </a:cubicBezTo>
                  <a:cubicBezTo>
                    <a:pt x="15" y="4"/>
                    <a:pt x="15" y="5"/>
                    <a:pt x="15" y="6"/>
                  </a:cubicBezTo>
                  <a:cubicBezTo>
                    <a:pt x="15" y="6"/>
                    <a:pt x="15" y="7"/>
                    <a:pt x="15" y="8"/>
                  </a:cubicBezTo>
                  <a:cubicBezTo>
                    <a:pt x="15" y="8"/>
                    <a:pt x="16" y="9"/>
                    <a:pt x="16" y="9"/>
                  </a:cubicBezTo>
                  <a:cubicBezTo>
                    <a:pt x="16" y="10"/>
                    <a:pt x="16" y="10"/>
                    <a:pt x="16" y="10"/>
                  </a:cubicBezTo>
                  <a:cubicBezTo>
                    <a:pt x="17" y="10"/>
                    <a:pt x="17" y="11"/>
                    <a:pt x="17" y="11"/>
                  </a:cubicBezTo>
                  <a:cubicBezTo>
                    <a:pt x="17" y="11"/>
                    <a:pt x="17" y="12"/>
                    <a:pt x="17" y="12"/>
                  </a:cubicBezTo>
                  <a:cubicBezTo>
                    <a:pt x="17" y="12"/>
                    <a:pt x="16" y="12"/>
                    <a:pt x="15" y="13"/>
                  </a:cubicBezTo>
                  <a:cubicBezTo>
                    <a:pt x="14" y="12"/>
                    <a:pt x="14" y="11"/>
                    <a:pt x="13" y="10"/>
                  </a:cubicBezTo>
                  <a:cubicBezTo>
                    <a:pt x="13" y="9"/>
                    <a:pt x="13" y="8"/>
                    <a:pt x="13" y="7"/>
                  </a:cubicBezTo>
                  <a:cubicBezTo>
                    <a:pt x="13" y="7"/>
                    <a:pt x="13" y="6"/>
                    <a:pt x="13" y="5"/>
                  </a:cubicBezTo>
                  <a:cubicBezTo>
                    <a:pt x="13" y="4"/>
                    <a:pt x="13" y="4"/>
                    <a:pt x="13" y="3"/>
                  </a:cubicBezTo>
                  <a:cubicBezTo>
                    <a:pt x="13" y="3"/>
                    <a:pt x="13" y="2"/>
                    <a:pt x="14" y="1"/>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4" name="Freeform 17"/>
            <p:cNvSpPr>
              <a:spLocks noEditPoints="1"/>
            </p:cNvSpPr>
            <p:nvPr/>
          </p:nvSpPr>
          <p:spPr bwMode="auto">
            <a:xfrm>
              <a:off x="922338" y="5670550"/>
              <a:ext cx="50800" cy="55563"/>
            </a:xfrm>
            <a:custGeom>
              <a:avLst/>
              <a:gdLst>
                <a:gd name="T0" fmla="*/ 3 w 20"/>
                <a:gd name="T1" fmla="*/ 10 h 22"/>
                <a:gd name="T2" fmla="*/ 5 w 20"/>
                <a:gd name="T3" fmla="*/ 9 h 22"/>
                <a:gd name="T4" fmla="*/ 8 w 20"/>
                <a:gd name="T5" fmla="*/ 12 h 22"/>
                <a:gd name="T6" fmla="*/ 6 w 20"/>
                <a:gd name="T7" fmla="*/ 14 h 22"/>
                <a:gd name="T8" fmla="*/ 3 w 20"/>
                <a:gd name="T9" fmla="*/ 10 h 22"/>
                <a:gd name="T10" fmla="*/ 13 w 20"/>
                <a:gd name="T11" fmla="*/ 9 h 22"/>
                <a:gd name="T12" fmla="*/ 8 w 20"/>
                <a:gd name="T13" fmla="*/ 4 h 22"/>
                <a:gd name="T14" fmla="*/ 6 w 20"/>
                <a:gd name="T15" fmla="*/ 2 h 22"/>
                <a:gd name="T16" fmla="*/ 5 w 20"/>
                <a:gd name="T17" fmla="*/ 4 h 22"/>
                <a:gd name="T18" fmla="*/ 6 w 20"/>
                <a:gd name="T19" fmla="*/ 5 h 22"/>
                <a:gd name="T20" fmla="*/ 12 w 20"/>
                <a:gd name="T21" fmla="*/ 11 h 22"/>
                <a:gd name="T22" fmla="*/ 13 w 20"/>
                <a:gd name="T23" fmla="*/ 12 h 22"/>
                <a:gd name="T24" fmla="*/ 15 w 20"/>
                <a:gd name="T25" fmla="*/ 11 h 22"/>
                <a:gd name="T26" fmla="*/ 13 w 20"/>
                <a:gd name="T27" fmla="*/ 9 h 22"/>
                <a:gd name="T28" fmla="*/ 10 w 20"/>
                <a:gd name="T29" fmla="*/ 3 h 22"/>
                <a:gd name="T30" fmla="*/ 17 w 20"/>
                <a:gd name="T31" fmla="*/ 11 h 22"/>
                <a:gd name="T32" fmla="*/ 8 w 20"/>
                <a:gd name="T33" fmla="*/ 19 h 22"/>
                <a:gd name="T34" fmla="*/ 8 w 20"/>
                <a:gd name="T35" fmla="*/ 19 h 22"/>
                <a:gd name="T36" fmla="*/ 7 w 20"/>
                <a:gd name="T37" fmla="*/ 19 h 22"/>
                <a:gd name="T38" fmla="*/ 7 w 20"/>
                <a:gd name="T39" fmla="*/ 18 h 22"/>
                <a:gd name="T40" fmla="*/ 6 w 20"/>
                <a:gd name="T41" fmla="*/ 17 h 22"/>
                <a:gd name="T42" fmla="*/ 6 w 20"/>
                <a:gd name="T43" fmla="*/ 18 h 22"/>
                <a:gd name="T44" fmla="*/ 5 w 20"/>
                <a:gd name="T45" fmla="*/ 19 h 22"/>
                <a:gd name="T46" fmla="*/ 5 w 20"/>
                <a:gd name="T47" fmla="*/ 20 h 22"/>
                <a:gd name="T48" fmla="*/ 7 w 20"/>
                <a:gd name="T49" fmla="*/ 21 h 22"/>
                <a:gd name="T50" fmla="*/ 8 w 20"/>
                <a:gd name="T51" fmla="*/ 22 h 22"/>
                <a:gd name="T52" fmla="*/ 9 w 20"/>
                <a:gd name="T53" fmla="*/ 21 h 22"/>
                <a:gd name="T54" fmla="*/ 19 w 20"/>
                <a:gd name="T55" fmla="*/ 12 h 22"/>
                <a:gd name="T56" fmla="*/ 20 w 20"/>
                <a:gd name="T57" fmla="*/ 11 h 22"/>
                <a:gd name="T58" fmla="*/ 19 w 20"/>
                <a:gd name="T59" fmla="*/ 10 h 22"/>
                <a:gd name="T60" fmla="*/ 11 w 20"/>
                <a:gd name="T61" fmla="*/ 2 h 22"/>
                <a:gd name="T62" fmla="*/ 9 w 20"/>
                <a:gd name="T63" fmla="*/ 0 h 22"/>
                <a:gd name="T64" fmla="*/ 8 w 20"/>
                <a:gd name="T65" fmla="*/ 1 h 22"/>
                <a:gd name="T66" fmla="*/ 10 w 20"/>
                <a:gd name="T67" fmla="*/ 3 h 22"/>
                <a:gd name="T68" fmla="*/ 4 w 20"/>
                <a:gd name="T69" fmla="*/ 7 h 22"/>
                <a:gd name="T70" fmla="*/ 1 w 20"/>
                <a:gd name="T71" fmla="*/ 9 h 22"/>
                <a:gd name="T72" fmla="*/ 0 w 20"/>
                <a:gd name="T73" fmla="*/ 10 h 22"/>
                <a:gd name="T74" fmla="*/ 1 w 20"/>
                <a:gd name="T75" fmla="*/ 11 h 22"/>
                <a:gd name="T76" fmla="*/ 5 w 20"/>
                <a:gd name="T77" fmla="*/ 15 h 22"/>
                <a:gd name="T78" fmla="*/ 6 w 20"/>
                <a:gd name="T79" fmla="*/ 17 h 22"/>
                <a:gd name="T80" fmla="*/ 8 w 20"/>
                <a:gd name="T81" fmla="*/ 16 h 22"/>
                <a:gd name="T82" fmla="*/ 10 w 20"/>
                <a:gd name="T83" fmla="*/ 13 h 22"/>
                <a:gd name="T84" fmla="*/ 11 w 20"/>
                <a:gd name="T85" fmla="*/ 12 h 22"/>
                <a:gd name="T86" fmla="*/ 10 w 20"/>
                <a:gd name="T87" fmla="*/ 11 h 22"/>
                <a:gd name="T88" fmla="*/ 6 w 20"/>
                <a:gd name="T89" fmla="*/ 7 h 22"/>
                <a:gd name="T90" fmla="*/ 5 w 20"/>
                <a:gd name="T91" fmla="*/ 5 h 22"/>
                <a:gd name="T92" fmla="*/ 4 w 20"/>
                <a:gd name="T93" fmla="*/ 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 h="22">
                  <a:moveTo>
                    <a:pt x="3" y="10"/>
                  </a:moveTo>
                  <a:cubicBezTo>
                    <a:pt x="5" y="9"/>
                    <a:pt x="5" y="9"/>
                    <a:pt x="5" y="9"/>
                  </a:cubicBezTo>
                  <a:cubicBezTo>
                    <a:pt x="8" y="12"/>
                    <a:pt x="8" y="12"/>
                    <a:pt x="8" y="12"/>
                  </a:cubicBezTo>
                  <a:cubicBezTo>
                    <a:pt x="6" y="14"/>
                    <a:pt x="6" y="14"/>
                    <a:pt x="6" y="14"/>
                  </a:cubicBezTo>
                  <a:lnTo>
                    <a:pt x="3" y="10"/>
                  </a:lnTo>
                  <a:close/>
                  <a:moveTo>
                    <a:pt x="13" y="9"/>
                  </a:moveTo>
                  <a:cubicBezTo>
                    <a:pt x="8" y="4"/>
                    <a:pt x="8" y="4"/>
                    <a:pt x="8" y="4"/>
                  </a:cubicBezTo>
                  <a:cubicBezTo>
                    <a:pt x="6" y="2"/>
                    <a:pt x="6" y="2"/>
                    <a:pt x="6" y="2"/>
                  </a:cubicBezTo>
                  <a:cubicBezTo>
                    <a:pt x="5" y="4"/>
                    <a:pt x="5" y="4"/>
                    <a:pt x="5" y="4"/>
                  </a:cubicBezTo>
                  <a:cubicBezTo>
                    <a:pt x="6" y="5"/>
                    <a:pt x="6" y="5"/>
                    <a:pt x="6" y="5"/>
                  </a:cubicBezTo>
                  <a:cubicBezTo>
                    <a:pt x="12" y="11"/>
                    <a:pt x="12" y="11"/>
                    <a:pt x="12" y="11"/>
                  </a:cubicBezTo>
                  <a:cubicBezTo>
                    <a:pt x="13" y="12"/>
                    <a:pt x="13" y="12"/>
                    <a:pt x="13" y="12"/>
                  </a:cubicBezTo>
                  <a:cubicBezTo>
                    <a:pt x="15" y="11"/>
                    <a:pt x="15" y="11"/>
                    <a:pt x="15" y="11"/>
                  </a:cubicBezTo>
                  <a:lnTo>
                    <a:pt x="13" y="9"/>
                  </a:lnTo>
                  <a:close/>
                  <a:moveTo>
                    <a:pt x="10" y="3"/>
                  </a:moveTo>
                  <a:cubicBezTo>
                    <a:pt x="17" y="11"/>
                    <a:pt x="17" y="11"/>
                    <a:pt x="17" y="11"/>
                  </a:cubicBezTo>
                  <a:cubicBezTo>
                    <a:pt x="8" y="19"/>
                    <a:pt x="8" y="19"/>
                    <a:pt x="8" y="19"/>
                  </a:cubicBezTo>
                  <a:cubicBezTo>
                    <a:pt x="8" y="19"/>
                    <a:pt x="8" y="19"/>
                    <a:pt x="8" y="19"/>
                  </a:cubicBezTo>
                  <a:cubicBezTo>
                    <a:pt x="8" y="19"/>
                    <a:pt x="8" y="19"/>
                    <a:pt x="7" y="19"/>
                  </a:cubicBezTo>
                  <a:cubicBezTo>
                    <a:pt x="7" y="18"/>
                    <a:pt x="7" y="18"/>
                    <a:pt x="7" y="18"/>
                  </a:cubicBezTo>
                  <a:cubicBezTo>
                    <a:pt x="7" y="18"/>
                    <a:pt x="6" y="18"/>
                    <a:pt x="6" y="17"/>
                  </a:cubicBezTo>
                  <a:cubicBezTo>
                    <a:pt x="6" y="18"/>
                    <a:pt x="6" y="18"/>
                    <a:pt x="6" y="18"/>
                  </a:cubicBezTo>
                  <a:cubicBezTo>
                    <a:pt x="6" y="18"/>
                    <a:pt x="6" y="19"/>
                    <a:pt x="5" y="19"/>
                  </a:cubicBezTo>
                  <a:cubicBezTo>
                    <a:pt x="5" y="19"/>
                    <a:pt x="5" y="19"/>
                    <a:pt x="5" y="20"/>
                  </a:cubicBezTo>
                  <a:cubicBezTo>
                    <a:pt x="6" y="21"/>
                    <a:pt x="7" y="21"/>
                    <a:pt x="7" y="21"/>
                  </a:cubicBezTo>
                  <a:cubicBezTo>
                    <a:pt x="8" y="22"/>
                    <a:pt x="8" y="22"/>
                    <a:pt x="8" y="22"/>
                  </a:cubicBezTo>
                  <a:cubicBezTo>
                    <a:pt x="8" y="21"/>
                    <a:pt x="9" y="21"/>
                    <a:pt x="9" y="21"/>
                  </a:cubicBezTo>
                  <a:cubicBezTo>
                    <a:pt x="19" y="12"/>
                    <a:pt x="19" y="12"/>
                    <a:pt x="19" y="12"/>
                  </a:cubicBezTo>
                  <a:cubicBezTo>
                    <a:pt x="20" y="11"/>
                    <a:pt x="20" y="11"/>
                    <a:pt x="20" y="11"/>
                  </a:cubicBezTo>
                  <a:cubicBezTo>
                    <a:pt x="19" y="10"/>
                    <a:pt x="19" y="10"/>
                    <a:pt x="19" y="10"/>
                  </a:cubicBezTo>
                  <a:cubicBezTo>
                    <a:pt x="11" y="2"/>
                    <a:pt x="11" y="2"/>
                    <a:pt x="11" y="2"/>
                  </a:cubicBezTo>
                  <a:cubicBezTo>
                    <a:pt x="9" y="0"/>
                    <a:pt x="9" y="0"/>
                    <a:pt x="9" y="0"/>
                  </a:cubicBezTo>
                  <a:cubicBezTo>
                    <a:pt x="8" y="1"/>
                    <a:pt x="8" y="1"/>
                    <a:pt x="8" y="1"/>
                  </a:cubicBezTo>
                  <a:lnTo>
                    <a:pt x="10" y="3"/>
                  </a:lnTo>
                  <a:close/>
                  <a:moveTo>
                    <a:pt x="4" y="7"/>
                  </a:moveTo>
                  <a:cubicBezTo>
                    <a:pt x="1" y="9"/>
                    <a:pt x="1" y="9"/>
                    <a:pt x="1" y="9"/>
                  </a:cubicBezTo>
                  <a:cubicBezTo>
                    <a:pt x="0" y="10"/>
                    <a:pt x="0" y="10"/>
                    <a:pt x="0" y="10"/>
                  </a:cubicBezTo>
                  <a:cubicBezTo>
                    <a:pt x="1" y="11"/>
                    <a:pt x="1" y="11"/>
                    <a:pt x="1" y="11"/>
                  </a:cubicBezTo>
                  <a:cubicBezTo>
                    <a:pt x="5" y="15"/>
                    <a:pt x="5" y="15"/>
                    <a:pt x="5" y="15"/>
                  </a:cubicBezTo>
                  <a:cubicBezTo>
                    <a:pt x="6" y="17"/>
                    <a:pt x="6" y="17"/>
                    <a:pt x="6" y="17"/>
                  </a:cubicBezTo>
                  <a:cubicBezTo>
                    <a:pt x="8" y="16"/>
                    <a:pt x="8" y="16"/>
                    <a:pt x="8" y="16"/>
                  </a:cubicBezTo>
                  <a:cubicBezTo>
                    <a:pt x="10" y="13"/>
                    <a:pt x="10" y="13"/>
                    <a:pt x="10" y="13"/>
                  </a:cubicBezTo>
                  <a:cubicBezTo>
                    <a:pt x="11" y="12"/>
                    <a:pt x="11" y="12"/>
                    <a:pt x="11" y="12"/>
                  </a:cubicBezTo>
                  <a:cubicBezTo>
                    <a:pt x="10" y="11"/>
                    <a:pt x="10" y="11"/>
                    <a:pt x="10" y="11"/>
                  </a:cubicBezTo>
                  <a:cubicBezTo>
                    <a:pt x="6" y="7"/>
                    <a:pt x="6" y="7"/>
                    <a:pt x="6" y="7"/>
                  </a:cubicBezTo>
                  <a:cubicBezTo>
                    <a:pt x="5" y="5"/>
                    <a:pt x="5" y="5"/>
                    <a:pt x="5" y="5"/>
                  </a:cubicBezTo>
                  <a:lnTo>
                    <a:pt x="4" y="7"/>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5" name="Freeform 18"/>
            <p:cNvSpPr/>
            <p:nvPr/>
          </p:nvSpPr>
          <p:spPr bwMode="auto">
            <a:xfrm>
              <a:off x="581025" y="5738813"/>
              <a:ext cx="34925" cy="30163"/>
            </a:xfrm>
            <a:custGeom>
              <a:avLst/>
              <a:gdLst>
                <a:gd name="T0" fmla="*/ 12 w 14"/>
                <a:gd name="T1" fmla="*/ 10 h 12"/>
                <a:gd name="T2" fmla="*/ 12 w 14"/>
                <a:gd name="T3" fmla="*/ 11 h 12"/>
                <a:gd name="T4" fmla="*/ 12 w 14"/>
                <a:gd name="T5" fmla="*/ 12 h 12"/>
                <a:gd name="T6" fmla="*/ 8 w 14"/>
                <a:gd name="T7" fmla="*/ 11 h 12"/>
                <a:gd name="T8" fmla="*/ 8 w 14"/>
                <a:gd name="T9" fmla="*/ 10 h 12"/>
                <a:gd name="T10" fmla="*/ 11 w 14"/>
                <a:gd name="T11" fmla="*/ 9 h 12"/>
                <a:gd name="T12" fmla="*/ 12 w 14"/>
                <a:gd name="T13" fmla="*/ 8 h 12"/>
                <a:gd name="T14" fmla="*/ 12 w 14"/>
                <a:gd name="T15" fmla="*/ 6 h 12"/>
                <a:gd name="T16" fmla="*/ 12 w 14"/>
                <a:gd name="T17" fmla="*/ 6 h 12"/>
                <a:gd name="T18" fmla="*/ 9 w 14"/>
                <a:gd name="T19" fmla="*/ 8 h 12"/>
                <a:gd name="T20" fmla="*/ 8 w 14"/>
                <a:gd name="T21" fmla="*/ 8 h 12"/>
                <a:gd name="T22" fmla="*/ 6 w 14"/>
                <a:gd name="T23" fmla="*/ 10 h 12"/>
                <a:gd name="T24" fmla="*/ 3 w 14"/>
                <a:gd name="T25" fmla="*/ 10 h 12"/>
                <a:gd name="T26" fmla="*/ 1 w 14"/>
                <a:gd name="T27" fmla="*/ 7 h 12"/>
                <a:gd name="T28" fmla="*/ 1 w 14"/>
                <a:gd name="T29" fmla="*/ 4 h 12"/>
                <a:gd name="T30" fmla="*/ 2 w 14"/>
                <a:gd name="T31" fmla="*/ 2 h 12"/>
                <a:gd name="T32" fmla="*/ 3 w 14"/>
                <a:gd name="T33" fmla="*/ 1 h 12"/>
                <a:gd name="T34" fmla="*/ 2 w 14"/>
                <a:gd name="T35" fmla="*/ 1 h 12"/>
                <a:gd name="T36" fmla="*/ 3 w 14"/>
                <a:gd name="T37" fmla="*/ 0 h 12"/>
                <a:gd name="T38" fmla="*/ 8 w 14"/>
                <a:gd name="T39" fmla="*/ 0 h 12"/>
                <a:gd name="T40" fmla="*/ 8 w 14"/>
                <a:gd name="T41" fmla="*/ 2 h 12"/>
                <a:gd name="T42" fmla="*/ 5 w 14"/>
                <a:gd name="T43" fmla="*/ 2 h 12"/>
                <a:gd name="T44" fmla="*/ 3 w 14"/>
                <a:gd name="T45" fmla="*/ 4 h 12"/>
                <a:gd name="T46" fmla="*/ 2 w 14"/>
                <a:gd name="T47" fmla="*/ 6 h 12"/>
                <a:gd name="T48" fmla="*/ 3 w 14"/>
                <a:gd name="T49" fmla="*/ 7 h 12"/>
                <a:gd name="T50" fmla="*/ 6 w 14"/>
                <a:gd name="T51" fmla="*/ 5 h 12"/>
                <a:gd name="T52" fmla="*/ 6 w 14"/>
                <a:gd name="T53" fmla="*/ 5 h 12"/>
                <a:gd name="T54" fmla="*/ 8 w 14"/>
                <a:gd name="T55" fmla="*/ 3 h 12"/>
                <a:gd name="T56" fmla="*/ 9 w 14"/>
                <a:gd name="T57" fmla="*/ 3 h 12"/>
                <a:gd name="T58" fmla="*/ 10 w 14"/>
                <a:gd name="T59" fmla="*/ 2 h 12"/>
                <a:gd name="T60" fmla="*/ 12 w 14"/>
                <a:gd name="T61" fmla="*/ 3 h 12"/>
                <a:gd name="T62" fmla="*/ 14 w 14"/>
                <a:gd name="T63" fmla="*/ 5 h 12"/>
                <a:gd name="T64" fmla="*/ 14 w 14"/>
                <a:gd name="T65" fmla="*/ 8 h 12"/>
                <a:gd name="T66" fmla="*/ 13 w 14"/>
                <a:gd name="T67" fmla="*/ 10 h 12"/>
                <a:gd name="T68" fmla="*/ 12 w 14"/>
                <a:gd name="T69"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 h="12">
                  <a:moveTo>
                    <a:pt x="12" y="10"/>
                  </a:moveTo>
                  <a:cubicBezTo>
                    <a:pt x="12" y="11"/>
                    <a:pt x="12" y="11"/>
                    <a:pt x="12" y="11"/>
                  </a:cubicBezTo>
                  <a:cubicBezTo>
                    <a:pt x="12" y="12"/>
                    <a:pt x="12" y="12"/>
                    <a:pt x="12" y="12"/>
                  </a:cubicBezTo>
                  <a:cubicBezTo>
                    <a:pt x="8" y="11"/>
                    <a:pt x="8" y="11"/>
                    <a:pt x="8" y="11"/>
                  </a:cubicBezTo>
                  <a:cubicBezTo>
                    <a:pt x="8" y="10"/>
                    <a:pt x="8" y="10"/>
                    <a:pt x="8" y="10"/>
                  </a:cubicBezTo>
                  <a:cubicBezTo>
                    <a:pt x="9" y="10"/>
                    <a:pt x="10" y="10"/>
                    <a:pt x="11" y="9"/>
                  </a:cubicBezTo>
                  <a:cubicBezTo>
                    <a:pt x="11" y="9"/>
                    <a:pt x="12" y="8"/>
                    <a:pt x="12" y="8"/>
                  </a:cubicBezTo>
                  <a:cubicBezTo>
                    <a:pt x="12" y="7"/>
                    <a:pt x="12" y="7"/>
                    <a:pt x="12" y="6"/>
                  </a:cubicBezTo>
                  <a:cubicBezTo>
                    <a:pt x="12" y="6"/>
                    <a:pt x="12" y="6"/>
                    <a:pt x="12" y="6"/>
                  </a:cubicBezTo>
                  <a:cubicBezTo>
                    <a:pt x="11" y="5"/>
                    <a:pt x="10" y="6"/>
                    <a:pt x="9" y="8"/>
                  </a:cubicBezTo>
                  <a:cubicBezTo>
                    <a:pt x="9" y="8"/>
                    <a:pt x="8" y="8"/>
                    <a:pt x="8" y="8"/>
                  </a:cubicBezTo>
                  <a:cubicBezTo>
                    <a:pt x="7" y="9"/>
                    <a:pt x="6" y="10"/>
                    <a:pt x="6" y="10"/>
                  </a:cubicBezTo>
                  <a:cubicBezTo>
                    <a:pt x="5" y="10"/>
                    <a:pt x="4" y="10"/>
                    <a:pt x="3" y="10"/>
                  </a:cubicBezTo>
                  <a:cubicBezTo>
                    <a:pt x="2" y="9"/>
                    <a:pt x="1" y="8"/>
                    <a:pt x="1" y="7"/>
                  </a:cubicBezTo>
                  <a:cubicBezTo>
                    <a:pt x="0" y="6"/>
                    <a:pt x="0" y="5"/>
                    <a:pt x="1" y="4"/>
                  </a:cubicBezTo>
                  <a:cubicBezTo>
                    <a:pt x="1" y="3"/>
                    <a:pt x="1" y="3"/>
                    <a:pt x="2" y="2"/>
                  </a:cubicBezTo>
                  <a:cubicBezTo>
                    <a:pt x="2" y="2"/>
                    <a:pt x="3" y="1"/>
                    <a:pt x="3" y="1"/>
                  </a:cubicBezTo>
                  <a:cubicBezTo>
                    <a:pt x="2" y="1"/>
                    <a:pt x="2" y="1"/>
                    <a:pt x="2" y="1"/>
                  </a:cubicBezTo>
                  <a:cubicBezTo>
                    <a:pt x="3" y="0"/>
                    <a:pt x="3" y="0"/>
                    <a:pt x="3" y="0"/>
                  </a:cubicBezTo>
                  <a:cubicBezTo>
                    <a:pt x="8" y="0"/>
                    <a:pt x="8" y="0"/>
                    <a:pt x="8" y="0"/>
                  </a:cubicBezTo>
                  <a:cubicBezTo>
                    <a:pt x="8" y="2"/>
                    <a:pt x="8" y="2"/>
                    <a:pt x="8" y="2"/>
                  </a:cubicBezTo>
                  <a:cubicBezTo>
                    <a:pt x="7" y="2"/>
                    <a:pt x="6" y="2"/>
                    <a:pt x="5" y="2"/>
                  </a:cubicBezTo>
                  <a:cubicBezTo>
                    <a:pt x="4" y="3"/>
                    <a:pt x="3" y="3"/>
                    <a:pt x="3" y="4"/>
                  </a:cubicBezTo>
                  <a:cubicBezTo>
                    <a:pt x="2" y="5"/>
                    <a:pt x="2" y="5"/>
                    <a:pt x="2" y="6"/>
                  </a:cubicBezTo>
                  <a:cubicBezTo>
                    <a:pt x="3" y="6"/>
                    <a:pt x="3" y="7"/>
                    <a:pt x="3" y="7"/>
                  </a:cubicBezTo>
                  <a:cubicBezTo>
                    <a:pt x="4" y="7"/>
                    <a:pt x="5" y="7"/>
                    <a:pt x="6" y="5"/>
                  </a:cubicBezTo>
                  <a:cubicBezTo>
                    <a:pt x="6" y="5"/>
                    <a:pt x="6" y="5"/>
                    <a:pt x="6" y="5"/>
                  </a:cubicBezTo>
                  <a:cubicBezTo>
                    <a:pt x="7" y="4"/>
                    <a:pt x="7" y="4"/>
                    <a:pt x="8" y="3"/>
                  </a:cubicBezTo>
                  <a:cubicBezTo>
                    <a:pt x="8" y="3"/>
                    <a:pt x="8" y="3"/>
                    <a:pt x="9" y="3"/>
                  </a:cubicBezTo>
                  <a:cubicBezTo>
                    <a:pt x="9" y="2"/>
                    <a:pt x="10" y="2"/>
                    <a:pt x="10" y="2"/>
                  </a:cubicBezTo>
                  <a:cubicBezTo>
                    <a:pt x="11" y="2"/>
                    <a:pt x="11" y="3"/>
                    <a:pt x="12" y="3"/>
                  </a:cubicBezTo>
                  <a:cubicBezTo>
                    <a:pt x="13" y="3"/>
                    <a:pt x="14" y="4"/>
                    <a:pt x="14" y="5"/>
                  </a:cubicBezTo>
                  <a:cubicBezTo>
                    <a:pt x="14" y="6"/>
                    <a:pt x="14" y="7"/>
                    <a:pt x="14" y="8"/>
                  </a:cubicBezTo>
                  <a:cubicBezTo>
                    <a:pt x="14" y="9"/>
                    <a:pt x="13" y="9"/>
                    <a:pt x="13" y="10"/>
                  </a:cubicBezTo>
                  <a:cubicBezTo>
                    <a:pt x="13" y="10"/>
                    <a:pt x="12" y="10"/>
                    <a:pt x="12" y="10"/>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6" name="Freeform 19"/>
            <p:cNvSpPr/>
            <p:nvPr/>
          </p:nvSpPr>
          <p:spPr bwMode="auto">
            <a:xfrm>
              <a:off x="569913" y="5768975"/>
              <a:ext cx="38100" cy="30163"/>
            </a:xfrm>
            <a:custGeom>
              <a:avLst/>
              <a:gdLst>
                <a:gd name="T0" fmla="*/ 15 w 15"/>
                <a:gd name="T1" fmla="*/ 2 h 12"/>
                <a:gd name="T2" fmla="*/ 12 w 15"/>
                <a:gd name="T3" fmla="*/ 12 h 12"/>
                <a:gd name="T4" fmla="*/ 8 w 15"/>
                <a:gd name="T5" fmla="*/ 12 h 12"/>
                <a:gd name="T6" fmla="*/ 8 w 15"/>
                <a:gd name="T7" fmla="*/ 10 h 12"/>
                <a:gd name="T8" fmla="*/ 10 w 15"/>
                <a:gd name="T9" fmla="*/ 10 h 12"/>
                <a:gd name="T10" fmla="*/ 11 w 15"/>
                <a:gd name="T11" fmla="*/ 8 h 12"/>
                <a:gd name="T12" fmla="*/ 11 w 15"/>
                <a:gd name="T13" fmla="*/ 8 h 12"/>
                <a:gd name="T14" fmla="*/ 4 w 15"/>
                <a:gd name="T15" fmla="*/ 6 h 12"/>
                <a:gd name="T16" fmla="*/ 2 w 15"/>
                <a:gd name="T17" fmla="*/ 5 h 12"/>
                <a:gd name="T18" fmla="*/ 2 w 15"/>
                <a:gd name="T19" fmla="*/ 6 h 12"/>
                <a:gd name="T20" fmla="*/ 0 w 15"/>
                <a:gd name="T21" fmla="*/ 6 h 12"/>
                <a:gd name="T22" fmla="*/ 2 w 15"/>
                <a:gd name="T23" fmla="*/ 0 h 12"/>
                <a:gd name="T24" fmla="*/ 3 w 15"/>
                <a:gd name="T25" fmla="*/ 1 h 12"/>
                <a:gd name="T26" fmla="*/ 3 w 15"/>
                <a:gd name="T27" fmla="*/ 2 h 12"/>
                <a:gd name="T28" fmla="*/ 5 w 15"/>
                <a:gd name="T29" fmla="*/ 3 h 12"/>
                <a:gd name="T30" fmla="*/ 12 w 15"/>
                <a:gd name="T31" fmla="*/ 5 h 12"/>
                <a:gd name="T32" fmla="*/ 12 w 15"/>
                <a:gd name="T33" fmla="*/ 5 h 12"/>
                <a:gd name="T34" fmla="*/ 12 w 15"/>
                <a:gd name="T35" fmla="*/ 3 h 12"/>
                <a:gd name="T36" fmla="*/ 11 w 15"/>
                <a:gd name="T37" fmla="*/ 1 h 12"/>
                <a:gd name="T38" fmla="*/ 11 w 15"/>
                <a:gd name="T39" fmla="*/ 0 h 12"/>
                <a:gd name="T40" fmla="*/ 15 w 15"/>
                <a:gd name="T4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 h="12">
                  <a:moveTo>
                    <a:pt x="15" y="2"/>
                  </a:moveTo>
                  <a:cubicBezTo>
                    <a:pt x="12" y="12"/>
                    <a:pt x="12" y="12"/>
                    <a:pt x="12" y="12"/>
                  </a:cubicBezTo>
                  <a:cubicBezTo>
                    <a:pt x="8" y="12"/>
                    <a:pt x="8" y="12"/>
                    <a:pt x="8" y="12"/>
                  </a:cubicBezTo>
                  <a:cubicBezTo>
                    <a:pt x="8" y="10"/>
                    <a:pt x="8" y="10"/>
                    <a:pt x="8" y="10"/>
                  </a:cubicBezTo>
                  <a:cubicBezTo>
                    <a:pt x="9" y="10"/>
                    <a:pt x="9" y="10"/>
                    <a:pt x="10" y="10"/>
                  </a:cubicBezTo>
                  <a:cubicBezTo>
                    <a:pt x="11" y="9"/>
                    <a:pt x="11" y="9"/>
                    <a:pt x="11" y="8"/>
                  </a:cubicBezTo>
                  <a:cubicBezTo>
                    <a:pt x="11" y="8"/>
                    <a:pt x="11" y="8"/>
                    <a:pt x="11" y="8"/>
                  </a:cubicBezTo>
                  <a:cubicBezTo>
                    <a:pt x="4" y="6"/>
                    <a:pt x="4" y="6"/>
                    <a:pt x="4" y="6"/>
                  </a:cubicBezTo>
                  <a:cubicBezTo>
                    <a:pt x="3" y="5"/>
                    <a:pt x="3" y="5"/>
                    <a:pt x="2" y="5"/>
                  </a:cubicBezTo>
                  <a:cubicBezTo>
                    <a:pt x="2" y="5"/>
                    <a:pt x="2" y="6"/>
                    <a:pt x="2" y="6"/>
                  </a:cubicBezTo>
                  <a:cubicBezTo>
                    <a:pt x="0" y="6"/>
                    <a:pt x="0" y="6"/>
                    <a:pt x="0" y="6"/>
                  </a:cubicBezTo>
                  <a:cubicBezTo>
                    <a:pt x="2" y="0"/>
                    <a:pt x="2" y="0"/>
                    <a:pt x="2" y="0"/>
                  </a:cubicBezTo>
                  <a:cubicBezTo>
                    <a:pt x="3" y="1"/>
                    <a:pt x="3" y="1"/>
                    <a:pt x="3" y="1"/>
                  </a:cubicBezTo>
                  <a:cubicBezTo>
                    <a:pt x="3" y="1"/>
                    <a:pt x="3" y="2"/>
                    <a:pt x="3" y="2"/>
                  </a:cubicBezTo>
                  <a:cubicBezTo>
                    <a:pt x="4" y="2"/>
                    <a:pt x="4" y="2"/>
                    <a:pt x="5" y="3"/>
                  </a:cubicBezTo>
                  <a:cubicBezTo>
                    <a:pt x="12" y="5"/>
                    <a:pt x="12" y="5"/>
                    <a:pt x="12" y="5"/>
                  </a:cubicBezTo>
                  <a:cubicBezTo>
                    <a:pt x="12" y="5"/>
                    <a:pt x="12" y="5"/>
                    <a:pt x="12" y="5"/>
                  </a:cubicBezTo>
                  <a:cubicBezTo>
                    <a:pt x="12" y="4"/>
                    <a:pt x="12" y="3"/>
                    <a:pt x="12" y="3"/>
                  </a:cubicBezTo>
                  <a:cubicBezTo>
                    <a:pt x="12" y="2"/>
                    <a:pt x="11" y="2"/>
                    <a:pt x="11" y="1"/>
                  </a:cubicBezTo>
                  <a:cubicBezTo>
                    <a:pt x="11" y="0"/>
                    <a:pt x="11" y="0"/>
                    <a:pt x="11" y="0"/>
                  </a:cubicBezTo>
                  <a:lnTo>
                    <a:pt x="15" y="2"/>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7" name="Freeform 20"/>
            <p:cNvSpPr>
              <a:spLocks noEditPoints="1"/>
            </p:cNvSpPr>
            <p:nvPr/>
          </p:nvSpPr>
          <p:spPr bwMode="auto">
            <a:xfrm>
              <a:off x="563563" y="5791200"/>
              <a:ext cx="36512" cy="30163"/>
            </a:xfrm>
            <a:custGeom>
              <a:avLst/>
              <a:gdLst>
                <a:gd name="T0" fmla="*/ 7 w 15"/>
                <a:gd name="T1" fmla="*/ 8 h 12"/>
                <a:gd name="T2" fmla="*/ 8 w 15"/>
                <a:gd name="T3" fmla="*/ 5 h 12"/>
                <a:gd name="T4" fmla="*/ 11 w 15"/>
                <a:gd name="T5" fmla="*/ 7 h 12"/>
                <a:gd name="T6" fmla="*/ 7 w 15"/>
                <a:gd name="T7" fmla="*/ 8 h 12"/>
                <a:gd name="T8" fmla="*/ 6 w 15"/>
                <a:gd name="T9" fmla="*/ 2 h 12"/>
                <a:gd name="T10" fmla="*/ 6 w 15"/>
                <a:gd name="T11" fmla="*/ 2 h 12"/>
                <a:gd name="T12" fmla="*/ 4 w 15"/>
                <a:gd name="T13" fmla="*/ 0 h 12"/>
                <a:gd name="T14" fmla="*/ 3 w 15"/>
                <a:gd name="T15" fmla="*/ 0 h 12"/>
                <a:gd name="T16" fmla="*/ 2 w 15"/>
                <a:gd name="T17" fmla="*/ 4 h 12"/>
                <a:gd name="T18" fmla="*/ 3 w 15"/>
                <a:gd name="T19" fmla="*/ 5 h 12"/>
                <a:gd name="T20" fmla="*/ 4 w 15"/>
                <a:gd name="T21" fmla="*/ 4 h 12"/>
                <a:gd name="T22" fmla="*/ 4 w 15"/>
                <a:gd name="T23" fmla="*/ 4 h 12"/>
                <a:gd name="T24" fmla="*/ 5 w 15"/>
                <a:gd name="T25" fmla="*/ 4 h 12"/>
                <a:gd name="T26" fmla="*/ 5 w 15"/>
                <a:gd name="T27" fmla="*/ 4 h 12"/>
                <a:gd name="T28" fmla="*/ 6 w 15"/>
                <a:gd name="T29" fmla="*/ 4 h 12"/>
                <a:gd name="T30" fmla="*/ 6 w 15"/>
                <a:gd name="T31" fmla="*/ 8 h 12"/>
                <a:gd name="T32" fmla="*/ 4 w 15"/>
                <a:gd name="T33" fmla="*/ 8 h 12"/>
                <a:gd name="T34" fmla="*/ 4 w 15"/>
                <a:gd name="T35" fmla="*/ 8 h 12"/>
                <a:gd name="T36" fmla="*/ 3 w 15"/>
                <a:gd name="T37" fmla="*/ 8 h 12"/>
                <a:gd name="T38" fmla="*/ 3 w 15"/>
                <a:gd name="T39" fmla="*/ 8 h 12"/>
                <a:gd name="T40" fmla="*/ 3 w 15"/>
                <a:gd name="T41" fmla="*/ 7 h 12"/>
                <a:gd name="T42" fmla="*/ 3 w 15"/>
                <a:gd name="T43" fmla="*/ 7 h 12"/>
                <a:gd name="T44" fmla="*/ 1 w 15"/>
                <a:gd name="T45" fmla="*/ 7 h 12"/>
                <a:gd name="T46" fmla="*/ 0 w 15"/>
                <a:gd name="T47" fmla="*/ 12 h 12"/>
                <a:gd name="T48" fmla="*/ 2 w 15"/>
                <a:gd name="T49" fmla="*/ 12 h 12"/>
                <a:gd name="T50" fmla="*/ 4 w 15"/>
                <a:gd name="T51" fmla="*/ 11 h 12"/>
                <a:gd name="T52" fmla="*/ 4 w 15"/>
                <a:gd name="T53" fmla="*/ 11 h 12"/>
                <a:gd name="T54" fmla="*/ 14 w 15"/>
                <a:gd name="T55" fmla="*/ 10 h 12"/>
                <a:gd name="T56" fmla="*/ 15 w 15"/>
                <a:gd name="T57" fmla="*/ 7 h 12"/>
                <a:gd name="T58" fmla="*/ 6 w 15"/>
                <a:gd name="T59"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 h="12">
                  <a:moveTo>
                    <a:pt x="7" y="8"/>
                  </a:moveTo>
                  <a:cubicBezTo>
                    <a:pt x="8" y="5"/>
                    <a:pt x="8" y="5"/>
                    <a:pt x="8" y="5"/>
                  </a:cubicBezTo>
                  <a:cubicBezTo>
                    <a:pt x="11" y="7"/>
                    <a:pt x="11" y="7"/>
                    <a:pt x="11" y="7"/>
                  </a:cubicBezTo>
                  <a:lnTo>
                    <a:pt x="7" y="8"/>
                  </a:lnTo>
                  <a:close/>
                  <a:moveTo>
                    <a:pt x="6" y="2"/>
                  </a:moveTo>
                  <a:cubicBezTo>
                    <a:pt x="6" y="2"/>
                    <a:pt x="6" y="2"/>
                    <a:pt x="6" y="2"/>
                  </a:cubicBezTo>
                  <a:cubicBezTo>
                    <a:pt x="5" y="1"/>
                    <a:pt x="4" y="1"/>
                    <a:pt x="4" y="0"/>
                  </a:cubicBezTo>
                  <a:cubicBezTo>
                    <a:pt x="3" y="0"/>
                    <a:pt x="3" y="0"/>
                    <a:pt x="3" y="0"/>
                  </a:cubicBezTo>
                  <a:cubicBezTo>
                    <a:pt x="2" y="4"/>
                    <a:pt x="2" y="4"/>
                    <a:pt x="2" y="4"/>
                  </a:cubicBezTo>
                  <a:cubicBezTo>
                    <a:pt x="3" y="5"/>
                    <a:pt x="3" y="5"/>
                    <a:pt x="3" y="5"/>
                  </a:cubicBezTo>
                  <a:cubicBezTo>
                    <a:pt x="3" y="4"/>
                    <a:pt x="3" y="4"/>
                    <a:pt x="4" y="4"/>
                  </a:cubicBezTo>
                  <a:cubicBezTo>
                    <a:pt x="4" y="3"/>
                    <a:pt x="4" y="3"/>
                    <a:pt x="4" y="4"/>
                  </a:cubicBezTo>
                  <a:cubicBezTo>
                    <a:pt x="4" y="4"/>
                    <a:pt x="4" y="4"/>
                    <a:pt x="5" y="4"/>
                  </a:cubicBezTo>
                  <a:cubicBezTo>
                    <a:pt x="5" y="4"/>
                    <a:pt x="5" y="4"/>
                    <a:pt x="5" y="4"/>
                  </a:cubicBezTo>
                  <a:cubicBezTo>
                    <a:pt x="6" y="4"/>
                    <a:pt x="6" y="4"/>
                    <a:pt x="6" y="4"/>
                  </a:cubicBezTo>
                  <a:cubicBezTo>
                    <a:pt x="6" y="8"/>
                    <a:pt x="6" y="8"/>
                    <a:pt x="6" y="8"/>
                  </a:cubicBezTo>
                  <a:cubicBezTo>
                    <a:pt x="4" y="8"/>
                    <a:pt x="4" y="8"/>
                    <a:pt x="4" y="8"/>
                  </a:cubicBezTo>
                  <a:cubicBezTo>
                    <a:pt x="4" y="8"/>
                    <a:pt x="4" y="8"/>
                    <a:pt x="4" y="8"/>
                  </a:cubicBezTo>
                  <a:cubicBezTo>
                    <a:pt x="4" y="8"/>
                    <a:pt x="3" y="8"/>
                    <a:pt x="3" y="8"/>
                  </a:cubicBezTo>
                  <a:cubicBezTo>
                    <a:pt x="3" y="8"/>
                    <a:pt x="3" y="8"/>
                    <a:pt x="3" y="8"/>
                  </a:cubicBezTo>
                  <a:cubicBezTo>
                    <a:pt x="3" y="8"/>
                    <a:pt x="3" y="7"/>
                    <a:pt x="3" y="7"/>
                  </a:cubicBezTo>
                  <a:cubicBezTo>
                    <a:pt x="3" y="7"/>
                    <a:pt x="3" y="7"/>
                    <a:pt x="3" y="7"/>
                  </a:cubicBezTo>
                  <a:cubicBezTo>
                    <a:pt x="1" y="7"/>
                    <a:pt x="1" y="7"/>
                    <a:pt x="1" y="7"/>
                  </a:cubicBezTo>
                  <a:cubicBezTo>
                    <a:pt x="0" y="12"/>
                    <a:pt x="0" y="12"/>
                    <a:pt x="0" y="12"/>
                  </a:cubicBezTo>
                  <a:cubicBezTo>
                    <a:pt x="2" y="12"/>
                    <a:pt x="2" y="12"/>
                    <a:pt x="2" y="12"/>
                  </a:cubicBezTo>
                  <a:cubicBezTo>
                    <a:pt x="2" y="12"/>
                    <a:pt x="3" y="11"/>
                    <a:pt x="4" y="11"/>
                  </a:cubicBezTo>
                  <a:cubicBezTo>
                    <a:pt x="4" y="11"/>
                    <a:pt x="4" y="11"/>
                    <a:pt x="4" y="11"/>
                  </a:cubicBezTo>
                  <a:cubicBezTo>
                    <a:pt x="14" y="10"/>
                    <a:pt x="14" y="10"/>
                    <a:pt x="14" y="10"/>
                  </a:cubicBezTo>
                  <a:cubicBezTo>
                    <a:pt x="15" y="7"/>
                    <a:pt x="15" y="7"/>
                    <a:pt x="15" y="7"/>
                  </a:cubicBezTo>
                  <a:lnTo>
                    <a:pt x="6" y="2"/>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8" name="Freeform 21"/>
            <p:cNvSpPr/>
            <p:nvPr/>
          </p:nvSpPr>
          <p:spPr bwMode="auto">
            <a:xfrm>
              <a:off x="563563" y="5821363"/>
              <a:ext cx="31750" cy="30163"/>
            </a:xfrm>
            <a:custGeom>
              <a:avLst/>
              <a:gdLst>
                <a:gd name="T0" fmla="*/ 13 w 13"/>
                <a:gd name="T1" fmla="*/ 1 h 12"/>
                <a:gd name="T2" fmla="*/ 13 w 13"/>
                <a:gd name="T3" fmla="*/ 11 h 12"/>
                <a:gd name="T4" fmla="*/ 9 w 13"/>
                <a:gd name="T5" fmla="*/ 12 h 12"/>
                <a:gd name="T6" fmla="*/ 8 w 13"/>
                <a:gd name="T7" fmla="*/ 11 h 12"/>
                <a:gd name="T8" fmla="*/ 11 w 13"/>
                <a:gd name="T9" fmla="*/ 10 h 12"/>
                <a:gd name="T10" fmla="*/ 11 w 13"/>
                <a:gd name="T11" fmla="*/ 8 h 12"/>
                <a:gd name="T12" fmla="*/ 11 w 13"/>
                <a:gd name="T13" fmla="*/ 8 h 12"/>
                <a:gd name="T14" fmla="*/ 4 w 13"/>
                <a:gd name="T15" fmla="*/ 7 h 12"/>
                <a:gd name="T16" fmla="*/ 2 w 13"/>
                <a:gd name="T17" fmla="*/ 8 h 12"/>
                <a:gd name="T18" fmla="*/ 2 w 13"/>
                <a:gd name="T19" fmla="*/ 9 h 12"/>
                <a:gd name="T20" fmla="*/ 0 w 13"/>
                <a:gd name="T21" fmla="*/ 9 h 12"/>
                <a:gd name="T22" fmla="*/ 0 w 13"/>
                <a:gd name="T23" fmla="*/ 3 h 12"/>
                <a:gd name="T24" fmla="*/ 2 w 13"/>
                <a:gd name="T25" fmla="*/ 3 h 12"/>
                <a:gd name="T26" fmla="*/ 2 w 13"/>
                <a:gd name="T27" fmla="*/ 4 h 12"/>
                <a:gd name="T28" fmla="*/ 4 w 13"/>
                <a:gd name="T29" fmla="*/ 4 h 12"/>
                <a:gd name="T30" fmla="*/ 12 w 13"/>
                <a:gd name="T31" fmla="*/ 5 h 12"/>
                <a:gd name="T32" fmla="*/ 12 w 13"/>
                <a:gd name="T33" fmla="*/ 5 h 12"/>
                <a:gd name="T34" fmla="*/ 11 w 13"/>
                <a:gd name="T35" fmla="*/ 3 h 12"/>
                <a:gd name="T36" fmla="*/ 9 w 13"/>
                <a:gd name="T37" fmla="*/ 1 h 12"/>
                <a:gd name="T38" fmla="*/ 10 w 13"/>
                <a:gd name="T39" fmla="*/ 0 h 12"/>
                <a:gd name="T40" fmla="*/ 13 w 13"/>
                <a:gd name="T41"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 h="12">
                  <a:moveTo>
                    <a:pt x="13" y="1"/>
                  </a:moveTo>
                  <a:cubicBezTo>
                    <a:pt x="13" y="11"/>
                    <a:pt x="13" y="11"/>
                    <a:pt x="13" y="11"/>
                  </a:cubicBezTo>
                  <a:cubicBezTo>
                    <a:pt x="9" y="12"/>
                    <a:pt x="9" y="12"/>
                    <a:pt x="9" y="12"/>
                  </a:cubicBezTo>
                  <a:cubicBezTo>
                    <a:pt x="8" y="11"/>
                    <a:pt x="8" y="11"/>
                    <a:pt x="8" y="11"/>
                  </a:cubicBezTo>
                  <a:cubicBezTo>
                    <a:pt x="10" y="11"/>
                    <a:pt x="10" y="10"/>
                    <a:pt x="11" y="10"/>
                  </a:cubicBezTo>
                  <a:cubicBezTo>
                    <a:pt x="11" y="9"/>
                    <a:pt x="11" y="9"/>
                    <a:pt x="11" y="8"/>
                  </a:cubicBezTo>
                  <a:cubicBezTo>
                    <a:pt x="11" y="8"/>
                    <a:pt x="11" y="8"/>
                    <a:pt x="11" y="8"/>
                  </a:cubicBezTo>
                  <a:cubicBezTo>
                    <a:pt x="4" y="7"/>
                    <a:pt x="4" y="7"/>
                    <a:pt x="4" y="7"/>
                  </a:cubicBezTo>
                  <a:cubicBezTo>
                    <a:pt x="3" y="7"/>
                    <a:pt x="2" y="7"/>
                    <a:pt x="2" y="8"/>
                  </a:cubicBezTo>
                  <a:cubicBezTo>
                    <a:pt x="2" y="8"/>
                    <a:pt x="2" y="8"/>
                    <a:pt x="2" y="9"/>
                  </a:cubicBezTo>
                  <a:cubicBezTo>
                    <a:pt x="0" y="9"/>
                    <a:pt x="0" y="9"/>
                    <a:pt x="0" y="9"/>
                  </a:cubicBezTo>
                  <a:cubicBezTo>
                    <a:pt x="0" y="3"/>
                    <a:pt x="0" y="3"/>
                    <a:pt x="0" y="3"/>
                  </a:cubicBezTo>
                  <a:cubicBezTo>
                    <a:pt x="2" y="3"/>
                    <a:pt x="2" y="3"/>
                    <a:pt x="2" y="3"/>
                  </a:cubicBezTo>
                  <a:cubicBezTo>
                    <a:pt x="2" y="3"/>
                    <a:pt x="2" y="4"/>
                    <a:pt x="2" y="4"/>
                  </a:cubicBezTo>
                  <a:cubicBezTo>
                    <a:pt x="2" y="4"/>
                    <a:pt x="3" y="4"/>
                    <a:pt x="4" y="4"/>
                  </a:cubicBezTo>
                  <a:cubicBezTo>
                    <a:pt x="12" y="5"/>
                    <a:pt x="12" y="5"/>
                    <a:pt x="12" y="5"/>
                  </a:cubicBezTo>
                  <a:cubicBezTo>
                    <a:pt x="12" y="5"/>
                    <a:pt x="12" y="5"/>
                    <a:pt x="12" y="5"/>
                  </a:cubicBezTo>
                  <a:cubicBezTo>
                    <a:pt x="12" y="4"/>
                    <a:pt x="11" y="3"/>
                    <a:pt x="11" y="3"/>
                  </a:cubicBezTo>
                  <a:cubicBezTo>
                    <a:pt x="11" y="2"/>
                    <a:pt x="10" y="2"/>
                    <a:pt x="9" y="1"/>
                  </a:cubicBezTo>
                  <a:cubicBezTo>
                    <a:pt x="10" y="0"/>
                    <a:pt x="10" y="0"/>
                    <a:pt x="10" y="0"/>
                  </a:cubicBezTo>
                  <a:lnTo>
                    <a:pt x="13" y="1"/>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19" name="Freeform 22"/>
            <p:cNvSpPr/>
            <p:nvPr/>
          </p:nvSpPr>
          <p:spPr bwMode="auto">
            <a:xfrm>
              <a:off x="563563" y="5854700"/>
              <a:ext cx="34925" cy="30163"/>
            </a:xfrm>
            <a:custGeom>
              <a:avLst/>
              <a:gdLst>
                <a:gd name="T0" fmla="*/ 13 w 14"/>
                <a:gd name="T1" fmla="*/ 0 h 12"/>
                <a:gd name="T2" fmla="*/ 14 w 14"/>
                <a:gd name="T3" fmla="*/ 9 h 12"/>
                <a:gd name="T4" fmla="*/ 11 w 14"/>
                <a:gd name="T5" fmla="*/ 11 h 12"/>
                <a:gd name="T6" fmla="*/ 10 w 14"/>
                <a:gd name="T7" fmla="*/ 10 h 12"/>
                <a:gd name="T8" fmla="*/ 12 w 14"/>
                <a:gd name="T9" fmla="*/ 8 h 12"/>
                <a:gd name="T10" fmla="*/ 12 w 14"/>
                <a:gd name="T11" fmla="*/ 6 h 12"/>
                <a:gd name="T12" fmla="*/ 12 w 14"/>
                <a:gd name="T13" fmla="*/ 5 h 12"/>
                <a:gd name="T14" fmla="*/ 11 w 14"/>
                <a:gd name="T15" fmla="*/ 4 h 12"/>
                <a:gd name="T16" fmla="*/ 9 w 14"/>
                <a:gd name="T17" fmla="*/ 5 h 12"/>
                <a:gd name="T18" fmla="*/ 9 w 14"/>
                <a:gd name="T19" fmla="*/ 5 h 12"/>
                <a:gd name="T20" fmla="*/ 9 w 14"/>
                <a:gd name="T21" fmla="*/ 6 h 12"/>
                <a:gd name="T22" fmla="*/ 11 w 14"/>
                <a:gd name="T23" fmla="*/ 7 h 12"/>
                <a:gd name="T24" fmla="*/ 11 w 14"/>
                <a:gd name="T25" fmla="*/ 8 h 12"/>
                <a:gd name="T26" fmla="*/ 5 w 14"/>
                <a:gd name="T27" fmla="*/ 8 h 12"/>
                <a:gd name="T28" fmla="*/ 5 w 14"/>
                <a:gd name="T29" fmla="*/ 7 h 12"/>
                <a:gd name="T30" fmla="*/ 7 w 14"/>
                <a:gd name="T31" fmla="*/ 7 h 12"/>
                <a:gd name="T32" fmla="*/ 7 w 14"/>
                <a:gd name="T33" fmla="*/ 5 h 12"/>
                <a:gd name="T34" fmla="*/ 7 w 14"/>
                <a:gd name="T35" fmla="*/ 5 h 12"/>
                <a:gd name="T36" fmla="*/ 4 w 14"/>
                <a:gd name="T37" fmla="*/ 5 h 12"/>
                <a:gd name="T38" fmla="*/ 3 w 14"/>
                <a:gd name="T39" fmla="*/ 6 h 12"/>
                <a:gd name="T40" fmla="*/ 2 w 14"/>
                <a:gd name="T41" fmla="*/ 7 h 12"/>
                <a:gd name="T42" fmla="*/ 4 w 14"/>
                <a:gd name="T43" fmla="*/ 9 h 12"/>
                <a:gd name="T44" fmla="*/ 7 w 14"/>
                <a:gd name="T45" fmla="*/ 11 h 12"/>
                <a:gd name="T46" fmla="*/ 6 w 14"/>
                <a:gd name="T47" fmla="*/ 12 h 12"/>
                <a:gd name="T48" fmla="*/ 1 w 14"/>
                <a:gd name="T49" fmla="*/ 11 h 12"/>
                <a:gd name="T50" fmla="*/ 0 w 14"/>
                <a:gd name="T51" fmla="*/ 1 h 12"/>
                <a:gd name="T52" fmla="*/ 2 w 14"/>
                <a:gd name="T53" fmla="*/ 1 h 12"/>
                <a:gd name="T54" fmla="*/ 2 w 14"/>
                <a:gd name="T55" fmla="*/ 2 h 12"/>
                <a:gd name="T56" fmla="*/ 4 w 14"/>
                <a:gd name="T57" fmla="*/ 2 h 12"/>
                <a:gd name="T58" fmla="*/ 9 w 14"/>
                <a:gd name="T59" fmla="*/ 1 h 12"/>
                <a:gd name="T60" fmla="*/ 11 w 14"/>
                <a:gd name="T61" fmla="*/ 1 h 12"/>
                <a:gd name="T62" fmla="*/ 12 w 14"/>
                <a:gd name="T63" fmla="*/ 0 h 12"/>
                <a:gd name="T64" fmla="*/ 13 w 14"/>
                <a:gd name="T6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 h="12">
                  <a:moveTo>
                    <a:pt x="13" y="0"/>
                  </a:moveTo>
                  <a:cubicBezTo>
                    <a:pt x="14" y="9"/>
                    <a:pt x="14" y="9"/>
                    <a:pt x="14" y="9"/>
                  </a:cubicBezTo>
                  <a:cubicBezTo>
                    <a:pt x="11" y="11"/>
                    <a:pt x="11" y="11"/>
                    <a:pt x="11" y="11"/>
                  </a:cubicBezTo>
                  <a:cubicBezTo>
                    <a:pt x="10" y="10"/>
                    <a:pt x="10" y="10"/>
                    <a:pt x="10" y="10"/>
                  </a:cubicBezTo>
                  <a:cubicBezTo>
                    <a:pt x="11" y="10"/>
                    <a:pt x="11" y="9"/>
                    <a:pt x="12" y="8"/>
                  </a:cubicBezTo>
                  <a:cubicBezTo>
                    <a:pt x="12" y="7"/>
                    <a:pt x="12" y="6"/>
                    <a:pt x="12" y="6"/>
                  </a:cubicBezTo>
                  <a:cubicBezTo>
                    <a:pt x="12" y="5"/>
                    <a:pt x="12" y="5"/>
                    <a:pt x="12" y="5"/>
                  </a:cubicBezTo>
                  <a:cubicBezTo>
                    <a:pt x="12" y="4"/>
                    <a:pt x="11" y="4"/>
                    <a:pt x="11" y="4"/>
                  </a:cubicBezTo>
                  <a:cubicBezTo>
                    <a:pt x="9" y="5"/>
                    <a:pt x="9" y="5"/>
                    <a:pt x="9" y="5"/>
                  </a:cubicBezTo>
                  <a:cubicBezTo>
                    <a:pt x="9" y="5"/>
                    <a:pt x="9" y="5"/>
                    <a:pt x="9" y="5"/>
                  </a:cubicBezTo>
                  <a:cubicBezTo>
                    <a:pt x="9" y="6"/>
                    <a:pt x="9" y="6"/>
                    <a:pt x="9" y="6"/>
                  </a:cubicBezTo>
                  <a:cubicBezTo>
                    <a:pt x="10" y="7"/>
                    <a:pt x="10" y="7"/>
                    <a:pt x="11" y="7"/>
                  </a:cubicBezTo>
                  <a:cubicBezTo>
                    <a:pt x="11" y="8"/>
                    <a:pt x="11" y="8"/>
                    <a:pt x="11" y="8"/>
                  </a:cubicBezTo>
                  <a:cubicBezTo>
                    <a:pt x="5" y="8"/>
                    <a:pt x="5" y="8"/>
                    <a:pt x="5" y="8"/>
                  </a:cubicBezTo>
                  <a:cubicBezTo>
                    <a:pt x="5" y="7"/>
                    <a:pt x="5" y="7"/>
                    <a:pt x="5" y="7"/>
                  </a:cubicBezTo>
                  <a:cubicBezTo>
                    <a:pt x="6" y="7"/>
                    <a:pt x="6" y="7"/>
                    <a:pt x="7" y="7"/>
                  </a:cubicBezTo>
                  <a:cubicBezTo>
                    <a:pt x="7" y="6"/>
                    <a:pt x="7" y="6"/>
                    <a:pt x="7" y="5"/>
                  </a:cubicBezTo>
                  <a:cubicBezTo>
                    <a:pt x="7" y="5"/>
                    <a:pt x="7" y="5"/>
                    <a:pt x="7" y="5"/>
                  </a:cubicBezTo>
                  <a:cubicBezTo>
                    <a:pt x="4" y="5"/>
                    <a:pt x="4" y="5"/>
                    <a:pt x="4" y="5"/>
                  </a:cubicBezTo>
                  <a:cubicBezTo>
                    <a:pt x="3" y="5"/>
                    <a:pt x="3" y="5"/>
                    <a:pt x="3" y="6"/>
                  </a:cubicBezTo>
                  <a:cubicBezTo>
                    <a:pt x="2" y="6"/>
                    <a:pt x="2" y="6"/>
                    <a:pt x="2" y="7"/>
                  </a:cubicBezTo>
                  <a:cubicBezTo>
                    <a:pt x="3" y="8"/>
                    <a:pt x="3" y="8"/>
                    <a:pt x="4" y="9"/>
                  </a:cubicBezTo>
                  <a:cubicBezTo>
                    <a:pt x="4" y="10"/>
                    <a:pt x="5" y="11"/>
                    <a:pt x="7" y="11"/>
                  </a:cubicBezTo>
                  <a:cubicBezTo>
                    <a:pt x="6" y="12"/>
                    <a:pt x="6" y="12"/>
                    <a:pt x="6" y="12"/>
                  </a:cubicBezTo>
                  <a:cubicBezTo>
                    <a:pt x="1" y="11"/>
                    <a:pt x="1" y="11"/>
                    <a:pt x="1" y="11"/>
                  </a:cubicBezTo>
                  <a:cubicBezTo>
                    <a:pt x="0" y="1"/>
                    <a:pt x="0" y="1"/>
                    <a:pt x="0" y="1"/>
                  </a:cubicBezTo>
                  <a:cubicBezTo>
                    <a:pt x="2" y="1"/>
                    <a:pt x="2" y="1"/>
                    <a:pt x="2" y="1"/>
                  </a:cubicBezTo>
                  <a:cubicBezTo>
                    <a:pt x="2" y="2"/>
                    <a:pt x="2" y="2"/>
                    <a:pt x="2" y="2"/>
                  </a:cubicBezTo>
                  <a:cubicBezTo>
                    <a:pt x="3" y="2"/>
                    <a:pt x="3" y="2"/>
                    <a:pt x="4" y="2"/>
                  </a:cubicBezTo>
                  <a:cubicBezTo>
                    <a:pt x="9" y="1"/>
                    <a:pt x="9" y="1"/>
                    <a:pt x="9" y="1"/>
                  </a:cubicBezTo>
                  <a:cubicBezTo>
                    <a:pt x="10" y="1"/>
                    <a:pt x="11" y="1"/>
                    <a:pt x="11" y="1"/>
                  </a:cubicBezTo>
                  <a:cubicBezTo>
                    <a:pt x="12" y="1"/>
                    <a:pt x="12" y="0"/>
                    <a:pt x="12" y="0"/>
                  </a:cubicBezTo>
                  <a:lnTo>
                    <a:pt x="13" y="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0" name="Freeform 23"/>
            <p:cNvSpPr/>
            <p:nvPr/>
          </p:nvSpPr>
          <p:spPr bwMode="auto">
            <a:xfrm>
              <a:off x="573088" y="5897563"/>
              <a:ext cx="36512" cy="34925"/>
            </a:xfrm>
            <a:custGeom>
              <a:avLst/>
              <a:gdLst>
                <a:gd name="T0" fmla="*/ 14 w 15"/>
                <a:gd name="T1" fmla="*/ 7 h 14"/>
                <a:gd name="T2" fmla="*/ 14 w 15"/>
                <a:gd name="T3" fmla="*/ 7 h 14"/>
                <a:gd name="T4" fmla="*/ 15 w 15"/>
                <a:gd name="T5" fmla="*/ 8 h 14"/>
                <a:gd name="T6" fmla="*/ 11 w 15"/>
                <a:gd name="T7" fmla="*/ 10 h 14"/>
                <a:gd name="T8" fmla="*/ 10 w 15"/>
                <a:gd name="T9" fmla="*/ 9 h 14"/>
                <a:gd name="T10" fmla="*/ 12 w 15"/>
                <a:gd name="T11" fmla="*/ 7 h 14"/>
                <a:gd name="T12" fmla="*/ 12 w 15"/>
                <a:gd name="T13" fmla="*/ 5 h 14"/>
                <a:gd name="T14" fmla="*/ 10 w 15"/>
                <a:gd name="T15" fmla="*/ 3 h 14"/>
                <a:gd name="T16" fmla="*/ 6 w 15"/>
                <a:gd name="T17" fmla="*/ 4 h 14"/>
                <a:gd name="T18" fmla="*/ 3 w 15"/>
                <a:gd name="T19" fmla="*/ 6 h 14"/>
                <a:gd name="T20" fmla="*/ 3 w 15"/>
                <a:gd name="T21" fmla="*/ 8 h 14"/>
                <a:gd name="T22" fmla="*/ 4 w 15"/>
                <a:gd name="T23" fmla="*/ 10 h 14"/>
                <a:gd name="T24" fmla="*/ 6 w 15"/>
                <a:gd name="T25" fmla="*/ 10 h 14"/>
                <a:gd name="T26" fmla="*/ 6 w 15"/>
                <a:gd name="T27" fmla="*/ 9 h 14"/>
                <a:gd name="T28" fmla="*/ 6 w 15"/>
                <a:gd name="T29" fmla="*/ 8 h 14"/>
                <a:gd name="T30" fmla="*/ 8 w 15"/>
                <a:gd name="T31" fmla="*/ 7 h 14"/>
                <a:gd name="T32" fmla="*/ 10 w 15"/>
                <a:gd name="T33" fmla="*/ 12 h 14"/>
                <a:gd name="T34" fmla="*/ 8 w 15"/>
                <a:gd name="T35" fmla="*/ 13 h 14"/>
                <a:gd name="T36" fmla="*/ 7 w 15"/>
                <a:gd name="T37" fmla="*/ 12 h 14"/>
                <a:gd name="T38" fmla="*/ 6 w 15"/>
                <a:gd name="T39" fmla="*/ 12 h 14"/>
                <a:gd name="T40" fmla="*/ 3 w 15"/>
                <a:gd name="T41" fmla="*/ 14 h 14"/>
                <a:gd name="T42" fmla="*/ 2 w 15"/>
                <a:gd name="T43" fmla="*/ 12 h 14"/>
                <a:gd name="T44" fmla="*/ 3 w 15"/>
                <a:gd name="T45" fmla="*/ 11 h 14"/>
                <a:gd name="T46" fmla="*/ 1 w 15"/>
                <a:gd name="T47" fmla="*/ 10 h 14"/>
                <a:gd name="T48" fmla="*/ 0 w 15"/>
                <a:gd name="T49" fmla="*/ 8 h 14"/>
                <a:gd name="T50" fmla="*/ 1 w 15"/>
                <a:gd name="T51" fmla="*/ 4 h 14"/>
                <a:gd name="T52" fmla="*/ 5 w 15"/>
                <a:gd name="T53" fmla="*/ 1 h 14"/>
                <a:gd name="T54" fmla="*/ 10 w 15"/>
                <a:gd name="T55" fmla="*/ 1 h 14"/>
                <a:gd name="T56" fmla="*/ 14 w 15"/>
                <a:gd name="T57" fmla="*/ 4 h 14"/>
                <a:gd name="T58" fmla="*/ 14 w 15"/>
                <a:gd name="T59" fmla="*/ 5 h 14"/>
                <a:gd name="T60" fmla="*/ 14 w 15"/>
                <a:gd name="T61"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 h="14">
                  <a:moveTo>
                    <a:pt x="14" y="7"/>
                  </a:moveTo>
                  <a:cubicBezTo>
                    <a:pt x="14" y="7"/>
                    <a:pt x="14" y="7"/>
                    <a:pt x="14" y="7"/>
                  </a:cubicBezTo>
                  <a:cubicBezTo>
                    <a:pt x="15" y="8"/>
                    <a:pt x="15" y="8"/>
                    <a:pt x="15" y="8"/>
                  </a:cubicBezTo>
                  <a:cubicBezTo>
                    <a:pt x="11" y="10"/>
                    <a:pt x="11" y="10"/>
                    <a:pt x="11" y="10"/>
                  </a:cubicBezTo>
                  <a:cubicBezTo>
                    <a:pt x="10" y="9"/>
                    <a:pt x="10" y="9"/>
                    <a:pt x="10" y="9"/>
                  </a:cubicBezTo>
                  <a:cubicBezTo>
                    <a:pt x="11" y="8"/>
                    <a:pt x="12" y="7"/>
                    <a:pt x="12" y="7"/>
                  </a:cubicBezTo>
                  <a:cubicBezTo>
                    <a:pt x="12" y="6"/>
                    <a:pt x="12" y="5"/>
                    <a:pt x="12" y="5"/>
                  </a:cubicBezTo>
                  <a:cubicBezTo>
                    <a:pt x="12" y="4"/>
                    <a:pt x="11" y="3"/>
                    <a:pt x="10" y="3"/>
                  </a:cubicBezTo>
                  <a:cubicBezTo>
                    <a:pt x="9" y="3"/>
                    <a:pt x="8" y="3"/>
                    <a:pt x="6" y="4"/>
                  </a:cubicBezTo>
                  <a:cubicBezTo>
                    <a:pt x="5" y="4"/>
                    <a:pt x="4" y="5"/>
                    <a:pt x="3" y="6"/>
                  </a:cubicBezTo>
                  <a:cubicBezTo>
                    <a:pt x="2" y="7"/>
                    <a:pt x="2" y="7"/>
                    <a:pt x="3" y="8"/>
                  </a:cubicBezTo>
                  <a:cubicBezTo>
                    <a:pt x="3" y="9"/>
                    <a:pt x="3" y="9"/>
                    <a:pt x="4" y="10"/>
                  </a:cubicBezTo>
                  <a:cubicBezTo>
                    <a:pt x="4" y="10"/>
                    <a:pt x="5" y="10"/>
                    <a:pt x="6" y="10"/>
                  </a:cubicBezTo>
                  <a:cubicBezTo>
                    <a:pt x="6" y="9"/>
                    <a:pt x="6" y="9"/>
                    <a:pt x="6" y="9"/>
                  </a:cubicBezTo>
                  <a:cubicBezTo>
                    <a:pt x="7" y="9"/>
                    <a:pt x="6" y="8"/>
                    <a:pt x="6" y="8"/>
                  </a:cubicBezTo>
                  <a:cubicBezTo>
                    <a:pt x="8" y="7"/>
                    <a:pt x="8" y="7"/>
                    <a:pt x="8" y="7"/>
                  </a:cubicBezTo>
                  <a:cubicBezTo>
                    <a:pt x="10" y="12"/>
                    <a:pt x="10" y="12"/>
                    <a:pt x="10" y="12"/>
                  </a:cubicBezTo>
                  <a:cubicBezTo>
                    <a:pt x="8" y="13"/>
                    <a:pt x="8" y="13"/>
                    <a:pt x="8" y="13"/>
                  </a:cubicBezTo>
                  <a:cubicBezTo>
                    <a:pt x="8" y="12"/>
                    <a:pt x="8" y="12"/>
                    <a:pt x="7" y="12"/>
                  </a:cubicBezTo>
                  <a:cubicBezTo>
                    <a:pt x="7" y="12"/>
                    <a:pt x="7" y="12"/>
                    <a:pt x="6" y="12"/>
                  </a:cubicBezTo>
                  <a:cubicBezTo>
                    <a:pt x="3" y="14"/>
                    <a:pt x="3" y="14"/>
                    <a:pt x="3" y="14"/>
                  </a:cubicBezTo>
                  <a:cubicBezTo>
                    <a:pt x="2" y="12"/>
                    <a:pt x="2" y="12"/>
                    <a:pt x="2" y="12"/>
                  </a:cubicBezTo>
                  <a:cubicBezTo>
                    <a:pt x="3" y="11"/>
                    <a:pt x="3" y="11"/>
                    <a:pt x="3" y="11"/>
                  </a:cubicBezTo>
                  <a:cubicBezTo>
                    <a:pt x="2" y="11"/>
                    <a:pt x="2" y="10"/>
                    <a:pt x="1" y="10"/>
                  </a:cubicBezTo>
                  <a:cubicBezTo>
                    <a:pt x="1" y="9"/>
                    <a:pt x="1" y="9"/>
                    <a:pt x="0" y="8"/>
                  </a:cubicBezTo>
                  <a:cubicBezTo>
                    <a:pt x="0" y="7"/>
                    <a:pt x="0" y="5"/>
                    <a:pt x="1" y="4"/>
                  </a:cubicBezTo>
                  <a:cubicBezTo>
                    <a:pt x="2" y="3"/>
                    <a:pt x="3" y="2"/>
                    <a:pt x="5" y="1"/>
                  </a:cubicBezTo>
                  <a:cubicBezTo>
                    <a:pt x="7" y="0"/>
                    <a:pt x="9" y="0"/>
                    <a:pt x="10" y="1"/>
                  </a:cubicBezTo>
                  <a:cubicBezTo>
                    <a:pt x="12" y="1"/>
                    <a:pt x="13" y="2"/>
                    <a:pt x="14" y="4"/>
                  </a:cubicBezTo>
                  <a:cubicBezTo>
                    <a:pt x="14" y="4"/>
                    <a:pt x="14" y="5"/>
                    <a:pt x="14" y="5"/>
                  </a:cubicBezTo>
                  <a:cubicBezTo>
                    <a:pt x="14" y="6"/>
                    <a:pt x="14" y="6"/>
                    <a:pt x="14" y="7"/>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1" name="Freeform 24"/>
            <p:cNvSpPr>
              <a:spLocks noEditPoints="1"/>
            </p:cNvSpPr>
            <p:nvPr/>
          </p:nvSpPr>
          <p:spPr bwMode="auto">
            <a:xfrm>
              <a:off x="582613" y="5922963"/>
              <a:ext cx="39687" cy="44450"/>
            </a:xfrm>
            <a:custGeom>
              <a:avLst/>
              <a:gdLst>
                <a:gd name="T0" fmla="*/ 11 w 16"/>
                <a:gd name="T1" fmla="*/ 5 h 18"/>
                <a:gd name="T2" fmla="*/ 12 w 16"/>
                <a:gd name="T3" fmla="*/ 5 h 18"/>
                <a:gd name="T4" fmla="*/ 13 w 16"/>
                <a:gd name="T5" fmla="*/ 6 h 18"/>
                <a:gd name="T6" fmla="*/ 14 w 16"/>
                <a:gd name="T7" fmla="*/ 8 h 18"/>
                <a:gd name="T8" fmla="*/ 13 w 16"/>
                <a:gd name="T9" fmla="*/ 9 h 18"/>
                <a:gd name="T10" fmla="*/ 11 w 16"/>
                <a:gd name="T11" fmla="*/ 9 h 18"/>
                <a:gd name="T12" fmla="*/ 9 w 16"/>
                <a:gd name="T13" fmla="*/ 7 h 18"/>
                <a:gd name="T14" fmla="*/ 9 w 16"/>
                <a:gd name="T15" fmla="*/ 7 h 18"/>
                <a:gd name="T16" fmla="*/ 9 w 16"/>
                <a:gd name="T17" fmla="*/ 7 h 18"/>
                <a:gd name="T18" fmla="*/ 11 w 16"/>
                <a:gd name="T19" fmla="*/ 5 h 18"/>
                <a:gd name="T20" fmla="*/ 10 w 16"/>
                <a:gd name="T21" fmla="*/ 1 h 18"/>
                <a:gd name="T22" fmla="*/ 11 w 16"/>
                <a:gd name="T23" fmla="*/ 2 h 18"/>
                <a:gd name="T24" fmla="*/ 9 w 16"/>
                <a:gd name="T25" fmla="*/ 3 h 18"/>
                <a:gd name="T26" fmla="*/ 4 w 16"/>
                <a:gd name="T27" fmla="*/ 6 h 18"/>
                <a:gd name="T28" fmla="*/ 3 w 16"/>
                <a:gd name="T29" fmla="*/ 6 h 18"/>
                <a:gd name="T30" fmla="*/ 2 w 16"/>
                <a:gd name="T31" fmla="*/ 5 h 18"/>
                <a:gd name="T32" fmla="*/ 0 w 16"/>
                <a:gd name="T33" fmla="*/ 6 h 18"/>
                <a:gd name="T34" fmla="*/ 3 w 16"/>
                <a:gd name="T35" fmla="*/ 11 h 18"/>
                <a:gd name="T36" fmla="*/ 5 w 16"/>
                <a:gd name="T37" fmla="*/ 11 h 18"/>
                <a:gd name="T38" fmla="*/ 4 w 16"/>
                <a:gd name="T39" fmla="*/ 9 h 18"/>
                <a:gd name="T40" fmla="*/ 6 w 16"/>
                <a:gd name="T41" fmla="*/ 8 h 18"/>
                <a:gd name="T42" fmla="*/ 7 w 16"/>
                <a:gd name="T43" fmla="*/ 7 h 18"/>
                <a:gd name="T44" fmla="*/ 8 w 16"/>
                <a:gd name="T45" fmla="*/ 8 h 18"/>
                <a:gd name="T46" fmla="*/ 5 w 16"/>
                <a:gd name="T47" fmla="*/ 14 h 18"/>
                <a:gd name="T48" fmla="*/ 7 w 16"/>
                <a:gd name="T49" fmla="*/ 18 h 18"/>
                <a:gd name="T50" fmla="*/ 8 w 16"/>
                <a:gd name="T51" fmla="*/ 17 h 18"/>
                <a:gd name="T52" fmla="*/ 8 w 16"/>
                <a:gd name="T53" fmla="*/ 16 h 18"/>
                <a:gd name="T54" fmla="*/ 8 w 16"/>
                <a:gd name="T55" fmla="*/ 15 h 18"/>
                <a:gd name="T56" fmla="*/ 10 w 16"/>
                <a:gd name="T57" fmla="*/ 11 h 18"/>
                <a:gd name="T58" fmla="*/ 12 w 16"/>
                <a:gd name="T59" fmla="*/ 12 h 18"/>
                <a:gd name="T60" fmla="*/ 14 w 16"/>
                <a:gd name="T61" fmla="*/ 12 h 18"/>
                <a:gd name="T62" fmla="*/ 16 w 16"/>
                <a:gd name="T63" fmla="*/ 9 h 18"/>
                <a:gd name="T64" fmla="*/ 15 w 16"/>
                <a:gd name="T65" fmla="*/ 6 h 18"/>
                <a:gd name="T66" fmla="*/ 12 w 16"/>
                <a:gd name="T67" fmla="*/ 0 h 18"/>
                <a:gd name="T68" fmla="*/ 10 w 16"/>
                <a:gd name="T69"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 h="18">
                  <a:moveTo>
                    <a:pt x="11" y="5"/>
                  </a:moveTo>
                  <a:cubicBezTo>
                    <a:pt x="12" y="5"/>
                    <a:pt x="12" y="5"/>
                    <a:pt x="12" y="5"/>
                  </a:cubicBezTo>
                  <a:cubicBezTo>
                    <a:pt x="13" y="5"/>
                    <a:pt x="13" y="5"/>
                    <a:pt x="13" y="6"/>
                  </a:cubicBezTo>
                  <a:cubicBezTo>
                    <a:pt x="14" y="7"/>
                    <a:pt x="14" y="7"/>
                    <a:pt x="14" y="8"/>
                  </a:cubicBezTo>
                  <a:cubicBezTo>
                    <a:pt x="14" y="8"/>
                    <a:pt x="13" y="9"/>
                    <a:pt x="13" y="9"/>
                  </a:cubicBezTo>
                  <a:cubicBezTo>
                    <a:pt x="12" y="9"/>
                    <a:pt x="12" y="9"/>
                    <a:pt x="11" y="9"/>
                  </a:cubicBezTo>
                  <a:cubicBezTo>
                    <a:pt x="10" y="9"/>
                    <a:pt x="10" y="8"/>
                    <a:pt x="9" y="7"/>
                  </a:cubicBezTo>
                  <a:cubicBezTo>
                    <a:pt x="9" y="7"/>
                    <a:pt x="9" y="7"/>
                    <a:pt x="9" y="7"/>
                  </a:cubicBezTo>
                  <a:cubicBezTo>
                    <a:pt x="9" y="7"/>
                    <a:pt x="9" y="7"/>
                    <a:pt x="9" y="7"/>
                  </a:cubicBezTo>
                  <a:lnTo>
                    <a:pt x="11" y="5"/>
                  </a:lnTo>
                  <a:close/>
                  <a:moveTo>
                    <a:pt x="10" y="1"/>
                  </a:moveTo>
                  <a:cubicBezTo>
                    <a:pt x="11" y="1"/>
                    <a:pt x="11" y="2"/>
                    <a:pt x="11" y="2"/>
                  </a:cubicBezTo>
                  <a:cubicBezTo>
                    <a:pt x="10" y="2"/>
                    <a:pt x="10" y="3"/>
                    <a:pt x="9" y="3"/>
                  </a:cubicBezTo>
                  <a:cubicBezTo>
                    <a:pt x="4" y="6"/>
                    <a:pt x="4" y="6"/>
                    <a:pt x="4" y="6"/>
                  </a:cubicBezTo>
                  <a:cubicBezTo>
                    <a:pt x="4" y="6"/>
                    <a:pt x="3" y="6"/>
                    <a:pt x="3" y="6"/>
                  </a:cubicBezTo>
                  <a:cubicBezTo>
                    <a:pt x="2" y="6"/>
                    <a:pt x="2" y="6"/>
                    <a:pt x="2" y="5"/>
                  </a:cubicBezTo>
                  <a:cubicBezTo>
                    <a:pt x="0" y="6"/>
                    <a:pt x="0" y="6"/>
                    <a:pt x="0" y="6"/>
                  </a:cubicBezTo>
                  <a:cubicBezTo>
                    <a:pt x="3" y="11"/>
                    <a:pt x="3" y="11"/>
                    <a:pt x="3" y="11"/>
                  </a:cubicBezTo>
                  <a:cubicBezTo>
                    <a:pt x="5" y="11"/>
                    <a:pt x="5" y="11"/>
                    <a:pt x="5" y="11"/>
                  </a:cubicBezTo>
                  <a:cubicBezTo>
                    <a:pt x="4" y="10"/>
                    <a:pt x="4" y="10"/>
                    <a:pt x="4" y="9"/>
                  </a:cubicBezTo>
                  <a:cubicBezTo>
                    <a:pt x="5" y="9"/>
                    <a:pt x="5" y="9"/>
                    <a:pt x="6" y="8"/>
                  </a:cubicBezTo>
                  <a:cubicBezTo>
                    <a:pt x="7" y="7"/>
                    <a:pt x="7" y="7"/>
                    <a:pt x="7" y="7"/>
                  </a:cubicBezTo>
                  <a:cubicBezTo>
                    <a:pt x="8" y="8"/>
                    <a:pt x="8" y="8"/>
                    <a:pt x="8" y="8"/>
                  </a:cubicBezTo>
                  <a:cubicBezTo>
                    <a:pt x="5" y="14"/>
                    <a:pt x="5" y="14"/>
                    <a:pt x="5" y="14"/>
                  </a:cubicBezTo>
                  <a:cubicBezTo>
                    <a:pt x="7" y="18"/>
                    <a:pt x="7" y="18"/>
                    <a:pt x="7" y="18"/>
                  </a:cubicBezTo>
                  <a:cubicBezTo>
                    <a:pt x="8" y="17"/>
                    <a:pt x="8" y="17"/>
                    <a:pt x="8" y="17"/>
                  </a:cubicBezTo>
                  <a:cubicBezTo>
                    <a:pt x="8" y="17"/>
                    <a:pt x="8" y="16"/>
                    <a:pt x="8" y="16"/>
                  </a:cubicBezTo>
                  <a:cubicBezTo>
                    <a:pt x="8" y="16"/>
                    <a:pt x="8" y="15"/>
                    <a:pt x="8" y="15"/>
                  </a:cubicBezTo>
                  <a:cubicBezTo>
                    <a:pt x="10" y="11"/>
                    <a:pt x="10" y="11"/>
                    <a:pt x="10" y="11"/>
                  </a:cubicBezTo>
                  <a:cubicBezTo>
                    <a:pt x="11" y="12"/>
                    <a:pt x="11" y="12"/>
                    <a:pt x="12" y="12"/>
                  </a:cubicBezTo>
                  <a:cubicBezTo>
                    <a:pt x="13" y="12"/>
                    <a:pt x="13" y="12"/>
                    <a:pt x="14" y="12"/>
                  </a:cubicBezTo>
                  <a:cubicBezTo>
                    <a:pt x="15" y="11"/>
                    <a:pt x="16" y="10"/>
                    <a:pt x="16" y="9"/>
                  </a:cubicBezTo>
                  <a:cubicBezTo>
                    <a:pt x="16" y="9"/>
                    <a:pt x="16" y="7"/>
                    <a:pt x="15" y="6"/>
                  </a:cubicBezTo>
                  <a:cubicBezTo>
                    <a:pt x="12" y="0"/>
                    <a:pt x="12" y="0"/>
                    <a:pt x="12" y="0"/>
                  </a:cubicBezTo>
                  <a:lnTo>
                    <a:pt x="10" y="1"/>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2" name="Freeform 25"/>
            <p:cNvSpPr/>
            <p:nvPr/>
          </p:nvSpPr>
          <p:spPr bwMode="auto">
            <a:xfrm>
              <a:off x="600075" y="5949950"/>
              <a:ext cx="38100" cy="33338"/>
            </a:xfrm>
            <a:custGeom>
              <a:avLst/>
              <a:gdLst>
                <a:gd name="T0" fmla="*/ 11 w 15"/>
                <a:gd name="T1" fmla="*/ 0 h 13"/>
                <a:gd name="T2" fmla="*/ 15 w 15"/>
                <a:gd name="T3" fmla="*/ 5 h 13"/>
                <a:gd name="T4" fmla="*/ 13 w 15"/>
                <a:gd name="T5" fmla="*/ 6 h 13"/>
                <a:gd name="T6" fmla="*/ 12 w 15"/>
                <a:gd name="T7" fmla="*/ 5 h 13"/>
                <a:gd name="T8" fmla="*/ 10 w 15"/>
                <a:gd name="T9" fmla="*/ 6 h 13"/>
                <a:gd name="T10" fmla="*/ 6 w 15"/>
                <a:gd name="T11" fmla="*/ 9 h 13"/>
                <a:gd name="T12" fmla="*/ 5 w 15"/>
                <a:gd name="T13" fmla="*/ 11 h 13"/>
                <a:gd name="T14" fmla="*/ 5 w 15"/>
                <a:gd name="T15" fmla="*/ 12 h 13"/>
                <a:gd name="T16" fmla="*/ 4 w 15"/>
                <a:gd name="T17" fmla="*/ 13 h 13"/>
                <a:gd name="T18" fmla="*/ 0 w 15"/>
                <a:gd name="T19" fmla="*/ 8 h 13"/>
                <a:gd name="T20" fmla="*/ 2 w 15"/>
                <a:gd name="T21" fmla="*/ 7 h 13"/>
                <a:gd name="T22" fmla="*/ 3 w 15"/>
                <a:gd name="T23" fmla="*/ 8 h 13"/>
                <a:gd name="T24" fmla="*/ 5 w 15"/>
                <a:gd name="T25" fmla="*/ 7 h 13"/>
                <a:gd name="T26" fmla="*/ 9 w 15"/>
                <a:gd name="T27" fmla="*/ 4 h 13"/>
                <a:gd name="T28" fmla="*/ 10 w 15"/>
                <a:gd name="T29" fmla="*/ 2 h 13"/>
                <a:gd name="T30" fmla="*/ 10 w 15"/>
                <a:gd name="T31" fmla="*/ 1 h 13"/>
                <a:gd name="T32" fmla="*/ 11 w 15"/>
                <a:gd name="T33"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13">
                  <a:moveTo>
                    <a:pt x="11" y="0"/>
                  </a:moveTo>
                  <a:cubicBezTo>
                    <a:pt x="15" y="5"/>
                    <a:pt x="15" y="5"/>
                    <a:pt x="15" y="5"/>
                  </a:cubicBezTo>
                  <a:cubicBezTo>
                    <a:pt x="13" y="6"/>
                    <a:pt x="13" y="6"/>
                    <a:pt x="13" y="6"/>
                  </a:cubicBezTo>
                  <a:cubicBezTo>
                    <a:pt x="13" y="6"/>
                    <a:pt x="13" y="5"/>
                    <a:pt x="12" y="5"/>
                  </a:cubicBezTo>
                  <a:cubicBezTo>
                    <a:pt x="12" y="5"/>
                    <a:pt x="11" y="6"/>
                    <a:pt x="10" y="6"/>
                  </a:cubicBezTo>
                  <a:cubicBezTo>
                    <a:pt x="6" y="9"/>
                    <a:pt x="6" y="9"/>
                    <a:pt x="6" y="9"/>
                  </a:cubicBezTo>
                  <a:cubicBezTo>
                    <a:pt x="5" y="10"/>
                    <a:pt x="5" y="10"/>
                    <a:pt x="5" y="11"/>
                  </a:cubicBezTo>
                  <a:cubicBezTo>
                    <a:pt x="5" y="11"/>
                    <a:pt x="5" y="11"/>
                    <a:pt x="5" y="12"/>
                  </a:cubicBezTo>
                  <a:cubicBezTo>
                    <a:pt x="4" y="13"/>
                    <a:pt x="4" y="13"/>
                    <a:pt x="4" y="13"/>
                  </a:cubicBezTo>
                  <a:cubicBezTo>
                    <a:pt x="0" y="8"/>
                    <a:pt x="0" y="8"/>
                    <a:pt x="0" y="8"/>
                  </a:cubicBezTo>
                  <a:cubicBezTo>
                    <a:pt x="2" y="7"/>
                    <a:pt x="2" y="7"/>
                    <a:pt x="2" y="7"/>
                  </a:cubicBezTo>
                  <a:cubicBezTo>
                    <a:pt x="2" y="7"/>
                    <a:pt x="2" y="8"/>
                    <a:pt x="3" y="8"/>
                  </a:cubicBezTo>
                  <a:cubicBezTo>
                    <a:pt x="3" y="8"/>
                    <a:pt x="4" y="7"/>
                    <a:pt x="5" y="7"/>
                  </a:cubicBezTo>
                  <a:cubicBezTo>
                    <a:pt x="9" y="4"/>
                    <a:pt x="9" y="4"/>
                    <a:pt x="9" y="4"/>
                  </a:cubicBezTo>
                  <a:cubicBezTo>
                    <a:pt x="9" y="3"/>
                    <a:pt x="10" y="3"/>
                    <a:pt x="10" y="2"/>
                  </a:cubicBezTo>
                  <a:cubicBezTo>
                    <a:pt x="10" y="2"/>
                    <a:pt x="10" y="2"/>
                    <a:pt x="10" y="1"/>
                  </a:cubicBezTo>
                  <a:lnTo>
                    <a:pt x="11" y="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3" name="Freeform 26"/>
            <p:cNvSpPr>
              <a:spLocks noEditPoints="1"/>
            </p:cNvSpPr>
            <p:nvPr/>
          </p:nvSpPr>
          <p:spPr bwMode="auto">
            <a:xfrm>
              <a:off x="612775" y="5965825"/>
              <a:ext cx="39687" cy="36513"/>
            </a:xfrm>
            <a:custGeom>
              <a:avLst/>
              <a:gdLst>
                <a:gd name="T0" fmla="*/ 11 w 16"/>
                <a:gd name="T1" fmla="*/ 5 h 15"/>
                <a:gd name="T2" fmla="*/ 12 w 16"/>
                <a:gd name="T3" fmla="*/ 5 h 15"/>
                <a:gd name="T4" fmla="*/ 13 w 16"/>
                <a:gd name="T5" fmla="*/ 5 h 15"/>
                <a:gd name="T6" fmla="*/ 13 w 16"/>
                <a:gd name="T7" fmla="*/ 8 h 15"/>
                <a:gd name="T8" fmla="*/ 11 w 16"/>
                <a:gd name="T9" fmla="*/ 11 h 15"/>
                <a:gd name="T10" fmla="*/ 8 w 16"/>
                <a:gd name="T11" fmla="*/ 13 h 15"/>
                <a:gd name="T12" fmla="*/ 5 w 16"/>
                <a:gd name="T13" fmla="*/ 11 h 15"/>
                <a:gd name="T14" fmla="*/ 5 w 16"/>
                <a:gd name="T15" fmla="*/ 10 h 15"/>
                <a:gd name="T16" fmla="*/ 5 w 16"/>
                <a:gd name="T17" fmla="*/ 9 h 15"/>
                <a:gd name="T18" fmla="*/ 11 w 16"/>
                <a:gd name="T19" fmla="*/ 5 h 15"/>
                <a:gd name="T20" fmla="*/ 9 w 16"/>
                <a:gd name="T21" fmla="*/ 1 h 15"/>
                <a:gd name="T22" fmla="*/ 9 w 16"/>
                <a:gd name="T23" fmla="*/ 2 h 15"/>
                <a:gd name="T24" fmla="*/ 8 w 16"/>
                <a:gd name="T25" fmla="*/ 3 h 15"/>
                <a:gd name="T26" fmla="*/ 4 w 16"/>
                <a:gd name="T27" fmla="*/ 6 h 15"/>
                <a:gd name="T28" fmla="*/ 2 w 16"/>
                <a:gd name="T29" fmla="*/ 7 h 15"/>
                <a:gd name="T30" fmla="*/ 1 w 16"/>
                <a:gd name="T31" fmla="*/ 7 h 15"/>
                <a:gd name="T32" fmla="*/ 0 w 16"/>
                <a:gd name="T33" fmla="*/ 8 h 15"/>
                <a:gd name="T34" fmla="*/ 4 w 16"/>
                <a:gd name="T35" fmla="*/ 12 h 15"/>
                <a:gd name="T36" fmla="*/ 8 w 16"/>
                <a:gd name="T37" fmla="*/ 15 h 15"/>
                <a:gd name="T38" fmla="*/ 13 w 16"/>
                <a:gd name="T39" fmla="*/ 14 h 15"/>
                <a:gd name="T40" fmla="*/ 16 w 16"/>
                <a:gd name="T41" fmla="*/ 9 h 15"/>
                <a:gd name="T42" fmla="*/ 14 w 16"/>
                <a:gd name="T43" fmla="*/ 4 h 15"/>
                <a:gd name="T44" fmla="*/ 10 w 16"/>
                <a:gd name="T45" fmla="*/ 0 h 15"/>
                <a:gd name="T46" fmla="*/ 9 w 16"/>
                <a:gd name="T47"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 h="15">
                  <a:moveTo>
                    <a:pt x="11" y="5"/>
                  </a:moveTo>
                  <a:cubicBezTo>
                    <a:pt x="11" y="5"/>
                    <a:pt x="12" y="5"/>
                    <a:pt x="12" y="5"/>
                  </a:cubicBezTo>
                  <a:cubicBezTo>
                    <a:pt x="12" y="5"/>
                    <a:pt x="12" y="5"/>
                    <a:pt x="13" y="5"/>
                  </a:cubicBezTo>
                  <a:cubicBezTo>
                    <a:pt x="13" y="6"/>
                    <a:pt x="14" y="7"/>
                    <a:pt x="13" y="8"/>
                  </a:cubicBezTo>
                  <a:cubicBezTo>
                    <a:pt x="13" y="9"/>
                    <a:pt x="12" y="10"/>
                    <a:pt x="11" y="11"/>
                  </a:cubicBezTo>
                  <a:cubicBezTo>
                    <a:pt x="10" y="12"/>
                    <a:pt x="9" y="13"/>
                    <a:pt x="8" y="13"/>
                  </a:cubicBezTo>
                  <a:cubicBezTo>
                    <a:pt x="7" y="13"/>
                    <a:pt x="6" y="12"/>
                    <a:pt x="5" y="11"/>
                  </a:cubicBezTo>
                  <a:cubicBezTo>
                    <a:pt x="5" y="11"/>
                    <a:pt x="4" y="11"/>
                    <a:pt x="5" y="10"/>
                  </a:cubicBezTo>
                  <a:cubicBezTo>
                    <a:pt x="5" y="10"/>
                    <a:pt x="5" y="10"/>
                    <a:pt x="5" y="9"/>
                  </a:cubicBezTo>
                  <a:lnTo>
                    <a:pt x="11" y="5"/>
                  </a:lnTo>
                  <a:close/>
                  <a:moveTo>
                    <a:pt x="9" y="1"/>
                  </a:moveTo>
                  <a:cubicBezTo>
                    <a:pt x="9" y="1"/>
                    <a:pt x="10" y="2"/>
                    <a:pt x="9" y="2"/>
                  </a:cubicBezTo>
                  <a:cubicBezTo>
                    <a:pt x="9" y="2"/>
                    <a:pt x="9" y="3"/>
                    <a:pt x="8" y="3"/>
                  </a:cubicBezTo>
                  <a:cubicBezTo>
                    <a:pt x="4" y="6"/>
                    <a:pt x="4" y="6"/>
                    <a:pt x="4" y="6"/>
                  </a:cubicBezTo>
                  <a:cubicBezTo>
                    <a:pt x="3" y="7"/>
                    <a:pt x="3" y="7"/>
                    <a:pt x="2" y="7"/>
                  </a:cubicBezTo>
                  <a:cubicBezTo>
                    <a:pt x="2" y="8"/>
                    <a:pt x="2" y="7"/>
                    <a:pt x="1" y="7"/>
                  </a:cubicBezTo>
                  <a:cubicBezTo>
                    <a:pt x="0" y="8"/>
                    <a:pt x="0" y="8"/>
                    <a:pt x="0" y="8"/>
                  </a:cubicBezTo>
                  <a:cubicBezTo>
                    <a:pt x="4" y="12"/>
                    <a:pt x="4" y="12"/>
                    <a:pt x="4" y="12"/>
                  </a:cubicBezTo>
                  <a:cubicBezTo>
                    <a:pt x="5" y="14"/>
                    <a:pt x="7" y="15"/>
                    <a:pt x="8" y="15"/>
                  </a:cubicBezTo>
                  <a:cubicBezTo>
                    <a:pt x="10" y="15"/>
                    <a:pt x="12" y="15"/>
                    <a:pt x="13" y="14"/>
                  </a:cubicBezTo>
                  <a:cubicBezTo>
                    <a:pt x="15" y="12"/>
                    <a:pt x="16" y="11"/>
                    <a:pt x="16" y="9"/>
                  </a:cubicBezTo>
                  <a:cubicBezTo>
                    <a:pt x="16" y="8"/>
                    <a:pt x="15" y="6"/>
                    <a:pt x="14" y="4"/>
                  </a:cubicBezTo>
                  <a:cubicBezTo>
                    <a:pt x="10" y="0"/>
                    <a:pt x="10" y="0"/>
                    <a:pt x="10" y="0"/>
                  </a:cubicBezTo>
                  <a:lnTo>
                    <a:pt x="9" y="1"/>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4" name="Freeform 27"/>
            <p:cNvSpPr/>
            <p:nvPr/>
          </p:nvSpPr>
          <p:spPr bwMode="auto">
            <a:xfrm>
              <a:off x="652463" y="6000750"/>
              <a:ext cx="34925" cy="34925"/>
            </a:xfrm>
            <a:custGeom>
              <a:avLst/>
              <a:gdLst>
                <a:gd name="T0" fmla="*/ 13 w 14"/>
                <a:gd name="T1" fmla="*/ 4 h 14"/>
                <a:gd name="T2" fmla="*/ 13 w 14"/>
                <a:gd name="T3" fmla="*/ 4 h 14"/>
                <a:gd name="T4" fmla="*/ 14 w 14"/>
                <a:gd name="T5" fmla="*/ 4 h 14"/>
                <a:gd name="T6" fmla="*/ 13 w 14"/>
                <a:gd name="T7" fmla="*/ 9 h 14"/>
                <a:gd name="T8" fmla="*/ 11 w 14"/>
                <a:gd name="T9" fmla="*/ 8 h 14"/>
                <a:gd name="T10" fmla="*/ 11 w 14"/>
                <a:gd name="T11" fmla="*/ 5 h 14"/>
                <a:gd name="T12" fmla="*/ 10 w 14"/>
                <a:gd name="T13" fmla="*/ 3 h 14"/>
                <a:gd name="T14" fmla="*/ 8 w 14"/>
                <a:gd name="T15" fmla="*/ 3 h 14"/>
                <a:gd name="T16" fmla="*/ 5 w 14"/>
                <a:gd name="T17" fmla="*/ 5 h 14"/>
                <a:gd name="T18" fmla="*/ 3 w 14"/>
                <a:gd name="T19" fmla="*/ 9 h 14"/>
                <a:gd name="T20" fmla="*/ 4 w 14"/>
                <a:gd name="T21" fmla="*/ 11 h 14"/>
                <a:gd name="T22" fmla="*/ 7 w 14"/>
                <a:gd name="T23" fmla="*/ 12 h 14"/>
                <a:gd name="T24" fmla="*/ 9 w 14"/>
                <a:gd name="T25" fmla="*/ 11 h 14"/>
                <a:gd name="T26" fmla="*/ 10 w 14"/>
                <a:gd name="T27" fmla="*/ 13 h 14"/>
                <a:gd name="T28" fmla="*/ 6 w 14"/>
                <a:gd name="T29" fmla="*/ 14 h 14"/>
                <a:gd name="T30" fmla="*/ 3 w 14"/>
                <a:gd name="T31" fmla="*/ 13 h 14"/>
                <a:gd name="T32" fmla="*/ 0 w 14"/>
                <a:gd name="T33" fmla="*/ 8 h 14"/>
                <a:gd name="T34" fmla="*/ 2 w 14"/>
                <a:gd name="T35" fmla="*/ 3 h 14"/>
                <a:gd name="T36" fmla="*/ 6 w 14"/>
                <a:gd name="T37" fmla="*/ 1 h 14"/>
                <a:gd name="T38" fmla="*/ 11 w 14"/>
                <a:gd name="T39" fmla="*/ 2 h 14"/>
                <a:gd name="T40" fmla="*/ 12 w 14"/>
                <a:gd name="T41" fmla="*/ 3 h 14"/>
                <a:gd name="T42" fmla="*/ 13 w 14"/>
                <a:gd name="T43" fmla="*/ 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 h="14">
                  <a:moveTo>
                    <a:pt x="13" y="4"/>
                  </a:moveTo>
                  <a:cubicBezTo>
                    <a:pt x="13" y="4"/>
                    <a:pt x="13" y="4"/>
                    <a:pt x="13" y="4"/>
                  </a:cubicBezTo>
                  <a:cubicBezTo>
                    <a:pt x="14" y="4"/>
                    <a:pt x="14" y="4"/>
                    <a:pt x="14" y="4"/>
                  </a:cubicBezTo>
                  <a:cubicBezTo>
                    <a:pt x="13" y="9"/>
                    <a:pt x="13" y="9"/>
                    <a:pt x="13" y="9"/>
                  </a:cubicBezTo>
                  <a:cubicBezTo>
                    <a:pt x="11" y="8"/>
                    <a:pt x="11" y="8"/>
                    <a:pt x="11" y="8"/>
                  </a:cubicBezTo>
                  <a:cubicBezTo>
                    <a:pt x="12" y="7"/>
                    <a:pt x="12" y="6"/>
                    <a:pt x="11" y="5"/>
                  </a:cubicBezTo>
                  <a:cubicBezTo>
                    <a:pt x="11" y="4"/>
                    <a:pt x="11" y="4"/>
                    <a:pt x="10" y="3"/>
                  </a:cubicBezTo>
                  <a:cubicBezTo>
                    <a:pt x="10" y="3"/>
                    <a:pt x="9" y="3"/>
                    <a:pt x="8" y="3"/>
                  </a:cubicBezTo>
                  <a:cubicBezTo>
                    <a:pt x="7" y="3"/>
                    <a:pt x="6" y="4"/>
                    <a:pt x="5" y="5"/>
                  </a:cubicBezTo>
                  <a:cubicBezTo>
                    <a:pt x="4" y="7"/>
                    <a:pt x="3" y="8"/>
                    <a:pt x="3" y="9"/>
                  </a:cubicBezTo>
                  <a:cubicBezTo>
                    <a:pt x="3" y="10"/>
                    <a:pt x="3" y="11"/>
                    <a:pt x="4" y="11"/>
                  </a:cubicBezTo>
                  <a:cubicBezTo>
                    <a:pt x="5" y="12"/>
                    <a:pt x="6" y="12"/>
                    <a:pt x="7" y="12"/>
                  </a:cubicBezTo>
                  <a:cubicBezTo>
                    <a:pt x="7" y="12"/>
                    <a:pt x="8" y="12"/>
                    <a:pt x="9" y="11"/>
                  </a:cubicBezTo>
                  <a:cubicBezTo>
                    <a:pt x="10" y="13"/>
                    <a:pt x="10" y="13"/>
                    <a:pt x="10" y="13"/>
                  </a:cubicBezTo>
                  <a:cubicBezTo>
                    <a:pt x="9" y="14"/>
                    <a:pt x="7" y="14"/>
                    <a:pt x="6" y="14"/>
                  </a:cubicBezTo>
                  <a:cubicBezTo>
                    <a:pt x="5" y="14"/>
                    <a:pt x="4" y="13"/>
                    <a:pt x="3" y="13"/>
                  </a:cubicBezTo>
                  <a:cubicBezTo>
                    <a:pt x="1" y="11"/>
                    <a:pt x="0" y="10"/>
                    <a:pt x="0" y="8"/>
                  </a:cubicBezTo>
                  <a:cubicBezTo>
                    <a:pt x="0" y="7"/>
                    <a:pt x="1" y="5"/>
                    <a:pt x="2" y="3"/>
                  </a:cubicBezTo>
                  <a:cubicBezTo>
                    <a:pt x="3" y="2"/>
                    <a:pt x="5" y="1"/>
                    <a:pt x="6" y="1"/>
                  </a:cubicBezTo>
                  <a:cubicBezTo>
                    <a:pt x="8" y="0"/>
                    <a:pt x="10" y="1"/>
                    <a:pt x="11" y="2"/>
                  </a:cubicBezTo>
                  <a:cubicBezTo>
                    <a:pt x="11" y="2"/>
                    <a:pt x="12" y="2"/>
                    <a:pt x="12" y="3"/>
                  </a:cubicBezTo>
                  <a:cubicBezTo>
                    <a:pt x="12" y="3"/>
                    <a:pt x="13" y="4"/>
                    <a:pt x="13" y="4"/>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5" name="Freeform 28"/>
            <p:cNvSpPr>
              <a:spLocks noEditPoints="1"/>
            </p:cNvSpPr>
            <p:nvPr/>
          </p:nvSpPr>
          <p:spPr bwMode="auto">
            <a:xfrm>
              <a:off x="682625" y="6018213"/>
              <a:ext cx="31750" cy="34925"/>
            </a:xfrm>
            <a:custGeom>
              <a:avLst/>
              <a:gdLst>
                <a:gd name="T0" fmla="*/ 10 w 13"/>
                <a:gd name="T1" fmla="*/ 4 h 14"/>
                <a:gd name="T2" fmla="*/ 9 w 13"/>
                <a:gd name="T3" fmla="*/ 8 h 14"/>
                <a:gd name="T4" fmla="*/ 7 w 13"/>
                <a:gd name="T5" fmla="*/ 11 h 14"/>
                <a:gd name="T6" fmla="*/ 4 w 13"/>
                <a:gd name="T7" fmla="*/ 11 h 14"/>
                <a:gd name="T8" fmla="*/ 3 w 13"/>
                <a:gd name="T9" fmla="*/ 9 h 14"/>
                <a:gd name="T10" fmla="*/ 4 w 13"/>
                <a:gd name="T11" fmla="*/ 5 h 14"/>
                <a:gd name="T12" fmla="*/ 6 w 13"/>
                <a:gd name="T13" fmla="*/ 2 h 14"/>
                <a:gd name="T14" fmla="*/ 9 w 13"/>
                <a:gd name="T15" fmla="*/ 2 h 14"/>
                <a:gd name="T16" fmla="*/ 10 w 13"/>
                <a:gd name="T17" fmla="*/ 4 h 14"/>
                <a:gd name="T18" fmla="*/ 4 w 13"/>
                <a:gd name="T19" fmla="*/ 0 h 14"/>
                <a:gd name="T20" fmla="*/ 1 w 13"/>
                <a:gd name="T21" fmla="*/ 4 h 14"/>
                <a:gd name="T22" fmla="*/ 0 w 13"/>
                <a:gd name="T23" fmla="*/ 9 h 14"/>
                <a:gd name="T24" fmla="*/ 3 w 13"/>
                <a:gd name="T25" fmla="*/ 13 h 14"/>
                <a:gd name="T26" fmla="*/ 8 w 13"/>
                <a:gd name="T27" fmla="*/ 13 h 14"/>
                <a:gd name="T28" fmla="*/ 12 w 13"/>
                <a:gd name="T29" fmla="*/ 9 h 14"/>
                <a:gd name="T30" fmla="*/ 13 w 13"/>
                <a:gd name="T31" fmla="*/ 4 h 14"/>
                <a:gd name="T32" fmla="*/ 9 w 13"/>
                <a:gd name="T33" fmla="*/ 1 h 14"/>
                <a:gd name="T34" fmla="*/ 4 w 13"/>
                <a:gd name="T3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 h="14">
                  <a:moveTo>
                    <a:pt x="10" y="4"/>
                  </a:moveTo>
                  <a:cubicBezTo>
                    <a:pt x="10" y="5"/>
                    <a:pt x="10" y="7"/>
                    <a:pt x="9" y="8"/>
                  </a:cubicBezTo>
                  <a:cubicBezTo>
                    <a:pt x="8" y="9"/>
                    <a:pt x="8" y="10"/>
                    <a:pt x="7" y="11"/>
                  </a:cubicBezTo>
                  <a:cubicBezTo>
                    <a:pt x="6" y="12"/>
                    <a:pt x="5" y="12"/>
                    <a:pt x="4" y="11"/>
                  </a:cubicBezTo>
                  <a:cubicBezTo>
                    <a:pt x="3" y="11"/>
                    <a:pt x="3" y="10"/>
                    <a:pt x="3" y="9"/>
                  </a:cubicBezTo>
                  <a:cubicBezTo>
                    <a:pt x="3" y="8"/>
                    <a:pt x="3" y="7"/>
                    <a:pt x="4" y="5"/>
                  </a:cubicBezTo>
                  <a:cubicBezTo>
                    <a:pt x="4" y="4"/>
                    <a:pt x="5" y="3"/>
                    <a:pt x="6" y="2"/>
                  </a:cubicBezTo>
                  <a:cubicBezTo>
                    <a:pt x="7" y="2"/>
                    <a:pt x="8" y="2"/>
                    <a:pt x="9" y="2"/>
                  </a:cubicBezTo>
                  <a:cubicBezTo>
                    <a:pt x="9" y="2"/>
                    <a:pt x="10" y="3"/>
                    <a:pt x="10" y="4"/>
                  </a:cubicBezTo>
                  <a:close/>
                  <a:moveTo>
                    <a:pt x="4" y="0"/>
                  </a:moveTo>
                  <a:cubicBezTo>
                    <a:pt x="3" y="1"/>
                    <a:pt x="1" y="2"/>
                    <a:pt x="1" y="4"/>
                  </a:cubicBezTo>
                  <a:cubicBezTo>
                    <a:pt x="0" y="6"/>
                    <a:pt x="0" y="8"/>
                    <a:pt x="0" y="9"/>
                  </a:cubicBezTo>
                  <a:cubicBezTo>
                    <a:pt x="1" y="11"/>
                    <a:pt x="2" y="12"/>
                    <a:pt x="3" y="13"/>
                  </a:cubicBezTo>
                  <a:cubicBezTo>
                    <a:pt x="5" y="14"/>
                    <a:pt x="7" y="14"/>
                    <a:pt x="8" y="13"/>
                  </a:cubicBezTo>
                  <a:cubicBezTo>
                    <a:pt x="10" y="12"/>
                    <a:pt x="11" y="11"/>
                    <a:pt x="12" y="9"/>
                  </a:cubicBezTo>
                  <a:cubicBezTo>
                    <a:pt x="13" y="8"/>
                    <a:pt x="13" y="6"/>
                    <a:pt x="13" y="4"/>
                  </a:cubicBezTo>
                  <a:cubicBezTo>
                    <a:pt x="12" y="3"/>
                    <a:pt x="11" y="1"/>
                    <a:pt x="9" y="1"/>
                  </a:cubicBezTo>
                  <a:cubicBezTo>
                    <a:pt x="8" y="0"/>
                    <a:pt x="6" y="0"/>
                    <a:pt x="4" y="0"/>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6" name="Freeform 29"/>
            <p:cNvSpPr>
              <a:spLocks noEditPoints="1"/>
            </p:cNvSpPr>
            <p:nvPr/>
          </p:nvSpPr>
          <p:spPr bwMode="auto">
            <a:xfrm>
              <a:off x="712788" y="6027738"/>
              <a:ext cx="34925" cy="39688"/>
            </a:xfrm>
            <a:custGeom>
              <a:avLst/>
              <a:gdLst>
                <a:gd name="T0" fmla="*/ 7 w 14"/>
                <a:gd name="T1" fmla="*/ 4 h 16"/>
                <a:gd name="T2" fmla="*/ 7 w 14"/>
                <a:gd name="T3" fmla="*/ 3 h 16"/>
                <a:gd name="T4" fmla="*/ 9 w 14"/>
                <a:gd name="T5" fmla="*/ 3 h 16"/>
                <a:gd name="T6" fmla="*/ 10 w 14"/>
                <a:gd name="T7" fmla="*/ 4 h 16"/>
                <a:gd name="T8" fmla="*/ 10 w 14"/>
                <a:gd name="T9" fmla="*/ 5 h 16"/>
                <a:gd name="T10" fmla="*/ 9 w 14"/>
                <a:gd name="T11" fmla="*/ 7 h 16"/>
                <a:gd name="T12" fmla="*/ 7 w 14"/>
                <a:gd name="T13" fmla="*/ 6 h 16"/>
                <a:gd name="T14" fmla="*/ 6 w 14"/>
                <a:gd name="T15" fmla="*/ 6 h 16"/>
                <a:gd name="T16" fmla="*/ 6 w 14"/>
                <a:gd name="T17" fmla="*/ 6 h 16"/>
                <a:gd name="T18" fmla="*/ 7 w 14"/>
                <a:gd name="T19" fmla="*/ 4 h 16"/>
                <a:gd name="T20" fmla="*/ 3 w 14"/>
                <a:gd name="T21" fmla="*/ 1 h 16"/>
                <a:gd name="T22" fmla="*/ 4 w 14"/>
                <a:gd name="T23" fmla="*/ 2 h 16"/>
                <a:gd name="T24" fmla="*/ 4 w 14"/>
                <a:gd name="T25" fmla="*/ 4 h 16"/>
                <a:gd name="T26" fmla="*/ 2 w 14"/>
                <a:gd name="T27" fmla="*/ 9 h 16"/>
                <a:gd name="T28" fmla="*/ 1 w 14"/>
                <a:gd name="T29" fmla="*/ 10 h 16"/>
                <a:gd name="T30" fmla="*/ 0 w 14"/>
                <a:gd name="T31" fmla="*/ 10 h 16"/>
                <a:gd name="T32" fmla="*/ 0 w 14"/>
                <a:gd name="T33" fmla="*/ 12 h 16"/>
                <a:gd name="T34" fmla="*/ 5 w 14"/>
                <a:gd name="T35" fmla="*/ 14 h 16"/>
                <a:gd name="T36" fmla="*/ 6 w 14"/>
                <a:gd name="T37" fmla="*/ 12 h 16"/>
                <a:gd name="T38" fmla="*/ 5 w 14"/>
                <a:gd name="T39" fmla="*/ 11 h 16"/>
                <a:gd name="T40" fmla="*/ 5 w 14"/>
                <a:gd name="T41" fmla="*/ 9 h 16"/>
                <a:gd name="T42" fmla="*/ 6 w 14"/>
                <a:gd name="T43" fmla="*/ 8 h 16"/>
                <a:gd name="T44" fmla="*/ 7 w 14"/>
                <a:gd name="T45" fmla="*/ 8 h 16"/>
                <a:gd name="T46" fmla="*/ 9 w 14"/>
                <a:gd name="T47" fmla="*/ 15 h 16"/>
                <a:gd name="T48" fmla="*/ 12 w 14"/>
                <a:gd name="T49" fmla="*/ 16 h 16"/>
                <a:gd name="T50" fmla="*/ 13 w 14"/>
                <a:gd name="T51" fmla="*/ 14 h 16"/>
                <a:gd name="T52" fmla="*/ 12 w 14"/>
                <a:gd name="T53" fmla="*/ 14 h 16"/>
                <a:gd name="T54" fmla="*/ 11 w 14"/>
                <a:gd name="T55" fmla="*/ 13 h 16"/>
                <a:gd name="T56" fmla="*/ 10 w 14"/>
                <a:gd name="T57" fmla="*/ 9 h 16"/>
                <a:gd name="T58" fmla="*/ 12 w 14"/>
                <a:gd name="T59" fmla="*/ 8 h 16"/>
                <a:gd name="T60" fmla="*/ 14 w 14"/>
                <a:gd name="T61" fmla="*/ 6 h 16"/>
                <a:gd name="T62" fmla="*/ 13 w 14"/>
                <a:gd name="T63" fmla="*/ 3 h 16"/>
                <a:gd name="T64" fmla="*/ 10 w 14"/>
                <a:gd name="T65" fmla="*/ 1 h 16"/>
                <a:gd name="T66" fmla="*/ 3 w 14"/>
                <a:gd name="T67" fmla="*/ 0 h 16"/>
                <a:gd name="T68" fmla="*/ 3 w 14"/>
                <a:gd name="T69"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 h="16">
                  <a:moveTo>
                    <a:pt x="7" y="4"/>
                  </a:moveTo>
                  <a:cubicBezTo>
                    <a:pt x="7" y="3"/>
                    <a:pt x="7" y="3"/>
                    <a:pt x="7" y="3"/>
                  </a:cubicBezTo>
                  <a:cubicBezTo>
                    <a:pt x="8" y="3"/>
                    <a:pt x="8" y="3"/>
                    <a:pt x="9" y="3"/>
                  </a:cubicBezTo>
                  <a:cubicBezTo>
                    <a:pt x="9" y="3"/>
                    <a:pt x="10" y="3"/>
                    <a:pt x="10" y="4"/>
                  </a:cubicBezTo>
                  <a:cubicBezTo>
                    <a:pt x="11" y="4"/>
                    <a:pt x="11" y="5"/>
                    <a:pt x="10" y="5"/>
                  </a:cubicBezTo>
                  <a:cubicBezTo>
                    <a:pt x="10" y="6"/>
                    <a:pt x="10" y="6"/>
                    <a:pt x="9" y="7"/>
                  </a:cubicBezTo>
                  <a:cubicBezTo>
                    <a:pt x="9" y="7"/>
                    <a:pt x="8" y="7"/>
                    <a:pt x="7" y="6"/>
                  </a:cubicBezTo>
                  <a:cubicBezTo>
                    <a:pt x="7" y="6"/>
                    <a:pt x="6" y="6"/>
                    <a:pt x="6" y="6"/>
                  </a:cubicBezTo>
                  <a:cubicBezTo>
                    <a:pt x="6" y="6"/>
                    <a:pt x="6" y="6"/>
                    <a:pt x="6" y="6"/>
                  </a:cubicBezTo>
                  <a:lnTo>
                    <a:pt x="7" y="4"/>
                  </a:lnTo>
                  <a:close/>
                  <a:moveTo>
                    <a:pt x="3" y="1"/>
                  </a:moveTo>
                  <a:cubicBezTo>
                    <a:pt x="3" y="1"/>
                    <a:pt x="4" y="2"/>
                    <a:pt x="4" y="2"/>
                  </a:cubicBezTo>
                  <a:cubicBezTo>
                    <a:pt x="4" y="2"/>
                    <a:pt x="4" y="3"/>
                    <a:pt x="4" y="4"/>
                  </a:cubicBezTo>
                  <a:cubicBezTo>
                    <a:pt x="2" y="9"/>
                    <a:pt x="2" y="9"/>
                    <a:pt x="2" y="9"/>
                  </a:cubicBezTo>
                  <a:cubicBezTo>
                    <a:pt x="2" y="10"/>
                    <a:pt x="2" y="10"/>
                    <a:pt x="1" y="10"/>
                  </a:cubicBezTo>
                  <a:cubicBezTo>
                    <a:pt x="1" y="11"/>
                    <a:pt x="1" y="11"/>
                    <a:pt x="0" y="10"/>
                  </a:cubicBezTo>
                  <a:cubicBezTo>
                    <a:pt x="0" y="12"/>
                    <a:pt x="0" y="12"/>
                    <a:pt x="0" y="12"/>
                  </a:cubicBezTo>
                  <a:cubicBezTo>
                    <a:pt x="5" y="14"/>
                    <a:pt x="5" y="14"/>
                    <a:pt x="5" y="14"/>
                  </a:cubicBezTo>
                  <a:cubicBezTo>
                    <a:pt x="6" y="12"/>
                    <a:pt x="6" y="12"/>
                    <a:pt x="6" y="12"/>
                  </a:cubicBezTo>
                  <a:cubicBezTo>
                    <a:pt x="5" y="12"/>
                    <a:pt x="5" y="12"/>
                    <a:pt x="5" y="11"/>
                  </a:cubicBezTo>
                  <a:cubicBezTo>
                    <a:pt x="5" y="11"/>
                    <a:pt x="5" y="10"/>
                    <a:pt x="5" y="9"/>
                  </a:cubicBezTo>
                  <a:cubicBezTo>
                    <a:pt x="6" y="8"/>
                    <a:pt x="6" y="8"/>
                    <a:pt x="6" y="8"/>
                  </a:cubicBezTo>
                  <a:cubicBezTo>
                    <a:pt x="7" y="8"/>
                    <a:pt x="7" y="8"/>
                    <a:pt x="7" y="8"/>
                  </a:cubicBezTo>
                  <a:cubicBezTo>
                    <a:pt x="9" y="15"/>
                    <a:pt x="9" y="15"/>
                    <a:pt x="9" y="15"/>
                  </a:cubicBezTo>
                  <a:cubicBezTo>
                    <a:pt x="12" y="16"/>
                    <a:pt x="12" y="16"/>
                    <a:pt x="12" y="16"/>
                  </a:cubicBezTo>
                  <a:cubicBezTo>
                    <a:pt x="13" y="14"/>
                    <a:pt x="13" y="14"/>
                    <a:pt x="13" y="14"/>
                  </a:cubicBezTo>
                  <a:cubicBezTo>
                    <a:pt x="12" y="14"/>
                    <a:pt x="12" y="14"/>
                    <a:pt x="12" y="14"/>
                  </a:cubicBezTo>
                  <a:cubicBezTo>
                    <a:pt x="12" y="13"/>
                    <a:pt x="11" y="13"/>
                    <a:pt x="11" y="13"/>
                  </a:cubicBezTo>
                  <a:cubicBezTo>
                    <a:pt x="10" y="9"/>
                    <a:pt x="10" y="9"/>
                    <a:pt x="10" y="9"/>
                  </a:cubicBezTo>
                  <a:cubicBezTo>
                    <a:pt x="11" y="9"/>
                    <a:pt x="12" y="9"/>
                    <a:pt x="12" y="8"/>
                  </a:cubicBezTo>
                  <a:cubicBezTo>
                    <a:pt x="13" y="8"/>
                    <a:pt x="13" y="7"/>
                    <a:pt x="14" y="6"/>
                  </a:cubicBezTo>
                  <a:cubicBezTo>
                    <a:pt x="14" y="5"/>
                    <a:pt x="14" y="4"/>
                    <a:pt x="13" y="3"/>
                  </a:cubicBezTo>
                  <a:cubicBezTo>
                    <a:pt x="13" y="3"/>
                    <a:pt x="11" y="2"/>
                    <a:pt x="10" y="1"/>
                  </a:cubicBezTo>
                  <a:cubicBezTo>
                    <a:pt x="3" y="0"/>
                    <a:pt x="3" y="0"/>
                    <a:pt x="3" y="0"/>
                  </a:cubicBezTo>
                  <a:lnTo>
                    <a:pt x="3" y="1"/>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7" name="Freeform 30"/>
            <p:cNvSpPr>
              <a:spLocks noEditPoints="1"/>
            </p:cNvSpPr>
            <p:nvPr/>
          </p:nvSpPr>
          <p:spPr bwMode="auto">
            <a:xfrm>
              <a:off x="747713" y="6035675"/>
              <a:ext cx="30162" cy="34925"/>
            </a:xfrm>
            <a:custGeom>
              <a:avLst/>
              <a:gdLst>
                <a:gd name="T0" fmla="*/ 6 w 12"/>
                <a:gd name="T1" fmla="*/ 4 h 14"/>
                <a:gd name="T2" fmla="*/ 6 w 12"/>
                <a:gd name="T3" fmla="*/ 3 h 14"/>
                <a:gd name="T4" fmla="*/ 7 w 12"/>
                <a:gd name="T5" fmla="*/ 2 h 14"/>
                <a:gd name="T6" fmla="*/ 9 w 12"/>
                <a:gd name="T7" fmla="*/ 3 h 14"/>
                <a:gd name="T8" fmla="*/ 9 w 12"/>
                <a:gd name="T9" fmla="*/ 5 h 14"/>
                <a:gd name="T10" fmla="*/ 8 w 12"/>
                <a:gd name="T11" fmla="*/ 7 h 14"/>
                <a:gd name="T12" fmla="*/ 6 w 12"/>
                <a:gd name="T13" fmla="*/ 7 h 14"/>
                <a:gd name="T14" fmla="*/ 6 w 12"/>
                <a:gd name="T15" fmla="*/ 7 h 14"/>
                <a:gd name="T16" fmla="*/ 6 w 12"/>
                <a:gd name="T17" fmla="*/ 7 h 14"/>
                <a:gd name="T18" fmla="*/ 6 w 12"/>
                <a:gd name="T19" fmla="*/ 4 h 14"/>
                <a:gd name="T20" fmla="*/ 2 w 12"/>
                <a:gd name="T21" fmla="*/ 2 h 14"/>
                <a:gd name="T22" fmla="*/ 3 w 12"/>
                <a:gd name="T23" fmla="*/ 2 h 14"/>
                <a:gd name="T24" fmla="*/ 3 w 12"/>
                <a:gd name="T25" fmla="*/ 4 h 14"/>
                <a:gd name="T26" fmla="*/ 2 w 12"/>
                <a:gd name="T27" fmla="*/ 9 h 14"/>
                <a:gd name="T28" fmla="*/ 2 w 12"/>
                <a:gd name="T29" fmla="*/ 11 h 14"/>
                <a:gd name="T30" fmla="*/ 1 w 12"/>
                <a:gd name="T31" fmla="*/ 12 h 14"/>
                <a:gd name="T32" fmla="*/ 0 w 12"/>
                <a:gd name="T33" fmla="*/ 13 h 14"/>
                <a:gd name="T34" fmla="*/ 6 w 12"/>
                <a:gd name="T35" fmla="*/ 14 h 14"/>
                <a:gd name="T36" fmla="*/ 6 w 12"/>
                <a:gd name="T37" fmla="*/ 12 h 14"/>
                <a:gd name="T38" fmla="*/ 5 w 12"/>
                <a:gd name="T39" fmla="*/ 12 h 14"/>
                <a:gd name="T40" fmla="*/ 5 w 12"/>
                <a:gd name="T41" fmla="*/ 10 h 14"/>
                <a:gd name="T42" fmla="*/ 5 w 12"/>
                <a:gd name="T43" fmla="*/ 8 h 14"/>
                <a:gd name="T44" fmla="*/ 7 w 12"/>
                <a:gd name="T45" fmla="*/ 9 h 14"/>
                <a:gd name="T46" fmla="*/ 11 w 12"/>
                <a:gd name="T47" fmla="*/ 8 h 14"/>
                <a:gd name="T48" fmla="*/ 12 w 12"/>
                <a:gd name="T49" fmla="*/ 5 h 14"/>
                <a:gd name="T50" fmla="*/ 12 w 12"/>
                <a:gd name="T51" fmla="*/ 2 h 14"/>
                <a:gd name="T52" fmla="*/ 8 w 12"/>
                <a:gd name="T53" fmla="*/ 1 h 14"/>
                <a:gd name="T54" fmla="*/ 2 w 12"/>
                <a:gd name="T55" fmla="*/ 0 h 14"/>
                <a:gd name="T56" fmla="*/ 2 w 12"/>
                <a:gd name="T57"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 h="14">
                  <a:moveTo>
                    <a:pt x="6" y="4"/>
                  </a:moveTo>
                  <a:cubicBezTo>
                    <a:pt x="6" y="3"/>
                    <a:pt x="6" y="3"/>
                    <a:pt x="6" y="3"/>
                  </a:cubicBezTo>
                  <a:cubicBezTo>
                    <a:pt x="7" y="2"/>
                    <a:pt x="7" y="2"/>
                    <a:pt x="7" y="2"/>
                  </a:cubicBezTo>
                  <a:cubicBezTo>
                    <a:pt x="8" y="3"/>
                    <a:pt x="8" y="3"/>
                    <a:pt x="9" y="3"/>
                  </a:cubicBezTo>
                  <a:cubicBezTo>
                    <a:pt x="9" y="4"/>
                    <a:pt x="9" y="4"/>
                    <a:pt x="9" y="5"/>
                  </a:cubicBezTo>
                  <a:cubicBezTo>
                    <a:pt x="9" y="6"/>
                    <a:pt x="9" y="6"/>
                    <a:pt x="8" y="7"/>
                  </a:cubicBezTo>
                  <a:cubicBezTo>
                    <a:pt x="8" y="7"/>
                    <a:pt x="7" y="7"/>
                    <a:pt x="6" y="7"/>
                  </a:cubicBezTo>
                  <a:cubicBezTo>
                    <a:pt x="6" y="7"/>
                    <a:pt x="6" y="7"/>
                    <a:pt x="6" y="7"/>
                  </a:cubicBezTo>
                  <a:cubicBezTo>
                    <a:pt x="6" y="7"/>
                    <a:pt x="6" y="7"/>
                    <a:pt x="6" y="7"/>
                  </a:cubicBezTo>
                  <a:lnTo>
                    <a:pt x="6" y="4"/>
                  </a:lnTo>
                  <a:close/>
                  <a:moveTo>
                    <a:pt x="2" y="2"/>
                  </a:moveTo>
                  <a:cubicBezTo>
                    <a:pt x="2" y="2"/>
                    <a:pt x="3" y="2"/>
                    <a:pt x="3" y="2"/>
                  </a:cubicBezTo>
                  <a:cubicBezTo>
                    <a:pt x="3" y="3"/>
                    <a:pt x="3" y="3"/>
                    <a:pt x="3" y="4"/>
                  </a:cubicBezTo>
                  <a:cubicBezTo>
                    <a:pt x="2" y="9"/>
                    <a:pt x="2" y="9"/>
                    <a:pt x="2" y="9"/>
                  </a:cubicBezTo>
                  <a:cubicBezTo>
                    <a:pt x="2" y="10"/>
                    <a:pt x="2" y="11"/>
                    <a:pt x="2" y="11"/>
                  </a:cubicBezTo>
                  <a:cubicBezTo>
                    <a:pt x="1" y="11"/>
                    <a:pt x="1" y="12"/>
                    <a:pt x="1" y="12"/>
                  </a:cubicBezTo>
                  <a:cubicBezTo>
                    <a:pt x="0" y="13"/>
                    <a:pt x="0" y="13"/>
                    <a:pt x="0" y="13"/>
                  </a:cubicBezTo>
                  <a:cubicBezTo>
                    <a:pt x="6" y="14"/>
                    <a:pt x="6" y="14"/>
                    <a:pt x="6" y="14"/>
                  </a:cubicBezTo>
                  <a:cubicBezTo>
                    <a:pt x="6" y="12"/>
                    <a:pt x="6" y="12"/>
                    <a:pt x="6" y="12"/>
                  </a:cubicBezTo>
                  <a:cubicBezTo>
                    <a:pt x="6" y="12"/>
                    <a:pt x="5" y="12"/>
                    <a:pt x="5" y="12"/>
                  </a:cubicBezTo>
                  <a:cubicBezTo>
                    <a:pt x="5" y="11"/>
                    <a:pt x="5" y="11"/>
                    <a:pt x="5" y="10"/>
                  </a:cubicBezTo>
                  <a:cubicBezTo>
                    <a:pt x="5" y="8"/>
                    <a:pt x="5" y="8"/>
                    <a:pt x="5" y="8"/>
                  </a:cubicBezTo>
                  <a:cubicBezTo>
                    <a:pt x="7" y="9"/>
                    <a:pt x="7" y="9"/>
                    <a:pt x="7" y="9"/>
                  </a:cubicBezTo>
                  <a:cubicBezTo>
                    <a:pt x="9" y="9"/>
                    <a:pt x="10" y="9"/>
                    <a:pt x="11" y="8"/>
                  </a:cubicBezTo>
                  <a:cubicBezTo>
                    <a:pt x="12" y="8"/>
                    <a:pt x="12" y="7"/>
                    <a:pt x="12" y="5"/>
                  </a:cubicBezTo>
                  <a:cubicBezTo>
                    <a:pt x="12" y="4"/>
                    <a:pt x="12" y="3"/>
                    <a:pt x="12" y="2"/>
                  </a:cubicBezTo>
                  <a:cubicBezTo>
                    <a:pt x="11" y="2"/>
                    <a:pt x="10" y="1"/>
                    <a:pt x="8" y="1"/>
                  </a:cubicBezTo>
                  <a:cubicBezTo>
                    <a:pt x="2" y="0"/>
                    <a:pt x="2" y="0"/>
                    <a:pt x="2" y="0"/>
                  </a:cubicBezTo>
                  <a:lnTo>
                    <a:pt x="2" y="2"/>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8" name="Freeform 31"/>
            <p:cNvSpPr>
              <a:spLocks noEditPoints="1"/>
            </p:cNvSpPr>
            <p:nvPr/>
          </p:nvSpPr>
          <p:spPr bwMode="auto">
            <a:xfrm>
              <a:off x="779463" y="6037263"/>
              <a:ext cx="33337" cy="36513"/>
            </a:xfrm>
            <a:custGeom>
              <a:avLst/>
              <a:gdLst>
                <a:gd name="T0" fmla="*/ 8 w 13"/>
                <a:gd name="T1" fmla="*/ 3 h 14"/>
                <a:gd name="T2" fmla="*/ 9 w 13"/>
                <a:gd name="T3" fmla="*/ 7 h 14"/>
                <a:gd name="T4" fmla="*/ 9 w 13"/>
                <a:gd name="T5" fmla="*/ 11 h 14"/>
                <a:gd name="T6" fmla="*/ 6 w 13"/>
                <a:gd name="T7" fmla="*/ 12 h 14"/>
                <a:gd name="T8" fmla="*/ 4 w 13"/>
                <a:gd name="T9" fmla="*/ 11 h 14"/>
                <a:gd name="T10" fmla="*/ 3 w 13"/>
                <a:gd name="T11" fmla="*/ 7 h 14"/>
                <a:gd name="T12" fmla="*/ 4 w 13"/>
                <a:gd name="T13" fmla="*/ 3 h 14"/>
                <a:gd name="T14" fmla="*/ 6 w 13"/>
                <a:gd name="T15" fmla="*/ 2 h 14"/>
                <a:gd name="T16" fmla="*/ 8 w 13"/>
                <a:gd name="T17" fmla="*/ 3 h 14"/>
                <a:gd name="T18" fmla="*/ 1 w 13"/>
                <a:gd name="T19" fmla="*/ 2 h 14"/>
                <a:gd name="T20" fmla="*/ 0 w 13"/>
                <a:gd name="T21" fmla="*/ 7 h 14"/>
                <a:gd name="T22" fmla="*/ 2 w 13"/>
                <a:gd name="T23" fmla="*/ 12 h 14"/>
                <a:gd name="T24" fmla="*/ 7 w 13"/>
                <a:gd name="T25" fmla="*/ 14 h 14"/>
                <a:gd name="T26" fmla="*/ 11 w 13"/>
                <a:gd name="T27" fmla="*/ 12 h 14"/>
                <a:gd name="T28" fmla="*/ 13 w 13"/>
                <a:gd name="T29" fmla="*/ 7 h 14"/>
                <a:gd name="T30" fmla="*/ 11 w 13"/>
                <a:gd name="T31" fmla="*/ 2 h 14"/>
                <a:gd name="T32" fmla="*/ 6 w 13"/>
                <a:gd name="T33" fmla="*/ 0 h 14"/>
                <a:gd name="T34" fmla="*/ 1 w 13"/>
                <a:gd name="T35"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 h="14">
                  <a:moveTo>
                    <a:pt x="8" y="3"/>
                  </a:moveTo>
                  <a:cubicBezTo>
                    <a:pt x="9" y="4"/>
                    <a:pt x="9" y="5"/>
                    <a:pt x="9" y="7"/>
                  </a:cubicBezTo>
                  <a:cubicBezTo>
                    <a:pt x="9" y="9"/>
                    <a:pt x="9" y="10"/>
                    <a:pt x="9" y="11"/>
                  </a:cubicBezTo>
                  <a:cubicBezTo>
                    <a:pt x="8" y="12"/>
                    <a:pt x="7" y="12"/>
                    <a:pt x="6" y="12"/>
                  </a:cubicBezTo>
                  <a:cubicBezTo>
                    <a:pt x="5" y="12"/>
                    <a:pt x="5" y="12"/>
                    <a:pt x="4" y="11"/>
                  </a:cubicBezTo>
                  <a:cubicBezTo>
                    <a:pt x="4" y="10"/>
                    <a:pt x="3" y="9"/>
                    <a:pt x="3" y="7"/>
                  </a:cubicBezTo>
                  <a:cubicBezTo>
                    <a:pt x="3" y="6"/>
                    <a:pt x="3" y="4"/>
                    <a:pt x="4" y="3"/>
                  </a:cubicBezTo>
                  <a:cubicBezTo>
                    <a:pt x="4" y="2"/>
                    <a:pt x="5" y="2"/>
                    <a:pt x="6" y="2"/>
                  </a:cubicBezTo>
                  <a:cubicBezTo>
                    <a:pt x="7" y="2"/>
                    <a:pt x="8" y="2"/>
                    <a:pt x="8" y="3"/>
                  </a:cubicBezTo>
                  <a:close/>
                  <a:moveTo>
                    <a:pt x="1" y="2"/>
                  </a:moveTo>
                  <a:cubicBezTo>
                    <a:pt x="0" y="4"/>
                    <a:pt x="0" y="5"/>
                    <a:pt x="0" y="7"/>
                  </a:cubicBezTo>
                  <a:cubicBezTo>
                    <a:pt x="0" y="9"/>
                    <a:pt x="1" y="11"/>
                    <a:pt x="2" y="12"/>
                  </a:cubicBezTo>
                  <a:cubicBezTo>
                    <a:pt x="3" y="13"/>
                    <a:pt x="5" y="14"/>
                    <a:pt x="7" y="14"/>
                  </a:cubicBezTo>
                  <a:cubicBezTo>
                    <a:pt x="8" y="14"/>
                    <a:pt x="10" y="13"/>
                    <a:pt x="11" y="12"/>
                  </a:cubicBezTo>
                  <a:cubicBezTo>
                    <a:pt x="12" y="11"/>
                    <a:pt x="13" y="9"/>
                    <a:pt x="13" y="7"/>
                  </a:cubicBezTo>
                  <a:cubicBezTo>
                    <a:pt x="13" y="5"/>
                    <a:pt x="12" y="3"/>
                    <a:pt x="11" y="2"/>
                  </a:cubicBezTo>
                  <a:cubicBezTo>
                    <a:pt x="9" y="1"/>
                    <a:pt x="8" y="0"/>
                    <a:pt x="6" y="0"/>
                  </a:cubicBezTo>
                  <a:cubicBezTo>
                    <a:pt x="4" y="0"/>
                    <a:pt x="3" y="1"/>
                    <a:pt x="1" y="2"/>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29" name="Freeform 32"/>
            <p:cNvSpPr>
              <a:spLocks noEditPoints="1"/>
            </p:cNvSpPr>
            <p:nvPr/>
          </p:nvSpPr>
          <p:spPr bwMode="auto">
            <a:xfrm>
              <a:off x="809625" y="6035675"/>
              <a:ext cx="39687" cy="34925"/>
            </a:xfrm>
            <a:custGeom>
              <a:avLst/>
              <a:gdLst>
                <a:gd name="T0" fmla="*/ 5 w 16"/>
                <a:gd name="T1" fmla="*/ 4 h 14"/>
                <a:gd name="T2" fmla="*/ 5 w 16"/>
                <a:gd name="T3" fmla="*/ 2 h 14"/>
                <a:gd name="T4" fmla="*/ 6 w 16"/>
                <a:gd name="T5" fmla="*/ 2 h 14"/>
                <a:gd name="T6" fmla="*/ 8 w 16"/>
                <a:gd name="T7" fmla="*/ 2 h 14"/>
                <a:gd name="T8" fmla="*/ 9 w 16"/>
                <a:gd name="T9" fmla="*/ 3 h 14"/>
                <a:gd name="T10" fmla="*/ 9 w 16"/>
                <a:gd name="T11" fmla="*/ 5 h 14"/>
                <a:gd name="T12" fmla="*/ 6 w 16"/>
                <a:gd name="T13" fmla="*/ 6 h 14"/>
                <a:gd name="T14" fmla="*/ 6 w 16"/>
                <a:gd name="T15" fmla="*/ 6 h 14"/>
                <a:gd name="T16" fmla="*/ 6 w 16"/>
                <a:gd name="T17" fmla="*/ 6 h 14"/>
                <a:gd name="T18" fmla="*/ 5 w 16"/>
                <a:gd name="T19" fmla="*/ 4 h 14"/>
                <a:gd name="T20" fmla="*/ 1 w 16"/>
                <a:gd name="T21" fmla="*/ 3 h 14"/>
                <a:gd name="T22" fmla="*/ 2 w 16"/>
                <a:gd name="T23" fmla="*/ 3 h 14"/>
                <a:gd name="T24" fmla="*/ 2 w 16"/>
                <a:gd name="T25" fmla="*/ 5 h 14"/>
                <a:gd name="T26" fmla="*/ 3 w 16"/>
                <a:gd name="T27" fmla="*/ 10 h 14"/>
                <a:gd name="T28" fmla="*/ 3 w 16"/>
                <a:gd name="T29" fmla="*/ 12 h 14"/>
                <a:gd name="T30" fmla="*/ 2 w 16"/>
                <a:gd name="T31" fmla="*/ 12 h 14"/>
                <a:gd name="T32" fmla="*/ 2 w 16"/>
                <a:gd name="T33" fmla="*/ 14 h 14"/>
                <a:gd name="T34" fmla="*/ 8 w 16"/>
                <a:gd name="T35" fmla="*/ 13 h 14"/>
                <a:gd name="T36" fmla="*/ 8 w 16"/>
                <a:gd name="T37" fmla="*/ 11 h 14"/>
                <a:gd name="T38" fmla="*/ 7 w 16"/>
                <a:gd name="T39" fmla="*/ 11 h 14"/>
                <a:gd name="T40" fmla="*/ 6 w 16"/>
                <a:gd name="T41" fmla="*/ 9 h 14"/>
                <a:gd name="T42" fmla="*/ 6 w 16"/>
                <a:gd name="T43" fmla="*/ 8 h 14"/>
                <a:gd name="T44" fmla="*/ 7 w 16"/>
                <a:gd name="T45" fmla="*/ 8 h 14"/>
                <a:gd name="T46" fmla="*/ 12 w 16"/>
                <a:gd name="T47" fmla="*/ 13 h 14"/>
                <a:gd name="T48" fmla="*/ 16 w 16"/>
                <a:gd name="T49" fmla="*/ 12 h 14"/>
                <a:gd name="T50" fmla="*/ 15 w 16"/>
                <a:gd name="T51" fmla="*/ 10 h 14"/>
                <a:gd name="T52" fmla="*/ 14 w 16"/>
                <a:gd name="T53" fmla="*/ 10 h 14"/>
                <a:gd name="T54" fmla="*/ 13 w 16"/>
                <a:gd name="T55" fmla="*/ 9 h 14"/>
                <a:gd name="T56" fmla="*/ 10 w 16"/>
                <a:gd name="T57" fmla="*/ 7 h 14"/>
                <a:gd name="T58" fmla="*/ 12 w 16"/>
                <a:gd name="T59" fmla="*/ 5 h 14"/>
                <a:gd name="T60" fmla="*/ 12 w 16"/>
                <a:gd name="T61" fmla="*/ 3 h 14"/>
                <a:gd name="T62" fmla="*/ 11 w 16"/>
                <a:gd name="T63" fmla="*/ 0 h 14"/>
                <a:gd name="T64" fmla="*/ 7 w 16"/>
                <a:gd name="T65" fmla="*/ 0 h 14"/>
                <a:gd name="T66" fmla="*/ 0 w 16"/>
                <a:gd name="T67" fmla="*/ 1 h 14"/>
                <a:gd name="T68" fmla="*/ 1 w 16"/>
                <a:gd name="T69"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 h="14">
                  <a:moveTo>
                    <a:pt x="5" y="4"/>
                  </a:moveTo>
                  <a:cubicBezTo>
                    <a:pt x="5" y="3"/>
                    <a:pt x="5" y="2"/>
                    <a:pt x="5" y="2"/>
                  </a:cubicBezTo>
                  <a:cubicBezTo>
                    <a:pt x="5" y="2"/>
                    <a:pt x="6" y="2"/>
                    <a:pt x="6" y="2"/>
                  </a:cubicBezTo>
                  <a:cubicBezTo>
                    <a:pt x="7" y="2"/>
                    <a:pt x="8" y="2"/>
                    <a:pt x="8" y="2"/>
                  </a:cubicBezTo>
                  <a:cubicBezTo>
                    <a:pt x="9" y="2"/>
                    <a:pt x="9" y="3"/>
                    <a:pt x="9" y="3"/>
                  </a:cubicBezTo>
                  <a:cubicBezTo>
                    <a:pt x="9" y="4"/>
                    <a:pt x="9" y="5"/>
                    <a:pt x="9" y="5"/>
                  </a:cubicBezTo>
                  <a:cubicBezTo>
                    <a:pt x="8" y="5"/>
                    <a:pt x="7" y="6"/>
                    <a:pt x="6" y="6"/>
                  </a:cubicBezTo>
                  <a:cubicBezTo>
                    <a:pt x="6" y="6"/>
                    <a:pt x="6" y="6"/>
                    <a:pt x="6" y="6"/>
                  </a:cubicBezTo>
                  <a:cubicBezTo>
                    <a:pt x="6" y="6"/>
                    <a:pt x="6" y="6"/>
                    <a:pt x="6" y="6"/>
                  </a:cubicBezTo>
                  <a:lnTo>
                    <a:pt x="5" y="4"/>
                  </a:lnTo>
                  <a:close/>
                  <a:moveTo>
                    <a:pt x="1" y="3"/>
                  </a:moveTo>
                  <a:cubicBezTo>
                    <a:pt x="1" y="3"/>
                    <a:pt x="1" y="3"/>
                    <a:pt x="2" y="3"/>
                  </a:cubicBezTo>
                  <a:cubicBezTo>
                    <a:pt x="2" y="3"/>
                    <a:pt x="2" y="4"/>
                    <a:pt x="2" y="5"/>
                  </a:cubicBezTo>
                  <a:cubicBezTo>
                    <a:pt x="3" y="10"/>
                    <a:pt x="3" y="10"/>
                    <a:pt x="3" y="10"/>
                  </a:cubicBezTo>
                  <a:cubicBezTo>
                    <a:pt x="3" y="11"/>
                    <a:pt x="3" y="12"/>
                    <a:pt x="3" y="12"/>
                  </a:cubicBezTo>
                  <a:cubicBezTo>
                    <a:pt x="3" y="12"/>
                    <a:pt x="3" y="12"/>
                    <a:pt x="2" y="12"/>
                  </a:cubicBezTo>
                  <a:cubicBezTo>
                    <a:pt x="2" y="14"/>
                    <a:pt x="2" y="14"/>
                    <a:pt x="2" y="14"/>
                  </a:cubicBezTo>
                  <a:cubicBezTo>
                    <a:pt x="8" y="13"/>
                    <a:pt x="8" y="13"/>
                    <a:pt x="8" y="13"/>
                  </a:cubicBezTo>
                  <a:cubicBezTo>
                    <a:pt x="8" y="11"/>
                    <a:pt x="8" y="11"/>
                    <a:pt x="8" y="11"/>
                  </a:cubicBezTo>
                  <a:cubicBezTo>
                    <a:pt x="7" y="12"/>
                    <a:pt x="7" y="11"/>
                    <a:pt x="7" y="11"/>
                  </a:cubicBezTo>
                  <a:cubicBezTo>
                    <a:pt x="7" y="11"/>
                    <a:pt x="6" y="10"/>
                    <a:pt x="6" y="9"/>
                  </a:cubicBezTo>
                  <a:cubicBezTo>
                    <a:pt x="6" y="8"/>
                    <a:pt x="6" y="8"/>
                    <a:pt x="6" y="8"/>
                  </a:cubicBezTo>
                  <a:cubicBezTo>
                    <a:pt x="7" y="8"/>
                    <a:pt x="7" y="8"/>
                    <a:pt x="7" y="8"/>
                  </a:cubicBezTo>
                  <a:cubicBezTo>
                    <a:pt x="12" y="13"/>
                    <a:pt x="12" y="13"/>
                    <a:pt x="12" y="13"/>
                  </a:cubicBezTo>
                  <a:cubicBezTo>
                    <a:pt x="16" y="12"/>
                    <a:pt x="16" y="12"/>
                    <a:pt x="16" y="12"/>
                  </a:cubicBezTo>
                  <a:cubicBezTo>
                    <a:pt x="15" y="10"/>
                    <a:pt x="15" y="10"/>
                    <a:pt x="15" y="10"/>
                  </a:cubicBezTo>
                  <a:cubicBezTo>
                    <a:pt x="15" y="10"/>
                    <a:pt x="14" y="10"/>
                    <a:pt x="14" y="10"/>
                  </a:cubicBezTo>
                  <a:cubicBezTo>
                    <a:pt x="14" y="10"/>
                    <a:pt x="13" y="10"/>
                    <a:pt x="13" y="9"/>
                  </a:cubicBezTo>
                  <a:cubicBezTo>
                    <a:pt x="10" y="7"/>
                    <a:pt x="10" y="7"/>
                    <a:pt x="10" y="7"/>
                  </a:cubicBezTo>
                  <a:cubicBezTo>
                    <a:pt x="11" y="6"/>
                    <a:pt x="12" y="6"/>
                    <a:pt x="12" y="5"/>
                  </a:cubicBezTo>
                  <a:cubicBezTo>
                    <a:pt x="12" y="4"/>
                    <a:pt x="13" y="4"/>
                    <a:pt x="12" y="3"/>
                  </a:cubicBezTo>
                  <a:cubicBezTo>
                    <a:pt x="12" y="2"/>
                    <a:pt x="12" y="1"/>
                    <a:pt x="11" y="0"/>
                  </a:cubicBezTo>
                  <a:cubicBezTo>
                    <a:pt x="10" y="0"/>
                    <a:pt x="9" y="0"/>
                    <a:pt x="7" y="0"/>
                  </a:cubicBezTo>
                  <a:cubicBezTo>
                    <a:pt x="0" y="1"/>
                    <a:pt x="0" y="1"/>
                    <a:pt x="0" y="1"/>
                  </a:cubicBezTo>
                  <a:lnTo>
                    <a:pt x="1" y="3"/>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0" name="Freeform 33"/>
            <p:cNvSpPr>
              <a:spLocks noEditPoints="1"/>
            </p:cNvSpPr>
            <p:nvPr/>
          </p:nvSpPr>
          <p:spPr bwMode="auto">
            <a:xfrm>
              <a:off x="849313" y="6026150"/>
              <a:ext cx="33337" cy="36513"/>
            </a:xfrm>
            <a:custGeom>
              <a:avLst/>
              <a:gdLst>
                <a:gd name="T0" fmla="*/ 5 w 13"/>
                <a:gd name="T1" fmla="*/ 7 h 15"/>
                <a:gd name="T2" fmla="*/ 3 w 13"/>
                <a:gd name="T3" fmla="*/ 8 h 15"/>
                <a:gd name="T4" fmla="*/ 3 w 13"/>
                <a:gd name="T5" fmla="*/ 4 h 15"/>
                <a:gd name="T6" fmla="*/ 5 w 13"/>
                <a:gd name="T7" fmla="*/ 7 h 15"/>
                <a:gd name="T8" fmla="*/ 1 w 13"/>
                <a:gd name="T9" fmla="*/ 11 h 15"/>
                <a:gd name="T10" fmla="*/ 1 w 13"/>
                <a:gd name="T11" fmla="*/ 11 h 15"/>
                <a:gd name="T12" fmla="*/ 0 w 13"/>
                <a:gd name="T13" fmla="*/ 14 h 15"/>
                <a:gd name="T14" fmla="*/ 1 w 13"/>
                <a:gd name="T15" fmla="*/ 15 h 15"/>
                <a:gd name="T16" fmla="*/ 5 w 13"/>
                <a:gd name="T17" fmla="*/ 14 h 15"/>
                <a:gd name="T18" fmla="*/ 5 w 13"/>
                <a:gd name="T19" fmla="*/ 12 h 15"/>
                <a:gd name="T20" fmla="*/ 4 w 13"/>
                <a:gd name="T21" fmla="*/ 12 h 15"/>
                <a:gd name="T22" fmla="*/ 3 w 13"/>
                <a:gd name="T23" fmla="*/ 12 h 15"/>
                <a:gd name="T24" fmla="*/ 3 w 13"/>
                <a:gd name="T25" fmla="*/ 12 h 15"/>
                <a:gd name="T26" fmla="*/ 3 w 13"/>
                <a:gd name="T27" fmla="*/ 11 h 15"/>
                <a:gd name="T28" fmla="*/ 3 w 13"/>
                <a:gd name="T29" fmla="*/ 10 h 15"/>
                <a:gd name="T30" fmla="*/ 6 w 13"/>
                <a:gd name="T31" fmla="*/ 8 h 15"/>
                <a:gd name="T32" fmla="*/ 8 w 13"/>
                <a:gd name="T33" fmla="*/ 10 h 15"/>
                <a:gd name="T34" fmla="*/ 8 w 13"/>
                <a:gd name="T35" fmla="*/ 10 h 15"/>
                <a:gd name="T36" fmla="*/ 8 w 13"/>
                <a:gd name="T37" fmla="*/ 10 h 15"/>
                <a:gd name="T38" fmla="*/ 8 w 13"/>
                <a:gd name="T39" fmla="*/ 11 h 15"/>
                <a:gd name="T40" fmla="*/ 7 w 13"/>
                <a:gd name="T41" fmla="*/ 11 h 15"/>
                <a:gd name="T42" fmla="*/ 7 w 13"/>
                <a:gd name="T43" fmla="*/ 11 h 15"/>
                <a:gd name="T44" fmla="*/ 8 w 13"/>
                <a:gd name="T45" fmla="*/ 13 h 15"/>
                <a:gd name="T46" fmla="*/ 13 w 13"/>
                <a:gd name="T47" fmla="*/ 11 h 15"/>
                <a:gd name="T48" fmla="*/ 12 w 13"/>
                <a:gd name="T49" fmla="*/ 9 h 15"/>
                <a:gd name="T50" fmla="*/ 10 w 13"/>
                <a:gd name="T51" fmla="*/ 8 h 15"/>
                <a:gd name="T52" fmla="*/ 10 w 13"/>
                <a:gd name="T53" fmla="*/ 8 h 15"/>
                <a:gd name="T54" fmla="*/ 4 w 13"/>
                <a:gd name="T55" fmla="*/ 0 h 15"/>
                <a:gd name="T56" fmla="*/ 1 w 13"/>
                <a:gd name="T57" fmla="*/ 1 h 15"/>
                <a:gd name="T58" fmla="*/ 1 w 13"/>
                <a:gd name="T59"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 h="15">
                  <a:moveTo>
                    <a:pt x="5" y="7"/>
                  </a:moveTo>
                  <a:cubicBezTo>
                    <a:pt x="3" y="8"/>
                    <a:pt x="3" y="8"/>
                    <a:pt x="3" y="8"/>
                  </a:cubicBezTo>
                  <a:cubicBezTo>
                    <a:pt x="3" y="4"/>
                    <a:pt x="3" y="4"/>
                    <a:pt x="3" y="4"/>
                  </a:cubicBezTo>
                  <a:lnTo>
                    <a:pt x="5" y="7"/>
                  </a:lnTo>
                  <a:close/>
                  <a:moveTo>
                    <a:pt x="1" y="11"/>
                  </a:moveTo>
                  <a:cubicBezTo>
                    <a:pt x="1" y="11"/>
                    <a:pt x="1" y="11"/>
                    <a:pt x="1" y="11"/>
                  </a:cubicBezTo>
                  <a:cubicBezTo>
                    <a:pt x="1" y="13"/>
                    <a:pt x="1" y="14"/>
                    <a:pt x="0" y="14"/>
                  </a:cubicBezTo>
                  <a:cubicBezTo>
                    <a:pt x="1" y="15"/>
                    <a:pt x="1" y="15"/>
                    <a:pt x="1" y="15"/>
                  </a:cubicBezTo>
                  <a:cubicBezTo>
                    <a:pt x="5" y="14"/>
                    <a:pt x="5" y="14"/>
                    <a:pt x="5" y="14"/>
                  </a:cubicBezTo>
                  <a:cubicBezTo>
                    <a:pt x="5" y="12"/>
                    <a:pt x="5" y="12"/>
                    <a:pt x="5" y="12"/>
                  </a:cubicBezTo>
                  <a:cubicBezTo>
                    <a:pt x="4" y="12"/>
                    <a:pt x="4" y="12"/>
                    <a:pt x="4" y="12"/>
                  </a:cubicBezTo>
                  <a:cubicBezTo>
                    <a:pt x="4" y="12"/>
                    <a:pt x="3" y="12"/>
                    <a:pt x="3" y="12"/>
                  </a:cubicBezTo>
                  <a:cubicBezTo>
                    <a:pt x="3" y="12"/>
                    <a:pt x="3" y="12"/>
                    <a:pt x="3" y="12"/>
                  </a:cubicBezTo>
                  <a:cubicBezTo>
                    <a:pt x="3" y="12"/>
                    <a:pt x="3" y="12"/>
                    <a:pt x="3" y="11"/>
                  </a:cubicBezTo>
                  <a:cubicBezTo>
                    <a:pt x="3" y="10"/>
                    <a:pt x="3" y="10"/>
                    <a:pt x="3" y="10"/>
                  </a:cubicBezTo>
                  <a:cubicBezTo>
                    <a:pt x="6" y="8"/>
                    <a:pt x="6" y="8"/>
                    <a:pt x="6" y="8"/>
                  </a:cubicBezTo>
                  <a:cubicBezTo>
                    <a:pt x="8" y="10"/>
                    <a:pt x="8" y="10"/>
                    <a:pt x="8" y="10"/>
                  </a:cubicBezTo>
                  <a:cubicBezTo>
                    <a:pt x="8" y="10"/>
                    <a:pt x="8" y="10"/>
                    <a:pt x="8" y="10"/>
                  </a:cubicBezTo>
                  <a:cubicBezTo>
                    <a:pt x="8" y="10"/>
                    <a:pt x="8" y="10"/>
                    <a:pt x="8" y="10"/>
                  </a:cubicBezTo>
                  <a:cubicBezTo>
                    <a:pt x="8" y="11"/>
                    <a:pt x="8" y="11"/>
                    <a:pt x="8" y="11"/>
                  </a:cubicBezTo>
                  <a:cubicBezTo>
                    <a:pt x="8" y="11"/>
                    <a:pt x="7" y="11"/>
                    <a:pt x="7" y="11"/>
                  </a:cubicBezTo>
                  <a:cubicBezTo>
                    <a:pt x="7" y="11"/>
                    <a:pt x="7" y="11"/>
                    <a:pt x="7" y="11"/>
                  </a:cubicBezTo>
                  <a:cubicBezTo>
                    <a:pt x="8" y="13"/>
                    <a:pt x="8" y="13"/>
                    <a:pt x="8" y="13"/>
                  </a:cubicBezTo>
                  <a:cubicBezTo>
                    <a:pt x="13" y="11"/>
                    <a:pt x="13" y="11"/>
                    <a:pt x="13" y="11"/>
                  </a:cubicBezTo>
                  <a:cubicBezTo>
                    <a:pt x="12" y="9"/>
                    <a:pt x="12" y="9"/>
                    <a:pt x="12" y="9"/>
                  </a:cubicBezTo>
                  <a:cubicBezTo>
                    <a:pt x="12" y="9"/>
                    <a:pt x="11" y="9"/>
                    <a:pt x="10" y="8"/>
                  </a:cubicBezTo>
                  <a:cubicBezTo>
                    <a:pt x="10" y="8"/>
                    <a:pt x="10" y="8"/>
                    <a:pt x="10" y="8"/>
                  </a:cubicBezTo>
                  <a:cubicBezTo>
                    <a:pt x="4" y="0"/>
                    <a:pt x="4" y="0"/>
                    <a:pt x="4" y="0"/>
                  </a:cubicBezTo>
                  <a:cubicBezTo>
                    <a:pt x="1" y="1"/>
                    <a:pt x="1" y="1"/>
                    <a:pt x="1" y="1"/>
                  </a:cubicBezTo>
                  <a:lnTo>
                    <a:pt x="1" y="11"/>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1" name="Freeform 34"/>
            <p:cNvSpPr/>
            <p:nvPr/>
          </p:nvSpPr>
          <p:spPr bwMode="auto">
            <a:xfrm>
              <a:off x="866775" y="6013450"/>
              <a:ext cx="34925" cy="36513"/>
            </a:xfrm>
            <a:custGeom>
              <a:avLst/>
              <a:gdLst>
                <a:gd name="T0" fmla="*/ 0 w 14"/>
                <a:gd name="T1" fmla="*/ 4 h 15"/>
                <a:gd name="T2" fmla="*/ 9 w 14"/>
                <a:gd name="T3" fmla="*/ 0 h 15"/>
                <a:gd name="T4" fmla="*/ 12 w 14"/>
                <a:gd name="T5" fmla="*/ 3 h 15"/>
                <a:gd name="T6" fmla="*/ 11 w 14"/>
                <a:gd name="T7" fmla="*/ 4 h 15"/>
                <a:gd name="T8" fmla="*/ 9 w 14"/>
                <a:gd name="T9" fmla="*/ 2 h 15"/>
                <a:gd name="T10" fmla="*/ 7 w 14"/>
                <a:gd name="T11" fmla="*/ 3 h 15"/>
                <a:gd name="T12" fmla="*/ 7 w 14"/>
                <a:gd name="T13" fmla="*/ 3 h 15"/>
                <a:gd name="T14" fmla="*/ 10 w 14"/>
                <a:gd name="T15" fmla="*/ 9 h 15"/>
                <a:gd name="T16" fmla="*/ 12 w 14"/>
                <a:gd name="T17" fmla="*/ 11 h 15"/>
                <a:gd name="T18" fmla="*/ 13 w 14"/>
                <a:gd name="T19" fmla="*/ 11 h 15"/>
                <a:gd name="T20" fmla="*/ 14 w 14"/>
                <a:gd name="T21" fmla="*/ 12 h 15"/>
                <a:gd name="T22" fmla="*/ 8 w 14"/>
                <a:gd name="T23" fmla="*/ 15 h 15"/>
                <a:gd name="T24" fmla="*/ 8 w 14"/>
                <a:gd name="T25" fmla="*/ 13 h 15"/>
                <a:gd name="T26" fmla="*/ 8 w 14"/>
                <a:gd name="T27" fmla="*/ 13 h 15"/>
                <a:gd name="T28" fmla="*/ 8 w 14"/>
                <a:gd name="T29" fmla="*/ 11 h 15"/>
                <a:gd name="T30" fmla="*/ 4 w 14"/>
                <a:gd name="T31" fmla="*/ 4 h 15"/>
                <a:gd name="T32" fmla="*/ 4 w 14"/>
                <a:gd name="T33" fmla="*/ 4 h 15"/>
                <a:gd name="T34" fmla="*/ 3 w 14"/>
                <a:gd name="T35" fmla="*/ 6 h 15"/>
                <a:gd name="T36" fmla="*/ 2 w 14"/>
                <a:gd name="T37" fmla="*/ 8 h 15"/>
                <a:gd name="T38" fmla="*/ 1 w 14"/>
                <a:gd name="T39" fmla="*/ 8 h 15"/>
                <a:gd name="T40" fmla="*/ 0 w 14"/>
                <a:gd name="T41" fmla="*/ 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 h="15">
                  <a:moveTo>
                    <a:pt x="0" y="4"/>
                  </a:moveTo>
                  <a:cubicBezTo>
                    <a:pt x="9" y="0"/>
                    <a:pt x="9" y="0"/>
                    <a:pt x="9" y="0"/>
                  </a:cubicBezTo>
                  <a:cubicBezTo>
                    <a:pt x="12" y="3"/>
                    <a:pt x="12" y="3"/>
                    <a:pt x="12" y="3"/>
                  </a:cubicBezTo>
                  <a:cubicBezTo>
                    <a:pt x="11" y="4"/>
                    <a:pt x="11" y="4"/>
                    <a:pt x="11" y="4"/>
                  </a:cubicBezTo>
                  <a:cubicBezTo>
                    <a:pt x="11" y="3"/>
                    <a:pt x="10" y="2"/>
                    <a:pt x="9" y="2"/>
                  </a:cubicBezTo>
                  <a:cubicBezTo>
                    <a:pt x="9" y="2"/>
                    <a:pt x="8" y="2"/>
                    <a:pt x="7" y="3"/>
                  </a:cubicBezTo>
                  <a:cubicBezTo>
                    <a:pt x="7" y="3"/>
                    <a:pt x="7" y="3"/>
                    <a:pt x="7" y="3"/>
                  </a:cubicBezTo>
                  <a:cubicBezTo>
                    <a:pt x="10" y="9"/>
                    <a:pt x="10" y="9"/>
                    <a:pt x="10" y="9"/>
                  </a:cubicBezTo>
                  <a:cubicBezTo>
                    <a:pt x="11" y="10"/>
                    <a:pt x="11" y="11"/>
                    <a:pt x="12" y="11"/>
                  </a:cubicBezTo>
                  <a:cubicBezTo>
                    <a:pt x="12" y="11"/>
                    <a:pt x="12" y="11"/>
                    <a:pt x="13" y="11"/>
                  </a:cubicBezTo>
                  <a:cubicBezTo>
                    <a:pt x="14" y="12"/>
                    <a:pt x="14" y="12"/>
                    <a:pt x="14" y="12"/>
                  </a:cubicBezTo>
                  <a:cubicBezTo>
                    <a:pt x="8" y="15"/>
                    <a:pt x="8" y="15"/>
                    <a:pt x="8" y="15"/>
                  </a:cubicBezTo>
                  <a:cubicBezTo>
                    <a:pt x="8" y="13"/>
                    <a:pt x="8" y="13"/>
                    <a:pt x="8" y="13"/>
                  </a:cubicBezTo>
                  <a:cubicBezTo>
                    <a:pt x="8" y="13"/>
                    <a:pt x="8" y="13"/>
                    <a:pt x="8" y="13"/>
                  </a:cubicBezTo>
                  <a:cubicBezTo>
                    <a:pt x="8" y="12"/>
                    <a:pt x="8" y="12"/>
                    <a:pt x="8" y="11"/>
                  </a:cubicBezTo>
                  <a:cubicBezTo>
                    <a:pt x="4" y="4"/>
                    <a:pt x="4" y="4"/>
                    <a:pt x="4" y="4"/>
                  </a:cubicBezTo>
                  <a:cubicBezTo>
                    <a:pt x="4" y="4"/>
                    <a:pt x="4" y="4"/>
                    <a:pt x="4" y="4"/>
                  </a:cubicBezTo>
                  <a:cubicBezTo>
                    <a:pt x="3" y="5"/>
                    <a:pt x="3" y="5"/>
                    <a:pt x="3" y="6"/>
                  </a:cubicBezTo>
                  <a:cubicBezTo>
                    <a:pt x="2" y="6"/>
                    <a:pt x="2" y="7"/>
                    <a:pt x="2" y="8"/>
                  </a:cubicBezTo>
                  <a:cubicBezTo>
                    <a:pt x="1" y="8"/>
                    <a:pt x="1" y="8"/>
                    <a:pt x="1" y="8"/>
                  </a:cubicBezTo>
                  <a:lnTo>
                    <a:pt x="0" y="4"/>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2" name="Freeform 35"/>
            <p:cNvSpPr/>
            <p:nvPr/>
          </p:nvSpPr>
          <p:spPr bwMode="auto">
            <a:xfrm>
              <a:off x="895350" y="6000750"/>
              <a:ext cx="30162" cy="36513"/>
            </a:xfrm>
            <a:custGeom>
              <a:avLst/>
              <a:gdLst>
                <a:gd name="T0" fmla="*/ 0 w 12"/>
                <a:gd name="T1" fmla="*/ 4 h 15"/>
                <a:gd name="T2" fmla="*/ 5 w 12"/>
                <a:gd name="T3" fmla="*/ 0 h 15"/>
                <a:gd name="T4" fmla="*/ 5 w 12"/>
                <a:gd name="T5" fmla="*/ 2 h 15"/>
                <a:gd name="T6" fmla="*/ 5 w 12"/>
                <a:gd name="T7" fmla="*/ 3 h 15"/>
                <a:gd name="T8" fmla="*/ 6 w 12"/>
                <a:gd name="T9" fmla="*/ 5 h 15"/>
                <a:gd name="T10" fmla="*/ 9 w 12"/>
                <a:gd name="T11" fmla="*/ 9 h 15"/>
                <a:gd name="T12" fmla="*/ 10 w 12"/>
                <a:gd name="T13" fmla="*/ 10 h 15"/>
                <a:gd name="T14" fmla="*/ 11 w 12"/>
                <a:gd name="T15" fmla="*/ 10 h 15"/>
                <a:gd name="T16" fmla="*/ 12 w 12"/>
                <a:gd name="T17" fmla="*/ 11 h 15"/>
                <a:gd name="T18" fmla="*/ 7 w 12"/>
                <a:gd name="T19" fmla="*/ 15 h 15"/>
                <a:gd name="T20" fmla="*/ 6 w 12"/>
                <a:gd name="T21" fmla="*/ 13 h 15"/>
                <a:gd name="T22" fmla="*/ 7 w 12"/>
                <a:gd name="T23" fmla="*/ 12 h 15"/>
                <a:gd name="T24" fmla="*/ 6 w 12"/>
                <a:gd name="T25" fmla="*/ 10 h 15"/>
                <a:gd name="T26" fmla="*/ 3 w 12"/>
                <a:gd name="T27" fmla="*/ 6 h 15"/>
                <a:gd name="T28" fmla="*/ 2 w 12"/>
                <a:gd name="T29" fmla="*/ 5 h 15"/>
                <a:gd name="T30" fmla="*/ 0 w 12"/>
                <a:gd name="T31" fmla="*/ 5 h 15"/>
                <a:gd name="T32" fmla="*/ 0 w 12"/>
                <a:gd name="T33" fmla="*/ 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5">
                  <a:moveTo>
                    <a:pt x="0" y="4"/>
                  </a:moveTo>
                  <a:cubicBezTo>
                    <a:pt x="5" y="0"/>
                    <a:pt x="5" y="0"/>
                    <a:pt x="5" y="0"/>
                  </a:cubicBezTo>
                  <a:cubicBezTo>
                    <a:pt x="5" y="2"/>
                    <a:pt x="5" y="2"/>
                    <a:pt x="5" y="2"/>
                  </a:cubicBezTo>
                  <a:cubicBezTo>
                    <a:pt x="5" y="2"/>
                    <a:pt x="5" y="2"/>
                    <a:pt x="5" y="3"/>
                  </a:cubicBezTo>
                  <a:cubicBezTo>
                    <a:pt x="5" y="3"/>
                    <a:pt x="5" y="4"/>
                    <a:pt x="6" y="5"/>
                  </a:cubicBezTo>
                  <a:cubicBezTo>
                    <a:pt x="9" y="9"/>
                    <a:pt x="9" y="9"/>
                    <a:pt x="9" y="9"/>
                  </a:cubicBezTo>
                  <a:cubicBezTo>
                    <a:pt x="9" y="9"/>
                    <a:pt x="10" y="10"/>
                    <a:pt x="10" y="10"/>
                  </a:cubicBezTo>
                  <a:cubicBezTo>
                    <a:pt x="10" y="10"/>
                    <a:pt x="11" y="10"/>
                    <a:pt x="11" y="10"/>
                  </a:cubicBezTo>
                  <a:cubicBezTo>
                    <a:pt x="12" y="11"/>
                    <a:pt x="12" y="11"/>
                    <a:pt x="12" y="11"/>
                  </a:cubicBezTo>
                  <a:cubicBezTo>
                    <a:pt x="7" y="15"/>
                    <a:pt x="7" y="15"/>
                    <a:pt x="7" y="15"/>
                  </a:cubicBezTo>
                  <a:cubicBezTo>
                    <a:pt x="6" y="13"/>
                    <a:pt x="6" y="13"/>
                    <a:pt x="6" y="13"/>
                  </a:cubicBezTo>
                  <a:cubicBezTo>
                    <a:pt x="7" y="13"/>
                    <a:pt x="7" y="13"/>
                    <a:pt x="7" y="12"/>
                  </a:cubicBezTo>
                  <a:cubicBezTo>
                    <a:pt x="7" y="12"/>
                    <a:pt x="7" y="11"/>
                    <a:pt x="6" y="10"/>
                  </a:cubicBezTo>
                  <a:cubicBezTo>
                    <a:pt x="3" y="6"/>
                    <a:pt x="3" y="6"/>
                    <a:pt x="3" y="6"/>
                  </a:cubicBezTo>
                  <a:cubicBezTo>
                    <a:pt x="2" y="5"/>
                    <a:pt x="2" y="5"/>
                    <a:pt x="2" y="5"/>
                  </a:cubicBezTo>
                  <a:cubicBezTo>
                    <a:pt x="1" y="5"/>
                    <a:pt x="1" y="5"/>
                    <a:pt x="0" y="5"/>
                  </a:cubicBezTo>
                  <a:lnTo>
                    <a:pt x="0" y="4"/>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3" name="Freeform 36"/>
            <p:cNvSpPr>
              <a:spLocks noEditPoints="1"/>
            </p:cNvSpPr>
            <p:nvPr/>
          </p:nvSpPr>
          <p:spPr bwMode="auto">
            <a:xfrm>
              <a:off x="912813" y="5988050"/>
              <a:ext cx="34925" cy="34925"/>
            </a:xfrm>
            <a:custGeom>
              <a:avLst/>
              <a:gdLst>
                <a:gd name="T0" fmla="*/ 6 w 14"/>
                <a:gd name="T1" fmla="*/ 2 h 14"/>
                <a:gd name="T2" fmla="*/ 9 w 14"/>
                <a:gd name="T3" fmla="*/ 5 h 14"/>
                <a:gd name="T4" fmla="*/ 11 w 14"/>
                <a:gd name="T5" fmla="*/ 8 h 14"/>
                <a:gd name="T6" fmla="*/ 10 w 14"/>
                <a:gd name="T7" fmla="*/ 11 h 14"/>
                <a:gd name="T8" fmla="*/ 7 w 14"/>
                <a:gd name="T9" fmla="*/ 11 h 14"/>
                <a:gd name="T10" fmla="*/ 4 w 14"/>
                <a:gd name="T11" fmla="*/ 8 h 14"/>
                <a:gd name="T12" fmla="*/ 3 w 14"/>
                <a:gd name="T13" fmla="*/ 5 h 14"/>
                <a:gd name="T14" fmla="*/ 4 w 14"/>
                <a:gd name="T15" fmla="*/ 2 h 14"/>
                <a:gd name="T16" fmla="*/ 6 w 14"/>
                <a:gd name="T17" fmla="*/ 2 h 14"/>
                <a:gd name="T18" fmla="*/ 0 w 14"/>
                <a:gd name="T19" fmla="*/ 5 h 14"/>
                <a:gd name="T20" fmla="*/ 2 w 14"/>
                <a:gd name="T21" fmla="*/ 10 h 14"/>
                <a:gd name="T22" fmla="*/ 6 w 14"/>
                <a:gd name="T23" fmla="*/ 13 h 14"/>
                <a:gd name="T24" fmla="*/ 11 w 14"/>
                <a:gd name="T25" fmla="*/ 12 h 14"/>
                <a:gd name="T26" fmla="*/ 14 w 14"/>
                <a:gd name="T27" fmla="*/ 8 h 14"/>
                <a:gd name="T28" fmla="*/ 12 w 14"/>
                <a:gd name="T29" fmla="*/ 3 h 14"/>
                <a:gd name="T30" fmla="*/ 8 w 14"/>
                <a:gd name="T31" fmla="*/ 0 h 14"/>
                <a:gd name="T32" fmla="*/ 3 w 14"/>
                <a:gd name="T33" fmla="*/ 1 h 14"/>
                <a:gd name="T34" fmla="*/ 0 w 14"/>
                <a:gd name="T35" fmla="*/ 5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 h="14">
                  <a:moveTo>
                    <a:pt x="6" y="2"/>
                  </a:moveTo>
                  <a:cubicBezTo>
                    <a:pt x="7" y="3"/>
                    <a:pt x="8" y="3"/>
                    <a:pt x="9" y="5"/>
                  </a:cubicBezTo>
                  <a:cubicBezTo>
                    <a:pt x="10" y="6"/>
                    <a:pt x="11" y="7"/>
                    <a:pt x="11" y="8"/>
                  </a:cubicBezTo>
                  <a:cubicBezTo>
                    <a:pt x="11" y="9"/>
                    <a:pt x="11" y="10"/>
                    <a:pt x="10" y="11"/>
                  </a:cubicBezTo>
                  <a:cubicBezTo>
                    <a:pt x="9" y="11"/>
                    <a:pt x="8" y="11"/>
                    <a:pt x="7" y="11"/>
                  </a:cubicBezTo>
                  <a:cubicBezTo>
                    <a:pt x="6" y="11"/>
                    <a:pt x="5" y="10"/>
                    <a:pt x="4" y="8"/>
                  </a:cubicBezTo>
                  <a:cubicBezTo>
                    <a:pt x="3" y="7"/>
                    <a:pt x="3" y="6"/>
                    <a:pt x="3" y="5"/>
                  </a:cubicBezTo>
                  <a:cubicBezTo>
                    <a:pt x="3" y="4"/>
                    <a:pt x="3" y="3"/>
                    <a:pt x="4" y="2"/>
                  </a:cubicBezTo>
                  <a:cubicBezTo>
                    <a:pt x="4" y="2"/>
                    <a:pt x="5" y="2"/>
                    <a:pt x="6" y="2"/>
                  </a:cubicBezTo>
                  <a:close/>
                  <a:moveTo>
                    <a:pt x="0" y="5"/>
                  </a:moveTo>
                  <a:cubicBezTo>
                    <a:pt x="0" y="7"/>
                    <a:pt x="0" y="9"/>
                    <a:pt x="2" y="10"/>
                  </a:cubicBezTo>
                  <a:cubicBezTo>
                    <a:pt x="3" y="12"/>
                    <a:pt x="4" y="13"/>
                    <a:pt x="6" y="13"/>
                  </a:cubicBezTo>
                  <a:cubicBezTo>
                    <a:pt x="8" y="14"/>
                    <a:pt x="9" y="13"/>
                    <a:pt x="11" y="12"/>
                  </a:cubicBezTo>
                  <a:cubicBezTo>
                    <a:pt x="12" y="11"/>
                    <a:pt x="13" y="9"/>
                    <a:pt x="14" y="8"/>
                  </a:cubicBezTo>
                  <a:cubicBezTo>
                    <a:pt x="14" y="6"/>
                    <a:pt x="13" y="4"/>
                    <a:pt x="12" y="3"/>
                  </a:cubicBezTo>
                  <a:cubicBezTo>
                    <a:pt x="11" y="1"/>
                    <a:pt x="9" y="0"/>
                    <a:pt x="8" y="0"/>
                  </a:cubicBezTo>
                  <a:cubicBezTo>
                    <a:pt x="6" y="0"/>
                    <a:pt x="4" y="0"/>
                    <a:pt x="3" y="1"/>
                  </a:cubicBezTo>
                  <a:cubicBezTo>
                    <a:pt x="1" y="2"/>
                    <a:pt x="0" y="4"/>
                    <a:pt x="0" y="5"/>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4" name="Freeform 37"/>
            <p:cNvSpPr>
              <a:spLocks noEditPoints="1"/>
            </p:cNvSpPr>
            <p:nvPr/>
          </p:nvSpPr>
          <p:spPr bwMode="auto">
            <a:xfrm>
              <a:off x="960438" y="5924550"/>
              <a:ext cx="36512" cy="34925"/>
            </a:xfrm>
            <a:custGeom>
              <a:avLst/>
              <a:gdLst>
                <a:gd name="T0" fmla="*/ 5 w 15"/>
                <a:gd name="T1" fmla="*/ 3 h 14"/>
                <a:gd name="T2" fmla="*/ 9 w 15"/>
                <a:gd name="T3" fmla="*/ 4 h 14"/>
                <a:gd name="T4" fmla="*/ 12 w 15"/>
                <a:gd name="T5" fmla="*/ 6 h 14"/>
                <a:gd name="T6" fmla="*/ 12 w 15"/>
                <a:gd name="T7" fmla="*/ 9 h 14"/>
                <a:gd name="T8" fmla="*/ 10 w 15"/>
                <a:gd name="T9" fmla="*/ 10 h 14"/>
                <a:gd name="T10" fmla="*/ 6 w 15"/>
                <a:gd name="T11" fmla="*/ 9 h 14"/>
                <a:gd name="T12" fmla="*/ 3 w 15"/>
                <a:gd name="T13" fmla="*/ 7 h 14"/>
                <a:gd name="T14" fmla="*/ 3 w 15"/>
                <a:gd name="T15" fmla="*/ 4 h 14"/>
                <a:gd name="T16" fmla="*/ 5 w 15"/>
                <a:gd name="T17" fmla="*/ 3 h 14"/>
                <a:gd name="T18" fmla="*/ 1 w 15"/>
                <a:gd name="T19" fmla="*/ 9 h 14"/>
                <a:gd name="T20" fmla="*/ 5 w 15"/>
                <a:gd name="T21" fmla="*/ 12 h 14"/>
                <a:gd name="T22" fmla="*/ 10 w 15"/>
                <a:gd name="T23" fmla="*/ 13 h 14"/>
                <a:gd name="T24" fmla="*/ 14 w 15"/>
                <a:gd name="T25" fmla="*/ 10 h 14"/>
                <a:gd name="T26" fmla="*/ 14 w 15"/>
                <a:gd name="T27" fmla="*/ 5 h 14"/>
                <a:gd name="T28" fmla="*/ 10 w 15"/>
                <a:gd name="T29" fmla="*/ 1 h 14"/>
                <a:gd name="T30" fmla="*/ 5 w 15"/>
                <a:gd name="T31" fmla="*/ 0 h 14"/>
                <a:gd name="T32" fmla="*/ 1 w 15"/>
                <a:gd name="T33" fmla="*/ 4 h 14"/>
                <a:gd name="T34" fmla="*/ 1 w 15"/>
                <a:gd name="T35"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 h="14">
                  <a:moveTo>
                    <a:pt x="5" y="3"/>
                  </a:moveTo>
                  <a:cubicBezTo>
                    <a:pt x="6" y="3"/>
                    <a:pt x="7" y="3"/>
                    <a:pt x="9" y="4"/>
                  </a:cubicBezTo>
                  <a:cubicBezTo>
                    <a:pt x="10" y="5"/>
                    <a:pt x="11" y="5"/>
                    <a:pt x="12" y="6"/>
                  </a:cubicBezTo>
                  <a:cubicBezTo>
                    <a:pt x="13" y="7"/>
                    <a:pt x="13" y="8"/>
                    <a:pt x="12" y="9"/>
                  </a:cubicBezTo>
                  <a:cubicBezTo>
                    <a:pt x="12" y="10"/>
                    <a:pt x="11" y="10"/>
                    <a:pt x="10" y="10"/>
                  </a:cubicBezTo>
                  <a:cubicBezTo>
                    <a:pt x="9" y="10"/>
                    <a:pt x="8" y="10"/>
                    <a:pt x="6" y="9"/>
                  </a:cubicBezTo>
                  <a:cubicBezTo>
                    <a:pt x="5" y="9"/>
                    <a:pt x="4" y="8"/>
                    <a:pt x="3" y="7"/>
                  </a:cubicBezTo>
                  <a:cubicBezTo>
                    <a:pt x="3" y="6"/>
                    <a:pt x="2" y="5"/>
                    <a:pt x="3" y="4"/>
                  </a:cubicBezTo>
                  <a:cubicBezTo>
                    <a:pt x="3" y="4"/>
                    <a:pt x="4" y="3"/>
                    <a:pt x="5" y="3"/>
                  </a:cubicBezTo>
                  <a:close/>
                  <a:moveTo>
                    <a:pt x="1" y="9"/>
                  </a:moveTo>
                  <a:cubicBezTo>
                    <a:pt x="2" y="10"/>
                    <a:pt x="3" y="12"/>
                    <a:pt x="5" y="12"/>
                  </a:cubicBezTo>
                  <a:cubicBezTo>
                    <a:pt x="7" y="13"/>
                    <a:pt x="8" y="14"/>
                    <a:pt x="10" y="13"/>
                  </a:cubicBezTo>
                  <a:cubicBezTo>
                    <a:pt x="12" y="12"/>
                    <a:pt x="13" y="11"/>
                    <a:pt x="14" y="10"/>
                  </a:cubicBezTo>
                  <a:cubicBezTo>
                    <a:pt x="15" y="8"/>
                    <a:pt x="15" y="6"/>
                    <a:pt x="14" y="5"/>
                  </a:cubicBezTo>
                  <a:cubicBezTo>
                    <a:pt x="13" y="3"/>
                    <a:pt x="12" y="2"/>
                    <a:pt x="10" y="1"/>
                  </a:cubicBezTo>
                  <a:cubicBezTo>
                    <a:pt x="8" y="0"/>
                    <a:pt x="7" y="0"/>
                    <a:pt x="5" y="0"/>
                  </a:cubicBezTo>
                  <a:cubicBezTo>
                    <a:pt x="3" y="1"/>
                    <a:pt x="2" y="2"/>
                    <a:pt x="1" y="4"/>
                  </a:cubicBezTo>
                  <a:cubicBezTo>
                    <a:pt x="1" y="6"/>
                    <a:pt x="0" y="7"/>
                    <a:pt x="1" y="9"/>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5" name="Freeform 38"/>
            <p:cNvSpPr/>
            <p:nvPr/>
          </p:nvSpPr>
          <p:spPr bwMode="auto">
            <a:xfrm>
              <a:off x="969963" y="5894388"/>
              <a:ext cx="38100" cy="34925"/>
            </a:xfrm>
            <a:custGeom>
              <a:avLst/>
              <a:gdLst>
                <a:gd name="T0" fmla="*/ 0 w 15"/>
                <a:gd name="T1" fmla="*/ 10 h 14"/>
                <a:gd name="T2" fmla="*/ 4 w 15"/>
                <a:gd name="T3" fmla="*/ 0 h 14"/>
                <a:gd name="T4" fmla="*/ 8 w 15"/>
                <a:gd name="T5" fmla="*/ 0 h 14"/>
                <a:gd name="T6" fmla="*/ 8 w 15"/>
                <a:gd name="T7" fmla="*/ 1 h 14"/>
                <a:gd name="T8" fmla="*/ 5 w 15"/>
                <a:gd name="T9" fmla="*/ 2 h 14"/>
                <a:gd name="T10" fmla="*/ 4 w 15"/>
                <a:gd name="T11" fmla="*/ 5 h 14"/>
                <a:gd name="T12" fmla="*/ 4 w 15"/>
                <a:gd name="T13" fmla="*/ 6 h 14"/>
                <a:gd name="T14" fmla="*/ 5 w 15"/>
                <a:gd name="T15" fmla="*/ 7 h 14"/>
                <a:gd name="T16" fmla="*/ 7 w 15"/>
                <a:gd name="T17" fmla="*/ 7 h 14"/>
                <a:gd name="T18" fmla="*/ 7 w 15"/>
                <a:gd name="T19" fmla="*/ 7 h 14"/>
                <a:gd name="T20" fmla="*/ 7 w 15"/>
                <a:gd name="T21" fmla="*/ 5 h 14"/>
                <a:gd name="T22" fmla="*/ 6 w 15"/>
                <a:gd name="T23" fmla="*/ 4 h 14"/>
                <a:gd name="T24" fmla="*/ 6 w 15"/>
                <a:gd name="T25" fmla="*/ 3 h 14"/>
                <a:gd name="T26" fmla="*/ 12 w 15"/>
                <a:gd name="T27" fmla="*/ 5 h 14"/>
                <a:gd name="T28" fmla="*/ 11 w 15"/>
                <a:gd name="T29" fmla="*/ 6 h 14"/>
                <a:gd name="T30" fmla="*/ 10 w 15"/>
                <a:gd name="T31" fmla="*/ 6 h 14"/>
                <a:gd name="T32" fmla="*/ 9 w 15"/>
                <a:gd name="T33" fmla="*/ 7 h 14"/>
                <a:gd name="T34" fmla="*/ 8 w 15"/>
                <a:gd name="T35" fmla="*/ 8 h 14"/>
                <a:gd name="T36" fmla="*/ 11 w 15"/>
                <a:gd name="T37" fmla="*/ 8 h 14"/>
                <a:gd name="T38" fmla="*/ 12 w 15"/>
                <a:gd name="T39" fmla="*/ 9 h 14"/>
                <a:gd name="T40" fmla="*/ 13 w 15"/>
                <a:gd name="T41" fmla="*/ 8 h 14"/>
                <a:gd name="T42" fmla="*/ 15 w 15"/>
                <a:gd name="T43" fmla="*/ 8 h 14"/>
                <a:gd name="T44" fmla="*/ 13 w 15"/>
                <a:gd name="T45" fmla="*/ 14 h 14"/>
                <a:gd name="T46" fmla="*/ 11 w 15"/>
                <a:gd name="T47" fmla="*/ 13 h 14"/>
                <a:gd name="T48" fmla="*/ 11 w 15"/>
                <a:gd name="T49" fmla="*/ 12 h 14"/>
                <a:gd name="T50" fmla="*/ 10 w 15"/>
                <a:gd name="T51" fmla="*/ 11 h 14"/>
                <a:gd name="T52" fmla="*/ 5 w 15"/>
                <a:gd name="T53" fmla="*/ 10 h 14"/>
                <a:gd name="T54" fmla="*/ 3 w 15"/>
                <a:gd name="T55" fmla="*/ 9 h 14"/>
                <a:gd name="T56" fmla="*/ 2 w 15"/>
                <a:gd name="T57" fmla="*/ 10 h 14"/>
                <a:gd name="T58" fmla="*/ 0 w 15"/>
                <a:gd name="T5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 h="14">
                  <a:moveTo>
                    <a:pt x="0" y="10"/>
                  </a:moveTo>
                  <a:cubicBezTo>
                    <a:pt x="4" y="0"/>
                    <a:pt x="4" y="0"/>
                    <a:pt x="4" y="0"/>
                  </a:cubicBezTo>
                  <a:cubicBezTo>
                    <a:pt x="8" y="0"/>
                    <a:pt x="8" y="0"/>
                    <a:pt x="8" y="0"/>
                  </a:cubicBezTo>
                  <a:cubicBezTo>
                    <a:pt x="8" y="1"/>
                    <a:pt x="8" y="1"/>
                    <a:pt x="8" y="1"/>
                  </a:cubicBezTo>
                  <a:cubicBezTo>
                    <a:pt x="7" y="1"/>
                    <a:pt x="6" y="2"/>
                    <a:pt x="5" y="2"/>
                  </a:cubicBezTo>
                  <a:cubicBezTo>
                    <a:pt x="5" y="3"/>
                    <a:pt x="4" y="4"/>
                    <a:pt x="4" y="5"/>
                  </a:cubicBezTo>
                  <a:cubicBezTo>
                    <a:pt x="4" y="5"/>
                    <a:pt x="4" y="6"/>
                    <a:pt x="4" y="6"/>
                  </a:cubicBezTo>
                  <a:cubicBezTo>
                    <a:pt x="4" y="6"/>
                    <a:pt x="4" y="6"/>
                    <a:pt x="5" y="7"/>
                  </a:cubicBezTo>
                  <a:cubicBezTo>
                    <a:pt x="7" y="7"/>
                    <a:pt x="7" y="7"/>
                    <a:pt x="7" y="7"/>
                  </a:cubicBezTo>
                  <a:cubicBezTo>
                    <a:pt x="7" y="7"/>
                    <a:pt x="7" y="7"/>
                    <a:pt x="7" y="7"/>
                  </a:cubicBezTo>
                  <a:cubicBezTo>
                    <a:pt x="7" y="6"/>
                    <a:pt x="7" y="5"/>
                    <a:pt x="7" y="5"/>
                  </a:cubicBezTo>
                  <a:cubicBezTo>
                    <a:pt x="7" y="5"/>
                    <a:pt x="6" y="4"/>
                    <a:pt x="6" y="4"/>
                  </a:cubicBezTo>
                  <a:cubicBezTo>
                    <a:pt x="6" y="3"/>
                    <a:pt x="6" y="3"/>
                    <a:pt x="6" y="3"/>
                  </a:cubicBezTo>
                  <a:cubicBezTo>
                    <a:pt x="12" y="5"/>
                    <a:pt x="12" y="5"/>
                    <a:pt x="12" y="5"/>
                  </a:cubicBezTo>
                  <a:cubicBezTo>
                    <a:pt x="11" y="6"/>
                    <a:pt x="11" y="6"/>
                    <a:pt x="11" y="6"/>
                  </a:cubicBezTo>
                  <a:cubicBezTo>
                    <a:pt x="11" y="6"/>
                    <a:pt x="10" y="6"/>
                    <a:pt x="10" y="6"/>
                  </a:cubicBezTo>
                  <a:cubicBezTo>
                    <a:pt x="9" y="6"/>
                    <a:pt x="9" y="7"/>
                    <a:pt x="9" y="7"/>
                  </a:cubicBezTo>
                  <a:cubicBezTo>
                    <a:pt x="8" y="8"/>
                    <a:pt x="8" y="8"/>
                    <a:pt x="8" y="8"/>
                  </a:cubicBezTo>
                  <a:cubicBezTo>
                    <a:pt x="11" y="8"/>
                    <a:pt x="11" y="8"/>
                    <a:pt x="11" y="8"/>
                  </a:cubicBezTo>
                  <a:cubicBezTo>
                    <a:pt x="12" y="9"/>
                    <a:pt x="12" y="9"/>
                    <a:pt x="12" y="9"/>
                  </a:cubicBezTo>
                  <a:cubicBezTo>
                    <a:pt x="13" y="9"/>
                    <a:pt x="13" y="8"/>
                    <a:pt x="13" y="8"/>
                  </a:cubicBezTo>
                  <a:cubicBezTo>
                    <a:pt x="15" y="8"/>
                    <a:pt x="15" y="8"/>
                    <a:pt x="15" y="8"/>
                  </a:cubicBezTo>
                  <a:cubicBezTo>
                    <a:pt x="13" y="14"/>
                    <a:pt x="13" y="14"/>
                    <a:pt x="13" y="14"/>
                  </a:cubicBezTo>
                  <a:cubicBezTo>
                    <a:pt x="11" y="13"/>
                    <a:pt x="11" y="13"/>
                    <a:pt x="11" y="13"/>
                  </a:cubicBezTo>
                  <a:cubicBezTo>
                    <a:pt x="11" y="13"/>
                    <a:pt x="11" y="13"/>
                    <a:pt x="11" y="12"/>
                  </a:cubicBezTo>
                  <a:cubicBezTo>
                    <a:pt x="11" y="12"/>
                    <a:pt x="11" y="12"/>
                    <a:pt x="10" y="11"/>
                  </a:cubicBezTo>
                  <a:cubicBezTo>
                    <a:pt x="5" y="10"/>
                    <a:pt x="5" y="10"/>
                    <a:pt x="5" y="10"/>
                  </a:cubicBezTo>
                  <a:cubicBezTo>
                    <a:pt x="4" y="9"/>
                    <a:pt x="3" y="9"/>
                    <a:pt x="3" y="9"/>
                  </a:cubicBezTo>
                  <a:cubicBezTo>
                    <a:pt x="2" y="9"/>
                    <a:pt x="2" y="10"/>
                    <a:pt x="2" y="10"/>
                  </a:cubicBezTo>
                  <a:lnTo>
                    <a:pt x="0" y="1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6" name="Freeform 39"/>
            <p:cNvSpPr/>
            <p:nvPr/>
          </p:nvSpPr>
          <p:spPr bwMode="auto">
            <a:xfrm>
              <a:off x="982663" y="5854700"/>
              <a:ext cx="36512" cy="30163"/>
            </a:xfrm>
            <a:custGeom>
              <a:avLst/>
              <a:gdLst>
                <a:gd name="T0" fmla="*/ 2 w 15"/>
                <a:gd name="T1" fmla="*/ 2 h 12"/>
                <a:gd name="T2" fmla="*/ 1 w 15"/>
                <a:gd name="T3" fmla="*/ 2 h 12"/>
                <a:gd name="T4" fmla="*/ 1 w 15"/>
                <a:gd name="T5" fmla="*/ 1 h 12"/>
                <a:gd name="T6" fmla="*/ 6 w 15"/>
                <a:gd name="T7" fmla="*/ 0 h 12"/>
                <a:gd name="T8" fmla="*/ 7 w 15"/>
                <a:gd name="T9" fmla="*/ 1 h 12"/>
                <a:gd name="T10" fmla="*/ 4 w 15"/>
                <a:gd name="T11" fmla="*/ 3 h 12"/>
                <a:gd name="T12" fmla="*/ 2 w 15"/>
                <a:gd name="T13" fmla="*/ 5 h 12"/>
                <a:gd name="T14" fmla="*/ 3 w 15"/>
                <a:gd name="T15" fmla="*/ 7 h 12"/>
                <a:gd name="T16" fmla="*/ 7 w 15"/>
                <a:gd name="T17" fmla="*/ 9 h 12"/>
                <a:gd name="T18" fmla="*/ 11 w 15"/>
                <a:gd name="T19" fmla="*/ 8 h 12"/>
                <a:gd name="T20" fmla="*/ 13 w 15"/>
                <a:gd name="T21" fmla="*/ 6 h 12"/>
                <a:gd name="T22" fmla="*/ 12 w 15"/>
                <a:gd name="T23" fmla="*/ 4 h 12"/>
                <a:gd name="T24" fmla="*/ 10 w 15"/>
                <a:gd name="T25" fmla="*/ 2 h 12"/>
                <a:gd name="T26" fmla="*/ 11 w 15"/>
                <a:gd name="T27" fmla="*/ 0 h 12"/>
                <a:gd name="T28" fmla="*/ 14 w 15"/>
                <a:gd name="T29" fmla="*/ 3 h 12"/>
                <a:gd name="T30" fmla="*/ 14 w 15"/>
                <a:gd name="T31" fmla="*/ 7 h 12"/>
                <a:gd name="T32" fmla="*/ 12 w 15"/>
                <a:gd name="T33" fmla="*/ 11 h 12"/>
                <a:gd name="T34" fmla="*/ 7 w 15"/>
                <a:gd name="T35" fmla="*/ 12 h 12"/>
                <a:gd name="T36" fmla="*/ 2 w 15"/>
                <a:gd name="T37" fmla="*/ 10 h 12"/>
                <a:gd name="T38" fmla="*/ 1 w 15"/>
                <a:gd name="T39" fmla="*/ 5 h 12"/>
                <a:gd name="T40" fmla="*/ 1 w 15"/>
                <a:gd name="T41" fmla="*/ 4 h 12"/>
                <a:gd name="T42" fmla="*/ 2 w 15"/>
                <a:gd name="T43"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 h="12">
                  <a:moveTo>
                    <a:pt x="2" y="2"/>
                  </a:moveTo>
                  <a:cubicBezTo>
                    <a:pt x="1" y="2"/>
                    <a:pt x="1" y="2"/>
                    <a:pt x="1" y="2"/>
                  </a:cubicBezTo>
                  <a:cubicBezTo>
                    <a:pt x="1" y="1"/>
                    <a:pt x="1" y="1"/>
                    <a:pt x="1" y="1"/>
                  </a:cubicBezTo>
                  <a:cubicBezTo>
                    <a:pt x="6" y="0"/>
                    <a:pt x="6" y="0"/>
                    <a:pt x="6" y="0"/>
                  </a:cubicBezTo>
                  <a:cubicBezTo>
                    <a:pt x="7" y="1"/>
                    <a:pt x="7" y="1"/>
                    <a:pt x="7" y="1"/>
                  </a:cubicBezTo>
                  <a:cubicBezTo>
                    <a:pt x="5" y="2"/>
                    <a:pt x="4" y="2"/>
                    <a:pt x="4" y="3"/>
                  </a:cubicBezTo>
                  <a:cubicBezTo>
                    <a:pt x="3" y="3"/>
                    <a:pt x="3" y="4"/>
                    <a:pt x="2" y="5"/>
                  </a:cubicBezTo>
                  <a:cubicBezTo>
                    <a:pt x="2" y="6"/>
                    <a:pt x="3" y="7"/>
                    <a:pt x="3" y="7"/>
                  </a:cubicBezTo>
                  <a:cubicBezTo>
                    <a:pt x="4" y="8"/>
                    <a:pt x="5" y="8"/>
                    <a:pt x="7" y="9"/>
                  </a:cubicBezTo>
                  <a:cubicBezTo>
                    <a:pt x="9" y="9"/>
                    <a:pt x="10" y="9"/>
                    <a:pt x="11" y="8"/>
                  </a:cubicBezTo>
                  <a:cubicBezTo>
                    <a:pt x="12" y="8"/>
                    <a:pt x="12" y="7"/>
                    <a:pt x="13" y="6"/>
                  </a:cubicBezTo>
                  <a:cubicBezTo>
                    <a:pt x="13" y="5"/>
                    <a:pt x="12" y="5"/>
                    <a:pt x="12" y="4"/>
                  </a:cubicBezTo>
                  <a:cubicBezTo>
                    <a:pt x="12" y="3"/>
                    <a:pt x="11" y="2"/>
                    <a:pt x="10" y="2"/>
                  </a:cubicBezTo>
                  <a:cubicBezTo>
                    <a:pt x="11" y="0"/>
                    <a:pt x="11" y="0"/>
                    <a:pt x="11" y="0"/>
                  </a:cubicBezTo>
                  <a:cubicBezTo>
                    <a:pt x="12" y="1"/>
                    <a:pt x="13" y="2"/>
                    <a:pt x="14" y="3"/>
                  </a:cubicBezTo>
                  <a:cubicBezTo>
                    <a:pt x="14" y="4"/>
                    <a:pt x="15" y="5"/>
                    <a:pt x="14" y="7"/>
                  </a:cubicBezTo>
                  <a:cubicBezTo>
                    <a:pt x="14" y="9"/>
                    <a:pt x="13" y="10"/>
                    <a:pt x="12" y="11"/>
                  </a:cubicBezTo>
                  <a:cubicBezTo>
                    <a:pt x="10" y="12"/>
                    <a:pt x="9" y="12"/>
                    <a:pt x="7" y="12"/>
                  </a:cubicBezTo>
                  <a:cubicBezTo>
                    <a:pt x="5" y="12"/>
                    <a:pt x="3" y="11"/>
                    <a:pt x="2" y="10"/>
                  </a:cubicBezTo>
                  <a:cubicBezTo>
                    <a:pt x="1" y="8"/>
                    <a:pt x="0" y="7"/>
                    <a:pt x="1" y="5"/>
                  </a:cubicBezTo>
                  <a:cubicBezTo>
                    <a:pt x="1" y="5"/>
                    <a:pt x="1" y="4"/>
                    <a:pt x="1" y="4"/>
                  </a:cubicBezTo>
                  <a:cubicBezTo>
                    <a:pt x="1" y="3"/>
                    <a:pt x="2" y="3"/>
                    <a:pt x="2" y="2"/>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7" name="Freeform 40"/>
            <p:cNvSpPr/>
            <p:nvPr/>
          </p:nvSpPr>
          <p:spPr bwMode="auto">
            <a:xfrm>
              <a:off x="984250" y="5819775"/>
              <a:ext cx="33337" cy="34925"/>
            </a:xfrm>
            <a:custGeom>
              <a:avLst/>
              <a:gdLst>
                <a:gd name="T0" fmla="*/ 0 w 13"/>
                <a:gd name="T1" fmla="*/ 14 h 14"/>
                <a:gd name="T2" fmla="*/ 0 w 13"/>
                <a:gd name="T3" fmla="*/ 8 h 14"/>
                <a:gd name="T4" fmla="*/ 1 w 13"/>
                <a:gd name="T5" fmla="*/ 8 h 14"/>
                <a:gd name="T6" fmla="*/ 2 w 13"/>
                <a:gd name="T7" fmla="*/ 9 h 14"/>
                <a:gd name="T8" fmla="*/ 4 w 13"/>
                <a:gd name="T9" fmla="*/ 9 h 14"/>
                <a:gd name="T10" fmla="*/ 5 w 13"/>
                <a:gd name="T11" fmla="*/ 9 h 14"/>
                <a:gd name="T12" fmla="*/ 5 w 13"/>
                <a:gd name="T13" fmla="*/ 5 h 14"/>
                <a:gd name="T14" fmla="*/ 4 w 13"/>
                <a:gd name="T15" fmla="*/ 5 h 14"/>
                <a:gd name="T16" fmla="*/ 2 w 13"/>
                <a:gd name="T17" fmla="*/ 5 h 14"/>
                <a:gd name="T18" fmla="*/ 1 w 13"/>
                <a:gd name="T19" fmla="*/ 6 h 14"/>
                <a:gd name="T20" fmla="*/ 0 w 13"/>
                <a:gd name="T21" fmla="*/ 6 h 14"/>
                <a:gd name="T22" fmla="*/ 0 w 13"/>
                <a:gd name="T23" fmla="*/ 0 h 14"/>
                <a:gd name="T24" fmla="*/ 1 w 13"/>
                <a:gd name="T25" fmla="*/ 0 h 14"/>
                <a:gd name="T26" fmla="*/ 2 w 13"/>
                <a:gd name="T27" fmla="*/ 1 h 14"/>
                <a:gd name="T28" fmla="*/ 4 w 13"/>
                <a:gd name="T29" fmla="*/ 2 h 14"/>
                <a:gd name="T30" fmla="*/ 9 w 13"/>
                <a:gd name="T31" fmla="*/ 1 h 14"/>
                <a:gd name="T32" fmla="*/ 11 w 13"/>
                <a:gd name="T33" fmla="*/ 1 h 14"/>
                <a:gd name="T34" fmla="*/ 11 w 13"/>
                <a:gd name="T35" fmla="*/ 0 h 14"/>
                <a:gd name="T36" fmla="*/ 13 w 13"/>
                <a:gd name="T37" fmla="*/ 0 h 14"/>
                <a:gd name="T38" fmla="*/ 13 w 13"/>
                <a:gd name="T39" fmla="*/ 6 h 14"/>
                <a:gd name="T40" fmla="*/ 11 w 13"/>
                <a:gd name="T41" fmla="*/ 6 h 14"/>
                <a:gd name="T42" fmla="*/ 11 w 13"/>
                <a:gd name="T43" fmla="*/ 5 h 14"/>
                <a:gd name="T44" fmla="*/ 9 w 13"/>
                <a:gd name="T45" fmla="*/ 5 h 14"/>
                <a:gd name="T46" fmla="*/ 7 w 13"/>
                <a:gd name="T47" fmla="*/ 5 h 14"/>
                <a:gd name="T48" fmla="*/ 7 w 13"/>
                <a:gd name="T49" fmla="*/ 9 h 14"/>
                <a:gd name="T50" fmla="*/ 9 w 13"/>
                <a:gd name="T51" fmla="*/ 9 h 14"/>
                <a:gd name="T52" fmla="*/ 11 w 13"/>
                <a:gd name="T53" fmla="*/ 9 h 14"/>
                <a:gd name="T54" fmla="*/ 12 w 13"/>
                <a:gd name="T55" fmla="*/ 7 h 14"/>
                <a:gd name="T56" fmla="*/ 13 w 13"/>
                <a:gd name="T57" fmla="*/ 7 h 14"/>
                <a:gd name="T58" fmla="*/ 13 w 13"/>
                <a:gd name="T59" fmla="*/ 13 h 14"/>
                <a:gd name="T60" fmla="*/ 12 w 13"/>
                <a:gd name="T61" fmla="*/ 13 h 14"/>
                <a:gd name="T62" fmla="*/ 11 w 13"/>
                <a:gd name="T63" fmla="*/ 12 h 14"/>
                <a:gd name="T64" fmla="*/ 9 w 13"/>
                <a:gd name="T65" fmla="*/ 12 h 14"/>
                <a:gd name="T66" fmla="*/ 4 w 13"/>
                <a:gd name="T67" fmla="*/ 12 h 14"/>
                <a:gd name="T68" fmla="*/ 2 w 13"/>
                <a:gd name="T69" fmla="*/ 13 h 14"/>
                <a:gd name="T70" fmla="*/ 2 w 13"/>
                <a:gd name="T71" fmla="*/ 14 h 14"/>
                <a:gd name="T72" fmla="*/ 0 w 13"/>
                <a:gd name="T73"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 h="14">
                  <a:moveTo>
                    <a:pt x="0" y="14"/>
                  </a:moveTo>
                  <a:cubicBezTo>
                    <a:pt x="0" y="8"/>
                    <a:pt x="0" y="8"/>
                    <a:pt x="0" y="8"/>
                  </a:cubicBezTo>
                  <a:cubicBezTo>
                    <a:pt x="1" y="8"/>
                    <a:pt x="1" y="8"/>
                    <a:pt x="1" y="8"/>
                  </a:cubicBezTo>
                  <a:cubicBezTo>
                    <a:pt x="2" y="8"/>
                    <a:pt x="2" y="9"/>
                    <a:pt x="2" y="9"/>
                  </a:cubicBezTo>
                  <a:cubicBezTo>
                    <a:pt x="2" y="9"/>
                    <a:pt x="3" y="9"/>
                    <a:pt x="4" y="9"/>
                  </a:cubicBezTo>
                  <a:cubicBezTo>
                    <a:pt x="5" y="9"/>
                    <a:pt x="5" y="9"/>
                    <a:pt x="5" y="9"/>
                  </a:cubicBezTo>
                  <a:cubicBezTo>
                    <a:pt x="5" y="5"/>
                    <a:pt x="5" y="5"/>
                    <a:pt x="5" y="5"/>
                  </a:cubicBezTo>
                  <a:cubicBezTo>
                    <a:pt x="4" y="5"/>
                    <a:pt x="4" y="5"/>
                    <a:pt x="4" y="5"/>
                  </a:cubicBezTo>
                  <a:cubicBezTo>
                    <a:pt x="3" y="5"/>
                    <a:pt x="2" y="5"/>
                    <a:pt x="2" y="5"/>
                  </a:cubicBezTo>
                  <a:cubicBezTo>
                    <a:pt x="2" y="5"/>
                    <a:pt x="1" y="6"/>
                    <a:pt x="1" y="6"/>
                  </a:cubicBezTo>
                  <a:cubicBezTo>
                    <a:pt x="0" y="6"/>
                    <a:pt x="0" y="6"/>
                    <a:pt x="0" y="6"/>
                  </a:cubicBezTo>
                  <a:cubicBezTo>
                    <a:pt x="0" y="0"/>
                    <a:pt x="0" y="0"/>
                    <a:pt x="0" y="0"/>
                  </a:cubicBezTo>
                  <a:cubicBezTo>
                    <a:pt x="1" y="0"/>
                    <a:pt x="1" y="0"/>
                    <a:pt x="1" y="0"/>
                  </a:cubicBezTo>
                  <a:cubicBezTo>
                    <a:pt x="1" y="1"/>
                    <a:pt x="1" y="1"/>
                    <a:pt x="2" y="1"/>
                  </a:cubicBezTo>
                  <a:cubicBezTo>
                    <a:pt x="2" y="2"/>
                    <a:pt x="3" y="2"/>
                    <a:pt x="4" y="2"/>
                  </a:cubicBezTo>
                  <a:cubicBezTo>
                    <a:pt x="9" y="1"/>
                    <a:pt x="9" y="1"/>
                    <a:pt x="9" y="1"/>
                  </a:cubicBezTo>
                  <a:cubicBezTo>
                    <a:pt x="10" y="1"/>
                    <a:pt x="10" y="1"/>
                    <a:pt x="11" y="1"/>
                  </a:cubicBezTo>
                  <a:cubicBezTo>
                    <a:pt x="11" y="1"/>
                    <a:pt x="11" y="1"/>
                    <a:pt x="11" y="0"/>
                  </a:cubicBezTo>
                  <a:cubicBezTo>
                    <a:pt x="13" y="0"/>
                    <a:pt x="13" y="0"/>
                    <a:pt x="13" y="0"/>
                  </a:cubicBezTo>
                  <a:cubicBezTo>
                    <a:pt x="13" y="6"/>
                    <a:pt x="13" y="6"/>
                    <a:pt x="13" y="6"/>
                  </a:cubicBezTo>
                  <a:cubicBezTo>
                    <a:pt x="11" y="6"/>
                    <a:pt x="11" y="6"/>
                    <a:pt x="11" y="6"/>
                  </a:cubicBezTo>
                  <a:cubicBezTo>
                    <a:pt x="11" y="5"/>
                    <a:pt x="11" y="5"/>
                    <a:pt x="11" y="5"/>
                  </a:cubicBezTo>
                  <a:cubicBezTo>
                    <a:pt x="11" y="5"/>
                    <a:pt x="10" y="4"/>
                    <a:pt x="9" y="5"/>
                  </a:cubicBezTo>
                  <a:cubicBezTo>
                    <a:pt x="7" y="5"/>
                    <a:pt x="7" y="5"/>
                    <a:pt x="7" y="5"/>
                  </a:cubicBezTo>
                  <a:cubicBezTo>
                    <a:pt x="7" y="9"/>
                    <a:pt x="7" y="9"/>
                    <a:pt x="7" y="9"/>
                  </a:cubicBezTo>
                  <a:cubicBezTo>
                    <a:pt x="9" y="9"/>
                    <a:pt x="9" y="9"/>
                    <a:pt x="9" y="9"/>
                  </a:cubicBezTo>
                  <a:cubicBezTo>
                    <a:pt x="10" y="9"/>
                    <a:pt x="11" y="9"/>
                    <a:pt x="11" y="9"/>
                  </a:cubicBezTo>
                  <a:cubicBezTo>
                    <a:pt x="11" y="8"/>
                    <a:pt x="12" y="8"/>
                    <a:pt x="12" y="7"/>
                  </a:cubicBezTo>
                  <a:cubicBezTo>
                    <a:pt x="13" y="7"/>
                    <a:pt x="13" y="7"/>
                    <a:pt x="13" y="7"/>
                  </a:cubicBezTo>
                  <a:cubicBezTo>
                    <a:pt x="13" y="13"/>
                    <a:pt x="13" y="13"/>
                    <a:pt x="13" y="13"/>
                  </a:cubicBezTo>
                  <a:cubicBezTo>
                    <a:pt x="12" y="13"/>
                    <a:pt x="12" y="13"/>
                    <a:pt x="12" y="13"/>
                  </a:cubicBezTo>
                  <a:cubicBezTo>
                    <a:pt x="12" y="13"/>
                    <a:pt x="12" y="12"/>
                    <a:pt x="11" y="12"/>
                  </a:cubicBezTo>
                  <a:cubicBezTo>
                    <a:pt x="11" y="12"/>
                    <a:pt x="10" y="12"/>
                    <a:pt x="9" y="12"/>
                  </a:cubicBezTo>
                  <a:cubicBezTo>
                    <a:pt x="4" y="12"/>
                    <a:pt x="4" y="12"/>
                    <a:pt x="4" y="12"/>
                  </a:cubicBezTo>
                  <a:cubicBezTo>
                    <a:pt x="3" y="12"/>
                    <a:pt x="2" y="12"/>
                    <a:pt x="2" y="13"/>
                  </a:cubicBezTo>
                  <a:cubicBezTo>
                    <a:pt x="2" y="13"/>
                    <a:pt x="2" y="13"/>
                    <a:pt x="2" y="14"/>
                  </a:cubicBezTo>
                  <a:lnTo>
                    <a:pt x="0" y="14"/>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8" name="Freeform 41"/>
            <p:cNvSpPr/>
            <p:nvPr/>
          </p:nvSpPr>
          <p:spPr bwMode="auto">
            <a:xfrm>
              <a:off x="982663" y="5799138"/>
              <a:ext cx="34925" cy="20638"/>
            </a:xfrm>
            <a:custGeom>
              <a:avLst/>
              <a:gdLst>
                <a:gd name="T0" fmla="*/ 1 w 14"/>
                <a:gd name="T1" fmla="*/ 8 h 8"/>
                <a:gd name="T2" fmla="*/ 0 w 14"/>
                <a:gd name="T3" fmla="*/ 5 h 8"/>
                <a:gd name="T4" fmla="*/ 0 w 14"/>
                <a:gd name="T5" fmla="*/ 2 h 8"/>
                <a:gd name="T6" fmla="*/ 1 w 14"/>
                <a:gd name="T7" fmla="*/ 2 h 8"/>
                <a:gd name="T8" fmla="*/ 2 w 14"/>
                <a:gd name="T9" fmla="*/ 3 h 8"/>
                <a:gd name="T10" fmla="*/ 4 w 14"/>
                <a:gd name="T11" fmla="*/ 3 h 8"/>
                <a:gd name="T12" fmla="*/ 9 w 14"/>
                <a:gd name="T13" fmla="*/ 2 h 8"/>
                <a:gd name="T14" fmla="*/ 11 w 14"/>
                <a:gd name="T15" fmla="*/ 1 h 8"/>
                <a:gd name="T16" fmla="*/ 11 w 14"/>
                <a:gd name="T17" fmla="*/ 0 h 8"/>
                <a:gd name="T18" fmla="*/ 12 w 14"/>
                <a:gd name="T19" fmla="*/ 0 h 8"/>
                <a:gd name="T20" fmla="*/ 14 w 14"/>
                <a:gd name="T21" fmla="*/ 5 h 8"/>
                <a:gd name="T22" fmla="*/ 12 w 14"/>
                <a:gd name="T23" fmla="*/ 6 h 8"/>
                <a:gd name="T24" fmla="*/ 11 w 14"/>
                <a:gd name="T25" fmla="*/ 5 h 8"/>
                <a:gd name="T26" fmla="*/ 9 w 14"/>
                <a:gd name="T27" fmla="*/ 5 h 8"/>
                <a:gd name="T28" fmla="*/ 4 w 14"/>
                <a:gd name="T29" fmla="*/ 6 h 8"/>
                <a:gd name="T30" fmla="*/ 2 w 14"/>
                <a:gd name="T31" fmla="*/ 6 h 8"/>
                <a:gd name="T32" fmla="*/ 2 w 14"/>
                <a:gd name="T33" fmla="*/ 8 h 8"/>
                <a:gd name="T34" fmla="*/ 1 w 14"/>
                <a:gd name="T35"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 h="8">
                  <a:moveTo>
                    <a:pt x="1" y="8"/>
                  </a:moveTo>
                  <a:cubicBezTo>
                    <a:pt x="1" y="8"/>
                    <a:pt x="0" y="7"/>
                    <a:pt x="0" y="5"/>
                  </a:cubicBezTo>
                  <a:cubicBezTo>
                    <a:pt x="0" y="3"/>
                    <a:pt x="0" y="2"/>
                    <a:pt x="0" y="2"/>
                  </a:cubicBezTo>
                  <a:cubicBezTo>
                    <a:pt x="1" y="2"/>
                    <a:pt x="1" y="2"/>
                    <a:pt x="1" y="2"/>
                  </a:cubicBezTo>
                  <a:cubicBezTo>
                    <a:pt x="1" y="2"/>
                    <a:pt x="1" y="3"/>
                    <a:pt x="2" y="3"/>
                  </a:cubicBezTo>
                  <a:cubicBezTo>
                    <a:pt x="2" y="3"/>
                    <a:pt x="3" y="3"/>
                    <a:pt x="4" y="3"/>
                  </a:cubicBezTo>
                  <a:cubicBezTo>
                    <a:pt x="9" y="2"/>
                    <a:pt x="9" y="2"/>
                    <a:pt x="9" y="2"/>
                  </a:cubicBezTo>
                  <a:cubicBezTo>
                    <a:pt x="10" y="2"/>
                    <a:pt x="10" y="1"/>
                    <a:pt x="11" y="1"/>
                  </a:cubicBezTo>
                  <a:cubicBezTo>
                    <a:pt x="11" y="1"/>
                    <a:pt x="11" y="0"/>
                    <a:pt x="11" y="0"/>
                  </a:cubicBezTo>
                  <a:cubicBezTo>
                    <a:pt x="12" y="0"/>
                    <a:pt x="12" y="0"/>
                    <a:pt x="12" y="0"/>
                  </a:cubicBezTo>
                  <a:cubicBezTo>
                    <a:pt x="14" y="5"/>
                    <a:pt x="14" y="5"/>
                    <a:pt x="14" y="5"/>
                  </a:cubicBezTo>
                  <a:cubicBezTo>
                    <a:pt x="12" y="6"/>
                    <a:pt x="12" y="6"/>
                    <a:pt x="12" y="6"/>
                  </a:cubicBezTo>
                  <a:cubicBezTo>
                    <a:pt x="12" y="5"/>
                    <a:pt x="12" y="5"/>
                    <a:pt x="11" y="5"/>
                  </a:cubicBezTo>
                  <a:cubicBezTo>
                    <a:pt x="11" y="5"/>
                    <a:pt x="10" y="5"/>
                    <a:pt x="9" y="5"/>
                  </a:cubicBezTo>
                  <a:cubicBezTo>
                    <a:pt x="4" y="6"/>
                    <a:pt x="4" y="6"/>
                    <a:pt x="4" y="6"/>
                  </a:cubicBezTo>
                  <a:cubicBezTo>
                    <a:pt x="3" y="6"/>
                    <a:pt x="3" y="6"/>
                    <a:pt x="2" y="6"/>
                  </a:cubicBezTo>
                  <a:cubicBezTo>
                    <a:pt x="2" y="7"/>
                    <a:pt x="2" y="7"/>
                    <a:pt x="2" y="8"/>
                  </a:cubicBezTo>
                  <a:lnTo>
                    <a:pt x="1" y="8"/>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39" name="Freeform 42"/>
            <p:cNvSpPr/>
            <p:nvPr/>
          </p:nvSpPr>
          <p:spPr bwMode="auto">
            <a:xfrm>
              <a:off x="973138" y="5767388"/>
              <a:ext cx="39687" cy="34925"/>
            </a:xfrm>
            <a:custGeom>
              <a:avLst/>
              <a:gdLst>
                <a:gd name="T0" fmla="*/ 3 w 16"/>
                <a:gd name="T1" fmla="*/ 14 h 14"/>
                <a:gd name="T2" fmla="*/ 2 w 16"/>
                <a:gd name="T3" fmla="*/ 9 h 14"/>
                <a:gd name="T4" fmla="*/ 8 w 16"/>
                <a:gd name="T5" fmla="*/ 3 h 14"/>
                <a:gd name="T6" fmla="*/ 5 w 16"/>
                <a:gd name="T7" fmla="*/ 4 h 14"/>
                <a:gd name="T8" fmla="*/ 3 w 16"/>
                <a:gd name="T9" fmla="*/ 5 h 14"/>
                <a:gd name="T10" fmla="*/ 3 w 16"/>
                <a:gd name="T11" fmla="*/ 6 h 14"/>
                <a:gd name="T12" fmla="*/ 1 w 16"/>
                <a:gd name="T13" fmla="*/ 7 h 14"/>
                <a:gd name="T14" fmla="*/ 0 w 16"/>
                <a:gd name="T15" fmla="*/ 3 h 14"/>
                <a:gd name="T16" fmla="*/ 2 w 16"/>
                <a:gd name="T17" fmla="*/ 2 h 14"/>
                <a:gd name="T18" fmla="*/ 2 w 16"/>
                <a:gd name="T19" fmla="*/ 3 h 14"/>
                <a:gd name="T20" fmla="*/ 4 w 16"/>
                <a:gd name="T21" fmla="*/ 3 h 14"/>
                <a:gd name="T22" fmla="*/ 13 w 16"/>
                <a:gd name="T23" fmla="*/ 0 h 14"/>
                <a:gd name="T24" fmla="*/ 14 w 16"/>
                <a:gd name="T25" fmla="*/ 2 h 14"/>
                <a:gd name="T26" fmla="*/ 6 w 16"/>
                <a:gd name="T27" fmla="*/ 11 h 14"/>
                <a:gd name="T28" fmla="*/ 11 w 16"/>
                <a:gd name="T29" fmla="*/ 9 h 14"/>
                <a:gd name="T30" fmla="*/ 13 w 16"/>
                <a:gd name="T31" fmla="*/ 8 h 14"/>
                <a:gd name="T32" fmla="*/ 13 w 16"/>
                <a:gd name="T33" fmla="*/ 7 h 14"/>
                <a:gd name="T34" fmla="*/ 15 w 16"/>
                <a:gd name="T35" fmla="*/ 6 h 14"/>
                <a:gd name="T36" fmla="*/ 16 w 16"/>
                <a:gd name="T37" fmla="*/ 11 h 14"/>
                <a:gd name="T38" fmla="*/ 15 w 16"/>
                <a:gd name="T39" fmla="*/ 11 h 14"/>
                <a:gd name="T40" fmla="*/ 14 w 16"/>
                <a:gd name="T41" fmla="*/ 10 h 14"/>
                <a:gd name="T42" fmla="*/ 12 w 16"/>
                <a:gd name="T43" fmla="*/ 10 h 14"/>
                <a:gd name="T44" fmla="*/ 7 w 16"/>
                <a:gd name="T45" fmla="*/ 12 h 14"/>
                <a:gd name="T46" fmla="*/ 5 w 16"/>
                <a:gd name="T47" fmla="*/ 13 h 14"/>
                <a:gd name="T48" fmla="*/ 5 w 16"/>
                <a:gd name="T49" fmla="*/ 14 h 14"/>
                <a:gd name="T50" fmla="*/ 3 w 16"/>
                <a:gd name="T51"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 h="14">
                  <a:moveTo>
                    <a:pt x="3" y="14"/>
                  </a:moveTo>
                  <a:cubicBezTo>
                    <a:pt x="2" y="9"/>
                    <a:pt x="2" y="9"/>
                    <a:pt x="2" y="9"/>
                  </a:cubicBezTo>
                  <a:cubicBezTo>
                    <a:pt x="8" y="3"/>
                    <a:pt x="8" y="3"/>
                    <a:pt x="8" y="3"/>
                  </a:cubicBezTo>
                  <a:cubicBezTo>
                    <a:pt x="5" y="4"/>
                    <a:pt x="5" y="4"/>
                    <a:pt x="5" y="4"/>
                  </a:cubicBezTo>
                  <a:cubicBezTo>
                    <a:pt x="4" y="5"/>
                    <a:pt x="3" y="5"/>
                    <a:pt x="3" y="5"/>
                  </a:cubicBezTo>
                  <a:cubicBezTo>
                    <a:pt x="3" y="5"/>
                    <a:pt x="3" y="6"/>
                    <a:pt x="3" y="6"/>
                  </a:cubicBezTo>
                  <a:cubicBezTo>
                    <a:pt x="1" y="7"/>
                    <a:pt x="1" y="7"/>
                    <a:pt x="1" y="7"/>
                  </a:cubicBezTo>
                  <a:cubicBezTo>
                    <a:pt x="0" y="3"/>
                    <a:pt x="0" y="3"/>
                    <a:pt x="0" y="3"/>
                  </a:cubicBezTo>
                  <a:cubicBezTo>
                    <a:pt x="2" y="2"/>
                    <a:pt x="2" y="2"/>
                    <a:pt x="2" y="2"/>
                  </a:cubicBezTo>
                  <a:cubicBezTo>
                    <a:pt x="2" y="3"/>
                    <a:pt x="2" y="3"/>
                    <a:pt x="2" y="3"/>
                  </a:cubicBezTo>
                  <a:cubicBezTo>
                    <a:pt x="3" y="3"/>
                    <a:pt x="3" y="3"/>
                    <a:pt x="4" y="3"/>
                  </a:cubicBezTo>
                  <a:cubicBezTo>
                    <a:pt x="13" y="0"/>
                    <a:pt x="13" y="0"/>
                    <a:pt x="13" y="0"/>
                  </a:cubicBezTo>
                  <a:cubicBezTo>
                    <a:pt x="14" y="2"/>
                    <a:pt x="14" y="2"/>
                    <a:pt x="14" y="2"/>
                  </a:cubicBezTo>
                  <a:cubicBezTo>
                    <a:pt x="6" y="11"/>
                    <a:pt x="6" y="11"/>
                    <a:pt x="6" y="11"/>
                  </a:cubicBezTo>
                  <a:cubicBezTo>
                    <a:pt x="11" y="9"/>
                    <a:pt x="11" y="9"/>
                    <a:pt x="11" y="9"/>
                  </a:cubicBezTo>
                  <a:cubicBezTo>
                    <a:pt x="12" y="9"/>
                    <a:pt x="13" y="8"/>
                    <a:pt x="13" y="8"/>
                  </a:cubicBezTo>
                  <a:cubicBezTo>
                    <a:pt x="14" y="8"/>
                    <a:pt x="14" y="7"/>
                    <a:pt x="13" y="7"/>
                  </a:cubicBezTo>
                  <a:cubicBezTo>
                    <a:pt x="15" y="6"/>
                    <a:pt x="15" y="6"/>
                    <a:pt x="15" y="6"/>
                  </a:cubicBezTo>
                  <a:cubicBezTo>
                    <a:pt x="16" y="11"/>
                    <a:pt x="16" y="11"/>
                    <a:pt x="16" y="11"/>
                  </a:cubicBezTo>
                  <a:cubicBezTo>
                    <a:pt x="15" y="11"/>
                    <a:pt x="15" y="11"/>
                    <a:pt x="15" y="11"/>
                  </a:cubicBezTo>
                  <a:cubicBezTo>
                    <a:pt x="14" y="11"/>
                    <a:pt x="14" y="10"/>
                    <a:pt x="14" y="10"/>
                  </a:cubicBezTo>
                  <a:cubicBezTo>
                    <a:pt x="14" y="10"/>
                    <a:pt x="13" y="10"/>
                    <a:pt x="12" y="10"/>
                  </a:cubicBezTo>
                  <a:cubicBezTo>
                    <a:pt x="7" y="12"/>
                    <a:pt x="7" y="12"/>
                    <a:pt x="7" y="12"/>
                  </a:cubicBezTo>
                  <a:cubicBezTo>
                    <a:pt x="6" y="12"/>
                    <a:pt x="5" y="12"/>
                    <a:pt x="5" y="13"/>
                  </a:cubicBezTo>
                  <a:cubicBezTo>
                    <a:pt x="5" y="13"/>
                    <a:pt x="5" y="13"/>
                    <a:pt x="5" y="14"/>
                  </a:cubicBezTo>
                  <a:lnTo>
                    <a:pt x="3" y="14"/>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0" name="Freeform 43"/>
            <p:cNvSpPr>
              <a:spLocks noEditPoints="1"/>
            </p:cNvSpPr>
            <p:nvPr/>
          </p:nvSpPr>
          <p:spPr bwMode="auto">
            <a:xfrm>
              <a:off x="966788" y="5734050"/>
              <a:ext cx="38100" cy="33338"/>
            </a:xfrm>
            <a:custGeom>
              <a:avLst/>
              <a:gdLst>
                <a:gd name="T0" fmla="*/ 6 w 15"/>
                <a:gd name="T1" fmla="*/ 8 h 13"/>
                <a:gd name="T2" fmla="*/ 7 w 15"/>
                <a:gd name="T3" fmla="*/ 10 h 13"/>
                <a:gd name="T4" fmla="*/ 3 w 15"/>
                <a:gd name="T5" fmla="*/ 11 h 13"/>
                <a:gd name="T6" fmla="*/ 6 w 15"/>
                <a:gd name="T7" fmla="*/ 8 h 13"/>
                <a:gd name="T8" fmla="*/ 11 w 15"/>
                <a:gd name="T9" fmla="*/ 12 h 13"/>
                <a:gd name="T10" fmla="*/ 11 w 15"/>
                <a:gd name="T11" fmla="*/ 12 h 13"/>
                <a:gd name="T12" fmla="*/ 13 w 15"/>
                <a:gd name="T13" fmla="*/ 13 h 13"/>
                <a:gd name="T14" fmla="*/ 15 w 15"/>
                <a:gd name="T15" fmla="*/ 12 h 13"/>
                <a:gd name="T16" fmla="*/ 13 w 15"/>
                <a:gd name="T17" fmla="*/ 8 h 13"/>
                <a:gd name="T18" fmla="*/ 11 w 15"/>
                <a:gd name="T19" fmla="*/ 8 h 13"/>
                <a:gd name="T20" fmla="*/ 12 w 15"/>
                <a:gd name="T21" fmla="*/ 9 h 13"/>
                <a:gd name="T22" fmla="*/ 11 w 15"/>
                <a:gd name="T23" fmla="*/ 10 h 13"/>
                <a:gd name="T24" fmla="*/ 11 w 15"/>
                <a:gd name="T25" fmla="*/ 10 h 13"/>
                <a:gd name="T26" fmla="*/ 11 w 15"/>
                <a:gd name="T27" fmla="*/ 10 h 13"/>
                <a:gd name="T28" fmla="*/ 9 w 15"/>
                <a:gd name="T29" fmla="*/ 10 h 13"/>
                <a:gd name="T30" fmla="*/ 7 w 15"/>
                <a:gd name="T31" fmla="*/ 7 h 13"/>
                <a:gd name="T32" fmla="*/ 9 w 15"/>
                <a:gd name="T33" fmla="*/ 6 h 13"/>
                <a:gd name="T34" fmla="*/ 9 w 15"/>
                <a:gd name="T35" fmla="*/ 5 h 13"/>
                <a:gd name="T36" fmla="*/ 9 w 15"/>
                <a:gd name="T37" fmla="*/ 5 h 13"/>
                <a:gd name="T38" fmla="*/ 10 w 15"/>
                <a:gd name="T39" fmla="*/ 5 h 13"/>
                <a:gd name="T40" fmla="*/ 10 w 15"/>
                <a:gd name="T41" fmla="*/ 6 h 13"/>
                <a:gd name="T42" fmla="*/ 10 w 15"/>
                <a:gd name="T43" fmla="*/ 6 h 13"/>
                <a:gd name="T44" fmla="*/ 12 w 15"/>
                <a:gd name="T45" fmla="*/ 6 h 13"/>
                <a:gd name="T46" fmla="*/ 10 w 15"/>
                <a:gd name="T47" fmla="*/ 0 h 13"/>
                <a:gd name="T48" fmla="*/ 8 w 15"/>
                <a:gd name="T49" fmla="*/ 1 h 13"/>
                <a:gd name="T50" fmla="*/ 7 w 15"/>
                <a:gd name="T51" fmla="*/ 3 h 13"/>
                <a:gd name="T52" fmla="*/ 7 w 15"/>
                <a:gd name="T53" fmla="*/ 3 h 13"/>
                <a:gd name="T54" fmla="*/ 0 w 15"/>
                <a:gd name="T55" fmla="*/ 10 h 13"/>
                <a:gd name="T56" fmla="*/ 1 w 15"/>
                <a:gd name="T57" fmla="*/ 13 h 13"/>
                <a:gd name="T58" fmla="*/ 11 w 15"/>
                <a:gd name="T59"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 h="13">
                  <a:moveTo>
                    <a:pt x="6" y="8"/>
                  </a:moveTo>
                  <a:cubicBezTo>
                    <a:pt x="7" y="10"/>
                    <a:pt x="7" y="10"/>
                    <a:pt x="7" y="10"/>
                  </a:cubicBezTo>
                  <a:cubicBezTo>
                    <a:pt x="3" y="11"/>
                    <a:pt x="3" y="11"/>
                    <a:pt x="3" y="11"/>
                  </a:cubicBezTo>
                  <a:lnTo>
                    <a:pt x="6" y="8"/>
                  </a:lnTo>
                  <a:close/>
                  <a:moveTo>
                    <a:pt x="11" y="12"/>
                  </a:moveTo>
                  <a:cubicBezTo>
                    <a:pt x="11" y="12"/>
                    <a:pt x="11" y="12"/>
                    <a:pt x="11" y="12"/>
                  </a:cubicBezTo>
                  <a:cubicBezTo>
                    <a:pt x="12" y="12"/>
                    <a:pt x="13" y="12"/>
                    <a:pt x="13" y="13"/>
                  </a:cubicBezTo>
                  <a:cubicBezTo>
                    <a:pt x="15" y="12"/>
                    <a:pt x="15" y="12"/>
                    <a:pt x="15" y="12"/>
                  </a:cubicBezTo>
                  <a:cubicBezTo>
                    <a:pt x="13" y="8"/>
                    <a:pt x="13" y="8"/>
                    <a:pt x="13" y="8"/>
                  </a:cubicBezTo>
                  <a:cubicBezTo>
                    <a:pt x="11" y="8"/>
                    <a:pt x="11" y="8"/>
                    <a:pt x="11" y="8"/>
                  </a:cubicBezTo>
                  <a:cubicBezTo>
                    <a:pt x="12" y="9"/>
                    <a:pt x="12" y="9"/>
                    <a:pt x="12" y="9"/>
                  </a:cubicBezTo>
                  <a:cubicBezTo>
                    <a:pt x="12" y="10"/>
                    <a:pt x="11" y="10"/>
                    <a:pt x="11" y="10"/>
                  </a:cubicBezTo>
                  <a:cubicBezTo>
                    <a:pt x="11" y="10"/>
                    <a:pt x="11" y="10"/>
                    <a:pt x="11" y="10"/>
                  </a:cubicBezTo>
                  <a:cubicBezTo>
                    <a:pt x="11" y="10"/>
                    <a:pt x="11" y="10"/>
                    <a:pt x="11" y="10"/>
                  </a:cubicBezTo>
                  <a:cubicBezTo>
                    <a:pt x="9" y="10"/>
                    <a:pt x="9" y="10"/>
                    <a:pt x="9" y="10"/>
                  </a:cubicBezTo>
                  <a:cubicBezTo>
                    <a:pt x="7" y="7"/>
                    <a:pt x="7" y="7"/>
                    <a:pt x="7" y="7"/>
                  </a:cubicBezTo>
                  <a:cubicBezTo>
                    <a:pt x="9" y="6"/>
                    <a:pt x="9" y="6"/>
                    <a:pt x="9" y="6"/>
                  </a:cubicBezTo>
                  <a:cubicBezTo>
                    <a:pt x="9" y="6"/>
                    <a:pt x="9" y="6"/>
                    <a:pt x="9" y="5"/>
                  </a:cubicBezTo>
                  <a:cubicBezTo>
                    <a:pt x="9" y="5"/>
                    <a:pt x="9" y="5"/>
                    <a:pt x="9" y="5"/>
                  </a:cubicBezTo>
                  <a:cubicBezTo>
                    <a:pt x="10" y="5"/>
                    <a:pt x="10" y="5"/>
                    <a:pt x="10" y="5"/>
                  </a:cubicBezTo>
                  <a:cubicBezTo>
                    <a:pt x="10" y="5"/>
                    <a:pt x="10" y="6"/>
                    <a:pt x="10" y="6"/>
                  </a:cubicBezTo>
                  <a:cubicBezTo>
                    <a:pt x="10" y="6"/>
                    <a:pt x="10" y="6"/>
                    <a:pt x="10" y="6"/>
                  </a:cubicBezTo>
                  <a:cubicBezTo>
                    <a:pt x="12" y="6"/>
                    <a:pt x="12" y="6"/>
                    <a:pt x="12" y="6"/>
                  </a:cubicBezTo>
                  <a:cubicBezTo>
                    <a:pt x="10" y="0"/>
                    <a:pt x="10" y="0"/>
                    <a:pt x="10" y="0"/>
                  </a:cubicBezTo>
                  <a:cubicBezTo>
                    <a:pt x="8" y="1"/>
                    <a:pt x="8" y="1"/>
                    <a:pt x="8" y="1"/>
                  </a:cubicBezTo>
                  <a:cubicBezTo>
                    <a:pt x="8" y="2"/>
                    <a:pt x="8" y="2"/>
                    <a:pt x="7" y="3"/>
                  </a:cubicBezTo>
                  <a:cubicBezTo>
                    <a:pt x="7" y="3"/>
                    <a:pt x="7" y="3"/>
                    <a:pt x="7" y="3"/>
                  </a:cubicBezTo>
                  <a:cubicBezTo>
                    <a:pt x="0" y="10"/>
                    <a:pt x="0" y="10"/>
                    <a:pt x="0" y="10"/>
                  </a:cubicBezTo>
                  <a:cubicBezTo>
                    <a:pt x="1" y="13"/>
                    <a:pt x="1" y="13"/>
                    <a:pt x="1" y="13"/>
                  </a:cubicBezTo>
                  <a:lnTo>
                    <a:pt x="11" y="12"/>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1" name="Freeform 44"/>
            <p:cNvSpPr/>
            <p:nvPr/>
          </p:nvSpPr>
          <p:spPr bwMode="auto">
            <a:xfrm>
              <a:off x="930275" y="5957888"/>
              <a:ext cx="42862" cy="44450"/>
            </a:xfrm>
            <a:custGeom>
              <a:avLst/>
              <a:gdLst>
                <a:gd name="T0" fmla="*/ 0 w 17"/>
                <a:gd name="T1" fmla="*/ 10 h 18"/>
                <a:gd name="T2" fmla="*/ 3 w 17"/>
                <a:gd name="T3" fmla="*/ 6 h 18"/>
                <a:gd name="T4" fmla="*/ 12 w 17"/>
                <a:gd name="T5" fmla="*/ 7 h 18"/>
                <a:gd name="T6" fmla="*/ 9 w 17"/>
                <a:gd name="T7" fmla="*/ 5 h 18"/>
                <a:gd name="T8" fmla="*/ 7 w 17"/>
                <a:gd name="T9" fmla="*/ 4 h 18"/>
                <a:gd name="T10" fmla="*/ 6 w 17"/>
                <a:gd name="T11" fmla="*/ 5 h 18"/>
                <a:gd name="T12" fmla="*/ 5 w 17"/>
                <a:gd name="T13" fmla="*/ 4 h 18"/>
                <a:gd name="T14" fmla="*/ 8 w 17"/>
                <a:gd name="T15" fmla="*/ 0 h 18"/>
                <a:gd name="T16" fmla="*/ 9 w 17"/>
                <a:gd name="T17" fmla="*/ 1 h 18"/>
                <a:gd name="T18" fmla="*/ 9 w 17"/>
                <a:gd name="T19" fmla="*/ 2 h 18"/>
                <a:gd name="T20" fmla="*/ 10 w 17"/>
                <a:gd name="T21" fmla="*/ 4 h 18"/>
                <a:gd name="T22" fmla="*/ 17 w 17"/>
                <a:gd name="T23" fmla="*/ 10 h 18"/>
                <a:gd name="T24" fmla="*/ 16 w 17"/>
                <a:gd name="T25" fmla="*/ 11 h 18"/>
                <a:gd name="T26" fmla="*/ 4 w 17"/>
                <a:gd name="T27" fmla="*/ 9 h 18"/>
                <a:gd name="T28" fmla="*/ 9 w 17"/>
                <a:gd name="T29" fmla="*/ 13 h 18"/>
                <a:gd name="T30" fmla="*/ 11 w 17"/>
                <a:gd name="T31" fmla="*/ 14 h 18"/>
                <a:gd name="T32" fmla="*/ 12 w 17"/>
                <a:gd name="T33" fmla="*/ 14 h 18"/>
                <a:gd name="T34" fmla="*/ 13 w 17"/>
                <a:gd name="T35" fmla="*/ 15 h 18"/>
                <a:gd name="T36" fmla="*/ 10 w 17"/>
                <a:gd name="T37" fmla="*/ 18 h 18"/>
                <a:gd name="T38" fmla="*/ 9 w 17"/>
                <a:gd name="T39" fmla="*/ 17 h 18"/>
                <a:gd name="T40" fmla="*/ 9 w 17"/>
                <a:gd name="T41" fmla="*/ 16 h 18"/>
                <a:gd name="T42" fmla="*/ 8 w 17"/>
                <a:gd name="T43" fmla="*/ 14 h 18"/>
                <a:gd name="T44" fmla="*/ 4 w 17"/>
                <a:gd name="T45" fmla="*/ 11 h 18"/>
                <a:gd name="T46" fmla="*/ 2 w 17"/>
                <a:gd name="T47" fmla="*/ 10 h 18"/>
                <a:gd name="T48" fmla="*/ 1 w 17"/>
                <a:gd name="T49" fmla="*/ 11 h 18"/>
                <a:gd name="T50" fmla="*/ 0 w 17"/>
                <a:gd name="T51"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 h="18">
                  <a:moveTo>
                    <a:pt x="0" y="10"/>
                  </a:moveTo>
                  <a:cubicBezTo>
                    <a:pt x="3" y="6"/>
                    <a:pt x="3" y="6"/>
                    <a:pt x="3" y="6"/>
                  </a:cubicBezTo>
                  <a:cubicBezTo>
                    <a:pt x="12" y="7"/>
                    <a:pt x="12" y="7"/>
                    <a:pt x="12" y="7"/>
                  </a:cubicBezTo>
                  <a:cubicBezTo>
                    <a:pt x="9" y="5"/>
                    <a:pt x="9" y="5"/>
                    <a:pt x="9" y="5"/>
                  </a:cubicBezTo>
                  <a:cubicBezTo>
                    <a:pt x="8" y="4"/>
                    <a:pt x="8" y="4"/>
                    <a:pt x="7" y="4"/>
                  </a:cubicBezTo>
                  <a:cubicBezTo>
                    <a:pt x="7" y="4"/>
                    <a:pt x="7" y="4"/>
                    <a:pt x="6" y="5"/>
                  </a:cubicBezTo>
                  <a:cubicBezTo>
                    <a:pt x="5" y="4"/>
                    <a:pt x="5" y="4"/>
                    <a:pt x="5" y="4"/>
                  </a:cubicBezTo>
                  <a:cubicBezTo>
                    <a:pt x="8" y="0"/>
                    <a:pt x="8" y="0"/>
                    <a:pt x="8" y="0"/>
                  </a:cubicBezTo>
                  <a:cubicBezTo>
                    <a:pt x="9" y="1"/>
                    <a:pt x="9" y="1"/>
                    <a:pt x="9" y="1"/>
                  </a:cubicBezTo>
                  <a:cubicBezTo>
                    <a:pt x="9" y="2"/>
                    <a:pt x="9" y="2"/>
                    <a:pt x="9" y="2"/>
                  </a:cubicBezTo>
                  <a:cubicBezTo>
                    <a:pt x="9" y="3"/>
                    <a:pt x="9" y="3"/>
                    <a:pt x="10" y="4"/>
                  </a:cubicBezTo>
                  <a:cubicBezTo>
                    <a:pt x="17" y="10"/>
                    <a:pt x="17" y="10"/>
                    <a:pt x="17" y="10"/>
                  </a:cubicBezTo>
                  <a:cubicBezTo>
                    <a:pt x="16" y="11"/>
                    <a:pt x="16" y="11"/>
                    <a:pt x="16" y="11"/>
                  </a:cubicBezTo>
                  <a:cubicBezTo>
                    <a:pt x="4" y="9"/>
                    <a:pt x="4" y="9"/>
                    <a:pt x="4" y="9"/>
                  </a:cubicBezTo>
                  <a:cubicBezTo>
                    <a:pt x="9" y="13"/>
                    <a:pt x="9" y="13"/>
                    <a:pt x="9" y="13"/>
                  </a:cubicBezTo>
                  <a:cubicBezTo>
                    <a:pt x="10" y="14"/>
                    <a:pt x="10" y="14"/>
                    <a:pt x="11" y="14"/>
                  </a:cubicBezTo>
                  <a:cubicBezTo>
                    <a:pt x="11" y="14"/>
                    <a:pt x="11" y="14"/>
                    <a:pt x="12" y="14"/>
                  </a:cubicBezTo>
                  <a:cubicBezTo>
                    <a:pt x="13" y="15"/>
                    <a:pt x="13" y="15"/>
                    <a:pt x="13" y="15"/>
                  </a:cubicBezTo>
                  <a:cubicBezTo>
                    <a:pt x="10" y="18"/>
                    <a:pt x="10" y="18"/>
                    <a:pt x="10" y="18"/>
                  </a:cubicBezTo>
                  <a:cubicBezTo>
                    <a:pt x="9" y="17"/>
                    <a:pt x="9" y="17"/>
                    <a:pt x="9" y="17"/>
                  </a:cubicBezTo>
                  <a:cubicBezTo>
                    <a:pt x="9" y="16"/>
                    <a:pt x="9" y="16"/>
                    <a:pt x="9" y="16"/>
                  </a:cubicBezTo>
                  <a:cubicBezTo>
                    <a:pt x="9" y="15"/>
                    <a:pt x="9" y="15"/>
                    <a:pt x="8" y="14"/>
                  </a:cubicBezTo>
                  <a:cubicBezTo>
                    <a:pt x="4" y="11"/>
                    <a:pt x="4" y="11"/>
                    <a:pt x="4" y="11"/>
                  </a:cubicBezTo>
                  <a:cubicBezTo>
                    <a:pt x="3" y="10"/>
                    <a:pt x="3" y="10"/>
                    <a:pt x="2" y="10"/>
                  </a:cubicBezTo>
                  <a:cubicBezTo>
                    <a:pt x="2" y="10"/>
                    <a:pt x="2" y="10"/>
                    <a:pt x="1" y="11"/>
                  </a:cubicBezTo>
                  <a:lnTo>
                    <a:pt x="0" y="1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2" name="Freeform 45"/>
            <p:cNvSpPr>
              <a:spLocks noEditPoints="1"/>
            </p:cNvSpPr>
            <p:nvPr/>
          </p:nvSpPr>
          <p:spPr bwMode="auto">
            <a:xfrm>
              <a:off x="608013" y="5661025"/>
              <a:ext cx="365125" cy="365125"/>
            </a:xfrm>
            <a:custGeom>
              <a:avLst/>
              <a:gdLst>
                <a:gd name="T0" fmla="*/ 0 w 146"/>
                <a:gd name="T1" fmla="*/ 73 h 145"/>
                <a:gd name="T2" fmla="*/ 73 w 146"/>
                <a:gd name="T3" fmla="*/ 145 h 145"/>
                <a:gd name="T4" fmla="*/ 146 w 146"/>
                <a:gd name="T5" fmla="*/ 73 h 145"/>
                <a:gd name="T6" fmla="*/ 73 w 146"/>
                <a:gd name="T7" fmla="*/ 0 h 145"/>
                <a:gd name="T8" fmla="*/ 0 w 146"/>
                <a:gd name="T9" fmla="*/ 73 h 145"/>
                <a:gd name="T10" fmla="*/ 2 w 146"/>
                <a:gd name="T11" fmla="*/ 73 h 145"/>
                <a:gd name="T12" fmla="*/ 73 w 146"/>
                <a:gd name="T13" fmla="*/ 1 h 145"/>
                <a:gd name="T14" fmla="*/ 144 w 146"/>
                <a:gd name="T15" fmla="*/ 73 h 145"/>
                <a:gd name="T16" fmla="*/ 73 w 146"/>
                <a:gd name="T17" fmla="*/ 144 h 145"/>
                <a:gd name="T18" fmla="*/ 2 w 146"/>
                <a:gd name="T19" fmla="*/ 73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45">
                  <a:moveTo>
                    <a:pt x="0" y="73"/>
                  </a:moveTo>
                  <a:cubicBezTo>
                    <a:pt x="0" y="113"/>
                    <a:pt x="33" y="145"/>
                    <a:pt x="73" y="145"/>
                  </a:cubicBezTo>
                  <a:cubicBezTo>
                    <a:pt x="113" y="145"/>
                    <a:pt x="146" y="113"/>
                    <a:pt x="146" y="73"/>
                  </a:cubicBezTo>
                  <a:cubicBezTo>
                    <a:pt x="146" y="33"/>
                    <a:pt x="113" y="0"/>
                    <a:pt x="73" y="0"/>
                  </a:cubicBezTo>
                  <a:cubicBezTo>
                    <a:pt x="33" y="0"/>
                    <a:pt x="0" y="33"/>
                    <a:pt x="0" y="73"/>
                  </a:cubicBezTo>
                  <a:close/>
                  <a:moveTo>
                    <a:pt x="2" y="73"/>
                  </a:moveTo>
                  <a:cubicBezTo>
                    <a:pt x="2" y="33"/>
                    <a:pt x="34" y="1"/>
                    <a:pt x="73" y="1"/>
                  </a:cubicBezTo>
                  <a:cubicBezTo>
                    <a:pt x="112" y="1"/>
                    <a:pt x="144" y="33"/>
                    <a:pt x="144" y="73"/>
                  </a:cubicBezTo>
                  <a:cubicBezTo>
                    <a:pt x="144" y="112"/>
                    <a:pt x="112" y="144"/>
                    <a:pt x="73" y="144"/>
                  </a:cubicBezTo>
                  <a:cubicBezTo>
                    <a:pt x="34" y="144"/>
                    <a:pt x="2" y="112"/>
                    <a:pt x="2" y="73"/>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3" name="Freeform 46"/>
            <p:cNvSpPr/>
            <p:nvPr/>
          </p:nvSpPr>
          <p:spPr bwMode="auto">
            <a:xfrm>
              <a:off x="692150" y="5673725"/>
              <a:ext cx="263525" cy="220663"/>
            </a:xfrm>
            <a:custGeom>
              <a:avLst/>
              <a:gdLst>
                <a:gd name="T0" fmla="*/ 39 w 105"/>
                <a:gd name="T1" fmla="*/ 0 h 88"/>
                <a:gd name="T2" fmla="*/ 0 w 105"/>
                <a:gd name="T3" fmla="*/ 71 h 88"/>
                <a:gd name="T4" fmla="*/ 0 w 105"/>
                <a:gd name="T5" fmla="*/ 83 h 88"/>
                <a:gd name="T6" fmla="*/ 13 w 105"/>
                <a:gd name="T7" fmla="*/ 86 h 88"/>
                <a:gd name="T8" fmla="*/ 11 w 105"/>
                <a:gd name="T9" fmla="*/ 69 h 88"/>
                <a:gd name="T10" fmla="*/ 37 w 105"/>
                <a:gd name="T11" fmla="*/ 6 h 88"/>
                <a:gd name="T12" fmla="*/ 17 w 105"/>
                <a:gd name="T13" fmla="*/ 63 h 88"/>
                <a:gd name="T14" fmla="*/ 20 w 105"/>
                <a:gd name="T15" fmla="*/ 88 h 88"/>
                <a:gd name="T16" fmla="*/ 38 w 105"/>
                <a:gd name="T17" fmla="*/ 88 h 88"/>
                <a:gd name="T18" fmla="*/ 105 w 105"/>
                <a:gd name="T19" fmla="*/ 56 h 88"/>
                <a:gd name="T20" fmla="*/ 39 w 105"/>
                <a:gd name="T21" fmla="*/ 0 h 88"/>
                <a:gd name="T22" fmla="*/ 39 w 105"/>
                <a:gd name="T23"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 h="88">
                  <a:moveTo>
                    <a:pt x="39" y="0"/>
                  </a:moveTo>
                  <a:cubicBezTo>
                    <a:pt x="17" y="7"/>
                    <a:pt x="0" y="36"/>
                    <a:pt x="0" y="71"/>
                  </a:cubicBezTo>
                  <a:cubicBezTo>
                    <a:pt x="0" y="75"/>
                    <a:pt x="0" y="79"/>
                    <a:pt x="0" y="83"/>
                  </a:cubicBezTo>
                  <a:cubicBezTo>
                    <a:pt x="4" y="85"/>
                    <a:pt x="8" y="86"/>
                    <a:pt x="13" y="86"/>
                  </a:cubicBezTo>
                  <a:cubicBezTo>
                    <a:pt x="12" y="81"/>
                    <a:pt x="11" y="75"/>
                    <a:pt x="11" y="69"/>
                  </a:cubicBezTo>
                  <a:cubicBezTo>
                    <a:pt x="11" y="40"/>
                    <a:pt x="22" y="15"/>
                    <a:pt x="37" y="6"/>
                  </a:cubicBezTo>
                  <a:cubicBezTo>
                    <a:pt x="25" y="19"/>
                    <a:pt x="17" y="40"/>
                    <a:pt x="17" y="63"/>
                  </a:cubicBezTo>
                  <a:cubicBezTo>
                    <a:pt x="17" y="72"/>
                    <a:pt x="18" y="80"/>
                    <a:pt x="20" y="88"/>
                  </a:cubicBezTo>
                  <a:cubicBezTo>
                    <a:pt x="26" y="88"/>
                    <a:pt x="32" y="88"/>
                    <a:pt x="38" y="88"/>
                  </a:cubicBezTo>
                  <a:cubicBezTo>
                    <a:pt x="70" y="87"/>
                    <a:pt x="96" y="73"/>
                    <a:pt x="105" y="56"/>
                  </a:cubicBezTo>
                  <a:cubicBezTo>
                    <a:pt x="100" y="24"/>
                    <a:pt x="72" y="0"/>
                    <a:pt x="39" y="0"/>
                  </a:cubicBezTo>
                  <a:cubicBezTo>
                    <a:pt x="39" y="0"/>
                    <a:pt x="39" y="0"/>
                    <a:pt x="39" y="0"/>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4" name="Freeform 47"/>
            <p:cNvSpPr/>
            <p:nvPr/>
          </p:nvSpPr>
          <p:spPr bwMode="auto">
            <a:xfrm>
              <a:off x="695325" y="5894388"/>
              <a:ext cx="38100" cy="33338"/>
            </a:xfrm>
            <a:custGeom>
              <a:avLst/>
              <a:gdLst>
                <a:gd name="T0" fmla="*/ 15 w 15"/>
                <a:gd name="T1" fmla="*/ 13 h 13"/>
                <a:gd name="T2" fmla="*/ 12 w 15"/>
                <a:gd name="T3" fmla="*/ 3 h 13"/>
                <a:gd name="T4" fmla="*/ 0 w 15"/>
                <a:gd name="T5" fmla="*/ 0 h 13"/>
                <a:gd name="T6" fmla="*/ 2 w 15"/>
                <a:gd name="T7" fmla="*/ 10 h 13"/>
                <a:gd name="T8" fmla="*/ 15 w 15"/>
                <a:gd name="T9" fmla="*/ 13 h 13"/>
              </a:gdLst>
              <a:ahLst/>
              <a:cxnLst>
                <a:cxn ang="0">
                  <a:pos x="T0" y="T1"/>
                </a:cxn>
                <a:cxn ang="0">
                  <a:pos x="T2" y="T3"/>
                </a:cxn>
                <a:cxn ang="0">
                  <a:pos x="T4" y="T5"/>
                </a:cxn>
                <a:cxn ang="0">
                  <a:pos x="T6" y="T7"/>
                </a:cxn>
                <a:cxn ang="0">
                  <a:pos x="T8" y="T9"/>
                </a:cxn>
              </a:cxnLst>
              <a:rect l="0" t="0" r="r" b="b"/>
              <a:pathLst>
                <a:path w="15" h="13">
                  <a:moveTo>
                    <a:pt x="15" y="13"/>
                  </a:moveTo>
                  <a:cubicBezTo>
                    <a:pt x="14" y="10"/>
                    <a:pt x="13" y="7"/>
                    <a:pt x="12" y="3"/>
                  </a:cubicBezTo>
                  <a:cubicBezTo>
                    <a:pt x="8" y="2"/>
                    <a:pt x="4" y="1"/>
                    <a:pt x="0" y="0"/>
                  </a:cubicBezTo>
                  <a:cubicBezTo>
                    <a:pt x="1" y="3"/>
                    <a:pt x="1" y="6"/>
                    <a:pt x="2" y="10"/>
                  </a:cubicBezTo>
                  <a:cubicBezTo>
                    <a:pt x="6" y="11"/>
                    <a:pt x="11" y="12"/>
                    <a:pt x="15" y="13"/>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5" name="Freeform 48"/>
            <p:cNvSpPr/>
            <p:nvPr/>
          </p:nvSpPr>
          <p:spPr bwMode="auto">
            <a:xfrm>
              <a:off x="635000" y="5907088"/>
              <a:ext cx="168275" cy="106363"/>
            </a:xfrm>
            <a:custGeom>
              <a:avLst/>
              <a:gdLst>
                <a:gd name="T0" fmla="*/ 42 w 67"/>
                <a:gd name="T1" fmla="*/ 16 h 42"/>
                <a:gd name="T2" fmla="*/ 29 w 67"/>
                <a:gd name="T3" fmla="*/ 13 h 42"/>
                <a:gd name="T4" fmla="*/ 42 w 67"/>
                <a:gd name="T5" fmla="*/ 35 h 42"/>
                <a:gd name="T6" fmla="*/ 24 w 67"/>
                <a:gd name="T7" fmla="*/ 12 h 42"/>
                <a:gd name="T8" fmla="*/ 0 w 67"/>
                <a:gd name="T9" fmla="*/ 0 h 42"/>
                <a:gd name="T10" fmla="*/ 62 w 67"/>
                <a:gd name="T11" fmla="*/ 42 h 42"/>
                <a:gd name="T12" fmla="*/ 67 w 67"/>
                <a:gd name="T13" fmla="*/ 42 h 42"/>
                <a:gd name="T14" fmla="*/ 42 w 67"/>
                <a:gd name="T15" fmla="*/ 16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42">
                  <a:moveTo>
                    <a:pt x="42" y="16"/>
                  </a:moveTo>
                  <a:cubicBezTo>
                    <a:pt x="38" y="15"/>
                    <a:pt x="33" y="14"/>
                    <a:pt x="29" y="13"/>
                  </a:cubicBezTo>
                  <a:cubicBezTo>
                    <a:pt x="33" y="22"/>
                    <a:pt x="37" y="29"/>
                    <a:pt x="42" y="35"/>
                  </a:cubicBezTo>
                  <a:cubicBezTo>
                    <a:pt x="35" y="30"/>
                    <a:pt x="29" y="22"/>
                    <a:pt x="24" y="12"/>
                  </a:cubicBezTo>
                  <a:cubicBezTo>
                    <a:pt x="14" y="9"/>
                    <a:pt x="6" y="5"/>
                    <a:pt x="0" y="0"/>
                  </a:cubicBezTo>
                  <a:cubicBezTo>
                    <a:pt x="10" y="24"/>
                    <a:pt x="34" y="42"/>
                    <a:pt x="62" y="42"/>
                  </a:cubicBezTo>
                  <a:cubicBezTo>
                    <a:pt x="64" y="42"/>
                    <a:pt x="65" y="42"/>
                    <a:pt x="67" y="42"/>
                  </a:cubicBezTo>
                  <a:cubicBezTo>
                    <a:pt x="57" y="39"/>
                    <a:pt x="48" y="29"/>
                    <a:pt x="42" y="16"/>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6" name="Freeform 49"/>
            <p:cNvSpPr/>
            <p:nvPr/>
          </p:nvSpPr>
          <p:spPr bwMode="auto">
            <a:xfrm>
              <a:off x="747713" y="5845175"/>
              <a:ext cx="209550" cy="161925"/>
            </a:xfrm>
            <a:custGeom>
              <a:avLst/>
              <a:gdLst>
                <a:gd name="T0" fmla="*/ 22 w 84"/>
                <a:gd name="T1" fmla="*/ 26 h 65"/>
                <a:gd name="T2" fmla="*/ 0 w 84"/>
                <a:gd name="T3" fmla="*/ 25 h 65"/>
                <a:gd name="T4" fmla="*/ 4 w 84"/>
                <a:gd name="T5" fmla="*/ 35 h 65"/>
                <a:gd name="T6" fmla="*/ 19 w 84"/>
                <a:gd name="T7" fmla="*/ 36 h 65"/>
                <a:gd name="T8" fmla="*/ 78 w 84"/>
                <a:gd name="T9" fmla="*/ 18 h 65"/>
                <a:gd name="T10" fmla="*/ 13 w 84"/>
                <a:gd name="T11" fmla="*/ 42 h 65"/>
                <a:gd name="T12" fmla="*/ 7 w 84"/>
                <a:gd name="T13" fmla="*/ 42 h 65"/>
                <a:gd name="T14" fmla="*/ 33 w 84"/>
                <a:gd name="T15" fmla="*/ 65 h 65"/>
                <a:gd name="T16" fmla="*/ 84 w 84"/>
                <a:gd name="T17" fmla="*/ 0 h 65"/>
                <a:gd name="T18" fmla="*/ 22 w 84"/>
                <a:gd name="T19" fmla="*/ 2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5">
                  <a:moveTo>
                    <a:pt x="22" y="26"/>
                  </a:moveTo>
                  <a:cubicBezTo>
                    <a:pt x="14" y="26"/>
                    <a:pt x="7" y="26"/>
                    <a:pt x="0" y="25"/>
                  </a:cubicBezTo>
                  <a:cubicBezTo>
                    <a:pt x="1" y="28"/>
                    <a:pt x="2" y="32"/>
                    <a:pt x="4" y="35"/>
                  </a:cubicBezTo>
                  <a:cubicBezTo>
                    <a:pt x="9" y="36"/>
                    <a:pt x="14" y="36"/>
                    <a:pt x="19" y="36"/>
                  </a:cubicBezTo>
                  <a:cubicBezTo>
                    <a:pt x="43" y="36"/>
                    <a:pt x="65" y="29"/>
                    <a:pt x="78" y="18"/>
                  </a:cubicBezTo>
                  <a:cubicBezTo>
                    <a:pt x="69" y="32"/>
                    <a:pt x="43" y="42"/>
                    <a:pt x="13" y="42"/>
                  </a:cubicBezTo>
                  <a:cubicBezTo>
                    <a:pt x="11" y="42"/>
                    <a:pt x="9" y="42"/>
                    <a:pt x="7" y="42"/>
                  </a:cubicBezTo>
                  <a:cubicBezTo>
                    <a:pt x="14" y="53"/>
                    <a:pt x="23" y="61"/>
                    <a:pt x="33" y="65"/>
                  </a:cubicBezTo>
                  <a:cubicBezTo>
                    <a:pt x="62" y="58"/>
                    <a:pt x="84" y="31"/>
                    <a:pt x="84" y="0"/>
                  </a:cubicBezTo>
                  <a:cubicBezTo>
                    <a:pt x="75" y="14"/>
                    <a:pt x="51" y="25"/>
                    <a:pt x="22" y="26"/>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7" name="Freeform 50"/>
            <p:cNvSpPr/>
            <p:nvPr/>
          </p:nvSpPr>
          <p:spPr bwMode="auto">
            <a:xfrm>
              <a:off x="622300" y="5686425"/>
              <a:ext cx="111125" cy="225425"/>
            </a:xfrm>
            <a:custGeom>
              <a:avLst/>
              <a:gdLst>
                <a:gd name="T0" fmla="*/ 26 w 44"/>
                <a:gd name="T1" fmla="*/ 90 h 90"/>
                <a:gd name="T2" fmla="*/ 23 w 44"/>
                <a:gd name="T3" fmla="*/ 80 h 90"/>
                <a:gd name="T4" fmla="*/ 7 w 44"/>
                <a:gd name="T5" fmla="*/ 67 h 90"/>
                <a:gd name="T6" fmla="*/ 23 w 44"/>
                <a:gd name="T7" fmla="*/ 76 h 90"/>
                <a:gd name="T8" fmla="*/ 21 w 44"/>
                <a:gd name="T9" fmla="*/ 60 h 90"/>
                <a:gd name="T10" fmla="*/ 44 w 44"/>
                <a:gd name="T11" fmla="*/ 0 h 90"/>
                <a:gd name="T12" fmla="*/ 0 w 44"/>
                <a:gd name="T13" fmla="*/ 63 h 90"/>
                <a:gd name="T14" fmla="*/ 0 w 44"/>
                <a:gd name="T15" fmla="*/ 70 h 90"/>
                <a:gd name="T16" fmla="*/ 26 w 44"/>
                <a:gd name="T1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90">
                  <a:moveTo>
                    <a:pt x="26" y="90"/>
                  </a:moveTo>
                  <a:cubicBezTo>
                    <a:pt x="25" y="87"/>
                    <a:pt x="24" y="84"/>
                    <a:pt x="23" y="80"/>
                  </a:cubicBezTo>
                  <a:cubicBezTo>
                    <a:pt x="16" y="77"/>
                    <a:pt x="10" y="72"/>
                    <a:pt x="7" y="67"/>
                  </a:cubicBezTo>
                  <a:cubicBezTo>
                    <a:pt x="11" y="71"/>
                    <a:pt x="17" y="74"/>
                    <a:pt x="23" y="76"/>
                  </a:cubicBezTo>
                  <a:cubicBezTo>
                    <a:pt x="22" y="71"/>
                    <a:pt x="21" y="66"/>
                    <a:pt x="21" y="60"/>
                  </a:cubicBezTo>
                  <a:cubicBezTo>
                    <a:pt x="21" y="33"/>
                    <a:pt x="31" y="10"/>
                    <a:pt x="44" y="0"/>
                  </a:cubicBezTo>
                  <a:cubicBezTo>
                    <a:pt x="18" y="9"/>
                    <a:pt x="0" y="34"/>
                    <a:pt x="0" y="63"/>
                  </a:cubicBezTo>
                  <a:cubicBezTo>
                    <a:pt x="0" y="65"/>
                    <a:pt x="0" y="68"/>
                    <a:pt x="0" y="70"/>
                  </a:cubicBezTo>
                  <a:cubicBezTo>
                    <a:pt x="6" y="79"/>
                    <a:pt x="14" y="85"/>
                    <a:pt x="26" y="90"/>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8" name="Freeform 51"/>
            <p:cNvSpPr/>
            <p:nvPr/>
          </p:nvSpPr>
          <p:spPr bwMode="auto">
            <a:xfrm>
              <a:off x="1206500" y="5902325"/>
              <a:ext cx="111125" cy="134938"/>
            </a:xfrm>
            <a:custGeom>
              <a:avLst/>
              <a:gdLst>
                <a:gd name="T0" fmla="*/ 31 w 44"/>
                <a:gd name="T1" fmla="*/ 4 h 54"/>
                <a:gd name="T2" fmla="*/ 32 w 44"/>
                <a:gd name="T3" fmla="*/ 1 h 54"/>
                <a:gd name="T4" fmla="*/ 36 w 44"/>
                <a:gd name="T5" fmla="*/ 1 h 54"/>
                <a:gd name="T6" fmla="*/ 41 w 44"/>
                <a:gd name="T7" fmla="*/ 16 h 54"/>
                <a:gd name="T8" fmla="*/ 35 w 44"/>
                <a:gd name="T9" fmla="*/ 18 h 54"/>
                <a:gd name="T10" fmla="*/ 29 w 44"/>
                <a:gd name="T11" fmla="*/ 10 h 54"/>
                <a:gd name="T12" fmla="*/ 20 w 44"/>
                <a:gd name="T13" fmla="*/ 7 h 54"/>
                <a:gd name="T14" fmla="*/ 15 w 44"/>
                <a:gd name="T15" fmla="*/ 9 h 54"/>
                <a:gd name="T16" fmla="*/ 13 w 44"/>
                <a:gd name="T17" fmla="*/ 13 h 54"/>
                <a:gd name="T18" fmla="*/ 25 w 44"/>
                <a:gd name="T19" fmla="*/ 20 h 54"/>
                <a:gd name="T20" fmla="*/ 28 w 44"/>
                <a:gd name="T21" fmla="*/ 20 h 54"/>
                <a:gd name="T22" fmla="*/ 40 w 44"/>
                <a:gd name="T23" fmla="*/ 26 h 54"/>
                <a:gd name="T24" fmla="*/ 44 w 44"/>
                <a:gd name="T25" fmla="*/ 36 h 54"/>
                <a:gd name="T26" fmla="*/ 39 w 44"/>
                <a:gd name="T27" fmla="*/ 49 h 54"/>
                <a:gd name="T28" fmla="*/ 25 w 44"/>
                <a:gd name="T29" fmla="*/ 54 h 54"/>
                <a:gd name="T30" fmla="*/ 18 w 44"/>
                <a:gd name="T31" fmla="*/ 53 h 54"/>
                <a:gd name="T32" fmla="*/ 11 w 44"/>
                <a:gd name="T33" fmla="*/ 50 h 54"/>
                <a:gd name="T34" fmla="*/ 10 w 44"/>
                <a:gd name="T35" fmla="*/ 54 h 54"/>
                <a:gd name="T36" fmla="*/ 6 w 44"/>
                <a:gd name="T37" fmla="*/ 54 h 54"/>
                <a:gd name="T38" fmla="*/ 0 w 44"/>
                <a:gd name="T39" fmla="*/ 34 h 54"/>
                <a:gd name="T40" fmla="*/ 6 w 44"/>
                <a:gd name="T41" fmla="*/ 32 h 54"/>
                <a:gd name="T42" fmla="*/ 14 w 44"/>
                <a:gd name="T43" fmla="*/ 43 h 54"/>
                <a:gd name="T44" fmla="*/ 24 w 44"/>
                <a:gd name="T45" fmla="*/ 47 h 54"/>
                <a:gd name="T46" fmla="*/ 30 w 44"/>
                <a:gd name="T47" fmla="*/ 45 h 54"/>
                <a:gd name="T48" fmla="*/ 33 w 44"/>
                <a:gd name="T49" fmla="*/ 40 h 54"/>
                <a:gd name="T50" fmla="*/ 22 w 44"/>
                <a:gd name="T51" fmla="*/ 33 h 54"/>
                <a:gd name="T52" fmla="*/ 20 w 44"/>
                <a:gd name="T53" fmla="*/ 32 h 54"/>
                <a:gd name="T54" fmla="*/ 12 w 44"/>
                <a:gd name="T55" fmla="*/ 30 h 54"/>
                <a:gd name="T56" fmla="*/ 7 w 44"/>
                <a:gd name="T57" fmla="*/ 28 h 54"/>
                <a:gd name="T58" fmla="*/ 3 w 44"/>
                <a:gd name="T59" fmla="*/ 23 h 54"/>
                <a:gd name="T60" fmla="*/ 2 w 44"/>
                <a:gd name="T61" fmla="*/ 16 h 54"/>
                <a:gd name="T62" fmla="*/ 7 w 44"/>
                <a:gd name="T63" fmla="*/ 5 h 54"/>
                <a:gd name="T64" fmla="*/ 19 w 44"/>
                <a:gd name="T65" fmla="*/ 0 h 54"/>
                <a:gd name="T66" fmla="*/ 25 w 44"/>
                <a:gd name="T67" fmla="*/ 1 h 54"/>
                <a:gd name="T68" fmla="*/ 31 w 44"/>
                <a:gd name="T69" fmla="*/ 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 h="54">
                  <a:moveTo>
                    <a:pt x="31" y="4"/>
                  </a:moveTo>
                  <a:cubicBezTo>
                    <a:pt x="32" y="1"/>
                    <a:pt x="32" y="1"/>
                    <a:pt x="32" y="1"/>
                  </a:cubicBezTo>
                  <a:cubicBezTo>
                    <a:pt x="36" y="1"/>
                    <a:pt x="36" y="1"/>
                    <a:pt x="36" y="1"/>
                  </a:cubicBezTo>
                  <a:cubicBezTo>
                    <a:pt x="41" y="16"/>
                    <a:pt x="41" y="16"/>
                    <a:pt x="41" y="16"/>
                  </a:cubicBezTo>
                  <a:cubicBezTo>
                    <a:pt x="35" y="18"/>
                    <a:pt x="35" y="18"/>
                    <a:pt x="35" y="18"/>
                  </a:cubicBezTo>
                  <a:cubicBezTo>
                    <a:pt x="34" y="15"/>
                    <a:pt x="31" y="12"/>
                    <a:pt x="29" y="10"/>
                  </a:cubicBezTo>
                  <a:cubicBezTo>
                    <a:pt x="26" y="8"/>
                    <a:pt x="23" y="7"/>
                    <a:pt x="20" y="7"/>
                  </a:cubicBezTo>
                  <a:cubicBezTo>
                    <a:pt x="18" y="7"/>
                    <a:pt x="16" y="8"/>
                    <a:pt x="15" y="9"/>
                  </a:cubicBezTo>
                  <a:cubicBezTo>
                    <a:pt x="14" y="10"/>
                    <a:pt x="13" y="11"/>
                    <a:pt x="13" y="13"/>
                  </a:cubicBezTo>
                  <a:cubicBezTo>
                    <a:pt x="13" y="15"/>
                    <a:pt x="17" y="18"/>
                    <a:pt x="25" y="20"/>
                  </a:cubicBezTo>
                  <a:cubicBezTo>
                    <a:pt x="26" y="20"/>
                    <a:pt x="27" y="20"/>
                    <a:pt x="28" y="20"/>
                  </a:cubicBezTo>
                  <a:cubicBezTo>
                    <a:pt x="34" y="22"/>
                    <a:pt x="38" y="24"/>
                    <a:pt x="40" y="26"/>
                  </a:cubicBezTo>
                  <a:cubicBezTo>
                    <a:pt x="43" y="28"/>
                    <a:pt x="44" y="32"/>
                    <a:pt x="44" y="36"/>
                  </a:cubicBezTo>
                  <a:cubicBezTo>
                    <a:pt x="44" y="41"/>
                    <a:pt x="42" y="46"/>
                    <a:pt x="39" y="49"/>
                  </a:cubicBezTo>
                  <a:cubicBezTo>
                    <a:pt x="35" y="52"/>
                    <a:pt x="31" y="54"/>
                    <a:pt x="25" y="54"/>
                  </a:cubicBezTo>
                  <a:cubicBezTo>
                    <a:pt x="23" y="54"/>
                    <a:pt x="20" y="54"/>
                    <a:pt x="18" y="53"/>
                  </a:cubicBezTo>
                  <a:cubicBezTo>
                    <a:pt x="16" y="53"/>
                    <a:pt x="13" y="52"/>
                    <a:pt x="11" y="50"/>
                  </a:cubicBezTo>
                  <a:cubicBezTo>
                    <a:pt x="10" y="54"/>
                    <a:pt x="10" y="54"/>
                    <a:pt x="10" y="54"/>
                  </a:cubicBezTo>
                  <a:cubicBezTo>
                    <a:pt x="6" y="54"/>
                    <a:pt x="6" y="54"/>
                    <a:pt x="6" y="54"/>
                  </a:cubicBezTo>
                  <a:cubicBezTo>
                    <a:pt x="0" y="34"/>
                    <a:pt x="0" y="34"/>
                    <a:pt x="0" y="34"/>
                  </a:cubicBezTo>
                  <a:cubicBezTo>
                    <a:pt x="6" y="32"/>
                    <a:pt x="6" y="32"/>
                    <a:pt x="6" y="32"/>
                  </a:cubicBezTo>
                  <a:cubicBezTo>
                    <a:pt x="8" y="37"/>
                    <a:pt x="11" y="40"/>
                    <a:pt x="14" y="43"/>
                  </a:cubicBezTo>
                  <a:cubicBezTo>
                    <a:pt x="17" y="45"/>
                    <a:pt x="20" y="47"/>
                    <a:pt x="24" y="47"/>
                  </a:cubicBezTo>
                  <a:cubicBezTo>
                    <a:pt x="27" y="47"/>
                    <a:pt x="29" y="46"/>
                    <a:pt x="30" y="45"/>
                  </a:cubicBezTo>
                  <a:cubicBezTo>
                    <a:pt x="32" y="43"/>
                    <a:pt x="33" y="42"/>
                    <a:pt x="33" y="40"/>
                  </a:cubicBezTo>
                  <a:cubicBezTo>
                    <a:pt x="33" y="37"/>
                    <a:pt x="29" y="35"/>
                    <a:pt x="22" y="33"/>
                  </a:cubicBezTo>
                  <a:cubicBezTo>
                    <a:pt x="21" y="33"/>
                    <a:pt x="20" y="33"/>
                    <a:pt x="20" y="32"/>
                  </a:cubicBezTo>
                  <a:cubicBezTo>
                    <a:pt x="16" y="32"/>
                    <a:pt x="14" y="31"/>
                    <a:pt x="12" y="30"/>
                  </a:cubicBezTo>
                  <a:cubicBezTo>
                    <a:pt x="9" y="29"/>
                    <a:pt x="8" y="29"/>
                    <a:pt x="7" y="28"/>
                  </a:cubicBezTo>
                  <a:cubicBezTo>
                    <a:pt x="5" y="27"/>
                    <a:pt x="4" y="25"/>
                    <a:pt x="3" y="23"/>
                  </a:cubicBezTo>
                  <a:cubicBezTo>
                    <a:pt x="2" y="21"/>
                    <a:pt x="2" y="19"/>
                    <a:pt x="2" y="16"/>
                  </a:cubicBezTo>
                  <a:cubicBezTo>
                    <a:pt x="2" y="12"/>
                    <a:pt x="3" y="8"/>
                    <a:pt x="7" y="5"/>
                  </a:cubicBezTo>
                  <a:cubicBezTo>
                    <a:pt x="10" y="2"/>
                    <a:pt x="14" y="0"/>
                    <a:pt x="19" y="0"/>
                  </a:cubicBezTo>
                  <a:cubicBezTo>
                    <a:pt x="21" y="0"/>
                    <a:pt x="23" y="0"/>
                    <a:pt x="25" y="1"/>
                  </a:cubicBezTo>
                  <a:cubicBezTo>
                    <a:pt x="27" y="2"/>
                    <a:pt x="29" y="2"/>
                    <a:pt x="31" y="4"/>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49" name="Freeform 52"/>
            <p:cNvSpPr/>
            <p:nvPr/>
          </p:nvSpPr>
          <p:spPr bwMode="auto">
            <a:xfrm>
              <a:off x="1311275" y="5929313"/>
              <a:ext cx="106362" cy="106363"/>
            </a:xfrm>
            <a:custGeom>
              <a:avLst/>
              <a:gdLst>
                <a:gd name="T0" fmla="*/ 5 w 42"/>
                <a:gd name="T1" fmla="*/ 0 h 42"/>
                <a:gd name="T2" fmla="*/ 38 w 42"/>
                <a:gd name="T3" fmla="*/ 0 h 42"/>
                <a:gd name="T4" fmla="*/ 42 w 42"/>
                <a:gd name="T5" fmla="*/ 13 h 42"/>
                <a:gd name="T6" fmla="*/ 38 w 42"/>
                <a:gd name="T7" fmla="*/ 14 h 42"/>
                <a:gd name="T8" fmla="*/ 33 w 42"/>
                <a:gd name="T9" fmla="*/ 8 h 42"/>
                <a:gd name="T10" fmla="*/ 27 w 42"/>
                <a:gd name="T11" fmla="*/ 6 h 42"/>
                <a:gd name="T12" fmla="*/ 26 w 42"/>
                <a:gd name="T13" fmla="*/ 6 h 42"/>
                <a:gd name="T14" fmla="*/ 26 w 42"/>
                <a:gd name="T15" fmla="*/ 29 h 42"/>
                <a:gd name="T16" fmla="*/ 27 w 42"/>
                <a:gd name="T17" fmla="*/ 35 h 42"/>
                <a:gd name="T18" fmla="*/ 31 w 42"/>
                <a:gd name="T19" fmla="*/ 37 h 42"/>
                <a:gd name="T20" fmla="*/ 31 w 42"/>
                <a:gd name="T21" fmla="*/ 42 h 42"/>
                <a:gd name="T22" fmla="*/ 11 w 42"/>
                <a:gd name="T23" fmla="*/ 42 h 42"/>
                <a:gd name="T24" fmla="*/ 11 w 42"/>
                <a:gd name="T25" fmla="*/ 37 h 42"/>
                <a:gd name="T26" fmla="*/ 15 w 42"/>
                <a:gd name="T27" fmla="*/ 35 h 42"/>
                <a:gd name="T28" fmla="*/ 16 w 42"/>
                <a:gd name="T29" fmla="*/ 29 h 42"/>
                <a:gd name="T30" fmla="*/ 16 w 42"/>
                <a:gd name="T31" fmla="*/ 6 h 42"/>
                <a:gd name="T32" fmla="*/ 15 w 42"/>
                <a:gd name="T33" fmla="*/ 6 h 42"/>
                <a:gd name="T34" fmla="*/ 9 w 42"/>
                <a:gd name="T35" fmla="*/ 8 h 42"/>
                <a:gd name="T36" fmla="*/ 4 w 42"/>
                <a:gd name="T37" fmla="*/ 14 h 42"/>
                <a:gd name="T38" fmla="*/ 0 w 42"/>
                <a:gd name="T39" fmla="*/ 13 h 42"/>
                <a:gd name="T40" fmla="*/ 5 w 42"/>
                <a:gd name="T4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42">
                  <a:moveTo>
                    <a:pt x="5" y="0"/>
                  </a:moveTo>
                  <a:cubicBezTo>
                    <a:pt x="38" y="0"/>
                    <a:pt x="38" y="0"/>
                    <a:pt x="38" y="0"/>
                  </a:cubicBezTo>
                  <a:cubicBezTo>
                    <a:pt x="42" y="13"/>
                    <a:pt x="42" y="13"/>
                    <a:pt x="42" y="13"/>
                  </a:cubicBezTo>
                  <a:cubicBezTo>
                    <a:pt x="38" y="14"/>
                    <a:pt x="38" y="14"/>
                    <a:pt x="38" y="14"/>
                  </a:cubicBezTo>
                  <a:cubicBezTo>
                    <a:pt x="37" y="11"/>
                    <a:pt x="35" y="9"/>
                    <a:pt x="33" y="8"/>
                  </a:cubicBezTo>
                  <a:cubicBezTo>
                    <a:pt x="32" y="6"/>
                    <a:pt x="29" y="6"/>
                    <a:pt x="27" y="6"/>
                  </a:cubicBezTo>
                  <a:cubicBezTo>
                    <a:pt x="26" y="6"/>
                    <a:pt x="26" y="6"/>
                    <a:pt x="26" y="6"/>
                  </a:cubicBezTo>
                  <a:cubicBezTo>
                    <a:pt x="26" y="29"/>
                    <a:pt x="26" y="29"/>
                    <a:pt x="26" y="29"/>
                  </a:cubicBezTo>
                  <a:cubicBezTo>
                    <a:pt x="26" y="32"/>
                    <a:pt x="27" y="34"/>
                    <a:pt x="27" y="35"/>
                  </a:cubicBezTo>
                  <a:cubicBezTo>
                    <a:pt x="28" y="36"/>
                    <a:pt x="29" y="37"/>
                    <a:pt x="31" y="37"/>
                  </a:cubicBezTo>
                  <a:cubicBezTo>
                    <a:pt x="31" y="42"/>
                    <a:pt x="31" y="42"/>
                    <a:pt x="31" y="42"/>
                  </a:cubicBezTo>
                  <a:cubicBezTo>
                    <a:pt x="11" y="42"/>
                    <a:pt x="11" y="42"/>
                    <a:pt x="11" y="42"/>
                  </a:cubicBezTo>
                  <a:cubicBezTo>
                    <a:pt x="11" y="37"/>
                    <a:pt x="11" y="37"/>
                    <a:pt x="11" y="37"/>
                  </a:cubicBezTo>
                  <a:cubicBezTo>
                    <a:pt x="13" y="37"/>
                    <a:pt x="14" y="36"/>
                    <a:pt x="15" y="35"/>
                  </a:cubicBezTo>
                  <a:cubicBezTo>
                    <a:pt x="16" y="34"/>
                    <a:pt x="16" y="32"/>
                    <a:pt x="16" y="29"/>
                  </a:cubicBezTo>
                  <a:cubicBezTo>
                    <a:pt x="16" y="6"/>
                    <a:pt x="16" y="6"/>
                    <a:pt x="16" y="6"/>
                  </a:cubicBezTo>
                  <a:cubicBezTo>
                    <a:pt x="15" y="6"/>
                    <a:pt x="15" y="6"/>
                    <a:pt x="15" y="6"/>
                  </a:cubicBezTo>
                  <a:cubicBezTo>
                    <a:pt x="13" y="6"/>
                    <a:pt x="10" y="6"/>
                    <a:pt x="9" y="8"/>
                  </a:cubicBezTo>
                  <a:cubicBezTo>
                    <a:pt x="7" y="9"/>
                    <a:pt x="5" y="11"/>
                    <a:pt x="4" y="14"/>
                  </a:cubicBezTo>
                  <a:cubicBezTo>
                    <a:pt x="0" y="13"/>
                    <a:pt x="0" y="13"/>
                    <a:pt x="0" y="13"/>
                  </a:cubicBezTo>
                  <a:lnTo>
                    <a:pt x="5" y="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0" name="Freeform 53"/>
            <p:cNvSpPr>
              <a:spLocks noEditPoints="1"/>
            </p:cNvSpPr>
            <p:nvPr/>
          </p:nvSpPr>
          <p:spPr bwMode="auto">
            <a:xfrm>
              <a:off x="1400175" y="5929313"/>
              <a:ext cx="109537" cy="106363"/>
            </a:xfrm>
            <a:custGeom>
              <a:avLst/>
              <a:gdLst>
                <a:gd name="T0" fmla="*/ 25 w 44"/>
                <a:gd name="T1" fmla="*/ 22 h 42"/>
                <a:gd name="T2" fmla="*/ 17 w 44"/>
                <a:gd name="T3" fmla="*/ 22 h 42"/>
                <a:gd name="T4" fmla="*/ 21 w 44"/>
                <a:gd name="T5" fmla="*/ 10 h 42"/>
                <a:gd name="T6" fmla="*/ 25 w 44"/>
                <a:gd name="T7" fmla="*/ 22 h 42"/>
                <a:gd name="T8" fmla="*/ 7 w 44"/>
                <a:gd name="T9" fmla="*/ 30 h 42"/>
                <a:gd name="T10" fmla="*/ 7 w 44"/>
                <a:gd name="T11" fmla="*/ 30 h 42"/>
                <a:gd name="T12" fmla="*/ 0 w 44"/>
                <a:gd name="T13" fmla="*/ 37 h 42"/>
                <a:gd name="T14" fmla="*/ 0 w 44"/>
                <a:gd name="T15" fmla="*/ 42 h 42"/>
                <a:gd name="T16" fmla="*/ 17 w 44"/>
                <a:gd name="T17" fmla="*/ 42 h 42"/>
                <a:gd name="T18" fmla="*/ 17 w 44"/>
                <a:gd name="T19" fmla="*/ 37 h 42"/>
                <a:gd name="T20" fmla="*/ 14 w 44"/>
                <a:gd name="T21" fmla="*/ 36 h 42"/>
                <a:gd name="T22" fmla="*/ 13 w 44"/>
                <a:gd name="T23" fmla="*/ 34 h 42"/>
                <a:gd name="T24" fmla="*/ 13 w 44"/>
                <a:gd name="T25" fmla="*/ 33 h 42"/>
                <a:gd name="T26" fmla="*/ 13 w 44"/>
                <a:gd name="T27" fmla="*/ 33 h 42"/>
                <a:gd name="T28" fmla="*/ 15 w 44"/>
                <a:gd name="T29" fmla="*/ 27 h 42"/>
                <a:gd name="T30" fmla="*/ 27 w 44"/>
                <a:gd name="T31" fmla="*/ 27 h 42"/>
                <a:gd name="T32" fmla="*/ 29 w 44"/>
                <a:gd name="T33" fmla="*/ 33 h 42"/>
                <a:gd name="T34" fmla="*/ 29 w 44"/>
                <a:gd name="T35" fmla="*/ 33 h 42"/>
                <a:gd name="T36" fmla="*/ 29 w 44"/>
                <a:gd name="T37" fmla="*/ 34 h 42"/>
                <a:gd name="T38" fmla="*/ 28 w 44"/>
                <a:gd name="T39" fmla="*/ 36 h 42"/>
                <a:gd name="T40" fmla="*/ 25 w 44"/>
                <a:gd name="T41" fmla="*/ 37 h 42"/>
                <a:gd name="T42" fmla="*/ 25 w 44"/>
                <a:gd name="T43" fmla="*/ 37 h 42"/>
                <a:gd name="T44" fmla="*/ 25 w 44"/>
                <a:gd name="T45" fmla="*/ 42 h 42"/>
                <a:gd name="T46" fmla="*/ 44 w 44"/>
                <a:gd name="T47" fmla="*/ 42 h 42"/>
                <a:gd name="T48" fmla="*/ 44 w 44"/>
                <a:gd name="T49" fmla="*/ 37 h 42"/>
                <a:gd name="T50" fmla="*/ 39 w 44"/>
                <a:gd name="T51" fmla="*/ 31 h 42"/>
                <a:gd name="T52" fmla="*/ 39 w 44"/>
                <a:gd name="T53" fmla="*/ 31 h 42"/>
                <a:gd name="T54" fmla="*/ 28 w 44"/>
                <a:gd name="T55" fmla="*/ 0 h 42"/>
                <a:gd name="T56" fmla="*/ 19 w 44"/>
                <a:gd name="T57" fmla="*/ 0 h 42"/>
                <a:gd name="T58" fmla="*/ 7 w 44"/>
                <a:gd name="T59" fmla="*/ 3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 h="42">
                  <a:moveTo>
                    <a:pt x="25" y="22"/>
                  </a:moveTo>
                  <a:cubicBezTo>
                    <a:pt x="17" y="22"/>
                    <a:pt x="17" y="22"/>
                    <a:pt x="17" y="22"/>
                  </a:cubicBezTo>
                  <a:cubicBezTo>
                    <a:pt x="21" y="10"/>
                    <a:pt x="21" y="10"/>
                    <a:pt x="21" y="10"/>
                  </a:cubicBezTo>
                  <a:lnTo>
                    <a:pt x="25" y="22"/>
                  </a:lnTo>
                  <a:close/>
                  <a:moveTo>
                    <a:pt x="7" y="30"/>
                  </a:moveTo>
                  <a:cubicBezTo>
                    <a:pt x="7" y="30"/>
                    <a:pt x="7" y="30"/>
                    <a:pt x="7" y="30"/>
                  </a:cubicBezTo>
                  <a:cubicBezTo>
                    <a:pt x="5" y="34"/>
                    <a:pt x="3" y="36"/>
                    <a:pt x="0" y="37"/>
                  </a:cubicBezTo>
                  <a:cubicBezTo>
                    <a:pt x="0" y="42"/>
                    <a:pt x="0" y="42"/>
                    <a:pt x="0" y="42"/>
                  </a:cubicBezTo>
                  <a:cubicBezTo>
                    <a:pt x="17" y="42"/>
                    <a:pt x="17" y="42"/>
                    <a:pt x="17" y="42"/>
                  </a:cubicBezTo>
                  <a:cubicBezTo>
                    <a:pt x="17" y="37"/>
                    <a:pt x="17" y="37"/>
                    <a:pt x="17" y="37"/>
                  </a:cubicBezTo>
                  <a:cubicBezTo>
                    <a:pt x="15" y="37"/>
                    <a:pt x="14" y="37"/>
                    <a:pt x="14" y="36"/>
                  </a:cubicBezTo>
                  <a:cubicBezTo>
                    <a:pt x="13" y="36"/>
                    <a:pt x="13" y="35"/>
                    <a:pt x="13" y="34"/>
                  </a:cubicBezTo>
                  <a:cubicBezTo>
                    <a:pt x="13" y="34"/>
                    <a:pt x="13" y="33"/>
                    <a:pt x="13" y="33"/>
                  </a:cubicBezTo>
                  <a:cubicBezTo>
                    <a:pt x="13" y="33"/>
                    <a:pt x="13" y="33"/>
                    <a:pt x="13" y="33"/>
                  </a:cubicBezTo>
                  <a:cubicBezTo>
                    <a:pt x="15" y="27"/>
                    <a:pt x="15" y="27"/>
                    <a:pt x="15" y="27"/>
                  </a:cubicBezTo>
                  <a:cubicBezTo>
                    <a:pt x="27" y="27"/>
                    <a:pt x="27" y="27"/>
                    <a:pt x="27" y="27"/>
                  </a:cubicBezTo>
                  <a:cubicBezTo>
                    <a:pt x="29" y="33"/>
                    <a:pt x="29" y="33"/>
                    <a:pt x="29" y="33"/>
                  </a:cubicBezTo>
                  <a:cubicBezTo>
                    <a:pt x="29" y="33"/>
                    <a:pt x="29" y="33"/>
                    <a:pt x="29" y="33"/>
                  </a:cubicBezTo>
                  <a:cubicBezTo>
                    <a:pt x="29" y="34"/>
                    <a:pt x="29" y="34"/>
                    <a:pt x="29" y="34"/>
                  </a:cubicBezTo>
                  <a:cubicBezTo>
                    <a:pt x="29" y="35"/>
                    <a:pt x="29" y="36"/>
                    <a:pt x="28" y="36"/>
                  </a:cubicBezTo>
                  <a:cubicBezTo>
                    <a:pt x="28" y="37"/>
                    <a:pt x="27" y="37"/>
                    <a:pt x="25" y="37"/>
                  </a:cubicBezTo>
                  <a:cubicBezTo>
                    <a:pt x="25" y="37"/>
                    <a:pt x="25" y="37"/>
                    <a:pt x="25" y="37"/>
                  </a:cubicBezTo>
                  <a:cubicBezTo>
                    <a:pt x="25" y="42"/>
                    <a:pt x="25" y="42"/>
                    <a:pt x="25" y="42"/>
                  </a:cubicBezTo>
                  <a:cubicBezTo>
                    <a:pt x="44" y="42"/>
                    <a:pt x="44" y="42"/>
                    <a:pt x="44" y="42"/>
                  </a:cubicBezTo>
                  <a:cubicBezTo>
                    <a:pt x="44" y="37"/>
                    <a:pt x="44" y="37"/>
                    <a:pt x="44" y="37"/>
                  </a:cubicBezTo>
                  <a:cubicBezTo>
                    <a:pt x="42" y="36"/>
                    <a:pt x="40" y="35"/>
                    <a:pt x="39" y="31"/>
                  </a:cubicBezTo>
                  <a:cubicBezTo>
                    <a:pt x="39" y="31"/>
                    <a:pt x="39" y="31"/>
                    <a:pt x="39" y="31"/>
                  </a:cubicBezTo>
                  <a:cubicBezTo>
                    <a:pt x="28" y="0"/>
                    <a:pt x="28" y="0"/>
                    <a:pt x="28" y="0"/>
                  </a:cubicBezTo>
                  <a:cubicBezTo>
                    <a:pt x="19" y="0"/>
                    <a:pt x="19" y="0"/>
                    <a:pt x="19" y="0"/>
                  </a:cubicBezTo>
                  <a:lnTo>
                    <a:pt x="7" y="3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1" name="Freeform 54"/>
            <p:cNvSpPr/>
            <p:nvPr/>
          </p:nvSpPr>
          <p:spPr bwMode="auto">
            <a:xfrm>
              <a:off x="1493838" y="5929313"/>
              <a:ext cx="104775" cy="106363"/>
            </a:xfrm>
            <a:custGeom>
              <a:avLst/>
              <a:gdLst>
                <a:gd name="T0" fmla="*/ 4 w 42"/>
                <a:gd name="T1" fmla="*/ 0 h 42"/>
                <a:gd name="T2" fmla="*/ 37 w 42"/>
                <a:gd name="T3" fmla="*/ 0 h 42"/>
                <a:gd name="T4" fmla="*/ 42 w 42"/>
                <a:gd name="T5" fmla="*/ 13 h 42"/>
                <a:gd name="T6" fmla="*/ 38 w 42"/>
                <a:gd name="T7" fmla="*/ 14 h 42"/>
                <a:gd name="T8" fmla="*/ 33 w 42"/>
                <a:gd name="T9" fmla="*/ 8 h 42"/>
                <a:gd name="T10" fmla="*/ 26 w 42"/>
                <a:gd name="T11" fmla="*/ 6 h 42"/>
                <a:gd name="T12" fmla="*/ 26 w 42"/>
                <a:gd name="T13" fmla="*/ 6 h 42"/>
                <a:gd name="T14" fmla="*/ 26 w 42"/>
                <a:gd name="T15" fmla="*/ 29 h 42"/>
                <a:gd name="T16" fmla="*/ 27 w 42"/>
                <a:gd name="T17" fmla="*/ 35 h 42"/>
                <a:gd name="T18" fmla="*/ 30 w 42"/>
                <a:gd name="T19" fmla="*/ 37 h 42"/>
                <a:gd name="T20" fmla="*/ 30 w 42"/>
                <a:gd name="T21" fmla="*/ 42 h 42"/>
                <a:gd name="T22" fmla="*/ 11 w 42"/>
                <a:gd name="T23" fmla="*/ 42 h 42"/>
                <a:gd name="T24" fmla="*/ 11 w 42"/>
                <a:gd name="T25" fmla="*/ 37 h 42"/>
                <a:gd name="T26" fmla="*/ 14 w 42"/>
                <a:gd name="T27" fmla="*/ 35 h 42"/>
                <a:gd name="T28" fmla="*/ 15 w 42"/>
                <a:gd name="T29" fmla="*/ 29 h 42"/>
                <a:gd name="T30" fmla="*/ 15 w 42"/>
                <a:gd name="T31" fmla="*/ 6 h 42"/>
                <a:gd name="T32" fmla="*/ 15 w 42"/>
                <a:gd name="T33" fmla="*/ 6 h 42"/>
                <a:gd name="T34" fmla="*/ 8 w 42"/>
                <a:gd name="T35" fmla="*/ 8 h 42"/>
                <a:gd name="T36" fmla="*/ 3 w 42"/>
                <a:gd name="T37" fmla="*/ 14 h 42"/>
                <a:gd name="T38" fmla="*/ 0 w 42"/>
                <a:gd name="T39" fmla="*/ 13 h 42"/>
                <a:gd name="T40" fmla="*/ 4 w 42"/>
                <a:gd name="T4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42">
                  <a:moveTo>
                    <a:pt x="4" y="0"/>
                  </a:moveTo>
                  <a:cubicBezTo>
                    <a:pt x="37" y="0"/>
                    <a:pt x="37" y="0"/>
                    <a:pt x="37" y="0"/>
                  </a:cubicBezTo>
                  <a:cubicBezTo>
                    <a:pt x="42" y="13"/>
                    <a:pt x="42" y="13"/>
                    <a:pt x="42" y="13"/>
                  </a:cubicBezTo>
                  <a:cubicBezTo>
                    <a:pt x="38" y="14"/>
                    <a:pt x="38" y="14"/>
                    <a:pt x="38" y="14"/>
                  </a:cubicBezTo>
                  <a:cubicBezTo>
                    <a:pt x="36" y="11"/>
                    <a:pt x="34" y="9"/>
                    <a:pt x="33" y="8"/>
                  </a:cubicBezTo>
                  <a:cubicBezTo>
                    <a:pt x="31" y="6"/>
                    <a:pt x="29" y="6"/>
                    <a:pt x="26" y="6"/>
                  </a:cubicBezTo>
                  <a:cubicBezTo>
                    <a:pt x="26" y="6"/>
                    <a:pt x="26" y="6"/>
                    <a:pt x="26" y="6"/>
                  </a:cubicBezTo>
                  <a:cubicBezTo>
                    <a:pt x="26" y="29"/>
                    <a:pt x="26" y="29"/>
                    <a:pt x="26" y="29"/>
                  </a:cubicBezTo>
                  <a:cubicBezTo>
                    <a:pt x="26" y="32"/>
                    <a:pt x="26" y="34"/>
                    <a:pt x="27" y="35"/>
                  </a:cubicBezTo>
                  <a:cubicBezTo>
                    <a:pt x="27" y="36"/>
                    <a:pt x="29" y="37"/>
                    <a:pt x="30" y="37"/>
                  </a:cubicBezTo>
                  <a:cubicBezTo>
                    <a:pt x="30" y="42"/>
                    <a:pt x="30" y="42"/>
                    <a:pt x="30" y="42"/>
                  </a:cubicBezTo>
                  <a:cubicBezTo>
                    <a:pt x="11" y="42"/>
                    <a:pt x="11" y="42"/>
                    <a:pt x="11" y="42"/>
                  </a:cubicBezTo>
                  <a:cubicBezTo>
                    <a:pt x="11" y="37"/>
                    <a:pt x="11" y="37"/>
                    <a:pt x="11" y="37"/>
                  </a:cubicBezTo>
                  <a:cubicBezTo>
                    <a:pt x="12" y="37"/>
                    <a:pt x="14" y="36"/>
                    <a:pt x="14" y="35"/>
                  </a:cubicBezTo>
                  <a:cubicBezTo>
                    <a:pt x="15" y="34"/>
                    <a:pt x="15" y="32"/>
                    <a:pt x="15" y="29"/>
                  </a:cubicBezTo>
                  <a:cubicBezTo>
                    <a:pt x="15" y="6"/>
                    <a:pt x="15" y="6"/>
                    <a:pt x="15" y="6"/>
                  </a:cubicBezTo>
                  <a:cubicBezTo>
                    <a:pt x="15" y="6"/>
                    <a:pt x="15" y="6"/>
                    <a:pt x="15" y="6"/>
                  </a:cubicBezTo>
                  <a:cubicBezTo>
                    <a:pt x="12" y="6"/>
                    <a:pt x="10" y="6"/>
                    <a:pt x="8" y="8"/>
                  </a:cubicBezTo>
                  <a:cubicBezTo>
                    <a:pt x="6" y="9"/>
                    <a:pt x="5" y="11"/>
                    <a:pt x="3" y="14"/>
                  </a:cubicBezTo>
                  <a:cubicBezTo>
                    <a:pt x="0" y="13"/>
                    <a:pt x="0" y="13"/>
                    <a:pt x="0" y="13"/>
                  </a:cubicBezTo>
                  <a:lnTo>
                    <a:pt x="4" y="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2" name="Freeform 55"/>
            <p:cNvSpPr/>
            <p:nvPr/>
          </p:nvSpPr>
          <p:spPr bwMode="auto">
            <a:xfrm>
              <a:off x="1593850" y="5929313"/>
              <a:ext cx="100012" cy="106363"/>
            </a:xfrm>
            <a:custGeom>
              <a:avLst/>
              <a:gdLst>
                <a:gd name="T0" fmla="*/ 0 w 40"/>
                <a:gd name="T1" fmla="*/ 0 h 42"/>
                <a:gd name="T2" fmla="*/ 33 w 40"/>
                <a:gd name="T3" fmla="*/ 0 h 42"/>
                <a:gd name="T4" fmla="*/ 39 w 40"/>
                <a:gd name="T5" fmla="*/ 13 h 42"/>
                <a:gd name="T6" fmla="*/ 35 w 40"/>
                <a:gd name="T7" fmla="*/ 15 h 42"/>
                <a:gd name="T8" fmla="*/ 28 w 40"/>
                <a:gd name="T9" fmla="*/ 7 h 42"/>
                <a:gd name="T10" fmla="*/ 20 w 40"/>
                <a:gd name="T11" fmla="*/ 5 h 42"/>
                <a:gd name="T12" fmla="*/ 16 w 40"/>
                <a:gd name="T13" fmla="*/ 6 h 42"/>
                <a:gd name="T14" fmla="*/ 15 w 40"/>
                <a:gd name="T15" fmla="*/ 10 h 42"/>
                <a:gd name="T16" fmla="*/ 15 w 40"/>
                <a:gd name="T17" fmla="*/ 16 h 42"/>
                <a:gd name="T18" fmla="*/ 17 w 40"/>
                <a:gd name="T19" fmla="*/ 16 h 42"/>
                <a:gd name="T20" fmla="*/ 22 w 40"/>
                <a:gd name="T21" fmla="*/ 15 h 42"/>
                <a:gd name="T22" fmla="*/ 23 w 40"/>
                <a:gd name="T23" fmla="*/ 10 h 42"/>
                <a:gd name="T24" fmla="*/ 27 w 40"/>
                <a:gd name="T25" fmla="*/ 10 h 42"/>
                <a:gd name="T26" fmla="*/ 27 w 40"/>
                <a:gd name="T27" fmla="*/ 29 h 42"/>
                <a:gd name="T28" fmla="*/ 23 w 40"/>
                <a:gd name="T29" fmla="*/ 29 h 42"/>
                <a:gd name="T30" fmla="*/ 21 w 40"/>
                <a:gd name="T31" fmla="*/ 23 h 42"/>
                <a:gd name="T32" fmla="*/ 17 w 40"/>
                <a:gd name="T33" fmla="*/ 22 h 42"/>
                <a:gd name="T34" fmla="*/ 15 w 40"/>
                <a:gd name="T35" fmla="*/ 22 h 42"/>
                <a:gd name="T36" fmla="*/ 15 w 40"/>
                <a:gd name="T37" fmla="*/ 32 h 42"/>
                <a:gd name="T38" fmla="*/ 16 w 40"/>
                <a:gd name="T39" fmla="*/ 36 h 42"/>
                <a:gd name="T40" fmla="*/ 20 w 40"/>
                <a:gd name="T41" fmla="*/ 37 h 42"/>
                <a:gd name="T42" fmla="*/ 29 w 40"/>
                <a:gd name="T43" fmla="*/ 34 h 42"/>
                <a:gd name="T44" fmla="*/ 37 w 40"/>
                <a:gd name="T45" fmla="*/ 25 h 42"/>
                <a:gd name="T46" fmla="*/ 40 w 40"/>
                <a:gd name="T47" fmla="*/ 27 h 42"/>
                <a:gd name="T48" fmla="*/ 34 w 40"/>
                <a:gd name="T49" fmla="*/ 42 h 42"/>
                <a:gd name="T50" fmla="*/ 0 w 40"/>
                <a:gd name="T51" fmla="*/ 42 h 42"/>
                <a:gd name="T52" fmla="*/ 0 w 40"/>
                <a:gd name="T53" fmla="*/ 37 h 42"/>
                <a:gd name="T54" fmla="*/ 4 w 40"/>
                <a:gd name="T55" fmla="*/ 35 h 42"/>
                <a:gd name="T56" fmla="*/ 5 w 40"/>
                <a:gd name="T57" fmla="*/ 29 h 42"/>
                <a:gd name="T58" fmla="*/ 5 w 40"/>
                <a:gd name="T59" fmla="*/ 13 h 42"/>
                <a:gd name="T60" fmla="*/ 4 w 40"/>
                <a:gd name="T61" fmla="*/ 6 h 42"/>
                <a:gd name="T62" fmla="*/ 0 w 40"/>
                <a:gd name="T63" fmla="*/ 5 h 42"/>
                <a:gd name="T64" fmla="*/ 0 w 40"/>
                <a:gd name="T65"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 h="42">
                  <a:moveTo>
                    <a:pt x="0" y="0"/>
                  </a:moveTo>
                  <a:cubicBezTo>
                    <a:pt x="33" y="0"/>
                    <a:pt x="33" y="0"/>
                    <a:pt x="33" y="0"/>
                  </a:cubicBezTo>
                  <a:cubicBezTo>
                    <a:pt x="39" y="13"/>
                    <a:pt x="39" y="13"/>
                    <a:pt x="39" y="13"/>
                  </a:cubicBezTo>
                  <a:cubicBezTo>
                    <a:pt x="35" y="15"/>
                    <a:pt x="35" y="15"/>
                    <a:pt x="35" y="15"/>
                  </a:cubicBezTo>
                  <a:cubicBezTo>
                    <a:pt x="33" y="11"/>
                    <a:pt x="31" y="9"/>
                    <a:pt x="28" y="7"/>
                  </a:cubicBezTo>
                  <a:cubicBezTo>
                    <a:pt x="26" y="6"/>
                    <a:pt x="23" y="5"/>
                    <a:pt x="20" y="5"/>
                  </a:cubicBezTo>
                  <a:cubicBezTo>
                    <a:pt x="18" y="5"/>
                    <a:pt x="17" y="5"/>
                    <a:pt x="16" y="6"/>
                  </a:cubicBezTo>
                  <a:cubicBezTo>
                    <a:pt x="16" y="7"/>
                    <a:pt x="15" y="8"/>
                    <a:pt x="15" y="10"/>
                  </a:cubicBezTo>
                  <a:cubicBezTo>
                    <a:pt x="15" y="16"/>
                    <a:pt x="15" y="16"/>
                    <a:pt x="15" y="16"/>
                  </a:cubicBezTo>
                  <a:cubicBezTo>
                    <a:pt x="17" y="16"/>
                    <a:pt x="17" y="16"/>
                    <a:pt x="17" y="16"/>
                  </a:cubicBezTo>
                  <a:cubicBezTo>
                    <a:pt x="19" y="16"/>
                    <a:pt x="21" y="16"/>
                    <a:pt x="22" y="15"/>
                  </a:cubicBezTo>
                  <a:cubicBezTo>
                    <a:pt x="22" y="14"/>
                    <a:pt x="23" y="13"/>
                    <a:pt x="23" y="10"/>
                  </a:cubicBezTo>
                  <a:cubicBezTo>
                    <a:pt x="27" y="10"/>
                    <a:pt x="27" y="10"/>
                    <a:pt x="27" y="10"/>
                  </a:cubicBezTo>
                  <a:cubicBezTo>
                    <a:pt x="27" y="29"/>
                    <a:pt x="27" y="29"/>
                    <a:pt x="27" y="29"/>
                  </a:cubicBezTo>
                  <a:cubicBezTo>
                    <a:pt x="23" y="29"/>
                    <a:pt x="23" y="29"/>
                    <a:pt x="23" y="29"/>
                  </a:cubicBezTo>
                  <a:cubicBezTo>
                    <a:pt x="23" y="26"/>
                    <a:pt x="22" y="25"/>
                    <a:pt x="21" y="23"/>
                  </a:cubicBezTo>
                  <a:cubicBezTo>
                    <a:pt x="20" y="22"/>
                    <a:pt x="19" y="22"/>
                    <a:pt x="17" y="22"/>
                  </a:cubicBezTo>
                  <a:cubicBezTo>
                    <a:pt x="15" y="22"/>
                    <a:pt x="15" y="22"/>
                    <a:pt x="15" y="22"/>
                  </a:cubicBezTo>
                  <a:cubicBezTo>
                    <a:pt x="15" y="32"/>
                    <a:pt x="15" y="32"/>
                    <a:pt x="15" y="32"/>
                  </a:cubicBezTo>
                  <a:cubicBezTo>
                    <a:pt x="15" y="34"/>
                    <a:pt x="16" y="35"/>
                    <a:pt x="16" y="36"/>
                  </a:cubicBezTo>
                  <a:cubicBezTo>
                    <a:pt x="17" y="37"/>
                    <a:pt x="18" y="37"/>
                    <a:pt x="20" y="37"/>
                  </a:cubicBezTo>
                  <a:cubicBezTo>
                    <a:pt x="23" y="37"/>
                    <a:pt x="26" y="36"/>
                    <a:pt x="29" y="34"/>
                  </a:cubicBezTo>
                  <a:cubicBezTo>
                    <a:pt x="32" y="32"/>
                    <a:pt x="34" y="29"/>
                    <a:pt x="37" y="25"/>
                  </a:cubicBezTo>
                  <a:cubicBezTo>
                    <a:pt x="40" y="27"/>
                    <a:pt x="40" y="27"/>
                    <a:pt x="40" y="27"/>
                  </a:cubicBezTo>
                  <a:cubicBezTo>
                    <a:pt x="34" y="42"/>
                    <a:pt x="34" y="42"/>
                    <a:pt x="34" y="42"/>
                  </a:cubicBezTo>
                  <a:cubicBezTo>
                    <a:pt x="0" y="42"/>
                    <a:pt x="0" y="42"/>
                    <a:pt x="0" y="42"/>
                  </a:cubicBezTo>
                  <a:cubicBezTo>
                    <a:pt x="0" y="37"/>
                    <a:pt x="0" y="37"/>
                    <a:pt x="0" y="37"/>
                  </a:cubicBezTo>
                  <a:cubicBezTo>
                    <a:pt x="2" y="37"/>
                    <a:pt x="4" y="36"/>
                    <a:pt x="4" y="35"/>
                  </a:cubicBezTo>
                  <a:cubicBezTo>
                    <a:pt x="5" y="35"/>
                    <a:pt x="5" y="32"/>
                    <a:pt x="5" y="29"/>
                  </a:cubicBezTo>
                  <a:cubicBezTo>
                    <a:pt x="5" y="13"/>
                    <a:pt x="5" y="13"/>
                    <a:pt x="5" y="13"/>
                  </a:cubicBezTo>
                  <a:cubicBezTo>
                    <a:pt x="5" y="9"/>
                    <a:pt x="5" y="7"/>
                    <a:pt x="4" y="6"/>
                  </a:cubicBezTo>
                  <a:cubicBezTo>
                    <a:pt x="4" y="6"/>
                    <a:pt x="2" y="5"/>
                    <a:pt x="0" y="5"/>
                  </a:cubicBezTo>
                  <a:lnTo>
                    <a:pt x="0" y="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3" name="Freeform 56"/>
            <p:cNvSpPr/>
            <p:nvPr/>
          </p:nvSpPr>
          <p:spPr bwMode="auto">
            <a:xfrm>
              <a:off x="1749425" y="5902325"/>
              <a:ext cx="130175" cy="134938"/>
            </a:xfrm>
            <a:custGeom>
              <a:avLst/>
              <a:gdLst>
                <a:gd name="T0" fmla="*/ 36 w 52"/>
                <a:gd name="T1" fmla="*/ 3 h 54"/>
                <a:gd name="T2" fmla="*/ 37 w 52"/>
                <a:gd name="T3" fmla="*/ 1 h 54"/>
                <a:gd name="T4" fmla="*/ 42 w 52"/>
                <a:gd name="T5" fmla="*/ 1 h 54"/>
                <a:gd name="T6" fmla="*/ 46 w 52"/>
                <a:gd name="T7" fmla="*/ 18 h 54"/>
                <a:gd name="T8" fmla="*/ 41 w 52"/>
                <a:gd name="T9" fmla="*/ 20 h 54"/>
                <a:gd name="T10" fmla="*/ 33 w 52"/>
                <a:gd name="T11" fmla="*/ 10 h 54"/>
                <a:gd name="T12" fmla="*/ 25 w 52"/>
                <a:gd name="T13" fmla="*/ 7 h 54"/>
                <a:gd name="T14" fmla="*/ 17 w 52"/>
                <a:gd name="T15" fmla="*/ 12 h 54"/>
                <a:gd name="T16" fmla="*/ 13 w 52"/>
                <a:gd name="T17" fmla="*/ 27 h 54"/>
                <a:gd name="T18" fmla="*/ 16 w 52"/>
                <a:gd name="T19" fmla="*/ 41 h 54"/>
                <a:gd name="T20" fmla="*/ 25 w 52"/>
                <a:gd name="T21" fmla="*/ 46 h 54"/>
                <a:gd name="T22" fmla="*/ 32 w 52"/>
                <a:gd name="T23" fmla="*/ 44 h 54"/>
                <a:gd name="T24" fmla="*/ 35 w 52"/>
                <a:gd name="T25" fmla="*/ 37 h 54"/>
                <a:gd name="T26" fmla="*/ 34 w 52"/>
                <a:gd name="T27" fmla="*/ 33 h 54"/>
                <a:gd name="T28" fmla="*/ 29 w 52"/>
                <a:gd name="T29" fmla="*/ 32 h 54"/>
                <a:gd name="T30" fmla="*/ 29 w 52"/>
                <a:gd name="T31" fmla="*/ 26 h 54"/>
                <a:gd name="T32" fmla="*/ 52 w 52"/>
                <a:gd name="T33" fmla="*/ 26 h 54"/>
                <a:gd name="T34" fmla="*/ 52 w 52"/>
                <a:gd name="T35" fmla="*/ 32 h 54"/>
                <a:gd name="T36" fmla="*/ 47 w 52"/>
                <a:gd name="T37" fmla="*/ 34 h 54"/>
                <a:gd name="T38" fmla="*/ 46 w 52"/>
                <a:gd name="T39" fmla="*/ 40 h 54"/>
                <a:gd name="T40" fmla="*/ 46 w 52"/>
                <a:gd name="T41" fmla="*/ 54 h 54"/>
                <a:gd name="T42" fmla="*/ 39 w 52"/>
                <a:gd name="T43" fmla="*/ 54 h 54"/>
                <a:gd name="T44" fmla="*/ 37 w 52"/>
                <a:gd name="T45" fmla="*/ 49 h 54"/>
                <a:gd name="T46" fmla="*/ 30 w 52"/>
                <a:gd name="T47" fmla="*/ 53 h 54"/>
                <a:gd name="T48" fmla="*/ 22 w 52"/>
                <a:gd name="T49" fmla="*/ 54 h 54"/>
                <a:gd name="T50" fmla="*/ 6 w 52"/>
                <a:gd name="T51" fmla="*/ 47 h 54"/>
                <a:gd name="T52" fmla="*/ 0 w 52"/>
                <a:gd name="T53" fmla="*/ 27 h 54"/>
                <a:gd name="T54" fmla="*/ 7 w 52"/>
                <a:gd name="T55" fmla="*/ 7 h 54"/>
                <a:gd name="T56" fmla="*/ 25 w 52"/>
                <a:gd name="T57" fmla="*/ 0 h 54"/>
                <a:gd name="T58" fmla="*/ 30 w 52"/>
                <a:gd name="T59" fmla="*/ 1 h 54"/>
                <a:gd name="T60" fmla="*/ 36 w 52"/>
                <a:gd name="T61"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2" h="54">
                  <a:moveTo>
                    <a:pt x="36" y="3"/>
                  </a:moveTo>
                  <a:cubicBezTo>
                    <a:pt x="37" y="1"/>
                    <a:pt x="37" y="1"/>
                    <a:pt x="37" y="1"/>
                  </a:cubicBezTo>
                  <a:cubicBezTo>
                    <a:pt x="42" y="1"/>
                    <a:pt x="42" y="1"/>
                    <a:pt x="42" y="1"/>
                  </a:cubicBezTo>
                  <a:cubicBezTo>
                    <a:pt x="46" y="18"/>
                    <a:pt x="46" y="18"/>
                    <a:pt x="46" y="18"/>
                  </a:cubicBezTo>
                  <a:cubicBezTo>
                    <a:pt x="41" y="20"/>
                    <a:pt x="41" y="20"/>
                    <a:pt x="41" y="20"/>
                  </a:cubicBezTo>
                  <a:cubicBezTo>
                    <a:pt x="38" y="16"/>
                    <a:pt x="36" y="12"/>
                    <a:pt x="33" y="10"/>
                  </a:cubicBezTo>
                  <a:cubicBezTo>
                    <a:pt x="31" y="8"/>
                    <a:pt x="28" y="7"/>
                    <a:pt x="25" y="7"/>
                  </a:cubicBezTo>
                  <a:cubicBezTo>
                    <a:pt x="22" y="7"/>
                    <a:pt x="19" y="9"/>
                    <a:pt x="17" y="12"/>
                  </a:cubicBezTo>
                  <a:cubicBezTo>
                    <a:pt x="14" y="16"/>
                    <a:pt x="13" y="20"/>
                    <a:pt x="13" y="27"/>
                  </a:cubicBezTo>
                  <a:cubicBezTo>
                    <a:pt x="13" y="33"/>
                    <a:pt x="14" y="38"/>
                    <a:pt x="16" y="41"/>
                  </a:cubicBezTo>
                  <a:cubicBezTo>
                    <a:pt x="18" y="45"/>
                    <a:pt x="21" y="46"/>
                    <a:pt x="25" y="46"/>
                  </a:cubicBezTo>
                  <a:cubicBezTo>
                    <a:pt x="28" y="46"/>
                    <a:pt x="31" y="45"/>
                    <a:pt x="32" y="44"/>
                  </a:cubicBezTo>
                  <a:cubicBezTo>
                    <a:pt x="34" y="42"/>
                    <a:pt x="35" y="40"/>
                    <a:pt x="35" y="37"/>
                  </a:cubicBezTo>
                  <a:cubicBezTo>
                    <a:pt x="35" y="36"/>
                    <a:pt x="35" y="34"/>
                    <a:pt x="34" y="33"/>
                  </a:cubicBezTo>
                  <a:cubicBezTo>
                    <a:pt x="33" y="33"/>
                    <a:pt x="31" y="32"/>
                    <a:pt x="29" y="32"/>
                  </a:cubicBezTo>
                  <a:cubicBezTo>
                    <a:pt x="29" y="26"/>
                    <a:pt x="29" y="26"/>
                    <a:pt x="29" y="26"/>
                  </a:cubicBezTo>
                  <a:cubicBezTo>
                    <a:pt x="52" y="26"/>
                    <a:pt x="52" y="26"/>
                    <a:pt x="52" y="26"/>
                  </a:cubicBezTo>
                  <a:cubicBezTo>
                    <a:pt x="52" y="32"/>
                    <a:pt x="52" y="32"/>
                    <a:pt x="52" y="32"/>
                  </a:cubicBezTo>
                  <a:cubicBezTo>
                    <a:pt x="50" y="33"/>
                    <a:pt x="48" y="33"/>
                    <a:pt x="47" y="34"/>
                  </a:cubicBezTo>
                  <a:cubicBezTo>
                    <a:pt x="47" y="35"/>
                    <a:pt x="46" y="37"/>
                    <a:pt x="46" y="40"/>
                  </a:cubicBezTo>
                  <a:cubicBezTo>
                    <a:pt x="46" y="54"/>
                    <a:pt x="46" y="54"/>
                    <a:pt x="46" y="54"/>
                  </a:cubicBezTo>
                  <a:cubicBezTo>
                    <a:pt x="39" y="54"/>
                    <a:pt x="39" y="54"/>
                    <a:pt x="39" y="54"/>
                  </a:cubicBezTo>
                  <a:cubicBezTo>
                    <a:pt x="37" y="49"/>
                    <a:pt x="37" y="49"/>
                    <a:pt x="37" y="49"/>
                  </a:cubicBezTo>
                  <a:cubicBezTo>
                    <a:pt x="35" y="51"/>
                    <a:pt x="33" y="52"/>
                    <a:pt x="30" y="53"/>
                  </a:cubicBezTo>
                  <a:cubicBezTo>
                    <a:pt x="28" y="54"/>
                    <a:pt x="25" y="54"/>
                    <a:pt x="22" y="54"/>
                  </a:cubicBezTo>
                  <a:cubicBezTo>
                    <a:pt x="16" y="54"/>
                    <a:pt x="10" y="52"/>
                    <a:pt x="6" y="47"/>
                  </a:cubicBezTo>
                  <a:cubicBezTo>
                    <a:pt x="2" y="42"/>
                    <a:pt x="0" y="35"/>
                    <a:pt x="0" y="27"/>
                  </a:cubicBezTo>
                  <a:cubicBezTo>
                    <a:pt x="0" y="19"/>
                    <a:pt x="2" y="12"/>
                    <a:pt x="7" y="7"/>
                  </a:cubicBezTo>
                  <a:cubicBezTo>
                    <a:pt x="12" y="2"/>
                    <a:pt x="18" y="0"/>
                    <a:pt x="25" y="0"/>
                  </a:cubicBezTo>
                  <a:cubicBezTo>
                    <a:pt x="27" y="0"/>
                    <a:pt x="29" y="0"/>
                    <a:pt x="30" y="1"/>
                  </a:cubicBezTo>
                  <a:cubicBezTo>
                    <a:pt x="32" y="1"/>
                    <a:pt x="34" y="2"/>
                    <a:pt x="36" y="3"/>
                  </a:cubicBez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4" name="Freeform 57"/>
            <p:cNvSpPr>
              <a:spLocks noEditPoints="1"/>
            </p:cNvSpPr>
            <p:nvPr/>
          </p:nvSpPr>
          <p:spPr bwMode="auto">
            <a:xfrm>
              <a:off x="1876425" y="5929313"/>
              <a:ext cx="112712" cy="106363"/>
            </a:xfrm>
            <a:custGeom>
              <a:avLst/>
              <a:gdLst>
                <a:gd name="T0" fmla="*/ 15 w 45"/>
                <a:gd name="T1" fmla="*/ 10 h 42"/>
                <a:gd name="T2" fmla="*/ 16 w 45"/>
                <a:gd name="T3" fmla="*/ 6 h 42"/>
                <a:gd name="T4" fmla="*/ 20 w 45"/>
                <a:gd name="T5" fmla="*/ 5 h 42"/>
                <a:gd name="T6" fmla="*/ 26 w 45"/>
                <a:gd name="T7" fmla="*/ 7 h 42"/>
                <a:gd name="T8" fmla="*/ 29 w 45"/>
                <a:gd name="T9" fmla="*/ 12 h 42"/>
                <a:gd name="T10" fmla="*/ 26 w 45"/>
                <a:gd name="T11" fmla="*/ 17 h 42"/>
                <a:gd name="T12" fmla="*/ 17 w 45"/>
                <a:gd name="T13" fmla="*/ 18 h 42"/>
                <a:gd name="T14" fmla="*/ 16 w 45"/>
                <a:gd name="T15" fmla="*/ 18 h 42"/>
                <a:gd name="T16" fmla="*/ 15 w 45"/>
                <a:gd name="T17" fmla="*/ 18 h 42"/>
                <a:gd name="T18" fmla="*/ 15 w 45"/>
                <a:gd name="T19" fmla="*/ 10 h 42"/>
                <a:gd name="T20" fmla="*/ 0 w 45"/>
                <a:gd name="T21" fmla="*/ 5 h 42"/>
                <a:gd name="T22" fmla="*/ 4 w 45"/>
                <a:gd name="T23" fmla="*/ 7 h 42"/>
                <a:gd name="T24" fmla="*/ 5 w 45"/>
                <a:gd name="T25" fmla="*/ 13 h 42"/>
                <a:gd name="T26" fmla="*/ 5 w 45"/>
                <a:gd name="T27" fmla="*/ 29 h 42"/>
                <a:gd name="T28" fmla="*/ 4 w 45"/>
                <a:gd name="T29" fmla="*/ 35 h 42"/>
                <a:gd name="T30" fmla="*/ 0 w 45"/>
                <a:gd name="T31" fmla="*/ 37 h 42"/>
                <a:gd name="T32" fmla="*/ 0 w 45"/>
                <a:gd name="T33" fmla="*/ 42 h 42"/>
                <a:gd name="T34" fmla="*/ 20 w 45"/>
                <a:gd name="T35" fmla="*/ 42 h 42"/>
                <a:gd name="T36" fmla="*/ 20 w 45"/>
                <a:gd name="T37" fmla="*/ 37 h 42"/>
                <a:gd name="T38" fmla="*/ 16 w 45"/>
                <a:gd name="T39" fmla="*/ 35 h 42"/>
                <a:gd name="T40" fmla="*/ 15 w 45"/>
                <a:gd name="T41" fmla="*/ 29 h 42"/>
                <a:gd name="T42" fmla="*/ 15 w 45"/>
                <a:gd name="T43" fmla="*/ 24 h 42"/>
                <a:gd name="T44" fmla="*/ 19 w 45"/>
                <a:gd name="T45" fmla="*/ 24 h 42"/>
                <a:gd name="T46" fmla="*/ 32 w 45"/>
                <a:gd name="T47" fmla="*/ 42 h 42"/>
                <a:gd name="T48" fmla="*/ 45 w 45"/>
                <a:gd name="T49" fmla="*/ 42 h 42"/>
                <a:gd name="T50" fmla="*/ 45 w 45"/>
                <a:gd name="T51" fmla="*/ 37 h 42"/>
                <a:gd name="T52" fmla="*/ 41 w 45"/>
                <a:gd name="T53" fmla="*/ 36 h 42"/>
                <a:gd name="T54" fmla="*/ 38 w 45"/>
                <a:gd name="T55" fmla="*/ 33 h 42"/>
                <a:gd name="T56" fmla="*/ 30 w 45"/>
                <a:gd name="T57" fmla="*/ 23 h 42"/>
                <a:gd name="T58" fmla="*/ 37 w 45"/>
                <a:gd name="T59" fmla="*/ 18 h 42"/>
                <a:gd name="T60" fmla="*/ 39 w 45"/>
                <a:gd name="T61" fmla="*/ 11 h 42"/>
                <a:gd name="T62" fmla="*/ 35 w 45"/>
                <a:gd name="T63" fmla="*/ 3 h 42"/>
                <a:gd name="T64" fmla="*/ 23 w 45"/>
                <a:gd name="T65" fmla="*/ 0 h 42"/>
                <a:gd name="T66" fmla="*/ 0 w 45"/>
                <a:gd name="T67" fmla="*/ 0 h 42"/>
                <a:gd name="T68" fmla="*/ 0 w 45"/>
                <a:gd name="T69"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5" h="42">
                  <a:moveTo>
                    <a:pt x="15" y="10"/>
                  </a:moveTo>
                  <a:cubicBezTo>
                    <a:pt x="15" y="8"/>
                    <a:pt x="15" y="7"/>
                    <a:pt x="16" y="6"/>
                  </a:cubicBezTo>
                  <a:cubicBezTo>
                    <a:pt x="17" y="6"/>
                    <a:pt x="18" y="5"/>
                    <a:pt x="20" y="5"/>
                  </a:cubicBezTo>
                  <a:cubicBezTo>
                    <a:pt x="22" y="5"/>
                    <a:pt x="25" y="6"/>
                    <a:pt x="26" y="7"/>
                  </a:cubicBezTo>
                  <a:cubicBezTo>
                    <a:pt x="28" y="8"/>
                    <a:pt x="29" y="10"/>
                    <a:pt x="29" y="12"/>
                  </a:cubicBezTo>
                  <a:cubicBezTo>
                    <a:pt x="29" y="14"/>
                    <a:pt x="28" y="15"/>
                    <a:pt x="26" y="17"/>
                  </a:cubicBezTo>
                  <a:cubicBezTo>
                    <a:pt x="24" y="18"/>
                    <a:pt x="21" y="18"/>
                    <a:pt x="17" y="18"/>
                  </a:cubicBezTo>
                  <a:cubicBezTo>
                    <a:pt x="17" y="18"/>
                    <a:pt x="16" y="18"/>
                    <a:pt x="16" y="18"/>
                  </a:cubicBezTo>
                  <a:cubicBezTo>
                    <a:pt x="16" y="18"/>
                    <a:pt x="15" y="18"/>
                    <a:pt x="15" y="18"/>
                  </a:cubicBezTo>
                  <a:lnTo>
                    <a:pt x="15" y="10"/>
                  </a:lnTo>
                  <a:close/>
                  <a:moveTo>
                    <a:pt x="0" y="5"/>
                  </a:moveTo>
                  <a:cubicBezTo>
                    <a:pt x="2" y="5"/>
                    <a:pt x="3" y="6"/>
                    <a:pt x="4" y="7"/>
                  </a:cubicBezTo>
                  <a:cubicBezTo>
                    <a:pt x="4" y="7"/>
                    <a:pt x="5" y="10"/>
                    <a:pt x="5" y="13"/>
                  </a:cubicBezTo>
                  <a:cubicBezTo>
                    <a:pt x="5" y="29"/>
                    <a:pt x="5" y="29"/>
                    <a:pt x="5" y="29"/>
                  </a:cubicBezTo>
                  <a:cubicBezTo>
                    <a:pt x="5" y="32"/>
                    <a:pt x="4" y="34"/>
                    <a:pt x="4" y="35"/>
                  </a:cubicBezTo>
                  <a:cubicBezTo>
                    <a:pt x="3" y="36"/>
                    <a:pt x="2" y="37"/>
                    <a:pt x="0" y="37"/>
                  </a:cubicBezTo>
                  <a:cubicBezTo>
                    <a:pt x="0" y="42"/>
                    <a:pt x="0" y="42"/>
                    <a:pt x="0" y="42"/>
                  </a:cubicBezTo>
                  <a:cubicBezTo>
                    <a:pt x="20" y="42"/>
                    <a:pt x="20" y="42"/>
                    <a:pt x="20" y="42"/>
                  </a:cubicBezTo>
                  <a:cubicBezTo>
                    <a:pt x="20" y="37"/>
                    <a:pt x="20" y="37"/>
                    <a:pt x="20" y="37"/>
                  </a:cubicBezTo>
                  <a:cubicBezTo>
                    <a:pt x="18" y="37"/>
                    <a:pt x="17" y="36"/>
                    <a:pt x="16" y="35"/>
                  </a:cubicBezTo>
                  <a:cubicBezTo>
                    <a:pt x="15" y="34"/>
                    <a:pt x="15" y="32"/>
                    <a:pt x="15" y="29"/>
                  </a:cubicBezTo>
                  <a:cubicBezTo>
                    <a:pt x="15" y="24"/>
                    <a:pt x="15" y="24"/>
                    <a:pt x="15" y="24"/>
                  </a:cubicBezTo>
                  <a:cubicBezTo>
                    <a:pt x="19" y="24"/>
                    <a:pt x="19" y="24"/>
                    <a:pt x="19" y="24"/>
                  </a:cubicBezTo>
                  <a:cubicBezTo>
                    <a:pt x="32" y="42"/>
                    <a:pt x="32" y="42"/>
                    <a:pt x="32" y="42"/>
                  </a:cubicBezTo>
                  <a:cubicBezTo>
                    <a:pt x="45" y="42"/>
                    <a:pt x="45" y="42"/>
                    <a:pt x="45" y="42"/>
                  </a:cubicBezTo>
                  <a:cubicBezTo>
                    <a:pt x="45" y="37"/>
                    <a:pt x="45" y="37"/>
                    <a:pt x="45" y="37"/>
                  </a:cubicBezTo>
                  <a:cubicBezTo>
                    <a:pt x="43" y="37"/>
                    <a:pt x="42" y="36"/>
                    <a:pt x="41" y="36"/>
                  </a:cubicBezTo>
                  <a:cubicBezTo>
                    <a:pt x="40" y="35"/>
                    <a:pt x="39" y="34"/>
                    <a:pt x="38" y="33"/>
                  </a:cubicBezTo>
                  <a:cubicBezTo>
                    <a:pt x="30" y="23"/>
                    <a:pt x="30" y="23"/>
                    <a:pt x="30" y="23"/>
                  </a:cubicBezTo>
                  <a:cubicBezTo>
                    <a:pt x="33" y="22"/>
                    <a:pt x="35" y="20"/>
                    <a:pt x="37" y="18"/>
                  </a:cubicBezTo>
                  <a:cubicBezTo>
                    <a:pt x="38" y="17"/>
                    <a:pt x="39" y="14"/>
                    <a:pt x="39" y="11"/>
                  </a:cubicBezTo>
                  <a:cubicBezTo>
                    <a:pt x="39" y="8"/>
                    <a:pt x="38" y="5"/>
                    <a:pt x="35" y="3"/>
                  </a:cubicBezTo>
                  <a:cubicBezTo>
                    <a:pt x="32" y="1"/>
                    <a:pt x="28" y="0"/>
                    <a:pt x="23" y="0"/>
                  </a:cubicBezTo>
                  <a:cubicBezTo>
                    <a:pt x="0" y="0"/>
                    <a:pt x="0" y="0"/>
                    <a:pt x="0" y="0"/>
                  </a:cubicBezTo>
                  <a:lnTo>
                    <a:pt x="0" y="5"/>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5" name="Freeform 58"/>
            <p:cNvSpPr/>
            <p:nvPr/>
          </p:nvSpPr>
          <p:spPr bwMode="auto">
            <a:xfrm>
              <a:off x="1984375" y="5929313"/>
              <a:ext cx="49212" cy="106363"/>
            </a:xfrm>
            <a:custGeom>
              <a:avLst/>
              <a:gdLst>
                <a:gd name="T0" fmla="*/ 0 w 20"/>
                <a:gd name="T1" fmla="*/ 0 h 42"/>
                <a:gd name="T2" fmla="*/ 20 w 20"/>
                <a:gd name="T3" fmla="*/ 0 h 42"/>
                <a:gd name="T4" fmla="*/ 20 w 20"/>
                <a:gd name="T5" fmla="*/ 5 h 42"/>
                <a:gd name="T6" fmla="*/ 16 w 20"/>
                <a:gd name="T7" fmla="*/ 7 h 42"/>
                <a:gd name="T8" fmla="*/ 15 w 20"/>
                <a:gd name="T9" fmla="*/ 13 h 42"/>
                <a:gd name="T10" fmla="*/ 15 w 20"/>
                <a:gd name="T11" fmla="*/ 29 h 42"/>
                <a:gd name="T12" fmla="*/ 16 w 20"/>
                <a:gd name="T13" fmla="*/ 35 h 42"/>
                <a:gd name="T14" fmla="*/ 20 w 20"/>
                <a:gd name="T15" fmla="*/ 37 h 42"/>
                <a:gd name="T16" fmla="*/ 20 w 20"/>
                <a:gd name="T17" fmla="*/ 42 h 42"/>
                <a:gd name="T18" fmla="*/ 0 w 20"/>
                <a:gd name="T19" fmla="*/ 42 h 42"/>
                <a:gd name="T20" fmla="*/ 0 w 20"/>
                <a:gd name="T21" fmla="*/ 37 h 42"/>
                <a:gd name="T22" fmla="*/ 4 w 20"/>
                <a:gd name="T23" fmla="*/ 35 h 42"/>
                <a:gd name="T24" fmla="*/ 5 w 20"/>
                <a:gd name="T25" fmla="*/ 29 h 42"/>
                <a:gd name="T26" fmla="*/ 5 w 20"/>
                <a:gd name="T27" fmla="*/ 13 h 42"/>
                <a:gd name="T28" fmla="*/ 4 w 20"/>
                <a:gd name="T29" fmla="*/ 7 h 42"/>
                <a:gd name="T30" fmla="*/ 0 w 20"/>
                <a:gd name="T31" fmla="*/ 5 h 42"/>
                <a:gd name="T32" fmla="*/ 0 w 20"/>
                <a:gd name="T3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 h="42">
                  <a:moveTo>
                    <a:pt x="0" y="0"/>
                  </a:moveTo>
                  <a:cubicBezTo>
                    <a:pt x="20" y="0"/>
                    <a:pt x="20" y="0"/>
                    <a:pt x="20" y="0"/>
                  </a:cubicBezTo>
                  <a:cubicBezTo>
                    <a:pt x="20" y="5"/>
                    <a:pt x="20" y="5"/>
                    <a:pt x="20" y="5"/>
                  </a:cubicBezTo>
                  <a:cubicBezTo>
                    <a:pt x="18" y="5"/>
                    <a:pt x="17" y="6"/>
                    <a:pt x="16" y="7"/>
                  </a:cubicBezTo>
                  <a:cubicBezTo>
                    <a:pt x="16" y="8"/>
                    <a:pt x="15" y="10"/>
                    <a:pt x="15" y="13"/>
                  </a:cubicBezTo>
                  <a:cubicBezTo>
                    <a:pt x="15" y="29"/>
                    <a:pt x="15" y="29"/>
                    <a:pt x="15" y="29"/>
                  </a:cubicBezTo>
                  <a:cubicBezTo>
                    <a:pt x="15" y="32"/>
                    <a:pt x="16" y="34"/>
                    <a:pt x="16" y="35"/>
                  </a:cubicBezTo>
                  <a:cubicBezTo>
                    <a:pt x="17" y="36"/>
                    <a:pt x="18" y="37"/>
                    <a:pt x="20" y="37"/>
                  </a:cubicBezTo>
                  <a:cubicBezTo>
                    <a:pt x="20" y="42"/>
                    <a:pt x="20" y="42"/>
                    <a:pt x="20" y="42"/>
                  </a:cubicBezTo>
                  <a:cubicBezTo>
                    <a:pt x="0" y="42"/>
                    <a:pt x="0" y="42"/>
                    <a:pt x="0" y="42"/>
                  </a:cubicBezTo>
                  <a:cubicBezTo>
                    <a:pt x="0" y="37"/>
                    <a:pt x="0" y="37"/>
                    <a:pt x="0" y="37"/>
                  </a:cubicBezTo>
                  <a:cubicBezTo>
                    <a:pt x="2" y="37"/>
                    <a:pt x="3" y="36"/>
                    <a:pt x="4" y="35"/>
                  </a:cubicBezTo>
                  <a:cubicBezTo>
                    <a:pt x="4" y="34"/>
                    <a:pt x="5" y="32"/>
                    <a:pt x="5" y="29"/>
                  </a:cubicBezTo>
                  <a:cubicBezTo>
                    <a:pt x="5" y="13"/>
                    <a:pt x="5" y="13"/>
                    <a:pt x="5" y="13"/>
                  </a:cubicBezTo>
                  <a:cubicBezTo>
                    <a:pt x="5" y="10"/>
                    <a:pt x="4" y="7"/>
                    <a:pt x="4" y="7"/>
                  </a:cubicBezTo>
                  <a:cubicBezTo>
                    <a:pt x="3" y="6"/>
                    <a:pt x="2" y="5"/>
                    <a:pt x="0" y="5"/>
                  </a:cubicBezTo>
                  <a:lnTo>
                    <a:pt x="0" y="0"/>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6" name="Freeform 59"/>
            <p:cNvSpPr>
              <a:spLocks noEditPoints="1"/>
            </p:cNvSpPr>
            <p:nvPr/>
          </p:nvSpPr>
          <p:spPr bwMode="auto">
            <a:xfrm>
              <a:off x="2038350" y="5929313"/>
              <a:ext cx="107950" cy="106363"/>
            </a:xfrm>
            <a:custGeom>
              <a:avLst/>
              <a:gdLst>
                <a:gd name="T0" fmla="*/ 15 w 43"/>
                <a:gd name="T1" fmla="*/ 10 h 42"/>
                <a:gd name="T2" fmla="*/ 16 w 43"/>
                <a:gd name="T3" fmla="*/ 6 h 42"/>
                <a:gd name="T4" fmla="*/ 19 w 43"/>
                <a:gd name="T5" fmla="*/ 5 h 42"/>
                <a:gd name="T6" fmla="*/ 28 w 43"/>
                <a:gd name="T7" fmla="*/ 9 h 42"/>
                <a:gd name="T8" fmla="*/ 32 w 43"/>
                <a:gd name="T9" fmla="*/ 21 h 42"/>
                <a:gd name="T10" fmla="*/ 28 w 43"/>
                <a:gd name="T11" fmla="*/ 33 h 42"/>
                <a:gd name="T12" fmla="*/ 19 w 43"/>
                <a:gd name="T13" fmla="*/ 37 h 42"/>
                <a:gd name="T14" fmla="*/ 16 w 43"/>
                <a:gd name="T15" fmla="*/ 36 h 42"/>
                <a:gd name="T16" fmla="*/ 15 w 43"/>
                <a:gd name="T17" fmla="*/ 32 h 42"/>
                <a:gd name="T18" fmla="*/ 15 w 43"/>
                <a:gd name="T19" fmla="*/ 10 h 42"/>
                <a:gd name="T20" fmla="*/ 0 w 43"/>
                <a:gd name="T21" fmla="*/ 5 h 42"/>
                <a:gd name="T22" fmla="*/ 4 w 43"/>
                <a:gd name="T23" fmla="*/ 6 h 42"/>
                <a:gd name="T24" fmla="*/ 5 w 43"/>
                <a:gd name="T25" fmla="*/ 13 h 42"/>
                <a:gd name="T26" fmla="*/ 5 w 43"/>
                <a:gd name="T27" fmla="*/ 29 h 42"/>
                <a:gd name="T28" fmla="*/ 4 w 43"/>
                <a:gd name="T29" fmla="*/ 35 h 42"/>
                <a:gd name="T30" fmla="*/ 0 w 43"/>
                <a:gd name="T31" fmla="*/ 37 h 42"/>
                <a:gd name="T32" fmla="*/ 0 w 43"/>
                <a:gd name="T33" fmla="*/ 42 h 42"/>
                <a:gd name="T34" fmla="*/ 20 w 43"/>
                <a:gd name="T35" fmla="*/ 42 h 42"/>
                <a:gd name="T36" fmla="*/ 37 w 43"/>
                <a:gd name="T37" fmla="*/ 37 h 42"/>
                <a:gd name="T38" fmla="*/ 43 w 43"/>
                <a:gd name="T39" fmla="*/ 21 h 42"/>
                <a:gd name="T40" fmla="*/ 37 w 43"/>
                <a:gd name="T41" fmla="*/ 5 h 42"/>
                <a:gd name="T42" fmla="*/ 20 w 43"/>
                <a:gd name="T43" fmla="*/ 0 h 42"/>
                <a:gd name="T44" fmla="*/ 0 w 43"/>
                <a:gd name="T45" fmla="*/ 0 h 42"/>
                <a:gd name="T46" fmla="*/ 0 w 43"/>
                <a:gd name="T47"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3" h="42">
                  <a:moveTo>
                    <a:pt x="15" y="10"/>
                  </a:moveTo>
                  <a:cubicBezTo>
                    <a:pt x="15" y="8"/>
                    <a:pt x="15" y="7"/>
                    <a:pt x="16" y="6"/>
                  </a:cubicBezTo>
                  <a:cubicBezTo>
                    <a:pt x="16" y="5"/>
                    <a:pt x="18" y="5"/>
                    <a:pt x="19" y="5"/>
                  </a:cubicBezTo>
                  <a:cubicBezTo>
                    <a:pt x="23" y="5"/>
                    <a:pt x="26" y="7"/>
                    <a:pt x="28" y="9"/>
                  </a:cubicBezTo>
                  <a:cubicBezTo>
                    <a:pt x="31" y="12"/>
                    <a:pt x="32" y="16"/>
                    <a:pt x="32" y="21"/>
                  </a:cubicBezTo>
                  <a:cubicBezTo>
                    <a:pt x="32" y="26"/>
                    <a:pt x="31" y="30"/>
                    <a:pt x="28" y="33"/>
                  </a:cubicBezTo>
                  <a:cubicBezTo>
                    <a:pt x="26" y="35"/>
                    <a:pt x="23" y="37"/>
                    <a:pt x="19" y="37"/>
                  </a:cubicBezTo>
                  <a:cubicBezTo>
                    <a:pt x="18" y="37"/>
                    <a:pt x="16" y="36"/>
                    <a:pt x="16" y="36"/>
                  </a:cubicBezTo>
                  <a:cubicBezTo>
                    <a:pt x="15" y="35"/>
                    <a:pt x="15" y="34"/>
                    <a:pt x="15" y="32"/>
                  </a:cubicBezTo>
                  <a:lnTo>
                    <a:pt x="15" y="10"/>
                  </a:lnTo>
                  <a:close/>
                  <a:moveTo>
                    <a:pt x="0" y="5"/>
                  </a:moveTo>
                  <a:cubicBezTo>
                    <a:pt x="2" y="5"/>
                    <a:pt x="3" y="6"/>
                    <a:pt x="4" y="6"/>
                  </a:cubicBezTo>
                  <a:cubicBezTo>
                    <a:pt x="4" y="7"/>
                    <a:pt x="5" y="9"/>
                    <a:pt x="5" y="13"/>
                  </a:cubicBezTo>
                  <a:cubicBezTo>
                    <a:pt x="5" y="29"/>
                    <a:pt x="5" y="29"/>
                    <a:pt x="5" y="29"/>
                  </a:cubicBezTo>
                  <a:cubicBezTo>
                    <a:pt x="5" y="32"/>
                    <a:pt x="4" y="35"/>
                    <a:pt x="4" y="35"/>
                  </a:cubicBezTo>
                  <a:cubicBezTo>
                    <a:pt x="3" y="36"/>
                    <a:pt x="2" y="37"/>
                    <a:pt x="0" y="37"/>
                  </a:cubicBezTo>
                  <a:cubicBezTo>
                    <a:pt x="0" y="42"/>
                    <a:pt x="0" y="42"/>
                    <a:pt x="0" y="42"/>
                  </a:cubicBezTo>
                  <a:cubicBezTo>
                    <a:pt x="20" y="42"/>
                    <a:pt x="20" y="42"/>
                    <a:pt x="20" y="42"/>
                  </a:cubicBezTo>
                  <a:cubicBezTo>
                    <a:pt x="27" y="42"/>
                    <a:pt x="33" y="40"/>
                    <a:pt x="37" y="37"/>
                  </a:cubicBezTo>
                  <a:cubicBezTo>
                    <a:pt x="41" y="33"/>
                    <a:pt x="43" y="28"/>
                    <a:pt x="43" y="21"/>
                  </a:cubicBezTo>
                  <a:cubicBezTo>
                    <a:pt x="43" y="14"/>
                    <a:pt x="41" y="9"/>
                    <a:pt x="37" y="5"/>
                  </a:cubicBezTo>
                  <a:cubicBezTo>
                    <a:pt x="33" y="2"/>
                    <a:pt x="27" y="0"/>
                    <a:pt x="20" y="0"/>
                  </a:cubicBezTo>
                  <a:cubicBezTo>
                    <a:pt x="0" y="0"/>
                    <a:pt x="0" y="0"/>
                    <a:pt x="0" y="0"/>
                  </a:cubicBezTo>
                  <a:lnTo>
                    <a:pt x="0" y="5"/>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7" name="Freeform 60"/>
            <p:cNvSpPr>
              <a:spLocks noEditPoints="1"/>
            </p:cNvSpPr>
            <p:nvPr/>
          </p:nvSpPr>
          <p:spPr bwMode="auto">
            <a:xfrm>
              <a:off x="1219200" y="5657850"/>
              <a:ext cx="200025" cy="223838"/>
            </a:xfrm>
            <a:custGeom>
              <a:avLst/>
              <a:gdLst>
                <a:gd name="T0" fmla="*/ 46 w 80"/>
                <a:gd name="T1" fmla="*/ 60 h 89"/>
                <a:gd name="T2" fmla="*/ 46 w 80"/>
                <a:gd name="T3" fmla="*/ 47 h 89"/>
                <a:gd name="T4" fmla="*/ 52 w 80"/>
                <a:gd name="T5" fmla="*/ 47 h 89"/>
                <a:gd name="T6" fmla="*/ 47 w 80"/>
                <a:gd name="T7" fmla="*/ 52 h 89"/>
                <a:gd name="T8" fmla="*/ 53 w 80"/>
                <a:gd name="T9" fmla="*/ 57 h 89"/>
                <a:gd name="T10" fmla="*/ 55 w 80"/>
                <a:gd name="T11" fmla="*/ 60 h 89"/>
                <a:gd name="T12" fmla="*/ 46 w 80"/>
                <a:gd name="T13" fmla="*/ 60 h 89"/>
                <a:gd name="T14" fmla="*/ 13 w 80"/>
                <a:gd name="T15" fmla="*/ 71 h 89"/>
                <a:gd name="T16" fmla="*/ 21 w 80"/>
                <a:gd name="T17" fmla="*/ 70 h 89"/>
                <a:gd name="T18" fmla="*/ 58 w 80"/>
                <a:gd name="T19" fmla="*/ 70 h 89"/>
                <a:gd name="T20" fmla="*/ 67 w 80"/>
                <a:gd name="T21" fmla="*/ 71 h 89"/>
                <a:gd name="T22" fmla="*/ 67 w 80"/>
                <a:gd name="T23" fmla="*/ 60 h 89"/>
                <a:gd name="T24" fmla="*/ 60 w 80"/>
                <a:gd name="T25" fmla="*/ 60 h 89"/>
                <a:gd name="T26" fmla="*/ 65 w 80"/>
                <a:gd name="T27" fmla="*/ 55 h 89"/>
                <a:gd name="T28" fmla="*/ 62 w 80"/>
                <a:gd name="T29" fmla="*/ 53 h 89"/>
                <a:gd name="T30" fmla="*/ 59 w 80"/>
                <a:gd name="T31" fmla="*/ 50 h 89"/>
                <a:gd name="T32" fmla="*/ 57 w 80"/>
                <a:gd name="T33" fmla="*/ 47 h 89"/>
                <a:gd name="T34" fmla="*/ 64 w 80"/>
                <a:gd name="T35" fmla="*/ 47 h 89"/>
                <a:gd name="T36" fmla="*/ 64 w 80"/>
                <a:gd name="T37" fmla="*/ 37 h 89"/>
                <a:gd name="T38" fmla="*/ 58 w 80"/>
                <a:gd name="T39" fmla="*/ 37 h 89"/>
                <a:gd name="T40" fmla="*/ 46 w 80"/>
                <a:gd name="T41" fmla="*/ 37 h 89"/>
                <a:gd name="T42" fmla="*/ 46 w 80"/>
                <a:gd name="T43" fmla="*/ 27 h 89"/>
                <a:gd name="T44" fmla="*/ 58 w 80"/>
                <a:gd name="T45" fmla="*/ 27 h 89"/>
                <a:gd name="T46" fmla="*/ 66 w 80"/>
                <a:gd name="T47" fmla="*/ 28 h 89"/>
                <a:gd name="T48" fmla="*/ 66 w 80"/>
                <a:gd name="T49" fmla="*/ 17 h 89"/>
                <a:gd name="T50" fmla="*/ 58 w 80"/>
                <a:gd name="T51" fmla="*/ 17 h 89"/>
                <a:gd name="T52" fmla="*/ 22 w 80"/>
                <a:gd name="T53" fmla="*/ 17 h 89"/>
                <a:gd name="T54" fmla="*/ 14 w 80"/>
                <a:gd name="T55" fmla="*/ 17 h 89"/>
                <a:gd name="T56" fmla="*/ 14 w 80"/>
                <a:gd name="T57" fmla="*/ 27 h 89"/>
                <a:gd name="T58" fmla="*/ 22 w 80"/>
                <a:gd name="T59" fmla="*/ 27 h 89"/>
                <a:gd name="T60" fmla="*/ 35 w 80"/>
                <a:gd name="T61" fmla="*/ 27 h 89"/>
                <a:gd name="T62" fmla="*/ 35 w 80"/>
                <a:gd name="T63" fmla="*/ 37 h 89"/>
                <a:gd name="T64" fmla="*/ 25 w 80"/>
                <a:gd name="T65" fmla="*/ 37 h 89"/>
                <a:gd name="T66" fmla="*/ 17 w 80"/>
                <a:gd name="T67" fmla="*/ 37 h 89"/>
                <a:gd name="T68" fmla="*/ 17 w 80"/>
                <a:gd name="T69" fmla="*/ 47 h 89"/>
                <a:gd name="T70" fmla="*/ 25 w 80"/>
                <a:gd name="T71" fmla="*/ 47 h 89"/>
                <a:gd name="T72" fmla="*/ 35 w 80"/>
                <a:gd name="T73" fmla="*/ 47 h 89"/>
                <a:gd name="T74" fmla="*/ 35 w 80"/>
                <a:gd name="T75" fmla="*/ 60 h 89"/>
                <a:gd name="T76" fmla="*/ 21 w 80"/>
                <a:gd name="T77" fmla="*/ 60 h 89"/>
                <a:gd name="T78" fmla="*/ 13 w 80"/>
                <a:gd name="T79" fmla="*/ 60 h 89"/>
                <a:gd name="T80" fmla="*/ 13 w 80"/>
                <a:gd name="T81" fmla="*/ 71 h 89"/>
                <a:gd name="T82" fmla="*/ 0 w 80"/>
                <a:gd name="T83" fmla="*/ 11 h 89"/>
                <a:gd name="T84" fmla="*/ 0 w 80"/>
                <a:gd name="T85" fmla="*/ 77 h 89"/>
                <a:gd name="T86" fmla="*/ 0 w 80"/>
                <a:gd name="T87" fmla="*/ 88 h 89"/>
                <a:gd name="T88" fmla="*/ 11 w 80"/>
                <a:gd name="T89" fmla="*/ 88 h 89"/>
                <a:gd name="T90" fmla="*/ 11 w 80"/>
                <a:gd name="T91" fmla="*/ 87 h 89"/>
                <a:gd name="T92" fmla="*/ 69 w 80"/>
                <a:gd name="T93" fmla="*/ 87 h 89"/>
                <a:gd name="T94" fmla="*/ 69 w 80"/>
                <a:gd name="T95" fmla="*/ 89 h 89"/>
                <a:gd name="T96" fmla="*/ 80 w 80"/>
                <a:gd name="T97" fmla="*/ 89 h 89"/>
                <a:gd name="T98" fmla="*/ 80 w 80"/>
                <a:gd name="T99" fmla="*/ 78 h 89"/>
                <a:gd name="T100" fmla="*/ 80 w 80"/>
                <a:gd name="T101" fmla="*/ 11 h 89"/>
                <a:gd name="T102" fmla="*/ 80 w 80"/>
                <a:gd name="T103" fmla="*/ 0 h 89"/>
                <a:gd name="T104" fmla="*/ 71 w 80"/>
                <a:gd name="T105" fmla="*/ 0 h 89"/>
                <a:gd name="T106" fmla="*/ 9 w 80"/>
                <a:gd name="T107" fmla="*/ 0 h 89"/>
                <a:gd name="T108" fmla="*/ 0 w 80"/>
                <a:gd name="T109" fmla="*/ 0 h 89"/>
                <a:gd name="T110" fmla="*/ 0 w 80"/>
                <a:gd name="T111" fmla="*/ 11 h 89"/>
                <a:gd name="T112" fmla="*/ 11 w 80"/>
                <a:gd name="T113" fmla="*/ 11 h 89"/>
                <a:gd name="T114" fmla="*/ 69 w 80"/>
                <a:gd name="T115" fmla="*/ 11 h 89"/>
                <a:gd name="T116" fmla="*/ 69 w 80"/>
                <a:gd name="T117" fmla="*/ 76 h 89"/>
                <a:gd name="T118" fmla="*/ 11 w 80"/>
                <a:gd name="T119" fmla="*/ 76 h 89"/>
                <a:gd name="T120" fmla="*/ 11 w 80"/>
                <a:gd name="T121"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0" h="89">
                  <a:moveTo>
                    <a:pt x="46" y="60"/>
                  </a:moveTo>
                  <a:cubicBezTo>
                    <a:pt x="46" y="47"/>
                    <a:pt x="46" y="47"/>
                    <a:pt x="46" y="47"/>
                  </a:cubicBezTo>
                  <a:cubicBezTo>
                    <a:pt x="52" y="47"/>
                    <a:pt x="52" y="47"/>
                    <a:pt x="52" y="47"/>
                  </a:cubicBezTo>
                  <a:cubicBezTo>
                    <a:pt x="51" y="49"/>
                    <a:pt x="49" y="50"/>
                    <a:pt x="47" y="52"/>
                  </a:cubicBezTo>
                  <a:cubicBezTo>
                    <a:pt x="50" y="54"/>
                    <a:pt x="52" y="56"/>
                    <a:pt x="53" y="57"/>
                  </a:cubicBezTo>
                  <a:cubicBezTo>
                    <a:pt x="54" y="59"/>
                    <a:pt x="55" y="59"/>
                    <a:pt x="55" y="60"/>
                  </a:cubicBezTo>
                  <a:lnTo>
                    <a:pt x="46" y="60"/>
                  </a:lnTo>
                  <a:close/>
                  <a:moveTo>
                    <a:pt x="13" y="71"/>
                  </a:moveTo>
                  <a:cubicBezTo>
                    <a:pt x="21" y="70"/>
                    <a:pt x="21" y="70"/>
                    <a:pt x="21" y="70"/>
                  </a:cubicBezTo>
                  <a:cubicBezTo>
                    <a:pt x="58" y="70"/>
                    <a:pt x="58" y="70"/>
                    <a:pt x="58" y="70"/>
                  </a:cubicBezTo>
                  <a:cubicBezTo>
                    <a:pt x="67" y="71"/>
                    <a:pt x="67" y="71"/>
                    <a:pt x="67" y="71"/>
                  </a:cubicBezTo>
                  <a:cubicBezTo>
                    <a:pt x="67" y="60"/>
                    <a:pt x="67" y="60"/>
                    <a:pt x="67" y="60"/>
                  </a:cubicBezTo>
                  <a:cubicBezTo>
                    <a:pt x="60" y="60"/>
                    <a:pt x="60" y="60"/>
                    <a:pt x="60" y="60"/>
                  </a:cubicBezTo>
                  <a:cubicBezTo>
                    <a:pt x="62" y="58"/>
                    <a:pt x="63" y="57"/>
                    <a:pt x="65" y="55"/>
                  </a:cubicBezTo>
                  <a:cubicBezTo>
                    <a:pt x="62" y="53"/>
                    <a:pt x="62" y="53"/>
                    <a:pt x="62" y="53"/>
                  </a:cubicBezTo>
                  <a:cubicBezTo>
                    <a:pt x="59" y="50"/>
                    <a:pt x="59" y="50"/>
                    <a:pt x="59" y="50"/>
                  </a:cubicBezTo>
                  <a:cubicBezTo>
                    <a:pt x="58" y="49"/>
                    <a:pt x="58" y="48"/>
                    <a:pt x="57" y="47"/>
                  </a:cubicBezTo>
                  <a:cubicBezTo>
                    <a:pt x="64" y="47"/>
                    <a:pt x="64" y="47"/>
                    <a:pt x="64" y="47"/>
                  </a:cubicBezTo>
                  <a:cubicBezTo>
                    <a:pt x="64" y="37"/>
                    <a:pt x="64" y="37"/>
                    <a:pt x="64" y="37"/>
                  </a:cubicBezTo>
                  <a:cubicBezTo>
                    <a:pt x="58" y="37"/>
                    <a:pt x="58" y="37"/>
                    <a:pt x="58" y="37"/>
                  </a:cubicBezTo>
                  <a:cubicBezTo>
                    <a:pt x="46" y="37"/>
                    <a:pt x="46" y="37"/>
                    <a:pt x="46" y="37"/>
                  </a:cubicBezTo>
                  <a:cubicBezTo>
                    <a:pt x="46" y="27"/>
                    <a:pt x="46" y="27"/>
                    <a:pt x="46" y="27"/>
                  </a:cubicBezTo>
                  <a:cubicBezTo>
                    <a:pt x="58" y="27"/>
                    <a:pt x="58" y="27"/>
                    <a:pt x="58" y="27"/>
                  </a:cubicBezTo>
                  <a:cubicBezTo>
                    <a:pt x="66" y="28"/>
                    <a:pt x="66" y="28"/>
                    <a:pt x="66" y="28"/>
                  </a:cubicBezTo>
                  <a:cubicBezTo>
                    <a:pt x="66" y="17"/>
                    <a:pt x="66" y="17"/>
                    <a:pt x="66" y="17"/>
                  </a:cubicBezTo>
                  <a:cubicBezTo>
                    <a:pt x="58" y="17"/>
                    <a:pt x="58" y="17"/>
                    <a:pt x="58" y="17"/>
                  </a:cubicBezTo>
                  <a:cubicBezTo>
                    <a:pt x="22" y="17"/>
                    <a:pt x="22" y="17"/>
                    <a:pt x="22" y="17"/>
                  </a:cubicBezTo>
                  <a:cubicBezTo>
                    <a:pt x="14" y="17"/>
                    <a:pt x="14" y="17"/>
                    <a:pt x="14" y="17"/>
                  </a:cubicBezTo>
                  <a:cubicBezTo>
                    <a:pt x="14" y="27"/>
                    <a:pt x="14" y="27"/>
                    <a:pt x="14" y="27"/>
                  </a:cubicBezTo>
                  <a:cubicBezTo>
                    <a:pt x="22" y="27"/>
                    <a:pt x="22" y="27"/>
                    <a:pt x="22" y="27"/>
                  </a:cubicBezTo>
                  <a:cubicBezTo>
                    <a:pt x="35" y="27"/>
                    <a:pt x="35" y="27"/>
                    <a:pt x="35" y="27"/>
                  </a:cubicBezTo>
                  <a:cubicBezTo>
                    <a:pt x="35" y="37"/>
                    <a:pt x="35" y="37"/>
                    <a:pt x="35" y="37"/>
                  </a:cubicBezTo>
                  <a:cubicBezTo>
                    <a:pt x="25" y="37"/>
                    <a:pt x="25" y="37"/>
                    <a:pt x="25" y="37"/>
                  </a:cubicBezTo>
                  <a:cubicBezTo>
                    <a:pt x="17" y="37"/>
                    <a:pt x="17" y="37"/>
                    <a:pt x="17" y="37"/>
                  </a:cubicBezTo>
                  <a:cubicBezTo>
                    <a:pt x="17" y="47"/>
                    <a:pt x="17" y="47"/>
                    <a:pt x="17" y="47"/>
                  </a:cubicBezTo>
                  <a:cubicBezTo>
                    <a:pt x="25" y="47"/>
                    <a:pt x="25" y="47"/>
                    <a:pt x="25" y="47"/>
                  </a:cubicBezTo>
                  <a:cubicBezTo>
                    <a:pt x="35" y="47"/>
                    <a:pt x="35" y="47"/>
                    <a:pt x="35" y="47"/>
                  </a:cubicBezTo>
                  <a:cubicBezTo>
                    <a:pt x="35" y="60"/>
                    <a:pt x="35" y="60"/>
                    <a:pt x="35" y="60"/>
                  </a:cubicBezTo>
                  <a:cubicBezTo>
                    <a:pt x="21" y="60"/>
                    <a:pt x="21" y="60"/>
                    <a:pt x="21" y="60"/>
                  </a:cubicBezTo>
                  <a:cubicBezTo>
                    <a:pt x="13" y="60"/>
                    <a:pt x="13" y="60"/>
                    <a:pt x="13" y="60"/>
                  </a:cubicBezTo>
                  <a:lnTo>
                    <a:pt x="13" y="71"/>
                  </a:lnTo>
                  <a:close/>
                  <a:moveTo>
                    <a:pt x="0" y="11"/>
                  </a:moveTo>
                  <a:cubicBezTo>
                    <a:pt x="0" y="77"/>
                    <a:pt x="0" y="77"/>
                    <a:pt x="0" y="77"/>
                  </a:cubicBezTo>
                  <a:cubicBezTo>
                    <a:pt x="0" y="88"/>
                    <a:pt x="0" y="88"/>
                    <a:pt x="0" y="88"/>
                  </a:cubicBezTo>
                  <a:cubicBezTo>
                    <a:pt x="11" y="88"/>
                    <a:pt x="11" y="88"/>
                    <a:pt x="11" y="88"/>
                  </a:cubicBezTo>
                  <a:cubicBezTo>
                    <a:pt x="11" y="87"/>
                    <a:pt x="11" y="87"/>
                    <a:pt x="11" y="87"/>
                  </a:cubicBezTo>
                  <a:cubicBezTo>
                    <a:pt x="69" y="87"/>
                    <a:pt x="69" y="87"/>
                    <a:pt x="69" y="87"/>
                  </a:cubicBezTo>
                  <a:cubicBezTo>
                    <a:pt x="69" y="89"/>
                    <a:pt x="69" y="89"/>
                    <a:pt x="69" y="89"/>
                  </a:cubicBezTo>
                  <a:cubicBezTo>
                    <a:pt x="80" y="89"/>
                    <a:pt x="80" y="89"/>
                    <a:pt x="80" y="89"/>
                  </a:cubicBezTo>
                  <a:cubicBezTo>
                    <a:pt x="80" y="78"/>
                    <a:pt x="80" y="78"/>
                    <a:pt x="80" y="78"/>
                  </a:cubicBezTo>
                  <a:cubicBezTo>
                    <a:pt x="80" y="11"/>
                    <a:pt x="80" y="11"/>
                    <a:pt x="80" y="11"/>
                  </a:cubicBezTo>
                  <a:cubicBezTo>
                    <a:pt x="80" y="0"/>
                    <a:pt x="80" y="0"/>
                    <a:pt x="80" y="0"/>
                  </a:cubicBezTo>
                  <a:cubicBezTo>
                    <a:pt x="71" y="0"/>
                    <a:pt x="71" y="0"/>
                    <a:pt x="71" y="0"/>
                  </a:cubicBezTo>
                  <a:cubicBezTo>
                    <a:pt x="9" y="0"/>
                    <a:pt x="9" y="0"/>
                    <a:pt x="9" y="0"/>
                  </a:cubicBezTo>
                  <a:cubicBezTo>
                    <a:pt x="0" y="0"/>
                    <a:pt x="0" y="0"/>
                    <a:pt x="0" y="0"/>
                  </a:cubicBezTo>
                  <a:lnTo>
                    <a:pt x="0" y="11"/>
                  </a:lnTo>
                  <a:close/>
                  <a:moveTo>
                    <a:pt x="11" y="11"/>
                  </a:moveTo>
                  <a:cubicBezTo>
                    <a:pt x="69" y="11"/>
                    <a:pt x="69" y="11"/>
                    <a:pt x="69" y="11"/>
                  </a:cubicBezTo>
                  <a:cubicBezTo>
                    <a:pt x="69" y="76"/>
                    <a:pt x="69" y="76"/>
                    <a:pt x="69" y="76"/>
                  </a:cubicBezTo>
                  <a:cubicBezTo>
                    <a:pt x="11" y="76"/>
                    <a:pt x="11" y="76"/>
                    <a:pt x="11" y="76"/>
                  </a:cubicBezTo>
                  <a:lnTo>
                    <a:pt x="11" y="11"/>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8" name="Freeform 61"/>
            <p:cNvSpPr>
              <a:spLocks noEditPoints="1"/>
            </p:cNvSpPr>
            <p:nvPr/>
          </p:nvSpPr>
          <p:spPr bwMode="auto">
            <a:xfrm>
              <a:off x="1449388" y="5646738"/>
              <a:ext cx="227012" cy="239713"/>
            </a:xfrm>
            <a:custGeom>
              <a:avLst/>
              <a:gdLst>
                <a:gd name="T0" fmla="*/ 43 w 91"/>
                <a:gd name="T1" fmla="*/ 62 h 96"/>
                <a:gd name="T2" fmla="*/ 28 w 91"/>
                <a:gd name="T3" fmla="*/ 68 h 96"/>
                <a:gd name="T4" fmla="*/ 8 w 91"/>
                <a:gd name="T5" fmla="*/ 71 h 96"/>
                <a:gd name="T6" fmla="*/ 14 w 91"/>
                <a:gd name="T7" fmla="*/ 62 h 96"/>
                <a:gd name="T8" fmla="*/ 36 w 91"/>
                <a:gd name="T9" fmla="*/ 52 h 96"/>
                <a:gd name="T10" fmla="*/ 24 w 91"/>
                <a:gd name="T11" fmla="*/ 55 h 96"/>
                <a:gd name="T12" fmla="*/ 10 w 91"/>
                <a:gd name="T13" fmla="*/ 54 h 96"/>
                <a:gd name="T14" fmla="*/ 18 w 91"/>
                <a:gd name="T15" fmla="*/ 45 h 96"/>
                <a:gd name="T16" fmla="*/ 24 w 91"/>
                <a:gd name="T17" fmla="*/ 38 h 96"/>
                <a:gd name="T18" fmla="*/ 16 w 91"/>
                <a:gd name="T19" fmla="*/ 27 h 96"/>
                <a:gd name="T20" fmla="*/ 64 w 91"/>
                <a:gd name="T21" fmla="*/ 28 h 96"/>
                <a:gd name="T22" fmla="*/ 73 w 91"/>
                <a:gd name="T23" fmla="*/ 38 h 96"/>
                <a:gd name="T24" fmla="*/ 50 w 91"/>
                <a:gd name="T25" fmla="*/ 38 h 96"/>
                <a:gd name="T26" fmla="*/ 44 w 91"/>
                <a:gd name="T27" fmla="*/ 47 h 96"/>
                <a:gd name="T28" fmla="*/ 51 w 91"/>
                <a:gd name="T29" fmla="*/ 54 h 96"/>
                <a:gd name="T30" fmla="*/ 69 w 91"/>
                <a:gd name="T31" fmla="*/ 40 h 96"/>
                <a:gd name="T32" fmla="*/ 78 w 91"/>
                <a:gd name="T33" fmla="*/ 48 h 96"/>
                <a:gd name="T34" fmla="*/ 70 w 91"/>
                <a:gd name="T35" fmla="*/ 65 h 96"/>
                <a:gd name="T36" fmla="*/ 91 w 91"/>
                <a:gd name="T37" fmla="*/ 84 h 96"/>
                <a:gd name="T38" fmla="*/ 83 w 91"/>
                <a:gd name="T39" fmla="*/ 95 h 96"/>
                <a:gd name="T40" fmla="*/ 63 w 91"/>
                <a:gd name="T41" fmla="*/ 75 h 96"/>
                <a:gd name="T42" fmla="*/ 54 w 91"/>
                <a:gd name="T43" fmla="*/ 64 h 96"/>
                <a:gd name="T44" fmla="*/ 55 w 91"/>
                <a:gd name="T45" fmla="*/ 77 h 96"/>
                <a:gd name="T46" fmla="*/ 51 w 91"/>
                <a:gd name="T47" fmla="*/ 93 h 96"/>
                <a:gd name="T48" fmla="*/ 34 w 91"/>
                <a:gd name="T49" fmla="*/ 88 h 96"/>
                <a:gd name="T50" fmla="*/ 42 w 91"/>
                <a:gd name="T51" fmla="*/ 84 h 96"/>
                <a:gd name="T52" fmla="*/ 44 w 91"/>
                <a:gd name="T53" fmla="*/ 75 h 96"/>
                <a:gd name="T54" fmla="*/ 32 w 91"/>
                <a:gd name="T55" fmla="*/ 81 h 96"/>
                <a:gd name="T56" fmla="*/ 6 w 91"/>
                <a:gd name="T57" fmla="*/ 92 h 96"/>
                <a:gd name="T58" fmla="*/ 0 w 91"/>
                <a:gd name="T59" fmla="*/ 82 h 96"/>
                <a:gd name="T60" fmla="*/ 2 w 91"/>
                <a:gd name="T61" fmla="*/ 33 h 96"/>
                <a:gd name="T62" fmla="*/ 2 w 91"/>
                <a:gd name="T63" fmla="*/ 17 h 96"/>
                <a:gd name="T64" fmla="*/ 13 w 91"/>
                <a:gd name="T65" fmla="*/ 10 h 96"/>
                <a:gd name="T66" fmla="*/ 33 w 91"/>
                <a:gd name="T67" fmla="*/ 6 h 96"/>
                <a:gd name="T68" fmla="*/ 43 w 91"/>
                <a:gd name="T69" fmla="*/ 0 h 96"/>
                <a:gd name="T70" fmla="*/ 50 w 91"/>
                <a:gd name="T71" fmla="*/ 10 h 96"/>
                <a:gd name="T72" fmla="*/ 87 w 91"/>
                <a:gd name="T73" fmla="*/ 10 h 96"/>
                <a:gd name="T74" fmla="*/ 87 w 91"/>
                <a:gd name="T75" fmla="*/ 28 h 96"/>
                <a:gd name="T76" fmla="*/ 75 w 91"/>
                <a:gd name="T77" fmla="*/ 34 h 96"/>
                <a:gd name="T78" fmla="*/ 75 w 91"/>
                <a:gd name="T79" fmla="*/ 21 h 96"/>
                <a:gd name="T80" fmla="*/ 14 w 91"/>
                <a:gd name="T81" fmla="*/ 28 h 96"/>
                <a:gd name="T82" fmla="*/ 2 w 91"/>
                <a:gd name="T83" fmla="*/ 33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1" h="96">
                  <a:moveTo>
                    <a:pt x="26" y="72"/>
                  </a:moveTo>
                  <a:cubicBezTo>
                    <a:pt x="33" y="68"/>
                    <a:pt x="39" y="65"/>
                    <a:pt x="43" y="62"/>
                  </a:cubicBezTo>
                  <a:cubicBezTo>
                    <a:pt x="42" y="61"/>
                    <a:pt x="42" y="60"/>
                    <a:pt x="42" y="60"/>
                  </a:cubicBezTo>
                  <a:cubicBezTo>
                    <a:pt x="37" y="63"/>
                    <a:pt x="32" y="66"/>
                    <a:pt x="28" y="68"/>
                  </a:cubicBezTo>
                  <a:cubicBezTo>
                    <a:pt x="24" y="70"/>
                    <a:pt x="17" y="73"/>
                    <a:pt x="9" y="75"/>
                  </a:cubicBezTo>
                  <a:cubicBezTo>
                    <a:pt x="9" y="74"/>
                    <a:pt x="8" y="72"/>
                    <a:pt x="8" y="71"/>
                  </a:cubicBezTo>
                  <a:cubicBezTo>
                    <a:pt x="7" y="70"/>
                    <a:pt x="6" y="68"/>
                    <a:pt x="4" y="65"/>
                  </a:cubicBezTo>
                  <a:cubicBezTo>
                    <a:pt x="8" y="64"/>
                    <a:pt x="11" y="63"/>
                    <a:pt x="14" y="62"/>
                  </a:cubicBezTo>
                  <a:cubicBezTo>
                    <a:pt x="16" y="62"/>
                    <a:pt x="20" y="60"/>
                    <a:pt x="24" y="58"/>
                  </a:cubicBezTo>
                  <a:cubicBezTo>
                    <a:pt x="28" y="56"/>
                    <a:pt x="32" y="54"/>
                    <a:pt x="36" y="52"/>
                  </a:cubicBezTo>
                  <a:cubicBezTo>
                    <a:pt x="34" y="51"/>
                    <a:pt x="34" y="51"/>
                    <a:pt x="34" y="51"/>
                  </a:cubicBezTo>
                  <a:cubicBezTo>
                    <a:pt x="30" y="53"/>
                    <a:pt x="26" y="54"/>
                    <a:pt x="24" y="55"/>
                  </a:cubicBezTo>
                  <a:cubicBezTo>
                    <a:pt x="21" y="55"/>
                    <a:pt x="17" y="56"/>
                    <a:pt x="12" y="58"/>
                  </a:cubicBezTo>
                  <a:cubicBezTo>
                    <a:pt x="11" y="57"/>
                    <a:pt x="11" y="55"/>
                    <a:pt x="10" y="54"/>
                  </a:cubicBezTo>
                  <a:cubicBezTo>
                    <a:pt x="10" y="53"/>
                    <a:pt x="8" y="51"/>
                    <a:pt x="6" y="47"/>
                  </a:cubicBezTo>
                  <a:cubicBezTo>
                    <a:pt x="9" y="47"/>
                    <a:pt x="13" y="46"/>
                    <a:pt x="18" y="45"/>
                  </a:cubicBezTo>
                  <a:cubicBezTo>
                    <a:pt x="24" y="45"/>
                    <a:pt x="30" y="42"/>
                    <a:pt x="38" y="38"/>
                  </a:cubicBezTo>
                  <a:cubicBezTo>
                    <a:pt x="24" y="38"/>
                    <a:pt x="24" y="38"/>
                    <a:pt x="24" y="38"/>
                  </a:cubicBezTo>
                  <a:cubicBezTo>
                    <a:pt x="16" y="38"/>
                    <a:pt x="16" y="38"/>
                    <a:pt x="16" y="38"/>
                  </a:cubicBezTo>
                  <a:cubicBezTo>
                    <a:pt x="16" y="27"/>
                    <a:pt x="16" y="27"/>
                    <a:pt x="16" y="27"/>
                  </a:cubicBezTo>
                  <a:cubicBezTo>
                    <a:pt x="24" y="28"/>
                    <a:pt x="24" y="28"/>
                    <a:pt x="24" y="28"/>
                  </a:cubicBezTo>
                  <a:cubicBezTo>
                    <a:pt x="64" y="28"/>
                    <a:pt x="64" y="28"/>
                    <a:pt x="64" y="28"/>
                  </a:cubicBezTo>
                  <a:cubicBezTo>
                    <a:pt x="73" y="27"/>
                    <a:pt x="73" y="27"/>
                    <a:pt x="73" y="27"/>
                  </a:cubicBezTo>
                  <a:cubicBezTo>
                    <a:pt x="73" y="38"/>
                    <a:pt x="73" y="38"/>
                    <a:pt x="73" y="38"/>
                  </a:cubicBezTo>
                  <a:cubicBezTo>
                    <a:pt x="64" y="38"/>
                    <a:pt x="64" y="38"/>
                    <a:pt x="64" y="38"/>
                  </a:cubicBezTo>
                  <a:cubicBezTo>
                    <a:pt x="50" y="38"/>
                    <a:pt x="50" y="38"/>
                    <a:pt x="50" y="38"/>
                  </a:cubicBezTo>
                  <a:cubicBezTo>
                    <a:pt x="51" y="39"/>
                    <a:pt x="52" y="40"/>
                    <a:pt x="54" y="41"/>
                  </a:cubicBezTo>
                  <a:cubicBezTo>
                    <a:pt x="50" y="43"/>
                    <a:pt x="47" y="45"/>
                    <a:pt x="44" y="47"/>
                  </a:cubicBezTo>
                  <a:cubicBezTo>
                    <a:pt x="47" y="49"/>
                    <a:pt x="49" y="50"/>
                    <a:pt x="49" y="51"/>
                  </a:cubicBezTo>
                  <a:cubicBezTo>
                    <a:pt x="51" y="54"/>
                    <a:pt x="51" y="54"/>
                    <a:pt x="51" y="54"/>
                  </a:cubicBezTo>
                  <a:cubicBezTo>
                    <a:pt x="58" y="49"/>
                    <a:pt x="63" y="45"/>
                    <a:pt x="64" y="44"/>
                  </a:cubicBezTo>
                  <a:cubicBezTo>
                    <a:pt x="69" y="40"/>
                    <a:pt x="69" y="40"/>
                    <a:pt x="69" y="40"/>
                  </a:cubicBezTo>
                  <a:cubicBezTo>
                    <a:pt x="70" y="41"/>
                    <a:pt x="70" y="42"/>
                    <a:pt x="71" y="43"/>
                  </a:cubicBezTo>
                  <a:cubicBezTo>
                    <a:pt x="72" y="43"/>
                    <a:pt x="74" y="45"/>
                    <a:pt x="78" y="48"/>
                  </a:cubicBezTo>
                  <a:cubicBezTo>
                    <a:pt x="74" y="51"/>
                    <a:pt x="70" y="54"/>
                    <a:pt x="67" y="56"/>
                  </a:cubicBezTo>
                  <a:cubicBezTo>
                    <a:pt x="67" y="58"/>
                    <a:pt x="68" y="61"/>
                    <a:pt x="70" y="65"/>
                  </a:cubicBezTo>
                  <a:cubicBezTo>
                    <a:pt x="71" y="69"/>
                    <a:pt x="74" y="73"/>
                    <a:pt x="78" y="76"/>
                  </a:cubicBezTo>
                  <a:cubicBezTo>
                    <a:pt x="82" y="80"/>
                    <a:pt x="86" y="82"/>
                    <a:pt x="91" y="84"/>
                  </a:cubicBezTo>
                  <a:cubicBezTo>
                    <a:pt x="89" y="86"/>
                    <a:pt x="88" y="88"/>
                    <a:pt x="87" y="89"/>
                  </a:cubicBezTo>
                  <a:cubicBezTo>
                    <a:pt x="86" y="90"/>
                    <a:pt x="85" y="92"/>
                    <a:pt x="83" y="95"/>
                  </a:cubicBezTo>
                  <a:cubicBezTo>
                    <a:pt x="77" y="91"/>
                    <a:pt x="72" y="88"/>
                    <a:pt x="70" y="85"/>
                  </a:cubicBezTo>
                  <a:cubicBezTo>
                    <a:pt x="67" y="81"/>
                    <a:pt x="64" y="78"/>
                    <a:pt x="63" y="75"/>
                  </a:cubicBezTo>
                  <a:cubicBezTo>
                    <a:pt x="61" y="71"/>
                    <a:pt x="59" y="67"/>
                    <a:pt x="58" y="62"/>
                  </a:cubicBezTo>
                  <a:cubicBezTo>
                    <a:pt x="54" y="64"/>
                    <a:pt x="54" y="64"/>
                    <a:pt x="54" y="64"/>
                  </a:cubicBezTo>
                  <a:cubicBezTo>
                    <a:pt x="55" y="65"/>
                    <a:pt x="55" y="67"/>
                    <a:pt x="55" y="68"/>
                  </a:cubicBezTo>
                  <a:cubicBezTo>
                    <a:pt x="55" y="70"/>
                    <a:pt x="55" y="73"/>
                    <a:pt x="55" y="77"/>
                  </a:cubicBezTo>
                  <a:cubicBezTo>
                    <a:pt x="55" y="80"/>
                    <a:pt x="55" y="84"/>
                    <a:pt x="54" y="86"/>
                  </a:cubicBezTo>
                  <a:cubicBezTo>
                    <a:pt x="54" y="89"/>
                    <a:pt x="53" y="91"/>
                    <a:pt x="51" y="93"/>
                  </a:cubicBezTo>
                  <a:cubicBezTo>
                    <a:pt x="49" y="95"/>
                    <a:pt x="44" y="96"/>
                    <a:pt x="36" y="96"/>
                  </a:cubicBezTo>
                  <a:cubicBezTo>
                    <a:pt x="36" y="92"/>
                    <a:pt x="35" y="89"/>
                    <a:pt x="34" y="88"/>
                  </a:cubicBezTo>
                  <a:cubicBezTo>
                    <a:pt x="33" y="84"/>
                    <a:pt x="33" y="84"/>
                    <a:pt x="33" y="84"/>
                  </a:cubicBezTo>
                  <a:cubicBezTo>
                    <a:pt x="37" y="85"/>
                    <a:pt x="41" y="85"/>
                    <a:pt x="42" y="84"/>
                  </a:cubicBezTo>
                  <a:cubicBezTo>
                    <a:pt x="43" y="83"/>
                    <a:pt x="44" y="81"/>
                    <a:pt x="44" y="79"/>
                  </a:cubicBezTo>
                  <a:cubicBezTo>
                    <a:pt x="44" y="77"/>
                    <a:pt x="44" y="76"/>
                    <a:pt x="44" y="75"/>
                  </a:cubicBezTo>
                  <a:cubicBezTo>
                    <a:pt x="44" y="73"/>
                    <a:pt x="44" y="73"/>
                    <a:pt x="44" y="73"/>
                  </a:cubicBezTo>
                  <a:cubicBezTo>
                    <a:pt x="41" y="76"/>
                    <a:pt x="37" y="79"/>
                    <a:pt x="32" y="81"/>
                  </a:cubicBezTo>
                  <a:cubicBezTo>
                    <a:pt x="26" y="84"/>
                    <a:pt x="22" y="86"/>
                    <a:pt x="19" y="88"/>
                  </a:cubicBezTo>
                  <a:cubicBezTo>
                    <a:pt x="6" y="92"/>
                    <a:pt x="6" y="92"/>
                    <a:pt x="6" y="92"/>
                  </a:cubicBezTo>
                  <a:cubicBezTo>
                    <a:pt x="5" y="89"/>
                    <a:pt x="4" y="87"/>
                    <a:pt x="3" y="86"/>
                  </a:cubicBezTo>
                  <a:cubicBezTo>
                    <a:pt x="0" y="82"/>
                    <a:pt x="0" y="82"/>
                    <a:pt x="0" y="82"/>
                  </a:cubicBezTo>
                  <a:cubicBezTo>
                    <a:pt x="10" y="79"/>
                    <a:pt x="19" y="76"/>
                    <a:pt x="26" y="72"/>
                  </a:cubicBezTo>
                  <a:close/>
                  <a:moveTo>
                    <a:pt x="2" y="33"/>
                  </a:moveTo>
                  <a:cubicBezTo>
                    <a:pt x="2" y="28"/>
                    <a:pt x="2" y="28"/>
                    <a:pt x="2" y="28"/>
                  </a:cubicBezTo>
                  <a:cubicBezTo>
                    <a:pt x="2" y="17"/>
                    <a:pt x="2" y="17"/>
                    <a:pt x="2" y="17"/>
                  </a:cubicBezTo>
                  <a:cubicBezTo>
                    <a:pt x="2" y="10"/>
                    <a:pt x="2" y="10"/>
                    <a:pt x="2" y="10"/>
                  </a:cubicBezTo>
                  <a:cubicBezTo>
                    <a:pt x="13" y="10"/>
                    <a:pt x="13" y="10"/>
                    <a:pt x="13" y="10"/>
                  </a:cubicBezTo>
                  <a:cubicBezTo>
                    <a:pt x="38" y="10"/>
                    <a:pt x="38" y="10"/>
                    <a:pt x="38" y="10"/>
                  </a:cubicBezTo>
                  <a:cubicBezTo>
                    <a:pt x="37" y="9"/>
                    <a:pt x="35" y="7"/>
                    <a:pt x="33" y="6"/>
                  </a:cubicBezTo>
                  <a:cubicBezTo>
                    <a:pt x="34" y="5"/>
                    <a:pt x="36" y="4"/>
                    <a:pt x="37" y="4"/>
                  </a:cubicBezTo>
                  <a:cubicBezTo>
                    <a:pt x="38" y="3"/>
                    <a:pt x="40" y="2"/>
                    <a:pt x="43" y="0"/>
                  </a:cubicBezTo>
                  <a:cubicBezTo>
                    <a:pt x="47" y="4"/>
                    <a:pt x="50" y="7"/>
                    <a:pt x="52" y="8"/>
                  </a:cubicBezTo>
                  <a:cubicBezTo>
                    <a:pt x="51" y="9"/>
                    <a:pt x="51" y="10"/>
                    <a:pt x="50" y="10"/>
                  </a:cubicBezTo>
                  <a:cubicBezTo>
                    <a:pt x="77" y="10"/>
                    <a:pt x="77" y="10"/>
                    <a:pt x="77" y="10"/>
                  </a:cubicBezTo>
                  <a:cubicBezTo>
                    <a:pt x="87" y="10"/>
                    <a:pt x="87" y="10"/>
                    <a:pt x="87" y="10"/>
                  </a:cubicBezTo>
                  <a:cubicBezTo>
                    <a:pt x="87" y="17"/>
                    <a:pt x="87" y="17"/>
                    <a:pt x="87" y="17"/>
                  </a:cubicBezTo>
                  <a:cubicBezTo>
                    <a:pt x="87" y="28"/>
                    <a:pt x="87" y="28"/>
                    <a:pt x="87" y="28"/>
                  </a:cubicBezTo>
                  <a:cubicBezTo>
                    <a:pt x="87" y="34"/>
                    <a:pt x="87" y="34"/>
                    <a:pt x="87" y="34"/>
                  </a:cubicBezTo>
                  <a:cubicBezTo>
                    <a:pt x="75" y="34"/>
                    <a:pt x="75" y="34"/>
                    <a:pt x="75" y="34"/>
                  </a:cubicBezTo>
                  <a:cubicBezTo>
                    <a:pt x="75" y="28"/>
                    <a:pt x="75" y="28"/>
                    <a:pt x="75" y="28"/>
                  </a:cubicBezTo>
                  <a:cubicBezTo>
                    <a:pt x="75" y="21"/>
                    <a:pt x="75" y="21"/>
                    <a:pt x="75" y="21"/>
                  </a:cubicBezTo>
                  <a:cubicBezTo>
                    <a:pt x="14" y="21"/>
                    <a:pt x="14" y="21"/>
                    <a:pt x="14" y="21"/>
                  </a:cubicBezTo>
                  <a:cubicBezTo>
                    <a:pt x="14" y="28"/>
                    <a:pt x="14" y="28"/>
                    <a:pt x="14" y="28"/>
                  </a:cubicBezTo>
                  <a:cubicBezTo>
                    <a:pt x="14" y="33"/>
                    <a:pt x="14" y="33"/>
                    <a:pt x="14" y="33"/>
                  </a:cubicBezTo>
                  <a:lnTo>
                    <a:pt x="2" y="33"/>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59" name="Freeform 62"/>
            <p:cNvSpPr>
              <a:spLocks noEditPoints="1"/>
            </p:cNvSpPr>
            <p:nvPr/>
          </p:nvSpPr>
          <p:spPr bwMode="auto">
            <a:xfrm>
              <a:off x="1703388" y="5646738"/>
              <a:ext cx="212725" cy="239713"/>
            </a:xfrm>
            <a:custGeom>
              <a:avLst/>
              <a:gdLst>
                <a:gd name="T0" fmla="*/ 12 w 85"/>
                <a:gd name="T1" fmla="*/ 25 h 96"/>
                <a:gd name="T2" fmla="*/ 30 w 85"/>
                <a:gd name="T3" fmla="*/ 25 h 96"/>
                <a:gd name="T4" fmla="*/ 30 w 85"/>
                <a:gd name="T5" fmla="*/ 37 h 96"/>
                <a:gd name="T6" fmla="*/ 12 w 85"/>
                <a:gd name="T7" fmla="*/ 37 h 96"/>
                <a:gd name="T8" fmla="*/ 12 w 85"/>
                <a:gd name="T9" fmla="*/ 25 h 96"/>
                <a:gd name="T10" fmla="*/ 0 w 85"/>
                <a:gd name="T11" fmla="*/ 22 h 96"/>
                <a:gd name="T12" fmla="*/ 0 w 85"/>
                <a:gd name="T13" fmla="*/ 61 h 96"/>
                <a:gd name="T14" fmla="*/ 0 w 85"/>
                <a:gd name="T15" fmla="*/ 71 h 96"/>
                <a:gd name="T16" fmla="*/ 12 w 85"/>
                <a:gd name="T17" fmla="*/ 71 h 96"/>
                <a:gd name="T18" fmla="*/ 12 w 85"/>
                <a:gd name="T19" fmla="*/ 70 h 96"/>
                <a:gd name="T20" fmla="*/ 30 w 85"/>
                <a:gd name="T21" fmla="*/ 70 h 96"/>
                <a:gd name="T22" fmla="*/ 30 w 85"/>
                <a:gd name="T23" fmla="*/ 84 h 96"/>
                <a:gd name="T24" fmla="*/ 31 w 85"/>
                <a:gd name="T25" fmla="*/ 90 h 96"/>
                <a:gd name="T26" fmla="*/ 34 w 85"/>
                <a:gd name="T27" fmla="*/ 94 h 96"/>
                <a:gd name="T28" fmla="*/ 42 w 85"/>
                <a:gd name="T29" fmla="*/ 95 h 96"/>
                <a:gd name="T30" fmla="*/ 56 w 85"/>
                <a:gd name="T31" fmla="*/ 96 h 96"/>
                <a:gd name="T32" fmla="*/ 70 w 85"/>
                <a:gd name="T33" fmla="*/ 96 h 96"/>
                <a:gd name="T34" fmla="*/ 76 w 85"/>
                <a:gd name="T35" fmla="*/ 94 h 96"/>
                <a:gd name="T36" fmla="*/ 80 w 85"/>
                <a:gd name="T37" fmla="*/ 91 h 96"/>
                <a:gd name="T38" fmla="*/ 85 w 85"/>
                <a:gd name="T39" fmla="*/ 79 h 96"/>
                <a:gd name="T40" fmla="*/ 74 w 85"/>
                <a:gd name="T41" fmla="*/ 73 h 96"/>
                <a:gd name="T42" fmla="*/ 73 w 85"/>
                <a:gd name="T43" fmla="*/ 77 h 96"/>
                <a:gd name="T44" fmla="*/ 71 w 85"/>
                <a:gd name="T45" fmla="*/ 82 h 96"/>
                <a:gd name="T46" fmla="*/ 66 w 85"/>
                <a:gd name="T47" fmla="*/ 84 h 96"/>
                <a:gd name="T48" fmla="*/ 57 w 85"/>
                <a:gd name="T49" fmla="*/ 84 h 96"/>
                <a:gd name="T50" fmla="*/ 46 w 85"/>
                <a:gd name="T51" fmla="*/ 84 h 96"/>
                <a:gd name="T52" fmla="*/ 42 w 85"/>
                <a:gd name="T53" fmla="*/ 83 h 96"/>
                <a:gd name="T54" fmla="*/ 41 w 85"/>
                <a:gd name="T55" fmla="*/ 80 h 96"/>
                <a:gd name="T56" fmla="*/ 41 w 85"/>
                <a:gd name="T57" fmla="*/ 70 h 96"/>
                <a:gd name="T58" fmla="*/ 62 w 85"/>
                <a:gd name="T59" fmla="*/ 70 h 96"/>
                <a:gd name="T60" fmla="*/ 62 w 85"/>
                <a:gd name="T61" fmla="*/ 72 h 96"/>
                <a:gd name="T62" fmla="*/ 74 w 85"/>
                <a:gd name="T63" fmla="*/ 72 h 96"/>
                <a:gd name="T64" fmla="*/ 73 w 85"/>
                <a:gd name="T65" fmla="*/ 62 h 96"/>
                <a:gd name="T66" fmla="*/ 73 w 85"/>
                <a:gd name="T67" fmla="*/ 22 h 96"/>
                <a:gd name="T68" fmla="*/ 74 w 85"/>
                <a:gd name="T69" fmla="*/ 14 h 96"/>
                <a:gd name="T70" fmla="*/ 66 w 85"/>
                <a:gd name="T71" fmla="*/ 14 h 96"/>
                <a:gd name="T72" fmla="*/ 41 w 85"/>
                <a:gd name="T73" fmla="*/ 14 h 96"/>
                <a:gd name="T74" fmla="*/ 41 w 85"/>
                <a:gd name="T75" fmla="*/ 8 h 96"/>
                <a:gd name="T76" fmla="*/ 42 w 85"/>
                <a:gd name="T77" fmla="*/ 0 h 96"/>
                <a:gd name="T78" fmla="*/ 30 w 85"/>
                <a:gd name="T79" fmla="*/ 0 h 96"/>
                <a:gd name="T80" fmla="*/ 30 w 85"/>
                <a:gd name="T81" fmla="*/ 8 h 96"/>
                <a:gd name="T82" fmla="*/ 30 w 85"/>
                <a:gd name="T83" fmla="*/ 14 h 96"/>
                <a:gd name="T84" fmla="*/ 9 w 85"/>
                <a:gd name="T85" fmla="*/ 14 h 96"/>
                <a:gd name="T86" fmla="*/ 0 w 85"/>
                <a:gd name="T87" fmla="*/ 14 h 96"/>
                <a:gd name="T88" fmla="*/ 0 w 85"/>
                <a:gd name="T89" fmla="*/ 22 h 96"/>
                <a:gd name="T90" fmla="*/ 12 w 85"/>
                <a:gd name="T91" fmla="*/ 47 h 96"/>
                <a:gd name="T92" fmla="*/ 30 w 85"/>
                <a:gd name="T93" fmla="*/ 47 h 96"/>
                <a:gd name="T94" fmla="*/ 30 w 85"/>
                <a:gd name="T95" fmla="*/ 59 h 96"/>
                <a:gd name="T96" fmla="*/ 12 w 85"/>
                <a:gd name="T97" fmla="*/ 59 h 96"/>
                <a:gd name="T98" fmla="*/ 12 w 85"/>
                <a:gd name="T99" fmla="*/ 47 h 96"/>
                <a:gd name="T100" fmla="*/ 41 w 85"/>
                <a:gd name="T101" fmla="*/ 25 h 96"/>
                <a:gd name="T102" fmla="*/ 62 w 85"/>
                <a:gd name="T103" fmla="*/ 25 h 96"/>
                <a:gd name="T104" fmla="*/ 62 w 85"/>
                <a:gd name="T105" fmla="*/ 37 h 96"/>
                <a:gd name="T106" fmla="*/ 41 w 85"/>
                <a:gd name="T107" fmla="*/ 37 h 96"/>
                <a:gd name="T108" fmla="*/ 41 w 85"/>
                <a:gd name="T109" fmla="*/ 25 h 96"/>
                <a:gd name="T110" fmla="*/ 41 w 85"/>
                <a:gd name="T111" fmla="*/ 47 h 96"/>
                <a:gd name="T112" fmla="*/ 62 w 85"/>
                <a:gd name="T113" fmla="*/ 47 h 96"/>
                <a:gd name="T114" fmla="*/ 62 w 85"/>
                <a:gd name="T115" fmla="*/ 59 h 96"/>
                <a:gd name="T116" fmla="*/ 41 w 85"/>
                <a:gd name="T117" fmla="*/ 59 h 96"/>
                <a:gd name="T118" fmla="*/ 41 w 85"/>
                <a:gd name="T119" fmla="*/ 4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5" h="96">
                  <a:moveTo>
                    <a:pt x="12" y="25"/>
                  </a:moveTo>
                  <a:cubicBezTo>
                    <a:pt x="30" y="25"/>
                    <a:pt x="30" y="25"/>
                    <a:pt x="30" y="25"/>
                  </a:cubicBezTo>
                  <a:cubicBezTo>
                    <a:pt x="30" y="37"/>
                    <a:pt x="30" y="37"/>
                    <a:pt x="30" y="37"/>
                  </a:cubicBezTo>
                  <a:cubicBezTo>
                    <a:pt x="12" y="37"/>
                    <a:pt x="12" y="37"/>
                    <a:pt x="12" y="37"/>
                  </a:cubicBezTo>
                  <a:lnTo>
                    <a:pt x="12" y="25"/>
                  </a:lnTo>
                  <a:close/>
                  <a:moveTo>
                    <a:pt x="0" y="22"/>
                  </a:moveTo>
                  <a:cubicBezTo>
                    <a:pt x="0" y="61"/>
                    <a:pt x="0" y="61"/>
                    <a:pt x="0" y="61"/>
                  </a:cubicBezTo>
                  <a:cubicBezTo>
                    <a:pt x="0" y="71"/>
                    <a:pt x="0" y="71"/>
                    <a:pt x="0" y="71"/>
                  </a:cubicBezTo>
                  <a:cubicBezTo>
                    <a:pt x="12" y="71"/>
                    <a:pt x="12" y="71"/>
                    <a:pt x="12" y="71"/>
                  </a:cubicBezTo>
                  <a:cubicBezTo>
                    <a:pt x="12" y="70"/>
                    <a:pt x="12" y="70"/>
                    <a:pt x="12" y="70"/>
                  </a:cubicBezTo>
                  <a:cubicBezTo>
                    <a:pt x="30" y="70"/>
                    <a:pt x="30" y="70"/>
                    <a:pt x="30" y="70"/>
                  </a:cubicBezTo>
                  <a:cubicBezTo>
                    <a:pt x="30" y="84"/>
                    <a:pt x="30" y="84"/>
                    <a:pt x="30" y="84"/>
                  </a:cubicBezTo>
                  <a:cubicBezTo>
                    <a:pt x="30" y="87"/>
                    <a:pt x="30" y="89"/>
                    <a:pt x="31" y="90"/>
                  </a:cubicBezTo>
                  <a:cubicBezTo>
                    <a:pt x="31" y="91"/>
                    <a:pt x="32" y="93"/>
                    <a:pt x="34" y="94"/>
                  </a:cubicBezTo>
                  <a:cubicBezTo>
                    <a:pt x="36" y="95"/>
                    <a:pt x="38" y="95"/>
                    <a:pt x="42" y="95"/>
                  </a:cubicBezTo>
                  <a:cubicBezTo>
                    <a:pt x="46" y="95"/>
                    <a:pt x="50" y="95"/>
                    <a:pt x="56" y="96"/>
                  </a:cubicBezTo>
                  <a:cubicBezTo>
                    <a:pt x="62" y="96"/>
                    <a:pt x="67" y="96"/>
                    <a:pt x="70" y="96"/>
                  </a:cubicBezTo>
                  <a:cubicBezTo>
                    <a:pt x="73" y="95"/>
                    <a:pt x="75" y="95"/>
                    <a:pt x="76" y="94"/>
                  </a:cubicBezTo>
                  <a:cubicBezTo>
                    <a:pt x="78" y="94"/>
                    <a:pt x="79" y="93"/>
                    <a:pt x="80" y="91"/>
                  </a:cubicBezTo>
                  <a:cubicBezTo>
                    <a:pt x="82" y="90"/>
                    <a:pt x="83" y="86"/>
                    <a:pt x="85" y="79"/>
                  </a:cubicBezTo>
                  <a:cubicBezTo>
                    <a:pt x="82" y="78"/>
                    <a:pt x="78" y="76"/>
                    <a:pt x="74" y="73"/>
                  </a:cubicBezTo>
                  <a:cubicBezTo>
                    <a:pt x="73" y="77"/>
                    <a:pt x="73" y="77"/>
                    <a:pt x="73" y="77"/>
                  </a:cubicBezTo>
                  <a:cubicBezTo>
                    <a:pt x="73" y="80"/>
                    <a:pt x="72" y="81"/>
                    <a:pt x="71" y="82"/>
                  </a:cubicBezTo>
                  <a:cubicBezTo>
                    <a:pt x="70" y="83"/>
                    <a:pt x="68" y="84"/>
                    <a:pt x="66" y="84"/>
                  </a:cubicBezTo>
                  <a:cubicBezTo>
                    <a:pt x="64" y="84"/>
                    <a:pt x="61" y="84"/>
                    <a:pt x="57" y="84"/>
                  </a:cubicBezTo>
                  <a:cubicBezTo>
                    <a:pt x="46" y="84"/>
                    <a:pt x="46" y="84"/>
                    <a:pt x="46" y="84"/>
                  </a:cubicBezTo>
                  <a:cubicBezTo>
                    <a:pt x="44" y="84"/>
                    <a:pt x="43" y="84"/>
                    <a:pt x="42" y="83"/>
                  </a:cubicBezTo>
                  <a:cubicBezTo>
                    <a:pt x="42" y="82"/>
                    <a:pt x="41" y="81"/>
                    <a:pt x="41" y="80"/>
                  </a:cubicBezTo>
                  <a:cubicBezTo>
                    <a:pt x="41" y="70"/>
                    <a:pt x="41" y="70"/>
                    <a:pt x="41" y="70"/>
                  </a:cubicBezTo>
                  <a:cubicBezTo>
                    <a:pt x="62" y="70"/>
                    <a:pt x="62" y="70"/>
                    <a:pt x="62" y="70"/>
                  </a:cubicBezTo>
                  <a:cubicBezTo>
                    <a:pt x="62" y="72"/>
                    <a:pt x="62" y="72"/>
                    <a:pt x="62" y="72"/>
                  </a:cubicBezTo>
                  <a:cubicBezTo>
                    <a:pt x="74" y="72"/>
                    <a:pt x="74" y="72"/>
                    <a:pt x="74" y="72"/>
                  </a:cubicBezTo>
                  <a:cubicBezTo>
                    <a:pt x="73" y="62"/>
                    <a:pt x="73" y="62"/>
                    <a:pt x="73" y="62"/>
                  </a:cubicBezTo>
                  <a:cubicBezTo>
                    <a:pt x="73" y="22"/>
                    <a:pt x="73" y="22"/>
                    <a:pt x="73" y="22"/>
                  </a:cubicBezTo>
                  <a:cubicBezTo>
                    <a:pt x="74" y="14"/>
                    <a:pt x="74" y="14"/>
                    <a:pt x="74" y="14"/>
                  </a:cubicBezTo>
                  <a:cubicBezTo>
                    <a:pt x="66" y="14"/>
                    <a:pt x="66" y="14"/>
                    <a:pt x="66" y="14"/>
                  </a:cubicBezTo>
                  <a:cubicBezTo>
                    <a:pt x="41" y="14"/>
                    <a:pt x="41" y="14"/>
                    <a:pt x="41" y="14"/>
                  </a:cubicBezTo>
                  <a:cubicBezTo>
                    <a:pt x="41" y="8"/>
                    <a:pt x="41" y="8"/>
                    <a:pt x="41" y="8"/>
                  </a:cubicBezTo>
                  <a:cubicBezTo>
                    <a:pt x="42" y="0"/>
                    <a:pt x="42" y="0"/>
                    <a:pt x="42" y="0"/>
                  </a:cubicBezTo>
                  <a:cubicBezTo>
                    <a:pt x="30" y="0"/>
                    <a:pt x="30" y="0"/>
                    <a:pt x="30" y="0"/>
                  </a:cubicBezTo>
                  <a:cubicBezTo>
                    <a:pt x="30" y="8"/>
                    <a:pt x="30" y="8"/>
                    <a:pt x="30" y="8"/>
                  </a:cubicBezTo>
                  <a:cubicBezTo>
                    <a:pt x="30" y="14"/>
                    <a:pt x="30" y="14"/>
                    <a:pt x="30" y="14"/>
                  </a:cubicBezTo>
                  <a:cubicBezTo>
                    <a:pt x="9" y="14"/>
                    <a:pt x="9" y="14"/>
                    <a:pt x="9" y="14"/>
                  </a:cubicBezTo>
                  <a:cubicBezTo>
                    <a:pt x="0" y="14"/>
                    <a:pt x="0" y="14"/>
                    <a:pt x="0" y="14"/>
                  </a:cubicBezTo>
                  <a:lnTo>
                    <a:pt x="0" y="22"/>
                  </a:lnTo>
                  <a:close/>
                  <a:moveTo>
                    <a:pt x="12" y="47"/>
                  </a:moveTo>
                  <a:cubicBezTo>
                    <a:pt x="30" y="47"/>
                    <a:pt x="30" y="47"/>
                    <a:pt x="30" y="47"/>
                  </a:cubicBezTo>
                  <a:cubicBezTo>
                    <a:pt x="30" y="59"/>
                    <a:pt x="30" y="59"/>
                    <a:pt x="30" y="59"/>
                  </a:cubicBezTo>
                  <a:cubicBezTo>
                    <a:pt x="12" y="59"/>
                    <a:pt x="12" y="59"/>
                    <a:pt x="12" y="59"/>
                  </a:cubicBezTo>
                  <a:lnTo>
                    <a:pt x="12" y="47"/>
                  </a:lnTo>
                  <a:close/>
                  <a:moveTo>
                    <a:pt x="41" y="25"/>
                  </a:moveTo>
                  <a:cubicBezTo>
                    <a:pt x="62" y="25"/>
                    <a:pt x="62" y="25"/>
                    <a:pt x="62" y="25"/>
                  </a:cubicBezTo>
                  <a:cubicBezTo>
                    <a:pt x="62" y="37"/>
                    <a:pt x="62" y="37"/>
                    <a:pt x="62" y="37"/>
                  </a:cubicBezTo>
                  <a:cubicBezTo>
                    <a:pt x="41" y="37"/>
                    <a:pt x="41" y="37"/>
                    <a:pt x="41" y="37"/>
                  </a:cubicBezTo>
                  <a:lnTo>
                    <a:pt x="41" y="25"/>
                  </a:lnTo>
                  <a:close/>
                  <a:moveTo>
                    <a:pt x="41" y="47"/>
                  </a:moveTo>
                  <a:cubicBezTo>
                    <a:pt x="62" y="47"/>
                    <a:pt x="62" y="47"/>
                    <a:pt x="62" y="47"/>
                  </a:cubicBezTo>
                  <a:cubicBezTo>
                    <a:pt x="62" y="59"/>
                    <a:pt x="62" y="59"/>
                    <a:pt x="62" y="59"/>
                  </a:cubicBezTo>
                  <a:cubicBezTo>
                    <a:pt x="41" y="59"/>
                    <a:pt x="41" y="59"/>
                    <a:pt x="41" y="59"/>
                  </a:cubicBezTo>
                  <a:lnTo>
                    <a:pt x="41" y="47"/>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sp>
          <p:nvSpPr>
            <p:cNvPr id="60" name="Freeform 63"/>
            <p:cNvSpPr>
              <a:spLocks noEditPoints="1"/>
            </p:cNvSpPr>
            <p:nvPr/>
          </p:nvSpPr>
          <p:spPr bwMode="auto">
            <a:xfrm>
              <a:off x="1946275" y="5664200"/>
              <a:ext cx="195262" cy="220663"/>
            </a:xfrm>
            <a:custGeom>
              <a:avLst/>
              <a:gdLst>
                <a:gd name="T0" fmla="*/ 15 w 78"/>
                <a:gd name="T1" fmla="*/ 31 h 88"/>
                <a:gd name="T2" fmla="*/ 17 w 78"/>
                <a:gd name="T3" fmla="*/ 51 h 88"/>
                <a:gd name="T4" fmla="*/ 12 w 78"/>
                <a:gd name="T5" fmla="*/ 27 h 88"/>
                <a:gd name="T6" fmla="*/ 12 w 78"/>
                <a:gd name="T7" fmla="*/ 72 h 88"/>
                <a:gd name="T8" fmla="*/ 17 w 78"/>
                <a:gd name="T9" fmla="*/ 65 h 88"/>
                <a:gd name="T10" fmla="*/ 26 w 78"/>
                <a:gd name="T11" fmla="*/ 58 h 88"/>
                <a:gd name="T12" fmla="*/ 29 w 78"/>
                <a:gd name="T13" fmla="*/ 57 h 88"/>
                <a:gd name="T14" fmla="*/ 33 w 78"/>
                <a:gd name="T15" fmla="*/ 59 h 88"/>
                <a:gd name="T16" fmla="*/ 33 w 78"/>
                <a:gd name="T17" fmla="*/ 40 h 88"/>
                <a:gd name="T18" fmla="*/ 36 w 78"/>
                <a:gd name="T19" fmla="*/ 28 h 88"/>
                <a:gd name="T20" fmla="*/ 45 w 78"/>
                <a:gd name="T21" fmla="*/ 43 h 88"/>
                <a:gd name="T22" fmla="*/ 40 w 78"/>
                <a:gd name="T23" fmla="*/ 56 h 88"/>
                <a:gd name="T24" fmla="*/ 38 w 78"/>
                <a:gd name="T25" fmla="*/ 70 h 88"/>
                <a:gd name="T26" fmla="*/ 46 w 78"/>
                <a:gd name="T27" fmla="*/ 67 h 88"/>
                <a:gd name="T28" fmla="*/ 55 w 78"/>
                <a:gd name="T29" fmla="*/ 61 h 88"/>
                <a:gd name="T30" fmla="*/ 66 w 78"/>
                <a:gd name="T31" fmla="*/ 58 h 88"/>
                <a:gd name="T32" fmla="*/ 57 w 78"/>
                <a:gd name="T33" fmla="*/ 42 h 88"/>
                <a:gd name="T34" fmla="*/ 60 w 78"/>
                <a:gd name="T35" fmla="*/ 26 h 88"/>
                <a:gd name="T36" fmla="*/ 61 w 78"/>
                <a:gd name="T37" fmla="*/ 17 h 88"/>
                <a:gd name="T38" fmla="*/ 50 w 78"/>
                <a:gd name="T39" fmla="*/ 18 h 88"/>
                <a:gd name="T40" fmla="*/ 44 w 78"/>
                <a:gd name="T41" fmla="*/ 22 h 88"/>
                <a:gd name="T42" fmla="*/ 36 w 78"/>
                <a:gd name="T43" fmla="*/ 28 h 88"/>
                <a:gd name="T44" fmla="*/ 37 w 78"/>
                <a:gd name="T45" fmla="*/ 20 h 88"/>
                <a:gd name="T46" fmla="*/ 26 w 78"/>
                <a:gd name="T47" fmla="*/ 14 h 88"/>
                <a:gd name="T48" fmla="*/ 26 w 78"/>
                <a:gd name="T49" fmla="*/ 23 h 88"/>
                <a:gd name="T50" fmla="*/ 20 w 78"/>
                <a:gd name="T51" fmla="*/ 20 h 88"/>
                <a:gd name="T52" fmla="*/ 12 w 78"/>
                <a:gd name="T53" fmla="*/ 25 h 88"/>
                <a:gd name="T54" fmla="*/ 66 w 78"/>
                <a:gd name="T55" fmla="*/ 11 h 88"/>
                <a:gd name="T56" fmla="*/ 65 w 78"/>
                <a:gd name="T57" fmla="*/ 73 h 88"/>
                <a:gd name="T58" fmla="*/ 55 w 78"/>
                <a:gd name="T59" fmla="*/ 73 h 88"/>
                <a:gd name="T60" fmla="*/ 58 w 78"/>
                <a:gd name="T61" fmla="*/ 84 h 88"/>
                <a:gd name="T62" fmla="*/ 72 w 78"/>
                <a:gd name="T63" fmla="*/ 85 h 88"/>
                <a:gd name="T64" fmla="*/ 77 w 78"/>
                <a:gd name="T65" fmla="*/ 75 h 88"/>
                <a:gd name="T66" fmla="*/ 78 w 78"/>
                <a:gd name="T67" fmla="*/ 0 h 88"/>
                <a:gd name="T68" fmla="*/ 12 w 78"/>
                <a:gd name="T69" fmla="*/ 0 h 88"/>
                <a:gd name="T70" fmla="*/ 0 w 78"/>
                <a:gd name="T71" fmla="*/ 12 h 88"/>
                <a:gd name="T72" fmla="*/ 0 w 78"/>
                <a:gd name="T73" fmla="*/ 8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8" h="88">
                  <a:moveTo>
                    <a:pt x="12" y="27"/>
                  </a:moveTo>
                  <a:cubicBezTo>
                    <a:pt x="15" y="31"/>
                    <a:pt x="15" y="31"/>
                    <a:pt x="15" y="31"/>
                  </a:cubicBezTo>
                  <a:cubicBezTo>
                    <a:pt x="15" y="32"/>
                    <a:pt x="17" y="35"/>
                    <a:pt x="21" y="41"/>
                  </a:cubicBezTo>
                  <a:cubicBezTo>
                    <a:pt x="20" y="45"/>
                    <a:pt x="19" y="49"/>
                    <a:pt x="17" y="51"/>
                  </a:cubicBezTo>
                  <a:cubicBezTo>
                    <a:pt x="16" y="53"/>
                    <a:pt x="14" y="55"/>
                    <a:pt x="12" y="58"/>
                  </a:cubicBezTo>
                  <a:lnTo>
                    <a:pt x="12" y="27"/>
                  </a:lnTo>
                  <a:close/>
                  <a:moveTo>
                    <a:pt x="12" y="85"/>
                  </a:moveTo>
                  <a:cubicBezTo>
                    <a:pt x="12" y="72"/>
                    <a:pt x="12" y="72"/>
                    <a:pt x="12" y="72"/>
                  </a:cubicBezTo>
                  <a:cubicBezTo>
                    <a:pt x="12" y="60"/>
                    <a:pt x="12" y="60"/>
                    <a:pt x="12" y="60"/>
                  </a:cubicBezTo>
                  <a:cubicBezTo>
                    <a:pt x="15" y="62"/>
                    <a:pt x="16" y="64"/>
                    <a:pt x="17" y="65"/>
                  </a:cubicBezTo>
                  <a:cubicBezTo>
                    <a:pt x="18" y="66"/>
                    <a:pt x="19" y="67"/>
                    <a:pt x="19" y="68"/>
                  </a:cubicBezTo>
                  <a:cubicBezTo>
                    <a:pt x="23" y="63"/>
                    <a:pt x="25" y="60"/>
                    <a:pt x="26" y="58"/>
                  </a:cubicBezTo>
                  <a:cubicBezTo>
                    <a:pt x="27" y="57"/>
                    <a:pt x="27" y="55"/>
                    <a:pt x="28" y="54"/>
                  </a:cubicBezTo>
                  <a:cubicBezTo>
                    <a:pt x="29" y="57"/>
                    <a:pt x="29" y="57"/>
                    <a:pt x="29" y="57"/>
                  </a:cubicBezTo>
                  <a:cubicBezTo>
                    <a:pt x="30" y="57"/>
                    <a:pt x="30" y="59"/>
                    <a:pt x="31" y="61"/>
                  </a:cubicBezTo>
                  <a:cubicBezTo>
                    <a:pt x="33" y="59"/>
                    <a:pt x="33" y="59"/>
                    <a:pt x="33" y="59"/>
                  </a:cubicBezTo>
                  <a:cubicBezTo>
                    <a:pt x="34" y="57"/>
                    <a:pt x="36" y="56"/>
                    <a:pt x="40" y="54"/>
                  </a:cubicBezTo>
                  <a:cubicBezTo>
                    <a:pt x="38" y="49"/>
                    <a:pt x="35" y="44"/>
                    <a:pt x="33" y="40"/>
                  </a:cubicBezTo>
                  <a:cubicBezTo>
                    <a:pt x="34" y="36"/>
                    <a:pt x="34" y="36"/>
                    <a:pt x="34" y="36"/>
                  </a:cubicBezTo>
                  <a:cubicBezTo>
                    <a:pt x="34" y="35"/>
                    <a:pt x="35" y="33"/>
                    <a:pt x="36" y="28"/>
                  </a:cubicBezTo>
                  <a:cubicBezTo>
                    <a:pt x="39" y="32"/>
                    <a:pt x="41" y="35"/>
                    <a:pt x="41" y="36"/>
                  </a:cubicBezTo>
                  <a:cubicBezTo>
                    <a:pt x="42" y="37"/>
                    <a:pt x="43" y="39"/>
                    <a:pt x="45" y="43"/>
                  </a:cubicBezTo>
                  <a:cubicBezTo>
                    <a:pt x="44" y="48"/>
                    <a:pt x="44" y="48"/>
                    <a:pt x="44" y="48"/>
                  </a:cubicBezTo>
                  <a:cubicBezTo>
                    <a:pt x="43" y="51"/>
                    <a:pt x="41" y="53"/>
                    <a:pt x="40" y="56"/>
                  </a:cubicBezTo>
                  <a:cubicBezTo>
                    <a:pt x="38" y="59"/>
                    <a:pt x="35" y="62"/>
                    <a:pt x="32" y="66"/>
                  </a:cubicBezTo>
                  <a:cubicBezTo>
                    <a:pt x="35" y="68"/>
                    <a:pt x="37" y="69"/>
                    <a:pt x="38" y="70"/>
                  </a:cubicBezTo>
                  <a:cubicBezTo>
                    <a:pt x="39" y="71"/>
                    <a:pt x="41" y="72"/>
                    <a:pt x="42" y="73"/>
                  </a:cubicBezTo>
                  <a:cubicBezTo>
                    <a:pt x="43" y="71"/>
                    <a:pt x="45" y="69"/>
                    <a:pt x="46" y="67"/>
                  </a:cubicBezTo>
                  <a:cubicBezTo>
                    <a:pt x="47" y="66"/>
                    <a:pt x="49" y="62"/>
                    <a:pt x="52" y="56"/>
                  </a:cubicBezTo>
                  <a:cubicBezTo>
                    <a:pt x="55" y="61"/>
                    <a:pt x="55" y="61"/>
                    <a:pt x="55" y="61"/>
                  </a:cubicBezTo>
                  <a:cubicBezTo>
                    <a:pt x="55" y="62"/>
                    <a:pt x="56" y="63"/>
                    <a:pt x="57" y="66"/>
                  </a:cubicBezTo>
                  <a:cubicBezTo>
                    <a:pt x="60" y="63"/>
                    <a:pt x="63" y="60"/>
                    <a:pt x="66" y="58"/>
                  </a:cubicBezTo>
                  <a:cubicBezTo>
                    <a:pt x="64" y="54"/>
                    <a:pt x="64" y="54"/>
                    <a:pt x="64" y="54"/>
                  </a:cubicBezTo>
                  <a:cubicBezTo>
                    <a:pt x="64" y="54"/>
                    <a:pt x="62" y="50"/>
                    <a:pt x="57" y="42"/>
                  </a:cubicBezTo>
                  <a:cubicBezTo>
                    <a:pt x="58" y="35"/>
                    <a:pt x="58" y="35"/>
                    <a:pt x="58" y="35"/>
                  </a:cubicBezTo>
                  <a:cubicBezTo>
                    <a:pt x="59" y="33"/>
                    <a:pt x="59" y="30"/>
                    <a:pt x="60" y="26"/>
                  </a:cubicBezTo>
                  <a:cubicBezTo>
                    <a:pt x="61" y="20"/>
                    <a:pt x="61" y="20"/>
                    <a:pt x="61" y="20"/>
                  </a:cubicBezTo>
                  <a:cubicBezTo>
                    <a:pt x="61" y="19"/>
                    <a:pt x="61" y="18"/>
                    <a:pt x="61" y="17"/>
                  </a:cubicBezTo>
                  <a:cubicBezTo>
                    <a:pt x="58" y="17"/>
                    <a:pt x="54" y="16"/>
                    <a:pt x="50" y="15"/>
                  </a:cubicBezTo>
                  <a:cubicBezTo>
                    <a:pt x="50" y="18"/>
                    <a:pt x="50" y="18"/>
                    <a:pt x="50" y="18"/>
                  </a:cubicBezTo>
                  <a:cubicBezTo>
                    <a:pt x="50" y="20"/>
                    <a:pt x="49" y="24"/>
                    <a:pt x="49" y="28"/>
                  </a:cubicBezTo>
                  <a:cubicBezTo>
                    <a:pt x="47" y="26"/>
                    <a:pt x="45" y="24"/>
                    <a:pt x="44" y="22"/>
                  </a:cubicBezTo>
                  <a:cubicBezTo>
                    <a:pt x="42" y="24"/>
                    <a:pt x="42" y="24"/>
                    <a:pt x="42" y="24"/>
                  </a:cubicBezTo>
                  <a:cubicBezTo>
                    <a:pt x="41" y="25"/>
                    <a:pt x="39" y="26"/>
                    <a:pt x="36" y="28"/>
                  </a:cubicBezTo>
                  <a:cubicBezTo>
                    <a:pt x="37" y="22"/>
                    <a:pt x="37" y="22"/>
                    <a:pt x="37" y="22"/>
                  </a:cubicBezTo>
                  <a:cubicBezTo>
                    <a:pt x="37" y="22"/>
                    <a:pt x="37" y="21"/>
                    <a:pt x="37" y="20"/>
                  </a:cubicBezTo>
                  <a:cubicBezTo>
                    <a:pt x="38" y="18"/>
                    <a:pt x="38" y="17"/>
                    <a:pt x="38" y="16"/>
                  </a:cubicBezTo>
                  <a:cubicBezTo>
                    <a:pt x="33" y="15"/>
                    <a:pt x="30" y="15"/>
                    <a:pt x="26" y="14"/>
                  </a:cubicBezTo>
                  <a:cubicBezTo>
                    <a:pt x="26" y="18"/>
                    <a:pt x="26" y="18"/>
                    <a:pt x="26" y="18"/>
                  </a:cubicBezTo>
                  <a:cubicBezTo>
                    <a:pt x="26" y="20"/>
                    <a:pt x="26" y="21"/>
                    <a:pt x="26" y="23"/>
                  </a:cubicBezTo>
                  <a:cubicBezTo>
                    <a:pt x="26" y="24"/>
                    <a:pt x="25" y="26"/>
                    <a:pt x="25" y="27"/>
                  </a:cubicBezTo>
                  <a:cubicBezTo>
                    <a:pt x="23" y="25"/>
                    <a:pt x="21" y="22"/>
                    <a:pt x="20" y="20"/>
                  </a:cubicBezTo>
                  <a:cubicBezTo>
                    <a:pt x="18" y="22"/>
                    <a:pt x="16" y="23"/>
                    <a:pt x="15" y="24"/>
                  </a:cubicBezTo>
                  <a:cubicBezTo>
                    <a:pt x="14" y="24"/>
                    <a:pt x="13" y="25"/>
                    <a:pt x="12" y="25"/>
                  </a:cubicBezTo>
                  <a:cubicBezTo>
                    <a:pt x="12" y="11"/>
                    <a:pt x="12" y="11"/>
                    <a:pt x="12" y="11"/>
                  </a:cubicBezTo>
                  <a:cubicBezTo>
                    <a:pt x="66" y="11"/>
                    <a:pt x="66" y="11"/>
                    <a:pt x="66" y="11"/>
                  </a:cubicBezTo>
                  <a:cubicBezTo>
                    <a:pt x="66" y="70"/>
                    <a:pt x="66" y="70"/>
                    <a:pt x="66" y="70"/>
                  </a:cubicBezTo>
                  <a:cubicBezTo>
                    <a:pt x="66" y="72"/>
                    <a:pt x="66" y="72"/>
                    <a:pt x="65" y="73"/>
                  </a:cubicBezTo>
                  <a:cubicBezTo>
                    <a:pt x="65" y="74"/>
                    <a:pt x="63" y="74"/>
                    <a:pt x="61" y="74"/>
                  </a:cubicBezTo>
                  <a:cubicBezTo>
                    <a:pt x="59" y="74"/>
                    <a:pt x="57" y="74"/>
                    <a:pt x="55" y="73"/>
                  </a:cubicBezTo>
                  <a:cubicBezTo>
                    <a:pt x="56" y="77"/>
                    <a:pt x="56" y="77"/>
                    <a:pt x="56" y="77"/>
                  </a:cubicBezTo>
                  <a:cubicBezTo>
                    <a:pt x="58" y="80"/>
                    <a:pt x="58" y="82"/>
                    <a:pt x="58" y="84"/>
                  </a:cubicBezTo>
                  <a:cubicBezTo>
                    <a:pt x="59" y="85"/>
                    <a:pt x="59" y="87"/>
                    <a:pt x="59" y="88"/>
                  </a:cubicBezTo>
                  <a:cubicBezTo>
                    <a:pt x="65" y="87"/>
                    <a:pt x="69" y="86"/>
                    <a:pt x="72" y="85"/>
                  </a:cubicBezTo>
                  <a:cubicBezTo>
                    <a:pt x="75" y="84"/>
                    <a:pt x="76" y="83"/>
                    <a:pt x="77" y="81"/>
                  </a:cubicBezTo>
                  <a:cubicBezTo>
                    <a:pt x="77" y="79"/>
                    <a:pt x="77" y="77"/>
                    <a:pt x="77" y="75"/>
                  </a:cubicBezTo>
                  <a:cubicBezTo>
                    <a:pt x="77" y="12"/>
                    <a:pt x="77" y="12"/>
                    <a:pt x="77" y="12"/>
                  </a:cubicBezTo>
                  <a:cubicBezTo>
                    <a:pt x="78" y="0"/>
                    <a:pt x="78" y="0"/>
                    <a:pt x="78" y="0"/>
                  </a:cubicBezTo>
                  <a:cubicBezTo>
                    <a:pt x="66" y="0"/>
                    <a:pt x="66" y="0"/>
                    <a:pt x="66" y="0"/>
                  </a:cubicBezTo>
                  <a:cubicBezTo>
                    <a:pt x="12" y="0"/>
                    <a:pt x="12" y="0"/>
                    <a:pt x="12" y="0"/>
                  </a:cubicBezTo>
                  <a:cubicBezTo>
                    <a:pt x="0" y="0"/>
                    <a:pt x="0" y="0"/>
                    <a:pt x="0" y="0"/>
                  </a:cubicBezTo>
                  <a:cubicBezTo>
                    <a:pt x="0" y="12"/>
                    <a:pt x="0" y="12"/>
                    <a:pt x="0" y="12"/>
                  </a:cubicBezTo>
                  <a:cubicBezTo>
                    <a:pt x="0" y="72"/>
                    <a:pt x="0" y="72"/>
                    <a:pt x="0" y="72"/>
                  </a:cubicBezTo>
                  <a:cubicBezTo>
                    <a:pt x="0" y="85"/>
                    <a:pt x="0" y="85"/>
                    <a:pt x="0" y="85"/>
                  </a:cubicBezTo>
                  <a:lnTo>
                    <a:pt x="12" y="85"/>
                  </a:lnTo>
                  <a:close/>
                </a:path>
              </a:pathLst>
            </a:custGeom>
            <a:grp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90000"/>
                    <a:lumOff val="10000"/>
                  </a:schemeClr>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3.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4" Type="http://schemas.openxmlformats.org/officeDocument/2006/relationships/notesSlide" Target="../notesSlides/notesSlide15.xml"/><Relationship Id="rId13" Type="http://schemas.openxmlformats.org/officeDocument/2006/relationships/slideLayout" Target="../slideLayouts/slideLayout12.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6.png"/><Relationship Id="rId13" Type="http://schemas.openxmlformats.org/officeDocument/2006/relationships/notesSlide" Target="../notesSlides/notesSlide18.xml"/><Relationship Id="rId12" Type="http://schemas.openxmlformats.org/officeDocument/2006/relationships/slideLayout" Target="../slideLayouts/slideLayout12.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0" Type="http://schemas.openxmlformats.org/officeDocument/2006/relationships/notesSlide" Target="../notesSlides/notesSlide21.xml"/><Relationship Id="rId1" Type="http://schemas.openxmlformats.org/officeDocument/2006/relationships/tags" Target="../tags/tag2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12.jpeg"/><Relationship Id="rId1" Type="http://schemas.openxmlformats.org/officeDocument/2006/relationships/tags" Target="../tags/tag34.xml"/></Relationships>
</file>

<file path=ppt/slides/_rels/slide30.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2" Type="http://schemas.openxmlformats.org/officeDocument/2006/relationships/notesSlide" Target="../notesSlides/notesSlide30.xml"/><Relationship Id="rId11" Type="http://schemas.openxmlformats.org/officeDocument/2006/relationships/slideLayout" Target="../slideLayouts/slideLayout12.xml"/><Relationship Id="rId10" Type="http://schemas.microsoft.com/office/2007/relationships/diagramDrawing" Target="../diagrams/drawing2.xml"/><Relationship Id="rId1" Type="http://schemas.openxmlformats.org/officeDocument/2006/relationships/diagramData" Target="../diagrams/data1.xml"/></Relationships>
</file>

<file path=ppt/slides/_rels/slide31.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3" Type="http://schemas.openxmlformats.org/officeDocument/2006/relationships/notesSlide" Target="../notesSlides/notesSlide31.xml"/><Relationship Id="rId12" Type="http://schemas.openxmlformats.org/officeDocument/2006/relationships/slideLayout" Target="../slideLayouts/slideLayout12.xml"/><Relationship Id="rId11" Type="http://schemas.openxmlformats.org/officeDocument/2006/relationships/tags" Target="../tags/tag47.xml"/><Relationship Id="rId10" Type="http://schemas.openxmlformats.org/officeDocument/2006/relationships/image" Target="../media/image14.jpeg"/><Relationship Id="rId1" Type="http://schemas.openxmlformats.org/officeDocument/2006/relationships/tags" Target="../tags/tag39.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2.xml"/><Relationship Id="rId2" Type="http://schemas.openxmlformats.org/officeDocument/2006/relationships/image" Target="../media/image16.png"/><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0" Type="http://schemas.openxmlformats.org/officeDocument/2006/relationships/notesSlide" Target="../notesSlides/notesSlide33.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2" Type="http://schemas.openxmlformats.org/officeDocument/2006/relationships/notesSlide" Target="../notesSlides/notesSlide34.xml"/><Relationship Id="rId21" Type="http://schemas.openxmlformats.org/officeDocument/2006/relationships/slideLayout" Target="../slideLayouts/slideLayout12.xml"/><Relationship Id="rId20" Type="http://schemas.openxmlformats.org/officeDocument/2006/relationships/tags" Target="../tags/tag67.xml"/><Relationship Id="rId2" Type="http://schemas.openxmlformats.org/officeDocument/2006/relationships/tags" Target="../tags/tag49.xml"/><Relationship Id="rId19" Type="http://schemas.openxmlformats.org/officeDocument/2006/relationships/tags" Target="../tags/tag66.xml"/><Relationship Id="rId18" Type="http://schemas.openxmlformats.org/officeDocument/2006/relationships/tags" Target="../tags/tag65.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tags" Target="../tags/tag4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tags" Target="../tags/tag6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2" name="imgb" descr="nt"/>
          <p:cNvPicPr>
            <a:picLocks noChangeAspect="1"/>
          </p:cNvPicPr>
          <p:nvPr/>
        </p:nvPicPr>
        <p:blipFill>
          <a:blip r:embed="rId1"/>
          <a:stretch>
            <a:fillRect/>
          </a:stretch>
        </p:blipFill>
        <p:spPr>
          <a:xfrm>
            <a:off x="0" y="-26987"/>
            <a:ext cx="4572000" cy="1219200"/>
          </a:xfrm>
          <a:prstGeom prst="rect">
            <a:avLst/>
          </a:prstGeom>
          <a:noFill/>
          <a:ln w="9525">
            <a:noFill/>
          </a:ln>
        </p:spPr>
      </p:pic>
      <p:pic>
        <p:nvPicPr>
          <p:cNvPr id="5123" name="Picture 1"/>
          <p:cNvPicPr>
            <a:picLocks noChangeAspect="1"/>
          </p:cNvPicPr>
          <p:nvPr/>
        </p:nvPicPr>
        <p:blipFill>
          <a:blip r:embed="rId2"/>
          <a:stretch>
            <a:fillRect/>
          </a:stretch>
        </p:blipFill>
        <p:spPr>
          <a:xfrm>
            <a:off x="4572000" y="-26987"/>
            <a:ext cx="4572000" cy="1223962"/>
          </a:xfrm>
          <a:prstGeom prst="rect">
            <a:avLst/>
          </a:prstGeom>
          <a:noFill/>
          <a:ln w="9525">
            <a:noFill/>
          </a:ln>
        </p:spPr>
      </p:pic>
      <p:sp>
        <p:nvSpPr>
          <p:cNvPr id="5124" name="矩形 5"/>
          <p:cNvSpPr/>
          <p:nvPr/>
        </p:nvSpPr>
        <p:spPr>
          <a:xfrm>
            <a:off x="1115695" y="2565400"/>
            <a:ext cx="7069455" cy="11988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gn="ctr" eaLnBrk="1" hangingPunct="1">
              <a:spcBef>
                <a:spcPct val="0"/>
              </a:spcBef>
              <a:buNone/>
            </a:pPr>
            <a:r>
              <a:rPr lang="zh-CN" altLang="en-US" sz="3600" b="1" dirty="0">
                <a:solidFill>
                  <a:srgbClr val="FF0000"/>
                </a:solidFill>
                <a:latin typeface="黑体" panose="02010609060101010101" pitchFamily="49" charset="-122"/>
                <a:ea typeface="黑体" panose="02010609060101010101" pitchFamily="49" charset="-122"/>
                <a:sym typeface="黑体" panose="02010609060101010101" pitchFamily="49" charset="-122"/>
              </a:rPr>
              <a:t>华中区域虚拟电厂参与电网运行的</a:t>
            </a:r>
            <a:endParaRPr lang="en-US" altLang="zh-CN" sz="36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a:p>
            <a:pPr marL="0" lvl="0" indent="0" algn="ctr" eaLnBrk="1" hangingPunct="1">
              <a:spcBef>
                <a:spcPct val="0"/>
              </a:spcBef>
              <a:buNone/>
            </a:pPr>
            <a:r>
              <a:rPr lang="zh-CN" altLang="en-US" sz="3600" b="1" dirty="0">
                <a:solidFill>
                  <a:srgbClr val="FF0000"/>
                </a:solidFill>
                <a:latin typeface="黑体" panose="02010609060101010101" pitchFamily="49" charset="-122"/>
                <a:ea typeface="黑体" panose="02010609060101010101" pitchFamily="49" charset="-122"/>
                <a:sym typeface="黑体" panose="02010609060101010101" pitchFamily="49" charset="-122"/>
              </a:rPr>
              <a:t>经济调控策略与协同机制研究</a:t>
            </a:r>
            <a:endParaRPr lang="en-US" altLang="en-US" sz="1800" dirty="0">
              <a:latin typeface="Arial" panose="020B0604020202020204" pitchFamily="34" charset="0"/>
            </a:endParaRPr>
          </a:p>
        </p:txBody>
      </p:sp>
      <p:sp>
        <p:nvSpPr>
          <p:cNvPr id="5125" name="TextBox 3"/>
          <p:cNvSpPr/>
          <p:nvPr/>
        </p:nvSpPr>
        <p:spPr>
          <a:xfrm>
            <a:off x="684213" y="1628775"/>
            <a:ext cx="7632700" cy="62992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gn="ctr" eaLnBrk="1" hangingPunct="1">
              <a:lnSpc>
                <a:spcPct val="125000"/>
              </a:lnSpc>
              <a:spcBef>
                <a:spcPct val="0"/>
              </a:spcBef>
              <a:buNone/>
            </a:pPr>
            <a:r>
              <a:rPr lang="zh-CN" altLang="en-US" sz="2800" b="1" dirty="0">
                <a:solidFill>
                  <a:srgbClr val="0000FF"/>
                </a:solidFill>
                <a:latin typeface="黑体" panose="02010609060101010101" pitchFamily="49" charset="-122"/>
                <a:ea typeface="黑体" panose="02010609060101010101" pitchFamily="49" charset="-122"/>
                <a:sym typeface="Microsoft Sans Serif" panose="020B0604020202020204" pitchFamily="34" charset="0"/>
              </a:rPr>
              <a:t>开题汇报</a:t>
            </a:r>
            <a:endParaRPr lang="en-US" altLang="en-US" sz="2800" b="1" dirty="0">
              <a:solidFill>
                <a:srgbClr val="0000FF"/>
              </a:solidFill>
              <a:latin typeface="黑体" panose="02010609060101010101" pitchFamily="49" charset="-122"/>
              <a:ea typeface="黑体" panose="02010609060101010101" pitchFamily="49" charset="-122"/>
              <a:sym typeface="Microsoft Sans Serif" panose="020B0604020202020204" pitchFamily="34" charset="0"/>
            </a:endParaRPr>
          </a:p>
        </p:txBody>
      </p:sp>
      <p:sp>
        <p:nvSpPr>
          <p:cNvPr id="5126" name="矩形 8"/>
          <p:cNvSpPr/>
          <p:nvPr/>
        </p:nvSpPr>
        <p:spPr>
          <a:xfrm>
            <a:off x="1835150" y="4221163"/>
            <a:ext cx="5832475" cy="175323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gn="ctr" eaLnBrk="1" hangingPunct="1">
              <a:lnSpc>
                <a:spcPct val="150000"/>
              </a:lnSpc>
              <a:spcBef>
                <a:spcPct val="0"/>
              </a:spcBef>
              <a:buNone/>
            </a:pPr>
            <a:r>
              <a:rPr lang="zh-CN" altLang="en-US" sz="2400" b="1" dirty="0">
                <a:solidFill>
                  <a:srgbClr val="0000FF"/>
                </a:solidFill>
                <a:ea typeface="黑体" panose="02010609060101010101" pitchFamily="49" charset="-122"/>
                <a:sym typeface="Microsoft Sans Serif" panose="020B0604020202020204" pitchFamily="34" charset="0"/>
              </a:rPr>
              <a:t>国家电网华中分部调度中心</a:t>
            </a:r>
            <a:endParaRPr lang="en-US" altLang="zh-CN" sz="2400" b="1" dirty="0">
              <a:solidFill>
                <a:srgbClr val="0000FF"/>
              </a:solidFill>
              <a:ea typeface="黑体" panose="02010609060101010101" pitchFamily="49" charset="-122"/>
              <a:sym typeface="Microsoft Sans Serif" panose="020B0604020202020204" pitchFamily="34" charset="0"/>
            </a:endParaRPr>
          </a:p>
          <a:p>
            <a:pPr marL="0" lvl="0" indent="0" algn="ctr" eaLnBrk="1" hangingPunct="1">
              <a:lnSpc>
                <a:spcPct val="150000"/>
              </a:lnSpc>
              <a:spcBef>
                <a:spcPct val="0"/>
              </a:spcBef>
              <a:buNone/>
            </a:pPr>
            <a:r>
              <a:rPr lang="zh-CN" altLang="en-US" sz="2400" b="1" dirty="0">
                <a:solidFill>
                  <a:srgbClr val="0000FF"/>
                </a:solidFill>
                <a:ea typeface="黑体" panose="02010609060101010101" pitchFamily="49" charset="-122"/>
                <a:sym typeface="Microsoft Sans Serif" panose="020B0604020202020204" pitchFamily="34" charset="0"/>
              </a:rPr>
              <a:t>    </a:t>
            </a:r>
            <a:endParaRPr lang="en-US" altLang="en-US" sz="2400" b="1" dirty="0">
              <a:solidFill>
                <a:srgbClr val="0000FF"/>
              </a:solidFill>
              <a:ea typeface="黑体" panose="02010609060101010101" pitchFamily="49" charset="-122"/>
              <a:sym typeface="Microsoft Sans Serif" panose="020B0604020202020204" pitchFamily="34" charset="0"/>
            </a:endParaRPr>
          </a:p>
          <a:p>
            <a:pPr marL="0" lvl="0" indent="0" algn="ctr" eaLnBrk="1" hangingPunct="1">
              <a:lnSpc>
                <a:spcPct val="150000"/>
              </a:lnSpc>
              <a:spcBef>
                <a:spcPct val="0"/>
              </a:spcBef>
              <a:buNone/>
            </a:pPr>
            <a:r>
              <a:rPr lang="en-US" altLang="en-US" sz="2400" b="1" dirty="0">
                <a:solidFill>
                  <a:srgbClr val="0000FF"/>
                </a:solidFill>
                <a:ea typeface="黑体" panose="02010609060101010101" pitchFamily="49" charset="-122"/>
                <a:sym typeface="Microsoft Sans Serif" panose="020B0604020202020204" pitchFamily="34" charset="0"/>
              </a:rPr>
              <a:t>2025</a:t>
            </a:r>
            <a:r>
              <a:rPr lang="zh-CN" altLang="en-US" sz="2400" b="1" dirty="0">
                <a:solidFill>
                  <a:srgbClr val="0000FF"/>
                </a:solidFill>
                <a:ea typeface="黑体" panose="02010609060101010101" pitchFamily="49" charset="-122"/>
                <a:sym typeface="Microsoft Sans Serif" panose="020B0604020202020204" pitchFamily="34" charset="0"/>
              </a:rPr>
              <a:t>年</a:t>
            </a:r>
            <a:r>
              <a:rPr lang="en-US" altLang="zh-CN" sz="2400" b="1" dirty="0">
                <a:solidFill>
                  <a:srgbClr val="0000FF"/>
                </a:solidFill>
                <a:ea typeface="黑体" panose="02010609060101010101" pitchFamily="49" charset="-122"/>
                <a:sym typeface="Microsoft Sans Serif" panose="020B0604020202020204" pitchFamily="34" charset="0"/>
              </a:rPr>
              <a:t>5</a:t>
            </a:r>
            <a:r>
              <a:rPr lang="zh-CN" altLang="en-US" sz="2400" b="1" dirty="0">
                <a:solidFill>
                  <a:srgbClr val="0000FF"/>
                </a:solidFill>
                <a:ea typeface="黑体" panose="02010609060101010101" pitchFamily="49" charset="-122"/>
                <a:sym typeface="Microsoft Sans Serif" panose="020B0604020202020204" pitchFamily="34" charset="0"/>
              </a:rPr>
              <a:t>月</a:t>
            </a:r>
            <a:r>
              <a:rPr lang="en-US" altLang="zh-CN" sz="2400" b="1" dirty="0">
                <a:solidFill>
                  <a:srgbClr val="0000FF"/>
                </a:solidFill>
                <a:ea typeface="黑体" panose="02010609060101010101" pitchFamily="49" charset="-122"/>
                <a:sym typeface="Microsoft Sans Serif" panose="020B0604020202020204" pitchFamily="34" charset="0"/>
              </a:rPr>
              <a:t>28</a:t>
            </a:r>
            <a:r>
              <a:rPr lang="zh-CN" altLang="en-US" sz="2400" b="1" dirty="0">
                <a:solidFill>
                  <a:srgbClr val="0000FF"/>
                </a:solidFill>
                <a:ea typeface="黑体" panose="02010609060101010101" pitchFamily="49" charset="-122"/>
                <a:sym typeface="Microsoft Sans Serif" panose="020B0604020202020204" pitchFamily="34" charset="0"/>
              </a:rPr>
              <a:t>日</a:t>
            </a:r>
            <a:endParaRPr lang="zh-CN" altLang="en-US" sz="2400" b="1" dirty="0">
              <a:solidFill>
                <a:srgbClr val="0000FF"/>
              </a:solidFill>
              <a:ea typeface="黑体" panose="02010609060101010101" pitchFamily="49" charset="-122"/>
              <a:sym typeface="Microsoft Sans Serif" panose="020B0604020202020204" pitchFamily="34" charset="0"/>
            </a:endParaRPr>
          </a:p>
        </p:txBody>
      </p:sp>
      <p:grpSp>
        <p:nvGrpSpPr>
          <p:cNvPr id="5" name="组合 4"/>
          <p:cNvGrpSpPr/>
          <p:nvPr/>
        </p:nvGrpSpPr>
        <p:grpSpPr>
          <a:xfrm>
            <a:off x="7463790" y="140335"/>
            <a:ext cx="1562735" cy="457200"/>
            <a:chOff x="511" y="310"/>
            <a:chExt cx="2461" cy="720"/>
          </a:xfrm>
        </p:grpSpPr>
        <p:sp>
          <p:nvSpPr>
            <p:cNvPr id="7" name="Freeform 12"/>
            <p:cNvSpPr>
              <a:spLocks noEditPoints="1"/>
            </p:cNvSpPr>
            <p:nvPr/>
          </p:nvSpPr>
          <p:spPr bwMode="auto">
            <a:xfrm>
              <a:off x="582" y="396"/>
              <a:ext cx="91" cy="91"/>
            </a:xfrm>
            <a:custGeom>
              <a:avLst/>
              <a:gdLst>
                <a:gd name="T0" fmla="*/ 14 w 23"/>
                <a:gd name="T1" fmla="*/ 13 h 23"/>
                <a:gd name="T2" fmla="*/ 12 w 23"/>
                <a:gd name="T3" fmla="*/ 11 h 23"/>
                <a:gd name="T4" fmla="*/ 13 w 23"/>
                <a:gd name="T5" fmla="*/ 10 h 23"/>
                <a:gd name="T6" fmla="*/ 13 w 23"/>
                <a:gd name="T7" fmla="*/ 12 h 23"/>
                <a:gd name="T8" fmla="*/ 15 w 23"/>
                <a:gd name="T9" fmla="*/ 12 h 23"/>
                <a:gd name="T10" fmla="*/ 16 w 23"/>
                <a:gd name="T11" fmla="*/ 12 h 23"/>
                <a:gd name="T12" fmla="*/ 14 w 23"/>
                <a:gd name="T13" fmla="*/ 13 h 23"/>
                <a:gd name="T14" fmla="*/ 11 w 23"/>
                <a:gd name="T15" fmla="*/ 19 h 23"/>
                <a:gd name="T16" fmla="*/ 12 w 23"/>
                <a:gd name="T17" fmla="*/ 18 h 23"/>
                <a:gd name="T18" fmla="*/ 17 w 23"/>
                <a:gd name="T19" fmla="*/ 12 h 23"/>
                <a:gd name="T20" fmla="*/ 19 w 23"/>
                <a:gd name="T21" fmla="*/ 11 h 23"/>
                <a:gd name="T22" fmla="*/ 17 w 23"/>
                <a:gd name="T23" fmla="*/ 10 h 23"/>
                <a:gd name="T24" fmla="*/ 16 w 23"/>
                <a:gd name="T25" fmla="*/ 11 h 23"/>
                <a:gd name="T26" fmla="*/ 16 w 23"/>
                <a:gd name="T27" fmla="*/ 10 h 23"/>
                <a:gd name="T28" fmla="*/ 15 w 23"/>
                <a:gd name="T29" fmla="*/ 10 h 23"/>
                <a:gd name="T30" fmla="*/ 15 w 23"/>
                <a:gd name="T31" fmla="*/ 10 h 23"/>
                <a:gd name="T32" fmla="*/ 14 w 23"/>
                <a:gd name="T33" fmla="*/ 10 h 23"/>
                <a:gd name="T34" fmla="*/ 15 w 23"/>
                <a:gd name="T35" fmla="*/ 9 h 23"/>
                <a:gd name="T36" fmla="*/ 13 w 23"/>
                <a:gd name="T37" fmla="*/ 7 h 23"/>
                <a:gd name="T38" fmla="*/ 13 w 23"/>
                <a:gd name="T39" fmla="*/ 8 h 23"/>
                <a:gd name="T40" fmla="*/ 11 w 23"/>
                <a:gd name="T41" fmla="*/ 10 h 23"/>
                <a:gd name="T42" fmla="*/ 10 w 23"/>
                <a:gd name="T43" fmla="*/ 9 h 23"/>
                <a:gd name="T44" fmla="*/ 11 w 23"/>
                <a:gd name="T45" fmla="*/ 7 h 23"/>
                <a:gd name="T46" fmla="*/ 13 w 23"/>
                <a:gd name="T47" fmla="*/ 6 h 23"/>
                <a:gd name="T48" fmla="*/ 11 w 23"/>
                <a:gd name="T49" fmla="*/ 4 h 23"/>
                <a:gd name="T50" fmla="*/ 10 w 23"/>
                <a:gd name="T51" fmla="*/ 6 h 23"/>
                <a:gd name="T52" fmla="*/ 5 w 23"/>
                <a:gd name="T53" fmla="*/ 11 h 23"/>
                <a:gd name="T54" fmla="*/ 4 w 23"/>
                <a:gd name="T55" fmla="*/ 12 h 23"/>
                <a:gd name="T56" fmla="*/ 5 w 23"/>
                <a:gd name="T57" fmla="*/ 13 h 23"/>
                <a:gd name="T58" fmla="*/ 7 w 23"/>
                <a:gd name="T59" fmla="*/ 12 h 23"/>
                <a:gd name="T60" fmla="*/ 8 w 23"/>
                <a:gd name="T61" fmla="*/ 10 h 23"/>
                <a:gd name="T62" fmla="*/ 9 w 23"/>
                <a:gd name="T63" fmla="*/ 12 h 23"/>
                <a:gd name="T64" fmla="*/ 8 w 23"/>
                <a:gd name="T65" fmla="*/ 13 h 23"/>
                <a:gd name="T66" fmla="*/ 7 w 23"/>
                <a:gd name="T67" fmla="*/ 14 h 23"/>
                <a:gd name="T68" fmla="*/ 9 w 23"/>
                <a:gd name="T69" fmla="*/ 15 h 23"/>
                <a:gd name="T70" fmla="*/ 10 w 23"/>
                <a:gd name="T71" fmla="*/ 14 h 23"/>
                <a:gd name="T72" fmla="*/ 11 w 23"/>
                <a:gd name="T73" fmla="*/ 13 h 23"/>
                <a:gd name="T74" fmla="*/ 13 w 23"/>
                <a:gd name="T75" fmla="*/ 15 h 23"/>
                <a:gd name="T76" fmla="*/ 11 w 23"/>
                <a:gd name="T77" fmla="*/ 16 h 23"/>
                <a:gd name="T78" fmla="*/ 10 w 23"/>
                <a:gd name="T79" fmla="*/ 18 h 23"/>
                <a:gd name="T80" fmla="*/ 11 w 23"/>
                <a:gd name="T81" fmla="*/ 19 h 23"/>
                <a:gd name="T82" fmla="*/ 1 w 23"/>
                <a:gd name="T83" fmla="*/ 13 h 23"/>
                <a:gd name="T84" fmla="*/ 10 w 23"/>
                <a:gd name="T85" fmla="*/ 21 h 23"/>
                <a:gd name="T86" fmla="*/ 12 w 23"/>
                <a:gd name="T87" fmla="*/ 23 h 23"/>
                <a:gd name="T88" fmla="*/ 13 w 23"/>
                <a:gd name="T89" fmla="*/ 21 h 23"/>
                <a:gd name="T90" fmla="*/ 13 w 23"/>
                <a:gd name="T91" fmla="*/ 21 h 23"/>
                <a:gd name="T92" fmla="*/ 21 w 23"/>
                <a:gd name="T93" fmla="*/ 13 h 23"/>
                <a:gd name="T94" fmla="*/ 21 w 23"/>
                <a:gd name="T95" fmla="*/ 13 h 23"/>
                <a:gd name="T96" fmla="*/ 23 w 23"/>
                <a:gd name="T97" fmla="*/ 12 h 23"/>
                <a:gd name="T98" fmla="*/ 21 w 23"/>
                <a:gd name="T99" fmla="*/ 10 h 23"/>
                <a:gd name="T100" fmla="*/ 12 w 23"/>
                <a:gd name="T101" fmla="*/ 2 h 23"/>
                <a:gd name="T102" fmla="*/ 11 w 23"/>
                <a:gd name="T103" fmla="*/ 0 h 23"/>
                <a:gd name="T104" fmla="*/ 10 w 23"/>
                <a:gd name="T105" fmla="*/ 2 h 23"/>
                <a:gd name="T106" fmla="*/ 1 w 23"/>
                <a:gd name="T107" fmla="*/ 10 h 23"/>
                <a:gd name="T108" fmla="*/ 0 w 23"/>
                <a:gd name="T109" fmla="*/ 12 h 23"/>
                <a:gd name="T110" fmla="*/ 1 w 23"/>
                <a:gd name="T111" fmla="*/ 13 h 23"/>
                <a:gd name="T112" fmla="*/ 3 w 23"/>
                <a:gd name="T113" fmla="*/ 11 h 23"/>
                <a:gd name="T114" fmla="*/ 11 w 23"/>
                <a:gd name="T115" fmla="*/ 3 h 23"/>
                <a:gd name="T116" fmla="*/ 20 w 23"/>
                <a:gd name="T117" fmla="*/ 12 h 23"/>
                <a:gd name="T118" fmla="*/ 12 w 23"/>
                <a:gd name="T119" fmla="*/ 20 h 23"/>
                <a:gd name="T120" fmla="*/ 3 w 23"/>
                <a:gd name="T121" fmla="*/ 1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 h="23">
                  <a:moveTo>
                    <a:pt x="14" y="13"/>
                  </a:moveTo>
                  <a:cubicBezTo>
                    <a:pt x="12" y="11"/>
                    <a:pt x="12" y="11"/>
                    <a:pt x="12" y="11"/>
                  </a:cubicBezTo>
                  <a:cubicBezTo>
                    <a:pt x="13" y="10"/>
                    <a:pt x="13" y="10"/>
                    <a:pt x="13" y="10"/>
                  </a:cubicBezTo>
                  <a:cubicBezTo>
                    <a:pt x="13" y="11"/>
                    <a:pt x="13" y="11"/>
                    <a:pt x="13" y="12"/>
                  </a:cubicBezTo>
                  <a:cubicBezTo>
                    <a:pt x="14" y="12"/>
                    <a:pt x="15" y="12"/>
                    <a:pt x="15" y="12"/>
                  </a:cubicBezTo>
                  <a:cubicBezTo>
                    <a:pt x="15" y="12"/>
                    <a:pt x="15" y="12"/>
                    <a:pt x="16" y="12"/>
                  </a:cubicBezTo>
                  <a:lnTo>
                    <a:pt x="14" y="13"/>
                  </a:lnTo>
                  <a:close/>
                  <a:moveTo>
                    <a:pt x="11" y="19"/>
                  </a:moveTo>
                  <a:cubicBezTo>
                    <a:pt x="12" y="18"/>
                    <a:pt x="12" y="18"/>
                    <a:pt x="12" y="18"/>
                  </a:cubicBezTo>
                  <a:cubicBezTo>
                    <a:pt x="17" y="12"/>
                    <a:pt x="17" y="12"/>
                    <a:pt x="17" y="12"/>
                  </a:cubicBezTo>
                  <a:cubicBezTo>
                    <a:pt x="19" y="11"/>
                    <a:pt x="19" y="11"/>
                    <a:pt x="19" y="11"/>
                  </a:cubicBezTo>
                  <a:cubicBezTo>
                    <a:pt x="17" y="10"/>
                    <a:pt x="17" y="10"/>
                    <a:pt x="17" y="10"/>
                  </a:cubicBezTo>
                  <a:cubicBezTo>
                    <a:pt x="16" y="11"/>
                    <a:pt x="16" y="11"/>
                    <a:pt x="16" y="11"/>
                  </a:cubicBezTo>
                  <a:cubicBezTo>
                    <a:pt x="16" y="10"/>
                    <a:pt x="16" y="10"/>
                    <a:pt x="16" y="10"/>
                  </a:cubicBezTo>
                  <a:cubicBezTo>
                    <a:pt x="15" y="10"/>
                    <a:pt x="15" y="10"/>
                    <a:pt x="15" y="10"/>
                  </a:cubicBezTo>
                  <a:cubicBezTo>
                    <a:pt x="15" y="10"/>
                    <a:pt x="15" y="10"/>
                    <a:pt x="15" y="10"/>
                  </a:cubicBezTo>
                  <a:cubicBezTo>
                    <a:pt x="14" y="10"/>
                    <a:pt x="14" y="10"/>
                    <a:pt x="14" y="10"/>
                  </a:cubicBezTo>
                  <a:cubicBezTo>
                    <a:pt x="15" y="9"/>
                    <a:pt x="15" y="9"/>
                    <a:pt x="15" y="9"/>
                  </a:cubicBezTo>
                  <a:cubicBezTo>
                    <a:pt x="13" y="7"/>
                    <a:pt x="13" y="7"/>
                    <a:pt x="13" y="7"/>
                  </a:cubicBezTo>
                  <a:cubicBezTo>
                    <a:pt x="13" y="8"/>
                    <a:pt x="13" y="8"/>
                    <a:pt x="13" y="8"/>
                  </a:cubicBezTo>
                  <a:cubicBezTo>
                    <a:pt x="11" y="10"/>
                    <a:pt x="11" y="10"/>
                    <a:pt x="11" y="10"/>
                  </a:cubicBezTo>
                  <a:cubicBezTo>
                    <a:pt x="10" y="9"/>
                    <a:pt x="10" y="9"/>
                    <a:pt x="10" y="9"/>
                  </a:cubicBezTo>
                  <a:cubicBezTo>
                    <a:pt x="11" y="7"/>
                    <a:pt x="11" y="7"/>
                    <a:pt x="11" y="7"/>
                  </a:cubicBezTo>
                  <a:cubicBezTo>
                    <a:pt x="13" y="6"/>
                    <a:pt x="13" y="6"/>
                    <a:pt x="13" y="6"/>
                  </a:cubicBezTo>
                  <a:cubicBezTo>
                    <a:pt x="11" y="4"/>
                    <a:pt x="11" y="4"/>
                    <a:pt x="11" y="4"/>
                  </a:cubicBezTo>
                  <a:cubicBezTo>
                    <a:pt x="10" y="6"/>
                    <a:pt x="10" y="6"/>
                    <a:pt x="10" y="6"/>
                  </a:cubicBezTo>
                  <a:cubicBezTo>
                    <a:pt x="5" y="11"/>
                    <a:pt x="5" y="11"/>
                    <a:pt x="5" y="11"/>
                  </a:cubicBezTo>
                  <a:cubicBezTo>
                    <a:pt x="4" y="12"/>
                    <a:pt x="4" y="12"/>
                    <a:pt x="4" y="12"/>
                  </a:cubicBezTo>
                  <a:cubicBezTo>
                    <a:pt x="5" y="13"/>
                    <a:pt x="5" y="13"/>
                    <a:pt x="5" y="13"/>
                  </a:cubicBezTo>
                  <a:cubicBezTo>
                    <a:pt x="7" y="12"/>
                    <a:pt x="7" y="12"/>
                    <a:pt x="7" y="12"/>
                  </a:cubicBezTo>
                  <a:cubicBezTo>
                    <a:pt x="8" y="10"/>
                    <a:pt x="8" y="10"/>
                    <a:pt x="8" y="10"/>
                  </a:cubicBezTo>
                  <a:cubicBezTo>
                    <a:pt x="9" y="12"/>
                    <a:pt x="9" y="12"/>
                    <a:pt x="9" y="12"/>
                  </a:cubicBezTo>
                  <a:cubicBezTo>
                    <a:pt x="8" y="13"/>
                    <a:pt x="8" y="13"/>
                    <a:pt x="8" y="13"/>
                  </a:cubicBezTo>
                  <a:cubicBezTo>
                    <a:pt x="7" y="14"/>
                    <a:pt x="7" y="14"/>
                    <a:pt x="7" y="14"/>
                  </a:cubicBezTo>
                  <a:cubicBezTo>
                    <a:pt x="9" y="15"/>
                    <a:pt x="9" y="15"/>
                    <a:pt x="9" y="15"/>
                  </a:cubicBezTo>
                  <a:cubicBezTo>
                    <a:pt x="10" y="14"/>
                    <a:pt x="10" y="14"/>
                    <a:pt x="10" y="14"/>
                  </a:cubicBezTo>
                  <a:cubicBezTo>
                    <a:pt x="11" y="13"/>
                    <a:pt x="11" y="13"/>
                    <a:pt x="11" y="13"/>
                  </a:cubicBezTo>
                  <a:cubicBezTo>
                    <a:pt x="13" y="15"/>
                    <a:pt x="13" y="15"/>
                    <a:pt x="13" y="15"/>
                  </a:cubicBezTo>
                  <a:cubicBezTo>
                    <a:pt x="11" y="16"/>
                    <a:pt x="11" y="16"/>
                    <a:pt x="11" y="16"/>
                  </a:cubicBezTo>
                  <a:cubicBezTo>
                    <a:pt x="10" y="18"/>
                    <a:pt x="10" y="18"/>
                    <a:pt x="10" y="18"/>
                  </a:cubicBezTo>
                  <a:lnTo>
                    <a:pt x="11" y="19"/>
                  </a:lnTo>
                  <a:close/>
                  <a:moveTo>
                    <a:pt x="1" y="13"/>
                  </a:moveTo>
                  <a:cubicBezTo>
                    <a:pt x="10" y="21"/>
                    <a:pt x="10" y="21"/>
                    <a:pt x="10" y="21"/>
                  </a:cubicBezTo>
                  <a:cubicBezTo>
                    <a:pt x="12" y="23"/>
                    <a:pt x="12" y="23"/>
                    <a:pt x="12" y="23"/>
                  </a:cubicBezTo>
                  <a:cubicBezTo>
                    <a:pt x="13" y="21"/>
                    <a:pt x="13" y="21"/>
                    <a:pt x="13" y="21"/>
                  </a:cubicBezTo>
                  <a:cubicBezTo>
                    <a:pt x="13" y="21"/>
                    <a:pt x="13" y="21"/>
                    <a:pt x="13" y="21"/>
                  </a:cubicBezTo>
                  <a:cubicBezTo>
                    <a:pt x="21" y="13"/>
                    <a:pt x="21" y="13"/>
                    <a:pt x="21" y="13"/>
                  </a:cubicBezTo>
                  <a:cubicBezTo>
                    <a:pt x="21" y="13"/>
                    <a:pt x="21" y="13"/>
                    <a:pt x="21" y="13"/>
                  </a:cubicBezTo>
                  <a:cubicBezTo>
                    <a:pt x="23" y="12"/>
                    <a:pt x="23" y="12"/>
                    <a:pt x="23" y="12"/>
                  </a:cubicBezTo>
                  <a:cubicBezTo>
                    <a:pt x="21" y="10"/>
                    <a:pt x="21" y="10"/>
                    <a:pt x="21" y="10"/>
                  </a:cubicBezTo>
                  <a:cubicBezTo>
                    <a:pt x="12" y="2"/>
                    <a:pt x="12" y="2"/>
                    <a:pt x="12" y="2"/>
                  </a:cubicBezTo>
                  <a:cubicBezTo>
                    <a:pt x="11" y="0"/>
                    <a:pt x="11" y="0"/>
                    <a:pt x="11" y="0"/>
                  </a:cubicBezTo>
                  <a:cubicBezTo>
                    <a:pt x="10" y="2"/>
                    <a:pt x="10" y="2"/>
                    <a:pt x="10" y="2"/>
                  </a:cubicBezTo>
                  <a:cubicBezTo>
                    <a:pt x="1" y="10"/>
                    <a:pt x="1" y="10"/>
                    <a:pt x="1" y="10"/>
                  </a:cubicBezTo>
                  <a:cubicBezTo>
                    <a:pt x="0" y="12"/>
                    <a:pt x="0" y="12"/>
                    <a:pt x="0" y="12"/>
                  </a:cubicBezTo>
                  <a:lnTo>
                    <a:pt x="1" y="13"/>
                  </a:lnTo>
                  <a:close/>
                  <a:moveTo>
                    <a:pt x="3" y="11"/>
                  </a:moveTo>
                  <a:cubicBezTo>
                    <a:pt x="11" y="3"/>
                    <a:pt x="11" y="3"/>
                    <a:pt x="11" y="3"/>
                  </a:cubicBezTo>
                  <a:cubicBezTo>
                    <a:pt x="20" y="12"/>
                    <a:pt x="20" y="12"/>
                    <a:pt x="20" y="12"/>
                  </a:cubicBezTo>
                  <a:cubicBezTo>
                    <a:pt x="12" y="20"/>
                    <a:pt x="12" y="20"/>
                    <a:pt x="12" y="20"/>
                  </a:cubicBezTo>
                  <a:lnTo>
                    <a:pt x="3" y="11"/>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0" name="Freeform 13"/>
            <p:cNvSpPr>
              <a:spLocks noEditPoints="1"/>
            </p:cNvSpPr>
            <p:nvPr/>
          </p:nvSpPr>
          <p:spPr bwMode="auto">
            <a:xfrm>
              <a:off x="669" y="337"/>
              <a:ext cx="86" cy="84"/>
            </a:xfrm>
            <a:custGeom>
              <a:avLst/>
              <a:gdLst>
                <a:gd name="T0" fmla="*/ 12 w 22"/>
                <a:gd name="T1" fmla="*/ 13 h 21"/>
                <a:gd name="T2" fmla="*/ 10 w 22"/>
                <a:gd name="T3" fmla="*/ 15 h 21"/>
                <a:gd name="T4" fmla="*/ 7 w 22"/>
                <a:gd name="T5" fmla="*/ 17 h 21"/>
                <a:gd name="T6" fmla="*/ 7 w 22"/>
                <a:gd name="T7" fmla="*/ 16 h 21"/>
                <a:gd name="T8" fmla="*/ 10 w 22"/>
                <a:gd name="T9" fmla="*/ 12 h 21"/>
                <a:gd name="T10" fmla="*/ 8 w 22"/>
                <a:gd name="T11" fmla="*/ 13 h 21"/>
                <a:gd name="T12" fmla="*/ 6 w 22"/>
                <a:gd name="T13" fmla="*/ 14 h 21"/>
                <a:gd name="T14" fmla="*/ 6 w 22"/>
                <a:gd name="T15" fmla="*/ 12 h 21"/>
                <a:gd name="T16" fmla="*/ 7 w 22"/>
                <a:gd name="T17" fmla="*/ 10 h 21"/>
                <a:gd name="T18" fmla="*/ 4 w 22"/>
                <a:gd name="T19" fmla="*/ 9 h 21"/>
                <a:gd name="T20" fmla="*/ 13 w 22"/>
                <a:gd name="T21" fmla="*/ 5 h 21"/>
                <a:gd name="T22" fmla="*/ 15 w 22"/>
                <a:gd name="T23" fmla="*/ 6 h 21"/>
                <a:gd name="T24" fmla="*/ 11 w 22"/>
                <a:gd name="T25" fmla="*/ 8 h 21"/>
                <a:gd name="T26" fmla="*/ 11 w 22"/>
                <a:gd name="T27" fmla="*/ 10 h 21"/>
                <a:gd name="T28" fmla="*/ 13 w 22"/>
                <a:gd name="T29" fmla="*/ 11 h 21"/>
                <a:gd name="T30" fmla="*/ 14 w 22"/>
                <a:gd name="T31" fmla="*/ 7 h 21"/>
                <a:gd name="T32" fmla="*/ 17 w 22"/>
                <a:gd name="T33" fmla="*/ 7 h 21"/>
                <a:gd name="T34" fmla="*/ 17 w 22"/>
                <a:gd name="T35" fmla="*/ 11 h 21"/>
                <a:gd name="T36" fmla="*/ 22 w 22"/>
                <a:gd name="T37" fmla="*/ 12 h 21"/>
                <a:gd name="T38" fmla="*/ 22 w 22"/>
                <a:gd name="T39" fmla="*/ 15 h 21"/>
                <a:gd name="T40" fmla="*/ 16 w 22"/>
                <a:gd name="T41" fmla="*/ 13 h 21"/>
                <a:gd name="T42" fmla="*/ 14 w 22"/>
                <a:gd name="T43" fmla="*/ 12 h 21"/>
                <a:gd name="T44" fmla="*/ 15 w 22"/>
                <a:gd name="T45" fmla="*/ 14 h 21"/>
                <a:gd name="T46" fmla="*/ 16 w 22"/>
                <a:gd name="T47" fmla="*/ 17 h 21"/>
                <a:gd name="T48" fmla="*/ 13 w 22"/>
                <a:gd name="T49" fmla="*/ 18 h 21"/>
                <a:gd name="T50" fmla="*/ 14 w 22"/>
                <a:gd name="T51" fmla="*/ 16 h 21"/>
                <a:gd name="T52" fmla="*/ 13 w 22"/>
                <a:gd name="T53" fmla="*/ 15 h 21"/>
                <a:gd name="T54" fmla="*/ 12 w 22"/>
                <a:gd name="T55" fmla="*/ 17 h 21"/>
                <a:gd name="T56" fmla="*/ 8 w 22"/>
                <a:gd name="T57" fmla="*/ 21 h 21"/>
                <a:gd name="T58" fmla="*/ 6 w 22"/>
                <a:gd name="T59" fmla="*/ 20 h 21"/>
                <a:gd name="T60" fmla="*/ 2 w 22"/>
                <a:gd name="T61" fmla="*/ 12 h 21"/>
                <a:gd name="T62" fmla="*/ 1 w 22"/>
                <a:gd name="T63" fmla="*/ 9 h 21"/>
                <a:gd name="T64" fmla="*/ 2 w 22"/>
                <a:gd name="T65" fmla="*/ 7 h 21"/>
                <a:gd name="T66" fmla="*/ 5 w 22"/>
                <a:gd name="T67" fmla="*/ 4 h 21"/>
                <a:gd name="T68" fmla="*/ 7 w 22"/>
                <a:gd name="T69" fmla="*/ 3 h 21"/>
                <a:gd name="T70" fmla="*/ 9 w 22"/>
                <a:gd name="T71" fmla="*/ 4 h 21"/>
                <a:gd name="T72" fmla="*/ 15 w 22"/>
                <a:gd name="T73" fmla="*/ 0 h 21"/>
                <a:gd name="T74" fmla="*/ 17 w 22"/>
                <a:gd name="T75" fmla="*/ 3 h 21"/>
                <a:gd name="T76" fmla="*/ 15 w 22"/>
                <a:gd name="T77" fmla="*/ 5 h 21"/>
                <a:gd name="T78" fmla="*/ 14 w 22"/>
                <a:gd name="T79" fmla="*/ 3 h 21"/>
                <a:gd name="T80" fmla="*/ 4 w 22"/>
                <a:gd name="T81" fmla="*/ 10 h 21"/>
                <a:gd name="T82" fmla="*/ 2 w 22"/>
                <a:gd name="T83"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 h="21">
                  <a:moveTo>
                    <a:pt x="10" y="16"/>
                  </a:moveTo>
                  <a:cubicBezTo>
                    <a:pt x="11" y="15"/>
                    <a:pt x="11" y="14"/>
                    <a:pt x="12" y="13"/>
                  </a:cubicBezTo>
                  <a:cubicBezTo>
                    <a:pt x="12" y="13"/>
                    <a:pt x="12" y="13"/>
                    <a:pt x="11" y="12"/>
                  </a:cubicBezTo>
                  <a:cubicBezTo>
                    <a:pt x="11" y="14"/>
                    <a:pt x="10" y="14"/>
                    <a:pt x="10" y="15"/>
                  </a:cubicBezTo>
                  <a:cubicBezTo>
                    <a:pt x="9" y="16"/>
                    <a:pt x="8" y="17"/>
                    <a:pt x="7" y="18"/>
                  </a:cubicBezTo>
                  <a:cubicBezTo>
                    <a:pt x="7" y="18"/>
                    <a:pt x="7" y="18"/>
                    <a:pt x="7" y="17"/>
                  </a:cubicBezTo>
                  <a:cubicBezTo>
                    <a:pt x="6" y="17"/>
                    <a:pt x="6" y="17"/>
                    <a:pt x="5" y="17"/>
                  </a:cubicBezTo>
                  <a:cubicBezTo>
                    <a:pt x="6" y="16"/>
                    <a:pt x="6" y="16"/>
                    <a:pt x="7" y="16"/>
                  </a:cubicBezTo>
                  <a:cubicBezTo>
                    <a:pt x="7" y="15"/>
                    <a:pt x="8" y="15"/>
                    <a:pt x="8" y="14"/>
                  </a:cubicBezTo>
                  <a:cubicBezTo>
                    <a:pt x="9" y="13"/>
                    <a:pt x="9" y="13"/>
                    <a:pt x="10" y="12"/>
                  </a:cubicBezTo>
                  <a:cubicBezTo>
                    <a:pt x="9" y="12"/>
                    <a:pt x="9" y="12"/>
                    <a:pt x="9" y="12"/>
                  </a:cubicBezTo>
                  <a:cubicBezTo>
                    <a:pt x="9" y="12"/>
                    <a:pt x="8" y="13"/>
                    <a:pt x="8" y="13"/>
                  </a:cubicBezTo>
                  <a:cubicBezTo>
                    <a:pt x="8" y="14"/>
                    <a:pt x="7" y="14"/>
                    <a:pt x="6" y="15"/>
                  </a:cubicBezTo>
                  <a:cubicBezTo>
                    <a:pt x="6" y="15"/>
                    <a:pt x="6" y="15"/>
                    <a:pt x="6" y="14"/>
                  </a:cubicBezTo>
                  <a:cubicBezTo>
                    <a:pt x="5" y="14"/>
                    <a:pt x="5" y="14"/>
                    <a:pt x="4" y="14"/>
                  </a:cubicBezTo>
                  <a:cubicBezTo>
                    <a:pt x="5" y="13"/>
                    <a:pt x="5" y="13"/>
                    <a:pt x="6" y="12"/>
                  </a:cubicBezTo>
                  <a:cubicBezTo>
                    <a:pt x="7" y="12"/>
                    <a:pt x="8" y="11"/>
                    <a:pt x="9" y="9"/>
                  </a:cubicBezTo>
                  <a:cubicBezTo>
                    <a:pt x="7" y="10"/>
                    <a:pt x="7" y="10"/>
                    <a:pt x="7" y="10"/>
                  </a:cubicBezTo>
                  <a:cubicBezTo>
                    <a:pt x="5" y="11"/>
                    <a:pt x="5" y="11"/>
                    <a:pt x="5" y="11"/>
                  </a:cubicBezTo>
                  <a:cubicBezTo>
                    <a:pt x="4" y="9"/>
                    <a:pt x="4" y="9"/>
                    <a:pt x="4" y="9"/>
                  </a:cubicBezTo>
                  <a:cubicBezTo>
                    <a:pt x="6" y="9"/>
                    <a:pt x="6" y="9"/>
                    <a:pt x="6" y="9"/>
                  </a:cubicBezTo>
                  <a:cubicBezTo>
                    <a:pt x="13" y="5"/>
                    <a:pt x="13" y="5"/>
                    <a:pt x="13" y="5"/>
                  </a:cubicBezTo>
                  <a:cubicBezTo>
                    <a:pt x="14" y="4"/>
                    <a:pt x="14" y="4"/>
                    <a:pt x="14" y="4"/>
                  </a:cubicBezTo>
                  <a:cubicBezTo>
                    <a:pt x="15" y="6"/>
                    <a:pt x="15" y="6"/>
                    <a:pt x="15" y="6"/>
                  </a:cubicBezTo>
                  <a:cubicBezTo>
                    <a:pt x="13" y="7"/>
                    <a:pt x="13" y="7"/>
                    <a:pt x="13" y="7"/>
                  </a:cubicBezTo>
                  <a:cubicBezTo>
                    <a:pt x="11" y="8"/>
                    <a:pt x="11" y="8"/>
                    <a:pt x="11" y="8"/>
                  </a:cubicBezTo>
                  <a:cubicBezTo>
                    <a:pt x="11" y="8"/>
                    <a:pt x="12" y="8"/>
                    <a:pt x="12" y="8"/>
                  </a:cubicBezTo>
                  <a:cubicBezTo>
                    <a:pt x="12" y="9"/>
                    <a:pt x="11" y="10"/>
                    <a:pt x="11" y="10"/>
                  </a:cubicBezTo>
                  <a:cubicBezTo>
                    <a:pt x="11" y="10"/>
                    <a:pt x="12" y="10"/>
                    <a:pt x="12" y="10"/>
                  </a:cubicBezTo>
                  <a:cubicBezTo>
                    <a:pt x="13" y="11"/>
                    <a:pt x="13" y="11"/>
                    <a:pt x="13" y="11"/>
                  </a:cubicBezTo>
                  <a:cubicBezTo>
                    <a:pt x="13" y="9"/>
                    <a:pt x="14" y="8"/>
                    <a:pt x="14" y="8"/>
                  </a:cubicBezTo>
                  <a:cubicBezTo>
                    <a:pt x="14" y="7"/>
                    <a:pt x="14" y="7"/>
                    <a:pt x="14" y="7"/>
                  </a:cubicBezTo>
                  <a:cubicBezTo>
                    <a:pt x="15" y="7"/>
                    <a:pt x="15" y="7"/>
                    <a:pt x="15" y="7"/>
                  </a:cubicBezTo>
                  <a:cubicBezTo>
                    <a:pt x="15" y="7"/>
                    <a:pt x="16" y="7"/>
                    <a:pt x="17" y="7"/>
                  </a:cubicBezTo>
                  <a:cubicBezTo>
                    <a:pt x="16" y="8"/>
                    <a:pt x="16" y="9"/>
                    <a:pt x="16" y="10"/>
                  </a:cubicBezTo>
                  <a:cubicBezTo>
                    <a:pt x="16" y="10"/>
                    <a:pt x="16" y="10"/>
                    <a:pt x="17" y="11"/>
                  </a:cubicBezTo>
                  <a:cubicBezTo>
                    <a:pt x="17" y="11"/>
                    <a:pt x="18" y="12"/>
                    <a:pt x="19" y="12"/>
                  </a:cubicBezTo>
                  <a:cubicBezTo>
                    <a:pt x="20" y="12"/>
                    <a:pt x="21" y="12"/>
                    <a:pt x="22" y="12"/>
                  </a:cubicBezTo>
                  <a:cubicBezTo>
                    <a:pt x="22" y="13"/>
                    <a:pt x="22" y="13"/>
                    <a:pt x="22" y="13"/>
                  </a:cubicBezTo>
                  <a:cubicBezTo>
                    <a:pt x="22" y="14"/>
                    <a:pt x="22" y="14"/>
                    <a:pt x="22" y="15"/>
                  </a:cubicBezTo>
                  <a:cubicBezTo>
                    <a:pt x="20" y="15"/>
                    <a:pt x="19" y="14"/>
                    <a:pt x="19" y="14"/>
                  </a:cubicBezTo>
                  <a:cubicBezTo>
                    <a:pt x="18" y="14"/>
                    <a:pt x="17" y="13"/>
                    <a:pt x="16" y="13"/>
                  </a:cubicBezTo>
                  <a:cubicBezTo>
                    <a:pt x="16" y="13"/>
                    <a:pt x="15" y="12"/>
                    <a:pt x="14" y="11"/>
                  </a:cubicBezTo>
                  <a:cubicBezTo>
                    <a:pt x="14" y="12"/>
                    <a:pt x="14" y="12"/>
                    <a:pt x="14" y="12"/>
                  </a:cubicBezTo>
                  <a:cubicBezTo>
                    <a:pt x="14" y="12"/>
                    <a:pt x="14" y="13"/>
                    <a:pt x="15" y="13"/>
                  </a:cubicBezTo>
                  <a:cubicBezTo>
                    <a:pt x="15" y="13"/>
                    <a:pt x="15" y="13"/>
                    <a:pt x="15" y="14"/>
                  </a:cubicBezTo>
                  <a:cubicBezTo>
                    <a:pt x="16" y="15"/>
                    <a:pt x="16" y="15"/>
                    <a:pt x="16" y="16"/>
                  </a:cubicBezTo>
                  <a:cubicBezTo>
                    <a:pt x="16" y="16"/>
                    <a:pt x="16" y="17"/>
                    <a:pt x="16" y="17"/>
                  </a:cubicBezTo>
                  <a:cubicBezTo>
                    <a:pt x="16" y="18"/>
                    <a:pt x="15" y="18"/>
                    <a:pt x="14" y="19"/>
                  </a:cubicBezTo>
                  <a:cubicBezTo>
                    <a:pt x="13" y="18"/>
                    <a:pt x="13" y="18"/>
                    <a:pt x="13" y="18"/>
                  </a:cubicBezTo>
                  <a:cubicBezTo>
                    <a:pt x="12" y="17"/>
                    <a:pt x="12" y="17"/>
                    <a:pt x="12" y="17"/>
                  </a:cubicBezTo>
                  <a:cubicBezTo>
                    <a:pt x="13" y="17"/>
                    <a:pt x="13" y="17"/>
                    <a:pt x="14" y="16"/>
                  </a:cubicBezTo>
                  <a:cubicBezTo>
                    <a:pt x="14" y="16"/>
                    <a:pt x="14" y="16"/>
                    <a:pt x="14" y="16"/>
                  </a:cubicBezTo>
                  <a:cubicBezTo>
                    <a:pt x="13" y="15"/>
                    <a:pt x="13" y="15"/>
                    <a:pt x="13" y="15"/>
                  </a:cubicBezTo>
                  <a:cubicBezTo>
                    <a:pt x="13" y="15"/>
                    <a:pt x="13" y="15"/>
                    <a:pt x="13" y="15"/>
                  </a:cubicBezTo>
                  <a:cubicBezTo>
                    <a:pt x="13" y="15"/>
                    <a:pt x="12" y="16"/>
                    <a:pt x="12" y="17"/>
                  </a:cubicBezTo>
                  <a:cubicBezTo>
                    <a:pt x="11" y="18"/>
                    <a:pt x="10" y="19"/>
                    <a:pt x="10" y="19"/>
                  </a:cubicBezTo>
                  <a:cubicBezTo>
                    <a:pt x="8" y="21"/>
                    <a:pt x="8" y="21"/>
                    <a:pt x="8" y="21"/>
                  </a:cubicBezTo>
                  <a:cubicBezTo>
                    <a:pt x="8" y="21"/>
                    <a:pt x="7" y="20"/>
                    <a:pt x="7" y="20"/>
                  </a:cubicBezTo>
                  <a:cubicBezTo>
                    <a:pt x="6" y="20"/>
                    <a:pt x="6" y="20"/>
                    <a:pt x="6" y="20"/>
                  </a:cubicBezTo>
                  <a:cubicBezTo>
                    <a:pt x="8" y="19"/>
                    <a:pt x="9" y="17"/>
                    <a:pt x="10" y="16"/>
                  </a:cubicBezTo>
                  <a:close/>
                  <a:moveTo>
                    <a:pt x="2" y="12"/>
                  </a:moveTo>
                  <a:cubicBezTo>
                    <a:pt x="2" y="11"/>
                    <a:pt x="2" y="11"/>
                    <a:pt x="2" y="11"/>
                  </a:cubicBezTo>
                  <a:cubicBezTo>
                    <a:pt x="1" y="9"/>
                    <a:pt x="1" y="9"/>
                    <a:pt x="1" y="9"/>
                  </a:cubicBezTo>
                  <a:cubicBezTo>
                    <a:pt x="0" y="8"/>
                    <a:pt x="0" y="8"/>
                    <a:pt x="0" y="8"/>
                  </a:cubicBezTo>
                  <a:cubicBezTo>
                    <a:pt x="2" y="7"/>
                    <a:pt x="2" y="7"/>
                    <a:pt x="2" y="7"/>
                  </a:cubicBezTo>
                  <a:cubicBezTo>
                    <a:pt x="7" y="5"/>
                    <a:pt x="7" y="5"/>
                    <a:pt x="7" y="5"/>
                  </a:cubicBezTo>
                  <a:cubicBezTo>
                    <a:pt x="6" y="5"/>
                    <a:pt x="6" y="5"/>
                    <a:pt x="5" y="4"/>
                  </a:cubicBezTo>
                  <a:cubicBezTo>
                    <a:pt x="5" y="4"/>
                    <a:pt x="6" y="4"/>
                    <a:pt x="6" y="4"/>
                  </a:cubicBezTo>
                  <a:cubicBezTo>
                    <a:pt x="6" y="4"/>
                    <a:pt x="6" y="3"/>
                    <a:pt x="7" y="3"/>
                  </a:cubicBezTo>
                  <a:cubicBezTo>
                    <a:pt x="8" y="3"/>
                    <a:pt x="8" y="3"/>
                    <a:pt x="9" y="3"/>
                  </a:cubicBezTo>
                  <a:cubicBezTo>
                    <a:pt x="9" y="3"/>
                    <a:pt x="9" y="4"/>
                    <a:pt x="9" y="4"/>
                  </a:cubicBezTo>
                  <a:cubicBezTo>
                    <a:pt x="13" y="1"/>
                    <a:pt x="13" y="1"/>
                    <a:pt x="13" y="1"/>
                  </a:cubicBezTo>
                  <a:cubicBezTo>
                    <a:pt x="15" y="0"/>
                    <a:pt x="15" y="0"/>
                    <a:pt x="15" y="0"/>
                  </a:cubicBezTo>
                  <a:cubicBezTo>
                    <a:pt x="16" y="2"/>
                    <a:pt x="16" y="2"/>
                    <a:pt x="16" y="2"/>
                  </a:cubicBezTo>
                  <a:cubicBezTo>
                    <a:pt x="17" y="3"/>
                    <a:pt x="17" y="3"/>
                    <a:pt x="17" y="3"/>
                  </a:cubicBezTo>
                  <a:cubicBezTo>
                    <a:pt x="17" y="4"/>
                    <a:pt x="17" y="4"/>
                    <a:pt x="17" y="4"/>
                  </a:cubicBezTo>
                  <a:cubicBezTo>
                    <a:pt x="15" y="5"/>
                    <a:pt x="15" y="5"/>
                    <a:pt x="15" y="5"/>
                  </a:cubicBezTo>
                  <a:cubicBezTo>
                    <a:pt x="15" y="4"/>
                    <a:pt x="15" y="4"/>
                    <a:pt x="15" y="4"/>
                  </a:cubicBezTo>
                  <a:cubicBezTo>
                    <a:pt x="14" y="3"/>
                    <a:pt x="14" y="3"/>
                    <a:pt x="14" y="3"/>
                  </a:cubicBezTo>
                  <a:cubicBezTo>
                    <a:pt x="3" y="9"/>
                    <a:pt x="3" y="9"/>
                    <a:pt x="3" y="9"/>
                  </a:cubicBezTo>
                  <a:cubicBezTo>
                    <a:pt x="4" y="10"/>
                    <a:pt x="4" y="10"/>
                    <a:pt x="4" y="10"/>
                  </a:cubicBezTo>
                  <a:cubicBezTo>
                    <a:pt x="4" y="11"/>
                    <a:pt x="4" y="11"/>
                    <a:pt x="4" y="11"/>
                  </a:cubicBezTo>
                  <a:lnTo>
                    <a:pt x="2" y="12"/>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 name="Freeform 14"/>
            <p:cNvSpPr>
              <a:spLocks noEditPoints="1"/>
            </p:cNvSpPr>
            <p:nvPr/>
          </p:nvSpPr>
          <p:spPr bwMode="auto">
            <a:xfrm>
              <a:off x="777" y="310"/>
              <a:ext cx="74" cy="72"/>
            </a:xfrm>
            <a:custGeom>
              <a:avLst/>
              <a:gdLst>
                <a:gd name="T0" fmla="*/ 3 w 19"/>
                <a:gd name="T1" fmla="*/ 6 h 18"/>
                <a:gd name="T2" fmla="*/ 6 w 19"/>
                <a:gd name="T3" fmla="*/ 5 h 18"/>
                <a:gd name="T4" fmla="*/ 7 w 19"/>
                <a:gd name="T5" fmla="*/ 7 h 18"/>
                <a:gd name="T6" fmla="*/ 3 w 19"/>
                <a:gd name="T7" fmla="*/ 8 h 18"/>
                <a:gd name="T8" fmla="*/ 3 w 19"/>
                <a:gd name="T9" fmla="*/ 6 h 18"/>
                <a:gd name="T10" fmla="*/ 1 w 19"/>
                <a:gd name="T11" fmla="*/ 5 h 18"/>
                <a:gd name="T12" fmla="*/ 2 w 19"/>
                <a:gd name="T13" fmla="*/ 12 h 18"/>
                <a:gd name="T14" fmla="*/ 2 w 19"/>
                <a:gd name="T15" fmla="*/ 14 h 18"/>
                <a:gd name="T16" fmla="*/ 4 w 19"/>
                <a:gd name="T17" fmla="*/ 14 h 18"/>
                <a:gd name="T18" fmla="*/ 4 w 19"/>
                <a:gd name="T19" fmla="*/ 14 h 18"/>
                <a:gd name="T20" fmla="*/ 8 w 19"/>
                <a:gd name="T21" fmla="*/ 13 h 18"/>
                <a:gd name="T22" fmla="*/ 8 w 19"/>
                <a:gd name="T23" fmla="*/ 16 h 18"/>
                <a:gd name="T24" fmla="*/ 8 w 19"/>
                <a:gd name="T25" fmla="*/ 17 h 18"/>
                <a:gd name="T26" fmla="*/ 9 w 19"/>
                <a:gd name="T27" fmla="*/ 17 h 18"/>
                <a:gd name="T28" fmla="*/ 11 w 19"/>
                <a:gd name="T29" fmla="*/ 17 h 18"/>
                <a:gd name="T30" fmla="*/ 14 w 19"/>
                <a:gd name="T31" fmla="*/ 17 h 18"/>
                <a:gd name="T32" fmla="*/ 16 w 19"/>
                <a:gd name="T33" fmla="*/ 17 h 18"/>
                <a:gd name="T34" fmla="*/ 17 w 19"/>
                <a:gd name="T35" fmla="*/ 16 h 18"/>
                <a:gd name="T36" fmla="*/ 18 w 19"/>
                <a:gd name="T37" fmla="*/ 16 h 18"/>
                <a:gd name="T38" fmla="*/ 19 w 19"/>
                <a:gd name="T39" fmla="*/ 13 h 18"/>
                <a:gd name="T40" fmla="*/ 16 w 19"/>
                <a:gd name="T41" fmla="*/ 12 h 18"/>
                <a:gd name="T42" fmla="*/ 16 w 19"/>
                <a:gd name="T43" fmla="*/ 13 h 18"/>
                <a:gd name="T44" fmla="*/ 16 w 19"/>
                <a:gd name="T45" fmla="*/ 14 h 18"/>
                <a:gd name="T46" fmla="*/ 15 w 19"/>
                <a:gd name="T47" fmla="*/ 15 h 18"/>
                <a:gd name="T48" fmla="*/ 13 w 19"/>
                <a:gd name="T49" fmla="*/ 15 h 18"/>
                <a:gd name="T50" fmla="*/ 11 w 19"/>
                <a:gd name="T51" fmla="*/ 15 h 18"/>
                <a:gd name="T52" fmla="*/ 10 w 19"/>
                <a:gd name="T53" fmla="*/ 15 h 18"/>
                <a:gd name="T54" fmla="*/ 10 w 19"/>
                <a:gd name="T55" fmla="*/ 15 h 18"/>
                <a:gd name="T56" fmla="*/ 10 w 19"/>
                <a:gd name="T57" fmla="*/ 13 h 18"/>
                <a:gd name="T58" fmla="*/ 14 w 19"/>
                <a:gd name="T59" fmla="*/ 12 h 18"/>
                <a:gd name="T60" fmla="*/ 14 w 19"/>
                <a:gd name="T61" fmla="*/ 13 h 18"/>
                <a:gd name="T62" fmla="*/ 16 w 19"/>
                <a:gd name="T63" fmla="*/ 12 h 18"/>
                <a:gd name="T64" fmla="*/ 16 w 19"/>
                <a:gd name="T65" fmla="*/ 10 h 18"/>
                <a:gd name="T66" fmla="*/ 15 w 19"/>
                <a:gd name="T67" fmla="*/ 3 h 18"/>
                <a:gd name="T68" fmla="*/ 15 w 19"/>
                <a:gd name="T69" fmla="*/ 2 h 18"/>
                <a:gd name="T70" fmla="*/ 13 w 19"/>
                <a:gd name="T71" fmla="*/ 2 h 18"/>
                <a:gd name="T72" fmla="*/ 8 w 19"/>
                <a:gd name="T73" fmla="*/ 3 h 18"/>
                <a:gd name="T74" fmla="*/ 8 w 19"/>
                <a:gd name="T75" fmla="*/ 2 h 18"/>
                <a:gd name="T76" fmla="*/ 8 w 19"/>
                <a:gd name="T77" fmla="*/ 0 h 18"/>
                <a:gd name="T78" fmla="*/ 6 w 19"/>
                <a:gd name="T79" fmla="*/ 1 h 18"/>
                <a:gd name="T80" fmla="*/ 6 w 19"/>
                <a:gd name="T81" fmla="*/ 2 h 18"/>
                <a:gd name="T82" fmla="*/ 6 w 19"/>
                <a:gd name="T83" fmla="*/ 3 h 18"/>
                <a:gd name="T84" fmla="*/ 2 w 19"/>
                <a:gd name="T85" fmla="*/ 4 h 18"/>
                <a:gd name="T86" fmla="*/ 0 w 19"/>
                <a:gd name="T87" fmla="*/ 4 h 18"/>
                <a:gd name="T88" fmla="*/ 1 w 19"/>
                <a:gd name="T89" fmla="*/ 5 h 18"/>
                <a:gd name="T90" fmla="*/ 3 w 19"/>
                <a:gd name="T91" fmla="*/ 10 h 18"/>
                <a:gd name="T92" fmla="*/ 7 w 19"/>
                <a:gd name="T93" fmla="*/ 9 h 18"/>
                <a:gd name="T94" fmla="*/ 7 w 19"/>
                <a:gd name="T95" fmla="*/ 11 h 18"/>
                <a:gd name="T96" fmla="*/ 4 w 19"/>
                <a:gd name="T97" fmla="*/ 12 h 18"/>
                <a:gd name="T98" fmla="*/ 3 w 19"/>
                <a:gd name="T99" fmla="*/ 10 h 18"/>
                <a:gd name="T100" fmla="*/ 9 w 19"/>
                <a:gd name="T101" fmla="*/ 5 h 18"/>
                <a:gd name="T102" fmla="*/ 13 w 19"/>
                <a:gd name="T103" fmla="*/ 4 h 18"/>
                <a:gd name="T104" fmla="*/ 13 w 19"/>
                <a:gd name="T105" fmla="*/ 6 h 18"/>
                <a:gd name="T106" fmla="*/ 9 w 19"/>
                <a:gd name="T107" fmla="*/ 7 h 18"/>
                <a:gd name="T108" fmla="*/ 9 w 19"/>
                <a:gd name="T109" fmla="*/ 5 h 18"/>
                <a:gd name="T110" fmla="*/ 9 w 19"/>
                <a:gd name="T111" fmla="*/ 9 h 18"/>
                <a:gd name="T112" fmla="*/ 13 w 19"/>
                <a:gd name="T113" fmla="*/ 8 h 18"/>
                <a:gd name="T114" fmla="*/ 14 w 19"/>
                <a:gd name="T115" fmla="*/ 10 h 18"/>
                <a:gd name="T116" fmla="*/ 10 w 19"/>
                <a:gd name="T117" fmla="*/ 11 h 18"/>
                <a:gd name="T118" fmla="*/ 9 w 19"/>
                <a:gd name="T119"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 h="18">
                  <a:moveTo>
                    <a:pt x="3" y="6"/>
                  </a:moveTo>
                  <a:cubicBezTo>
                    <a:pt x="6" y="5"/>
                    <a:pt x="6" y="5"/>
                    <a:pt x="6" y="5"/>
                  </a:cubicBezTo>
                  <a:cubicBezTo>
                    <a:pt x="7" y="7"/>
                    <a:pt x="7" y="7"/>
                    <a:pt x="7" y="7"/>
                  </a:cubicBezTo>
                  <a:cubicBezTo>
                    <a:pt x="3" y="8"/>
                    <a:pt x="3" y="8"/>
                    <a:pt x="3" y="8"/>
                  </a:cubicBezTo>
                  <a:lnTo>
                    <a:pt x="3" y="6"/>
                  </a:lnTo>
                  <a:close/>
                  <a:moveTo>
                    <a:pt x="1" y="5"/>
                  </a:moveTo>
                  <a:cubicBezTo>
                    <a:pt x="2" y="12"/>
                    <a:pt x="2" y="12"/>
                    <a:pt x="2" y="12"/>
                  </a:cubicBezTo>
                  <a:cubicBezTo>
                    <a:pt x="2" y="14"/>
                    <a:pt x="2" y="14"/>
                    <a:pt x="2" y="14"/>
                  </a:cubicBezTo>
                  <a:cubicBezTo>
                    <a:pt x="4" y="14"/>
                    <a:pt x="4" y="14"/>
                    <a:pt x="4" y="14"/>
                  </a:cubicBezTo>
                  <a:cubicBezTo>
                    <a:pt x="4" y="14"/>
                    <a:pt x="4" y="14"/>
                    <a:pt x="4" y="14"/>
                  </a:cubicBezTo>
                  <a:cubicBezTo>
                    <a:pt x="8" y="13"/>
                    <a:pt x="8" y="13"/>
                    <a:pt x="8" y="13"/>
                  </a:cubicBezTo>
                  <a:cubicBezTo>
                    <a:pt x="8" y="16"/>
                    <a:pt x="8" y="16"/>
                    <a:pt x="8" y="16"/>
                  </a:cubicBezTo>
                  <a:cubicBezTo>
                    <a:pt x="8" y="16"/>
                    <a:pt x="8" y="17"/>
                    <a:pt x="8" y="17"/>
                  </a:cubicBezTo>
                  <a:cubicBezTo>
                    <a:pt x="8" y="17"/>
                    <a:pt x="9" y="17"/>
                    <a:pt x="9" y="17"/>
                  </a:cubicBezTo>
                  <a:cubicBezTo>
                    <a:pt x="10" y="18"/>
                    <a:pt x="10" y="18"/>
                    <a:pt x="11" y="17"/>
                  </a:cubicBezTo>
                  <a:cubicBezTo>
                    <a:pt x="11" y="17"/>
                    <a:pt x="12" y="17"/>
                    <a:pt x="14" y="17"/>
                  </a:cubicBezTo>
                  <a:cubicBezTo>
                    <a:pt x="15" y="17"/>
                    <a:pt x="16" y="17"/>
                    <a:pt x="16" y="17"/>
                  </a:cubicBezTo>
                  <a:cubicBezTo>
                    <a:pt x="17" y="17"/>
                    <a:pt x="17" y="16"/>
                    <a:pt x="17" y="16"/>
                  </a:cubicBezTo>
                  <a:cubicBezTo>
                    <a:pt x="18" y="16"/>
                    <a:pt x="18" y="16"/>
                    <a:pt x="18" y="16"/>
                  </a:cubicBezTo>
                  <a:cubicBezTo>
                    <a:pt x="18" y="15"/>
                    <a:pt x="18" y="15"/>
                    <a:pt x="19" y="13"/>
                  </a:cubicBezTo>
                  <a:cubicBezTo>
                    <a:pt x="18" y="13"/>
                    <a:pt x="17" y="13"/>
                    <a:pt x="16" y="12"/>
                  </a:cubicBezTo>
                  <a:cubicBezTo>
                    <a:pt x="16" y="13"/>
                    <a:pt x="16" y="13"/>
                    <a:pt x="16" y="13"/>
                  </a:cubicBezTo>
                  <a:cubicBezTo>
                    <a:pt x="16" y="14"/>
                    <a:pt x="16" y="14"/>
                    <a:pt x="16" y="14"/>
                  </a:cubicBezTo>
                  <a:cubicBezTo>
                    <a:pt x="16" y="14"/>
                    <a:pt x="15" y="15"/>
                    <a:pt x="15" y="15"/>
                  </a:cubicBezTo>
                  <a:cubicBezTo>
                    <a:pt x="15" y="15"/>
                    <a:pt x="14" y="15"/>
                    <a:pt x="13" y="15"/>
                  </a:cubicBezTo>
                  <a:cubicBezTo>
                    <a:pt x="11" y="15"/>
                    <a:pt x="11" y="15"/>
                    <a:pt x="11" y="15"/>
                  </a:cubicBezTo>
                  <a:cubicBezTo>
                    <a:pt x="11" y="15"/>
                    <a:pt x="11" y="15"/>
                    <a:pt x="10" y="15"/>
                  </a:cubicBezTo>
                  <a:cubicBezTo>
                    <a:pt x="10" y="15"/>
                    <a:pt x="10" y="15"/>
                    <a:pt x="10" y="15"/>
                  </a:cubicBezTo>
                  <a:cubicBezTo>
                    <a:pt x="10" y="13"/>
                    <a:pt x="10" y="13"/>
                    <a:pt x="10" y="13"/>
                  </a:cubicBezTo>
                  <a:cubicBezTo>
                    <a:pt x="14" y="12"/>
                    <a:pt x="14" y="12"/>
                    <a:pt x="14" y="12"/>
                  </a:cubicBezTo>
                  <a:cubicBezTo>
                    <a:pt x="14" y="13"/>
                    <a:pt x="14" y="13"/>
                    <a:pt x="14" y="13"/>
                  </a:cubicBezTo>
                  <a:cubicBezTo>
                    <a:pt x="16" y="12"/>
                    <a:pt x="16" y="12"/>
                    <a:pt x="16" y="12"/>
                  </a:cubicBezTo>
                  <a:cubicBezTo>
                    <a:pt x="16" y="10"/>
                    <a:pt x="16" y="10"/>
                    <a:pt x="16" y="10"/>
                  </a:cubicBezTo>
                  <a:cubicBezTo>
                    <a:pt x="15" y="3"/>
                    <a:pt x="15" y="3"/>
                    <a:pt x="15" y="3"/>
                  </a:cubicBezTo>
                  <a:cubicBezTo>
                    <a:pt x="15" y="2"/>
                    <a:pt x="15" y="2"/>
                    <a:pt x="15" y="2"/>
                  </a:cubicBezTo>
                  <a:cubicBezTo>
                    <a:pt x="13" y="2"/>
                    <a:pt x="13" y="2"/>
                    <a:pt x="13" y="2"/>
                  </a:cubicBezTo>
                  <a:cubicBezTo>
                    <a:pt x="8" y="3"/>
                    <a:pt x="8" y="3"/>
                    <a:pt x="8" y="3"/>
                  </a:cubicBezTo>
                  <a:cubicBezTo>
                    <a:pt x="8" y="2"/>
                    <a:pt x="8" y="2"/>
                    <a:pt x="8" y="2"/>
                  </a:cubicBezTo>
                  <a:cubicBezTo>
                    <a:pt x="8" y="0"/>
                    <a:pt x="8" y="0"/>
                    <a:pt x="8" y="0"/>
                  </a:cubicBezTo>
                  <a:cubicBezTo>
                    <a:pt x="6" y="1"/>
                    <a:pt x="6" y="1"/>
                    <a:pt x="6" y="1"/>
                  </a:cubicBezTo>
                  <a:cubicBezTo>
                    <a:pt x="6" y="2"/>
                    <a:pt x="6" y="2"/>
                    <a:pt x="6" y="2"/>
                  </a:cubicBezTo>
                  <a:cubicBezTo>
                    <a:pt x="6" y="3"/>
                    <a:pt x="6" y="3"/>
                    <a:pt x="6" y="3"/>
                  </a:cubicBezTo>
                  <a:cubicBezTo>
                    <a:pt x="2" y="4"/>
                    <a:pt x="2" y="4"/>
                    <a:pt x="2" y="4"/>
                  </a:cubicBezTo>
                  <a:cubicBezTo>
                    <a:pt x="0" y="4"/>
                    <a:pt x="0" y="4"/>
                    <a:pt x="0" y="4"/>
                  </a:cubicBezTo>
                  <a:lnTo>
                    <a:pt x="1" y="5"/>
                  </a:lnTo>
                  <a:close/>
                  <a:moveTo>
                    <a:pt x="3" y="10"/>
                  </a:moveTo>
                  <a:cubicBezTo>
                    <a:pt x="7" y="9"/>
                    <a:pt x="7" y="9"/>
                    <a:pt x="7" y="9"/>
                  </a:cubicBezTo>
                  <a:cubicBezTo>
                    <a:pt x="7" y="11"/>
                    <a:pt x="7" y="11"/>
                    <a:pt x="7" y="11"/>
                  </a:cubicBezTo>
                  <a:cubicBezTo>
                    <a:pt x="4" y="12"/>
                    <a:pt x="4" y="12"/>
                    <a:pt x="4" y="12"/>
                  </a:cubicBezTo>
                  <a:lnTo>
                    <a:pt x="3" y="10"/>
                  </a:lnTo>
                  <a:close/>
                  <a:moveTo>
                    <a:pt x="9" y="5"/>
                  </a:moveTo>
                  <a:cubicBezTo>
                    <a:pt x="13" y="4"/>
                    <a:pt x="13" y="4"/>
                    <a:pt x="13" y="4"/>
                  </a:cubicBezTo>
                  <a:cubicBezTo>
                    <a:pt x="13" y="6"/>
                    <a:pt x="13" y="6"/>
                    <a:pt x="13" y="6"/>
                  </a:cubicBezTo>
                  <a:cubicBezTo>
                    <a:pt x="9" y="7"/>
                    <a:pt x="9" y="7"/>
                    <a:pt x="9" y="7"/>
                  </a:cubicBezTo>
                  <a:lnTo>
                    <a:pt x="9" y="5"/>
                  </a:lnTo>
                  <a:close/>
                  <a:moveTo>
                    <a:pt x="9" y="9"/>
                  </a:moveTo>
                  <a:cubicBezTo>
                    <a:pt x="13" y="8"/>
                    <a:pt x="13" y="8"/>
                    <a:pt x="13" y="8"/>
                  </a:cubicBezTo>
                  <a:cubicBezTo>
                    <a:pt x="14" y="10"/>
                    <a:pt x="14" y="10"/>
                    <a:pt x="14" y="10"/>
                  </a:cubicBezTo>
                  <a:cubicBezTo>
                    <a:pt x="10" y="11"/>
                    <a:pt x="10" y="11"/>
                    <a:pt x="10" y="11"/>
                  </a:cubicBezTo>
                  <a:lnTo>
                    <a:pt x="9" y="9"/>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 name="Freeform 15"/>
            <p:cNvSpPr>
              <a:spLocks noEditPoints="1"/>
            </p:cNvSpPr>
            <p:nvPr/>
          </p:nvSpPr>
          <p:spPr bwMode="auto">
            <a:xfrm>
              <a:off x="884" y="310"/>
              <a:ext cx="69" cy="72"/>
            </a:xfrm>
            <a:custGeom>
              <a:avLst/>
              <a:gdLst>
                <a:gd name="T0" fmla="*/ 5 w 18"/>
                <a:gd name="T1" fmla="*/ 6 h 18"/>
                <a:gd name="T2" fmla="*/ 5 w 18"/>
                <a:gd name="T3" fmla="*/ 10 h 18"/>
                <a:gd name="T4" fmla="*/ 4 w 18"/>
                <a:gd name="T5" fmla="*/ 6 h 18"/>
                <a:gd name="T6" fmla="*/ 3 w 18"/>
                <a:gd name="T7" fmla="*/ 14 h 18"/>
                <a:gd name="T8" fmla="*/ 4 w 18"/>
                <a:gd name="T9" fmla="*/ 13 h 18"/>
                <a:gd name="T10" fmla="*/ 6 w 18"/>
                <a:gd name="T11" fmla="*/ 12 h 18"/>
                <a:gd name="T12" fmla="*/ 7 w 18"/>
                <a:gd name="T13" fmla="*/ 12 h 18"/>
                <a:gd name="T14" fmla="*/ 7 w 18"/>
                <a:gd name="T15" fmla="*/ 12 h 18"/>
                <a:gd name="T16" fmla="*/ 8 w 18"/>
                <a:gd name="T17" fmla="*/ 9 h 18"/>
                <a:gd name="T18" fmla="*/ 9 w 18"/>
                <a:gd name="T19" fmla="*/ 7 h 18"/>
                <a:gd name="T20" fmla="*/ 10 w 18"/>
                <a:gd name="T21" fmla="*/ 10 h 18"/>
                <a:gd name="T22" fmla="*/ 9 w 18"/>
                <a:gd name="T23" fmla="*/ 12 h 18"/>
                <a:gd name="T24" fmla="*/ 8 w 18"/>
                <a:gd name="T25" fmla="*/ 14 h 18"/>
                <a:gd name="T26" fmla="*/ 10 w 18"/>
                <a:gd name="T27" fmla="*/ 14 h 18"/>
                <a:gd name="T28" fmla="*/ 12 w 18"/>
                <a:gd name="T29" fmla="*/ 13 h 18"/>
                <a:gd name="T30" fmla="*/ 14 w 18"/>
                <a:gd name="T31" fmla="*/ 13 h 18"/>
                <a:gd name="T32" fmla="*/ 13 w 18"/>
                <a:gd name="T33" fmla="*/ 10 h 18"/>
                <a:gd name="T34" fmla="*/ 14 w 18"/>
                <a:gd name="T35" fmla="*/ 7 h 18"/>
                <a:gd name="T36" fmla="*/ 14 w 18"/>
                <a:gd name="T37" fmla="*/ 6 h 18"/>
                <a:gd name="T38" fmla="*/ 12 w 18"/>
                <a:gd name="T39" fmla="*/ 5 h 18"/>
                <a:gd name="T40" fmla="*/ 11 w 18"/>
                <a:gd name="T41" fmla="*/ 6 h 18"/>
                <a:gd name="T42" fmla="*/ 9 w 18"/>
                <a:gd name="T43" fmla="*/ 7 h 18"/>
                <a:gd name="T44" fmla="*/ 10 w 18"/>
                <a:gd name="T45" fmla="*/ 5 h 18"/>
                <a:gd name="T46" fmla="*/ 8 w 18"/>
                <a:gd name="T47" fmla="*/ 4 h 18"/>
                <a:gd name="T48" fmla="*/ 7 w 18"/>
                <a:gd name="T49" fmla="*/ 5 h 18"/>
                <a:gd name="T50" fmla="*/ 6 w 18"/>
                <a:gd name="T51" fmla="*/ 5 h 18"/>
                <a:gd name="T52" fmla="*/ 4 w 18"/>
                <a:gd name="T53" fmla="*/ 5 h 18"/>
                <a:gd name="T54" fmla="*/ 15 w 18"/>
                <a:gd name="T55" fmla="*/ 5 h 18"/>
                <a:gd name="T56" fmla="*/ 13 w 18"/>
                <a:gd name="T57" fmla="*/ 16 h 18"/>
                <a:gd name="T58" fmla="*/ 11 w 18"/>
                <a:gd name="T59" fmla="*/ 16 h 18"/>
                <a:gd name="T60" fmla="*/ 12 w 18"/>
                <a:gd name="T61" fmla="*/ 18 h 18"/>
                <a:gd name="T62" fmla="*/ 14 w 18"/>
                <a:gd name="T63" fmla="*/ 18 h 18"/>
                <a:gd name="T64" fmla="*/ 16 w 18"/>
                <a:gd name="T65" fmla="*/ 17 h 18"/>
                <a:gd name="T66" fmla="*/ 18 w 18"/>
                <a:gd name="T67" fmla="*/ 3 h 18"/>
                <a:gd name="T68" fmla="*/ 5 w 18"/>
                <a:gd name="T69" fmla="*/ 1 h 18"/>
                <a:gd name="T70" fmla="*/ 3 w 18"/>
                <a:gd name="T71" fmla="*/ 3 h 18"/>
                <a:gd name="T72" fmla="*/ 0 w 18"/>
                <a:gd name="T73"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 h="18">
                  <a:moveTo>
                    <a:pt x="4" y="6"/>
                  </a:moveTo>
                  <a:cubicBezTo>
                    <a:pt x="5" y="6"/>
                    <a:pt x="5" y="6"/>
                    <a:pt x="5" y="6"/>
                  </a:cubicBezTo>
                  <a:cubicBezTo>
                    <a:pt x="5" y="7"/>
                    <a:pt x="5" y="7"/>
                    <a:pt x="6" y="9"/>
                  </a:cubicBezTo>
                  <a:cubicBezTo>
                    <a:pt x="5" y="9"/>
                    <a:pt x="5" y="10"/>
                    <a:pt x="5" y="10"/>
                  </a:cubicBezTo>
                  <a:cubicBezTo>
                    <a:pt x="4" y="11"/>
                    <a:pt x="4" y="11"/>
                    <a:pt x="3" y="11"/>
                  </a:cubicBezTo>
                  <a:lnTo>
                    <a:pt x="4" y="6"/>
                  </a:lnTo>
                  <a:close/>
                  <a:moveTo>
                    <a:pt x="3" y="16"/>
                  </a:moveTo>
                  <a:cubicBezTo>
                    <a:pt x="3" y="14"/>
                    <a:pt x="3" y="14"/>
                    <a:pt x="3" y="14"/>
                  </a:cubicBezTo>
                  <a:cubicBezTo>
                    <a:pt x="3" y="12"/>
                    <a:pt x="3" y="12"/>
                    <a:pt x="3" y="12"/>
                  </a:cubicBezTo>
                  <a:cubicBezTo>
                    <a:pt x="4" y="12"/>
                    <a:pt x="4" y="13"/>
                    <a:pt x="4" y="13"/>
                  </a:cubicBezTo>
                  <a:cubicBezTo>
                    <a:pt x="4" y="13"/>
                    <a:pt x="4" y="13"/>
                    <a:pt x="4" y="13"/>
                  </a:cubicBezTo>
                  <a:cubicBezTo>
                    <a:pt x="5" y="13"/>
                    <a:pt x="6" y="12"/>
                    <a:pt x="6" y="12"/>
                  </a:cubicBezTo>
                  <a:cubicBezTo>
                    <a:pt x="6" y="12"/>
                    <a:pt x="6" y="11"/>
                    <a:pt x="7" y="11"/>
                  </a:cubicBezTo>
                  <a:cubicBezTo>
                    <a:pt x="7" y="12"/>
                    <a:pt x="7" y="12"/>
                    <a:pt x="7" y="12"/>
                  </a:cubicBezTo>
                  <a:cubicBezTo>
                    <a:pt x="7" y="12"/>
                    <a:pt x="7" y="12"/>
                    <a:pt x="7" y="12"/>
                  </a:cubicBezTo>
                  <a:cubicBezTo>
                    <a:pt x="7" y="12"/>
                    <a:pt x="7" y="12"/>
                    <a:pt x="7" y="12"/>
                  </a:cubicBezTo>
                  <a:cubicBezTo>
                    <a:pt x="8" y="12"/>
                    <a:pt x="8" y="12"/>
                    <a:pt x="9" y="11"/>
                  </a:cubicBezTo>
                  <a:cubicBezTo>
                    <a:pt x="9" y="11"/>
                    <a:pt x="8" y="10"/>
                    <a:pt x="8" y="9"/>
                  </a:cubicBezTo>
                  <a:cubicBezTo>
                    <a:pt x="8" y="8"/>
                    <a:pt x="8" y="8"/>
                    <a:pt x="8" y="8"/>
                  </a:cubicBezTo>
                  <a:cubicBezTo>
                    <a:pt x="8" y="8"/>
                    <a:pt x="9" y="7"/>
                    <a:pt x="9" y="7"/>
                  </a:cubicBezTo>
                  <a:cubicBezTo>
                    <a:pt x="9" y="8"/>
                    <a:pt x="10" y="8"/>
                    <a:pt x="10" y="8"/>
                  </a:cubicBezTo>
                  <a:cubicBezTo>
                    <a:pt x="10" y="9"/>
                    <a:pt x="10" y="9"/>
                    <a:pt x="10" y="10"/>
                  </a:cubicBezTo>
                  <a:cubicBezTo>
                    <a:pt x="10" y="11"/>
                    <a:pt x="10" y="11"/>
                    <a:pt x="10" y="11"/>
                  </a:cubicBezTo>
                  <a:cubicBezTo>
                    <a:pt x="10" y="11"/>
                    <a:pt x="9" y="12"/>
                    <a:pt x="9" y="12"/>
                  </a:cubicBezTo>
                  <a:cubicBezTo>
                    <a:pt x="8" y="12"/>
                    <a:pt x="8" y="13"/>
                    <a:pt x="7" y="13"/>
                  </a:cubicBezTo>
                  <a:cubicBezTo>
                    <a:pt x="8" y="14"/>
                    <a:pt x="8" y="14"/>
                    <a:pt x="8" y="14"/>
                  </a:cubicBezTo>
                  <a:cubicBezTo>
                    <a:pt x="8" y="15"/>
                    <a:pt x="8" y="15"/>
                    <a:pt x="9" y="15"/>
                  </a:cubicBezTo>
                  <a:cubicBezTo>
                    <a:pt x="9" y="15"/>
                    <a:pt x="9" y="14"/>
                    <a:pt x="10" y="14"/>
                  </a:cubicBezTo>
                  <a:cubicBezTo>
                    <a:pt x="10" y="14"/>
                    <a:pt x="10" y="13"/>
                    <a:pt x="11" y="12"/>
                  </a:cubicBezTo>
                  <a:cubicBezTo>
                    <a:pt x="12" y="13"/>
                    <a:pt x="12" y="13"/>
                    <a:pt x="12" y="13"/>
                  </a:cubicBezTo>
                  <a:cubicBezTo>
                    <a:pt x="12" y="13"/>
                    <a:pt x="12" y="14"/>
                    <a:pt x="12" y="14"/>
                  </a:cubicBezTo>
                  <a:cubicBezTo>
                    <a:pt x="13" y="14"/>
                    <a:pt x="13" y="13"/>
                    <a:pt x="14" y="13"/>
                  </a:cubicBezTo>
                  <a:cubicBezTo>
                    <a:pt x="14" y="12"/>
                    <a:pt x="14" y="12"/>
                    <a:pt x="14" y="12"/>
                  </a:cubicBezTo>
                  <a:cubicBezTo>
                    <a:pt x="14" y="12"/>
                    <a:pt x="13" y="12"/>
                    <a:pt x="13" y="10"/>
                  </a:cubicBezTo>
                  <a:cubicBezTo>
                    <a:pt x="13" y="9"/>
                    <a:pt x="13" y="9"/>
                    <a:pt x="13" y="9"/>
                  </a:cubicBezTo>
                  <a:cubicBezTo>
                    <a:pt x="13" y="8"/>
                    <a:pt x="13" y="8"/>
                    <a:pt x="14" y="7"/>
                  </a:cubicBezTo>
                  <a:cubicBezTo>
                    <a:pt x="14" y="6"/>
                    <a:pt x="14" y="6"/>
                    <a:pt x="14" y="6"/>
                  </a:cubicBezTo>
                  <a:cubicBezTo>
                    <a:pt x="14" y="6"/>
                    <a:pt x="14" y="6"/>
                    <a:pt x="14" y="6"/>
                  </a:cubicBezTo>
                  <a:cubicBezTo>
                    <a:pt x="14" y="5"/>
                    <a:pt x="13" y="5"/>
                    <a:pt x="12" y="5"/>
                  </a:cubicBezTo>
                  <a:cubicBezTo>
                    <a:pt x="12" y="5"/>
                    <a:pt x="12" y="5"/>
                    <a:pt x="12" y="5"/>
                  </a:cubicBezTo>
                  <a:cubicBezTo>
                    <a:pt x="12" y="6"/>
                    <a:pt x="12" y="6"/>
                    <a:pt x="11" y="7"/>
                  </a:cubicBezTo>
                  <a:cubicBezTo>
                    <a:pt x="11" y="7"/>
                    <a:pt x="11" y="6"/>
                    <a:pt x="11" y="6"/>
                  </a:cubicBezTo>
                  <a:cubicBezTo>
                    <a:pt x="10" y="6"/>
                    <a:pt x="10" y="6"/>
                    <a:pt x="10" y="6"/>
                  </a:cubicBezTo>
                  <a:cubicBezTo>
                    <a:pt x="10" y="6"/>
                    <a:pt x="10" y="6"/>
                    <a:pt x="9" y="7"/>
                  </a:cubicBezTo>
                  <a:cubicBezTo>
                    <a:pt x="9" y="6"/>
                    <a:pt x="9" y="6"/>
                    <a:pt x="9" y="6"/>
                  </a:cubicBezTo>
                  <a:cubicBezTo>
                    <a:pt x="9" y="6"/>
                    <a:pt x="9" y="6"/>
                    <a:pt x="10" y="5"/>
                  </a:cubicBezTo>
                  <a:cubicBezTo>
                    <a:pt x="10" y="5"/>
                    <a:pt x="10" y="5"/>
                    <a:pt x="10" y="5"/>
                  </a:cubicBezTo>
                  <a:cubicBezTo>
                    <a:pt x="9" y="4"/>
                    <a:pt x="8" y="4"/>
                    <a:pt x="8" y="4"/>
                  </a:cubicBezTo>
                  <a:cubicBezTo>
                    <a:pt x="7" y="4"/>
                    <a:pt x="7" y="4"/>
                    <a:pt x="7" y="4"/>
                  </a:cubicBezTo>
                  <a:cubicBezTo>
                    <a:pt x="7" y="5"/>
                    <a:pt x="7" y="5"/>
                    <a:pt x="7" y="5"/>
                  </a:cubicBezTo>
                  <a:cubicBezTo>
                    <a:pt x="7" y="6"/>
                    <a:pt x="7" y="6"/>
                    <a:pt x="7" y="6"/>
                  </a:cubicBezTo>
                  <a:cubicBezTo>
                    <a:pt x="7" y="6"/>
                    <a:pt x="6" y="5"/>
                    <a:pt x="6" y="5"/>
                  </a:cubicBezTo>
                  <a:cubicBezTo>
                    <a:pt x="6" y="5"/>
                    <a:pt x="5" y="5"/>
                    <a:pt x="5" y="5"/>
                  </a:cubicBezTo>
                  <a:cubicBezTo>
                    <a:pt x="5" y="5"/>
                    <a:pt x="5" y="5"/>
                    <a:pt x="4" y="5"/>
                  </a:cubicBezTo>
                  <a:cubicBezTo>
                    <a:pt x="5" y="3"/>
                    <a:pt x="5" y="3"/>
                    <a:pt x="5" y="3"/>
                  </a:cubicBezTo>
                  <a:cubicBezTo>
                    <a:pt x="15" y="5"/>
                    <a:pt x="15" y="5"/>
                    <a:pt x="15" y="5"/>
                  </a:cubicBezTo>
                  <a:cubicBezTo>
                    <a:pt x="13" y="15"/>
                    <a:pt x="13" y="15"/>
                    <a:pt x="13" y="15"/>
                  </a:cubicBezTo>
                  <a:cubicBezTo>
                    <a:pt x="13" y="16"/>
                    <a:pt x="13" y="16"/>
                    <a:pt x="13" y="16"/>
                  </a:cubicBezTo>
                  <a:cubicBezTo>
                    <a:pt x="13" y="16"/>
                    <a:pt x="13" y="16"/>
                    <a:pt x="12" y="16"/>
                  </a:cubicBezTo>
                  <a:cubicBezTo>
                    <a:pt x="12" y="16"/>
                    <a:pt x="12" y="16"/>
                    <a:pt x="11" y="16"/>
                  </a:cubicBezTo>
                  <a:cubicBezTo>
                    <a:pt x="11" y="16"/>
                    <a:pt x="11" y="16"/>
                    <a:pt x="11" y="16"/>
                  </a:cubicBezTo>
                  <a:cubicBezTo>
                    <a:pt x="12" y="17"/>
                    <a:pt x="12" y="17"/>
                    <a:pt x="12" y="18"/>
                  </a:cubicBezTo>
                  <a:cubicBezTo>
                    <a:pt x="12" y="18"/>
                    <a:pt x="12" y="18"/>
                    <a:pt x="12" y="18"/>
                  </a:cubicBezTo>
                  <a:cubicBezTo>
                    <a:pt x="13" y="18"/>
                    <a:pt x="14" y="18"/>
                    <a:pt x="14" y="18"/>
                  </a:cubicBezTo>
                  <a:cubicBezTo>
                    <a:pt x="15" y="18"/>
                    <a:pt x="15" y="18"/>
                    <a:pt x="15" y="18"/>
                  </a:cubicBezTo>
                  <a:cubicBezTo>
                    <a:pt x="15" y="17"/>
                    <a:pt x="15" y="17"/>
                    <a:pt x="16" y="17"/>
                  </a:cubicBezTo>
                  <a:cubicBezTo>
                    <a:pt x="18" y="5"/>
                    <a:pt x="18" y="5"/>
                    <a:pt x="18" y="5"/>
                  </a:cubicBezTo>
                  <a:cubicBezTo>
                    <a:pt x="18" y="3"/>
                    <a:pt x="18" y="3"/>
                    <a:pt x="18" y="3"/>
                  </a:cubicBezTo>
                  <a:cubicBezTo>
                    <a:pt x="16" y="3"/>
                    <a:pt x="16" y="3"/>
                    <a:pt x="16" y="3"/>
                  </a:cubicBezTo>
                  <a:cubicBezTo>
                    <a:pt x="5" y="1"/>
                    <a:pt x="5" y="1"/>
                    <a:pt x="5" y="1"/>
                  </a:cubicBezTo>
                  <a:cubicBezTo>
                    <a:pt x="3" y="0"/>
                    <a:pt x="3" y="0"/>
                    <a:pt x="3" y="0"/>
                  </a:cubicBezTo>
                  <a:cubicBezTo>
                    <a:pt x="3" y="3"/>
                    <a:pt x="3" y="3"/>
                    <a:pt x="3" y="3"/>
                  </a:cubicBezTo>
                  <a:cubicBezTo>
                    <a:pt x="1" y="13"/>
                    <a:pt x="1" y="13"/>
                    <a:pt x="1" y="13"/>
                  </a:cubicBezTo>
                  <a:cubicBezTo>
                    <a:pt x="0" y="16"/>
                    <a:pt x="0" y="16"/>
                    <a:pt x="0" y="16"/>
                  </a:cubicBezTo>
                  <a:lnTo>
                    <a:pt x="3" y="16"/>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 name="Freeform 16"/>
            <p:cNvSpPr>
              <a:spLocks noEditPoints="1"/>
            </p:cNvSpPr>
            <p:nvPr/>
          </p:nvSpPr>
          <p:spPr bwMode="auto">
            <a:xfrm>
              <a:off x="982" y="349"/>
              <a:ext cx="67" cy="72"/>
            </a:xfrm>
            <a:custGeom>
              <a:avLst/>
              <a:gdLst>
                <a:gd name="T0" fmla="*/ 2 w 17"/>
                <a:gd name="T1" fmla="*/ 6 h 18"/>
                <a:gd name="T2" fmla="*/ 2 w 17"/>
                <a:gd name="T3" fmla="*/ 3 h 18"/>
                <a:gd name="T4" fmla="*/ 2 w 17"/>
                <a:gd name="T5" fmla="*/ 3 h 18"/>
                <a:gd name="T6" fmla="*/ 4 w 17"/>
                <a:gd name="T7" fmla="*/ 3 h 18"/>
                <a:gd name="T8" fmla="*/ 7 w 17"/>
                <a:gd name="T9" fmla="*/ 2 h 18"/>
                <a:gd name="T10" fmla="*/ 10 w 17"/>
                <a:gd name="T11" fmla="*/ 0 h 18"/>
                <a:gd name="T12" fmla="*/ 10 w 17"/>
                <a:gd name="T13" fmla="*/ 0 h 18"/>
                <a:gd name="T14" fmla="*/ 12 w 17"/>
                <a:gd name="T15" fmla="*/ 2 h 18"/>
                <a:gd name="T16" fmla="*/ 9 w 17"/>
                <a:gd name="T17" fmla="*/ 3 h 18"/>
                <a:gd name="T18" fmla="*/ 6 w 17"/>
                <a:gd name="T19" fmla="*/ 5 h 18"/>
                <a:gd name="T20" fmla="*/ 2 w 17"/>
                <a:gd name="T21" fmla="*/ 6 h 18"/>
                <a:gd name="T22" fmla="*/ 2 w 17"/>
                <a:gd name="T23" fmla="*/ 9 h 18"/>
                <a:gd name="T24" fmla="*/ 3 w 17"/>
                <a:gd name="T25" fmla="*/ 9 h 18"/>
                <a:gd name="T26" fmla="*/ 5 w 17"/>
                <a:gd name="T27" fmla="*/ 8 h 18"/>
                <a:gd name="T28" fmla="*/ 7 w 17"/>
                <a:gd name="T29" fmla="*/ 7 h 18"/>
                <a:gd name="T30" fmla="*/ 9 w 17"/>
                <a:gd name="T31" fmla="*/ 6 h 18"/>
                <a:gd name="T32" fmla="*/ 9 w 17"/>
                <a:gd name="T33" fmla="*/ 6 h 18"/>
                <a:gd name="T34" fmla="*/ 11 w 17"/>
                <a:gd name="T35" fmla="*/ 8 h 18"/>
                <a:gd name="T36" fmla="*/ 10 w 17"/>
                <a:gd name="T37" fmla="*/ 9 h 18"/>
                <a:gd name="T38" fmla="*/ 8 w 17"/>
                <a:gd name="T39" fmla="*/ 9 h 18"/>
                <a:gd name="T40" fmla="*/ 6 w 17"/>
                <a:gd name="T41" fmla="*/ 10 h 18"/>
                <a:gd name="T42" fmla="*/ 4 w 17"/>
                <a:gd name="T43" fmla="*/ 11 h 18"/>
                <a:gd name="T44" fmla="*/ 10 w 17"/>
                <a:gd name="T45" fmla="*/ 14 h 18"/>
                <a:gd name="T46" fmla="*/ 10 w 17"/>
                <a:gd name="T47" fmla="*/ 12 h 18"/>
                <a:gd name="T48" fmla="*/ 9 w 17"/>
                <a:gd name="T49" fmla="*/ 11 h 18"/>
                <a:gd name="T50" fmla="*/ 11 w 17"/>
                <a:gd name="T51" fmla="*/ 11 h 18"/>
                <a:gd name="T52" fmla="*/ 12 w 17"/>
                <a:gd name="T53" fmla="*/ 11 h 18"/>
                <a:gd name="T54" fmla="*/ 13 w 17"/>
                <a:gd name="T55" fmla="*/ 18 h 18"/>
                <a:gd name="T56" fmla="*/ 11 w 17"/>
                <a:gd name="T57" fmla="*/ 18 h 18"/>
                <a:gd name="T58" fmla="*/ 10 w 17"/>
                <a:gd name="T59" fmla="*/ 18 h 18"/>
                <a:gd name="T60" fmla="*/ 10 w 17"/>
                <a:gd name="T61" fmla="*/ 18 h 18"/>
                <a:gd name="T62" fmla="*/ 10 w 17"/>
                <a:gd name="T63" fmla="*/ 16 h 18"/>
                <a:gd name="T64" fmla="*/ 5 w 17"/>
                <a:gd name="T65" fmla="*/ 14 h 18"/>
                <a:gd name="T66" fmla="*/ 2 w 17"/>
                <a:gd name="T67" fmla="*/ 13 h 18"/>
                <a:gd name="T68" fmla="*/ 0 w 17"/>
                <a:gd name="T69" fmla="*/ 12 h 18"/>
                <a:gd name="T70" fmla="*/ 0 w 17"/>
                <a:gd name="T71" fmla="*/ 10 h 18"/>
                <a:gd name="T72" fmla="*/ 0 w 17"/>
                <a:gd name="T73" fmla="*/ 10 h 18"/>
                <a:gd name="T74" fmla="*/ 2 w 17"/>
                <a:gd name="T75" fmla="*/ 9 h 18"/>
                <a:gd name="T76" fmla="*/ 14 w 17"/>
                <a:gd name="T77" fmla="*/ 1 h 18"/>
                <a:gd name="T78" fmla="*/ 16 w 17"/>
                <a:gd name="T79" fmla="*/ 3 h 18"/>
                <a:gd name="T80" fmla="*/ 16 w 17"/>
                <a:gd name="T81" fmla="*/ 3 h 18"/>
                <a:gd name="T82" fmla="*/ 15 w 17"/>
                <a:gd name="T83" fmla="*/ 4 h 18"/>
                <a:gd name="T84" fmla="*/ 15 w 17"/>
                <a:gd name="T85" fmla="*/ 6 h 18"/>
                <a:gd name="T86" fmla="*/ 15 w 17"/>
                <a:gd name="T87" fmla="*/ 8 h 18"/>
                <a:gd name="T88" fmla="*/ 16 w 17"/>
                <a:gd name="T89" fmla="*/ 9 h 18"/>
                <a:gd name="T90" fmla="*/ 16 w 17"/>
                <a:gd name="T91" fmla="*/ 10 h 18"/>
                <a:gd name="T92" fmla="*/ 17 w 17"/>
                <a:gd name="T93" fmla="*/ 11 h 18"/>
                <a:gd name="T94" fmla="*/ 17 w 17"/>
                <a:gd name="T95" fmla="*/ 12 h 18"/>
                <a:gd name="T96" fmla="*/ 15 w 17"/>
                <a:gd name="T97" fmla="*/ 13 h 18"/>
                <a:gd name="T98" fmla="*/ 13 w 17"/>
                <a:gd name="T99" fmla="*/ 10 h 18"/>
                <a:gd name="T100" fmla="*/ 13 w 17"/>
                <a:gd name="T101" fmla="*/ 7 h 18"/>
                <a:gd name="T102" fmla="*/ 13 w 17"/>
                <a:gd name="T103" fmla="*/ 5 h 18"/>
                <a:gd name="T104" fmla="*/ 13 w 17"/>
                <a:gd name="T105" fmla="*/ 3 h 18"/>
                <a:gd name="T106" fmla="*/ 14 w 17"/>
                <a:gd name="T10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 h="18">
                  <a:moveTo>
                    <a:pt x="2" y="6"/>
                  </a:moveTo>
                  <a:cubicBezTo>
                    <a:pt x="2" y="5"/>
                    <a:pt x="2" y="4"/>
                    <a:pt x="2" y="3"/>
                  </a:cubicBezTo>
                  <a:cubicBezTo>
                    <a:pt x="2" y="3"/>
                    <a:pt x="2" y="3"/>
                    <a:pt x="2" y="3"/>
                  </a:cubicBezTo>
                  <a:cubicBezTo>
                    <a:pt x="2" y="3"/>
                    <a:pt x="3" y="3"/>
                    <a:pt x="4" y="3"/>
                  </a:cubicBezTo>
                  <a:cubicBezTo>
                    <a:pt x="5" y="2"/>
                    <a:pt x="6" y="2"/>
                    <a:pt x="7" y="2"/>
                  </a:cubicBezTo>
                  <a:cubicBezTo>
                    <a:pt x="8" y="1"/>
                    <a:pt x="9" y="1"/>
                    <a:pt x="10" y="0"/>
                  </a:cubicBezTo>
                  <a:cubicBezTo>
                    <a:pt x="10" y="0"/>
                    <a:pt x="10" y="0"/>
                    <a:pt x="10" y="0"/>
                  </a:cubicBezTo>
                  <a:cubicBezTo>
                    <a:pt x="11" y="0"/>
                    <a:pt x="11" y="1"/>
                    <a:pt x="12" y="2"/>
                  </a:cubicBezTo>
                  <a:cubicBezTo>
                    <a:pt x="11" y="2"/>
                    <a:pt x="10" y="3"/>
                    <a:pt x="9" y="3"/>
                  </a:cubicBezTo>
                  <a:cubicBezTo>
                    <a:pt x="8" y="4"/>
                    <a:pt x="7" y="4"/>
                    <a:pt x="6" y="5"/>
                  </a:cubicBezTo>
                  <a:cubicBezTo>
                    <a:pt x="4" y="5"/>
                    <a:pt x="3" y="5"/>
                    <a:pt x="2" y="6"/>
                  </a:cubicBezTo>
                  <a:close/>
                  <a:moveTo>
                    <a:pt x="2" y="9"/>
                  </a:moveTo>
                  <a:cubicBezTo>
                    <a:pt x="2" y="9"/>
                    <a:pt x="3" y="9"/>
                    <a:pt x="3" y="9"/>
                  </a:cubicBezTo>
                  <a:cubicBezTo>
                    <a:pt x="4" y="9"/>
                    <a:pt x="5" y="9"/>
                    <a:pt x="5" y="8"/>
                  </a:cubicBezTo>
                  <a:cubicBezTo>
                    <a:pt x="6" y="8"/>
                    <a:pt x="7" y="8"/>
                    <a:pt x="7" y="7"/>
                  </a:cubicBezTo>
                  <a:cubicBezTo>
                    <a:pt x="8" y="7"/>
                    <a:pt x="9" y="6"/>
                    <a:pt x="9" y="6"/>
                  </a:cubicBezTo>
                  <a:cubicBezTo>
                    <a:pt x="9" y="6"/>
                    <a:pt x="9" y="6"/>
                    <a:pt x="9" y="6"/>
                  </a:cubicBezTo>
                  <a:cubicBezTo>
                    <a:pt x="10" y="7"/>
                    <a:pt x="10" y="7"/>
                    <a:pt x="11" y="8"/>
                  </a:cubicBezTo>
                  <a:cubicBezTo>
                    <a:pt x="10" y="8"/>
                    <a:pt x="10" y="9"/>
                    <a:pt x="10" y="9"/>
                  </a:cubicBezTo>
                  <a:cubicBezTo>
                    <a:pt x="8" y="9"/>
                    <a:pt x="8" y="9"/>
                    <a:pt x="8" y="9"/>
                  </a:cubicBezTo>
                  <a:cubicBezTo>
                    <a:pt x="8" y="10"/>
                    <a:pt x="7" y="10"/>
                    <a:pt x="6" y="10"/>
                  </a:cubicBezTo>
                  <a:cubicBezTo>
                    <a:pt x="5" y="11"/>
                    <a:pt x="5" y="11"/>
                    <a:pt x="4" y="11"/>
                  </a:cubicBezTo>
                  <a:cubicBezTo>
                    <a:pt x="6" y="12"/>
                    <a:pt x="8" y="13"/>
                    <a:pt x="10" y="14"/>
                  </a:cubicBezTo>
                  <a:cubicBezTo>
                    <a:pt x="10" y="13"/>
                    <a:pt x="10" y="13"/>
                    <a:pt x="10" y="12"/>
                  </a:cubicBezTo>
                  <a:cubicBezTo>
                    <a:pt x="9" y="11"/>
                    <a:pt x="9" y="11"/>
                    <a:pt x="9" y="11"/>
                  </a:cubicBezTo>
                  <a:cubicBezTo>
                    <a:pt x="10" y="11"/>
                    <a:pt x="11" y="11"/>
                    <a:pt x="11" y="11"/>
                  </a:cubicBezTo>
                  <a:cubicBezTo>
                    <a:pt x="12" y="11"/>
                    <a:pt x="12" y="11"/>
                    <a:pt x="12" y="11"/>
                  </a:cubicBezTo>
                  <a:cubicBezTo>
                    <a:pt x="12" y="14"/>
                    <a:pt x="12" y="16"/>
                    <a:pt x="13" y="18"/>
                  </a:cubicBezTo>
                  <a:cubicBezTo>
                    <a:pt x="11" y="18"/>
                    <a:pt x="11" y="18"/>
                    <a:pt x="11" y="18"/>
                  </a:cubicBezTo>
                  <a:cubicBezTo>
                    <a:pt x="10" y="18"/>
                    <a:pt x="10" y="18"/>
                    <a:pt x="10" y="18"/>
                  </a:cubicBezTo>
                  <a:cubicBezTo>
                    <a:pt x="10" y="18"/>
                    <a:pt x="10" y="18"/>
                    <a:pt x="10" y="18"/>
                  </a:cubicBezTo>
                  <a:cubicBezTo>
                    <a:pt x="10" y="17"/>
                    <a:pt x="10" y="17"/>
                    <a:pt x="10" y="16"/>
                  </a:cubicBezTo>
                  <a:cubicBezTo>
                    <a:pt x="9" y="16"/>
                    <a:pt x="7" y="15"/>
                    <a:pt x="5" y="14"/>
                  </a:cubicBezTo>
                  <a:cubicBezTo>
                    <a:pt x="3" y="13"/>
                    <a:pt x="2" y="13"/>
                    <a:pt x="2" y="13"/>
                  </a:cubicBezTo>
                  <a:cubicBezTo>
                    <a:pt x="1" y="13"/>
                    <a:pt x="1" y="12"/>
                    <a:pt x="0" y="12"/>
                  </a:cubicBezTo>
                  <a:cubicBezTo>
                    <a:pt x="0" y="11"/>
                    <a:pt x="0" y="11"/>
                    <a:pt x="0" y="10"/>
                  </a:cubicBezTo>
                  <a:cubicBezTo>
                    <a:pt x="0" y="10"/>
                    <a:pt x="0" y="10"/>
                    <a:pt x="0" y="10"/>
                  </a:cubicBezTo>
                  <a:cubicBezTo>
                    <a:pt x="1" y="10"/>
                    <a:pt x="2" y="10"/>
                    <a:pt x="2" y="9"/>
                  </a:cubicBezTo>
                  <a:close/>
                  <a:moveTo>
                    <a:pt x="14" y="1"/>
                  </a:moveTo>
                  <a:cubicBezTo>
                    <a:pt x="14" y="2"/>
                    <a:pt x="15" y="2"/>
                    <a:pt x="16" y="3"/>
                  </a:cubicBezTo>
                  <a:cubicBezTo>
                    <a:pt x="16" y="3"/>
                    <a:pt x="16" y="3"/>
                    <a:pt x="16" y="3"/>
                  </a:cubicBezTo>
                  <a:cubicBezTo>
                    <a:pt x="16" y="3"/>
                    <a:pt x="15" y="4"/>
                    <a:pt x="15" y="4"/>
                  </a:cubicBezTo>
                  <a:cubicBezTo>
                    <a:pt x="15" y="4"/>
                    <a:pt x="15" y="5"/>
                    <a:pt x="15" y="6"/>
                  </a:cubicBezTo>
                  <a:cubicBezTo>
                    <a:pt x="15" y="6"/>
                    <a:pt x="15" y="7"/>
                    <a:pt x="15" y="8"/>
                  </a:cubicBezTo>
                  <a:cubicBezTo>
                    <a:pt x="15" y="8"/>
                    <a:pt x="16" y="9"/>
                    <a:pt x="16" y="9"/>
                  </a:cubicBezTo>
                  <a:cubicBezTo>
                    <a:pt x="16" y="10"/>
                    <a:pt x="16" y="10"/>
                    <a:pt x="16" y="10"/>
                  </a:cubicBezTo>
                  <a:cubicBezTo>
                    <a:pt x="17" y="10"/>
                    <a:pt x="17" y="11"/>
                    <a:pt x="17" y="11"/>
                  </a:cubicBezTo>
                  <a:cubicBezTo>
                    <a:pt x="17" y="11"/>
                    <a:pt x="17" y="12"/>
                    <a:pt x="17" y="12"/>
                  </a:cubicBezTo>
                  <a:cubicBezTo>
                    <a:pt x="17" y="12"/>
                    <a:pt x="16" y="12"/>
                    <a:pt x="15" y="13"/>
                  </a:cubicBezTo>
                  <a:cubicBezTo>
                    <a:pt x="14" y="12"/>
                    <a:pt x="14" y="11"/>
                    <a:pt x="13" y="10"/>
                  </a:cubicBezTo>
                  <a:cubicBezTo>
                    <a:pt x="13" y="9"/>
                    <a:pt x="13" y="8"/>
                    <a:pt x="13" y="7"/>
                  </a:cubicBezTo>
                  <a:cubicBezTo>
                    <a:pt x="13" y="7"/>
                    <a:pt x="13" y="6"/>
                    <a:pt x="13" y="5"/>
                  </a:cubicBezTo>
                  <a:cubicBezTo>
                    <a:pt x="13" y="4"/>
                    <a:pt x="13" y="4"/>
                    <a:pt x="13" y="3"/>
                  </a:cubicBezTo>
                  <a:cubicBezTo>
                    <a:pt x="13" y="3"/>
                    <a:pt x="13" y="2"/>
                    <a:pt x="14" y="1"/>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 name="Freeform 17"/>
            <p:cNvSpPr>
              <a:spLocks noEditPoints="1"/>
            </p:cNvSpPr>
            <p:nvPr/>
          </p:nvSpPr>
          <p:spPr bwMode="auto">
            <a:xfrm>
              <a:off x="1069" y="404"/>
              <a:ext cx="79" cy="86"/>
            </a:xfrm>
            <a:custGeom>
              <a:avLst/>
              <a:gdLst>
                <a:gd name="T0" fmla="*/ 3 w 20"/>
                <a:gd name="T1" fmla="*/ 10 h 22"/>
                <a:gd name="T2" fmla="*/ 5 w 20"/>
                <a:gd name="T3" fmla="*/ 9 h 22"/>
                <a:gd name="T4" fmla="*/ 8 w 20"/>
                <a:gd name="T5" fmla="*/ 12 h 22"/>
                <a:gd name="T6" fmla="*/ 6 w 20"/>
                <a:gd name="T7" fmla="*/ 14 h 22"/>
                <a:gd name="T8" fmla="*/ 3 w 20"/>
                <a:gd name="T9" fmla="*/ 10 h 22"/>
                <a:gd name="T10" fmla="*/ 13 w 20"/>
                <a:gd name="T11" fmla="*/ 9 h 22"/>
                <a:gd name="T12" fmla="*/ 8 w 20"/>
                <a:gd name="T13" fmla="*/ 4 h 22"/>
                <a:gd name="T14" fmla="*/ 6 w 20"/>
                <a:gd name="T15" fmla="*/ 2 h 22"/>
                <a:gd name="T16" fmla="*/ 5 w 20"/>
                <a:gd name="T17" fmla="*/ 4 h 22"/>
                <a:gd name="T18" fmla="*/ 6 w 20"/>
                <a:gd name="T19" fmla="*/ 5 h 22"/>
                <a:gd name="T20" fmla="*/ 12 w 20"/>
                <a:gd name="T21" fmla="*/ 11 h 22"/>
                <a:gd name="T22" fmla="*/ 13 w 20"/>
                <a:gd name="T23" fmla="*/ 12 h 22"/>
                <a:gd name="T24" fmla="*/ 15 w 20"/>
                <a:gd name="T25" fmla="*/ 11 h 22"/>
                <a:gd name="T26" fmla="*/ 13 w 20"/>
                <a:gd name="T27" fmla="*/ 9 h 22"/>
                <a:gd name="T28" fmla="*/ 10 w 20"/>
                <a:gd name="T29" fmla="*/ 3 h 22"/>
                <a:gd name="T30" fmla="*/ 17 w 20"/>
                <a:gd name="T31" fmla="*/ 11 h 22"/>
                <a:gd name="T32" fmla="*/ 8 w 20"/>
                <a:gd name="T33" fmla="*/ 19 h 22"/>
                <a:gd name="T34" fmla="*/ 8 w 20"/>
                <a:gd name="T35" fmla="*/ 19 h 22"/>
                <a:gd name="T36" fmla="*/ 7 w 20"/>
                <a:gd name="T37" fmla="*/ 19 h 22"/>
                <a:gd name="T38" fmla="*/ 7 w 20"/>
                <a:gd name="T39" fmla="*/ 18 h 22"/>
                <a:gd name="T40" fmla="*/ 6 w 20"/>
                <a:gd name="T41" fmla="*/ 17 h 22"/>
                <a:gd name="T42" fmla="*/ 6 w 20"/>
                <a:gd name="T43" fmla="*/ 18 h 22"/>
                <a:gd name="T44" fmla="*/ 5 w 20"/>
                <a:gd name="T45" fmla="*/ 19 h 22"/>
                <a:gd name="T46" fmla="*/ 5 w 20"/>
                <a:gd name="T47" fmla="*/ 20 h 22"/>
                <a:gd name="T48" fmla="*/ 7 w 20"/>
                <a:gd name="T49" fmla="*/ 21 h 22"/>
                <a:gd name="T50" fmla="*/ 8 w 20"/>
                <a:gd name="T51" fmla="*/ 22 h 22"/>
                <a:gd name="T52" fmla="*/ 9 w 20"/>
                <a:gd name="T53" fmla="*/ 21 h 22"/>
                <a:gd name="T54" fmla="*/ 19 w 20"/>
                <a:gd name="T55" fmla="*/ 12 h 22"/>
                <a:gd name="T56" fmla="*/ 20 w 20"/>
                <a:gd name="T57" fmla="*/ 11 h 22"/>
                <a:gd name="T58" fmla="*/ 19 w 20"/>
                <a:gd name="T59" fmla="*/ 10 h 22"/>
                <a:gd name="T60" fmla="*/ 11 w 20"/>
                <a:gd name="T61" fmla="*/ 2 h 22"/>
                <a:gd name="T62" fmla="*/ 9 w 20"/>
                <a:gd name="T63" fmla="*/ 0 h 22"/>
                <a:gd name="T64" fmla="*/ 8 w 20"/>
                <a:gd name="T65" fmla="*/ 1 h 22"/>
                <a:gd name="T66" fmla="*/ 10 w 20"/>
                <a:gd name="T67" fmla="*/ 3 h 22"/>
                <a:gd name="T68" fmla="*/ 4 w 20"/>
                <a:gd name="T69" fmla="*/ 7 h 22"/>
                <a:gd name="T70" fmla="*/ 1 w 20"/>
                <a:gd name="T71" fmla="*/ 9 h 22"/>
                <a:gd name="T72" fmla="*/ 0 w 20"/>
                <a:gd name="T73" fmla="*/ 10 h 22"/>
                <a:gd name="T74" fmla="*/ 1 w 20"/>
                <a:gd name="T75" fmla="*/ 11 h 22"/>
                <a:gd name="T76" fmla="*/ 5 w 20"/>
                <a:gd name="T77" fmla="*/ 15 h 22"/>
                <a:gd name="T78" fmla="*/ 6 w 20"/>
                <a:gd name="T79" fmla="*/ 17 h 22"/>
                <a:gd name="T80" fmla="*/ 8 w 20"/>
                <a:gd name="T81" fmla="*/ 16 h 22"/>
                <a:gd name="T82" fmla="*/ 10 w 20"/>
                <a:gd name="T83" fmla="*/ 13 h 22"/>
                <a:gd name="T84" fmla="*/ 11 w 20"/>
                <a:gd name="T85" fmla="*/ 12 h 22"/>
                <a:gd name="T86" fmla="*/ 10 w 20"/>
                <a:gd name="T87" fmla="*/ 11 h 22"/>
                <a:gd name="T88" fmla="*/ 6 w 20"/>
                <a:gd name="T89" fmla="*/ 7 h 22"/>
                <a:gd name="T90" fmla="*/ 5 w 20"/>
                <a:gd name="T91" fmla="*/ 5 h 22"/>
                <a:gd name="T92" fmla="*/ 4 w 20"/>
                <a:gd name="T93" fmla="*/ 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 h="22">
                  <a:moveTo>
                    <a:pt x="3" y="10"/>
                  </a:moveTo>
                  <a:cubicBezTo>
                    <a:pt x="5" y="9"/>
                    <a:pt x="5" y="9"/>
                    <a:pt x="5" y="9"/>
                  </a:cubicBezTo>
                  <a:cubicBezTo>
                    <a:pt x="8" y="12"/>
                    <a:pt x="8" y="12"/>
                    <a:pt x="8" y="12"/>
                  </a:cubicBezTo>
                  <a:cubicBezTo>
                    <a:pt x="6" y="14"/>
                    <a:pt x="6" y="14"/>
                    <a:pt x="6" y="14"/>
                  </a:cubicBezTo>
                  <a:lnTo>
                    <a:pt x="3" y="10"/>
                  </a:lnTo>
                  <a:close/>
                  <a:moveTo>
                    <a:pt x="13" y="9"/>
                  </a:moveTo>
                  <a:cubicBezTo>
                    <a:pt x="8" y="4"/>
                    <a:pt x="8" y="4"/>
                    <a:pt x="8" y="4"/>
                  </a:cubicBezTo>
                  <a:cubicBezTo>
                    <a:pt x="6" y="2"/>
                    <a:pt x="6" y="2"/>
                    <a:pt x="6" y="2"/>
                  </a:cubicBezTo>
                  <a:cubicBezTo>
                    <a:pt x="5" y="4"/>
                    <a:pt x="5" y="4"/>
                    <a:pt x="5" y="4"/>
                  </a:cubicBezTo>
                  <a:cubicBezTo>
                    <a:pt x="6" y="5"/>
                    <a:pt x="6" y="5"/>
                    <a:pt x="6" y="5"/>
                  </a:cubicBezTo>
                  <a:cubicBezTo>
                    <a:pt x="12" y="11"/>
                    <a:pt x="12" y="11"/>
                    <a:pt x="12" y="11"/>
                  </a:cubicBezTo>
                  <a:cubicBezTo>
                    <a:pt x="13" y="12"/>
                    <a:pt x="13" y="12"/>
                    <a:pt x="13" y="12"/>
                  </a:cubicBezTo>
                  <a:cubicBezTo>
                    <a:pt x="15" y="11"/>
                    <a:pt x="15" y="11"/>
                    <a:pt x="15" y="11"/>
                  </a:cubicBezTo>
                  <a:lnTo>
                    <a:pt x="13" y="9"/>
                  </a:lnTo>
                  <a:close/>
                  <a:moveTo>
                    <a:pt x="10" y="3"/>
                  </a:moveTo>
                  <a:cubicBezTo>
                    <a:pt x="17" y="11"/>
                    <a:pt x="17" y="11"/>
                    <a:pt x="17" y="11"/>
                  </a:cubicBezTo>
                  <a:cubicBezTo>
                    <a:pt x="8" y="19"/>
                    <a:pt x="8" y="19"/>
                    <a:pt x="8" y="19"/>
                  </a:cubicBezTo>
                  <a:cubicBezTo>
                    <a:pt x="8" y="19"/>
                    <a:pt x="8" y="19"/>
                    <a:pt x="8" y="19"/>
                  </a:cubicBezTo>
                  <a:cubicBezTo>
                    <a:pt x="8" y="19"/>
                    <a:pt x="8" y="19"/>
                    <a:pt x="7" y="19"/>
                  </a:cubicBezTo>
                  <a:cubicBezTo>
                    <a:pt x="7" y="18"/>
                    <a:pt x="7" y="18"/>
                    <a:pt x="7" y="18"/>
                  </a:cubicBezTo>
                  <a:cubicBezTo>
                    <a:pt x="7" y="18"/>
                    <a:pt x="6" y="18"/>
                    <a:pt x="6" y="17"/>
                  </a:cubicBezTo>
                  <a:cubicBezTo>
                    <a:pt x="6" y="18"/>
                    <a:pt x="6" y="18"/>
                    <a:pt x="6" y="18"/>
                  </a:cubicBezTo>
                  <a:cubicBezTo>
                    <a:pt x="6" y="18"/>
                    <a:pt x="6" y="19"/>
                    <a:pt x="5" y="19"/>
                  </a:cubicBezTo>
                  <a:cubicBezTo>
                    <a:pt x="5" y="19"/>
                    <a:pt x="5" y="19"/>
                    <a:pt x="5" y="20"/>
                  </a:cubicBezTo>
                  <a:cubicBezTo>
                    <a:pt x="6" y="21"/>
                    <a:pt x="7" y="21"/>
                    <a:pt x="7" y="21"/>
                  </a:cubicBezTo>
                  <a:cubicBezTo>
                    <a:pt x="8" y="22"/>
                    <a:pt x="8" y="22"/>
                    <a:pt x="8" y="22"/>
                  </a:cubicBezTo>
                  <a:cubicBezTo>
                    <a:pt x="8" y="21"/>
                    <a:pt x="9" y="21"/>
                    <a:pt x="9" y="21"/>
                  </a:cubicBezTo>
                  <a:cubicBezTo>
                    <a:pt x="19" y="12"/>
                    <a:pt x="19" y="12"/>
                    <a:pt x="19" y="12"/>
                  </a:cubicBezTo>
                  <a:cubicBezTo>
                    <a:pt x="20" y="11"/>
                    <a:pt x="20" y="11"/>
                    <a:pt x="20" y="11"/>
                  </a:cubicBezTo>
                  <a:cubicBezTo>
                    <a:pt x="19" y="10"/>
                    <a:pt x="19" y="10"/>
                    <a:pt x="19" y="10"/>
                  </a:cubicBezTo>
                  <a:cubicBezTo>
                    <a:pt x="11" y="2"/>
                    <a:pt x="11" y="2"/>
                    <a:pt x="11" y="2"/>
                  </a:cubicBezTo>
                  <a:cubicBezTo>
                    <a:pt x="9" y="0"/>
                    <a:pt x="9" y="0"/>
                    <a:pt x="9" y="0"/>
                  </a:cubicBezTo>
                  <a:cubicBezTo>
                    <a:pt x="8" y="1"/>
                    <a:pt x="8" y="1"/>
                    <a:pt x="8" y="1"/>
                  </a:cubicBezTo>
                  <a:lnTo>
                    <a:pt x="10" y="3"/>
                  </a:lnTo>
                  <a:close/>
                  <a:moveTo>
                    <a:pt x="4" y="7"/>
                  </a:moveTo>
                  <a:cubicBezTo>
                    <a:pt x="1" y="9"/>
                    <a:pt x="1" y="9"/>
                    <a:pt x="1" y="9"/>
                  </a:cubicBezTo>
                  <a:cubicBezTo>
                    <a:pt x="0" y="10"/>
                    <a:pt x="0" y="10"/>
                    <a:pt x="0" y="10"/>
                  </a:cubicBezTo>
                  <a:cubicBezTo>
                    <a:pt x="1" y="11"/>
                    <a:pt x="1" y="11"/>
                    <a:pt x="1" y="11"/>
                  </a:cubicBezTo>
                  <a:cubicBezTo>
                    <a:pt x="5" y="15"/>
                    <a:pt x="5" y="15"/>
                    <a:pt x="5" y="15"/>
                  </a:cubicBezTo>
                  <a:cubicBezTo>
                    <a:pt x="6" y="17"/>
                    <a:pt x="6" y="17"/>
                    <a:pt x="6" y="17"/>
                  </a:cubicBezTo>
                  <a:cubicBezTo>
                    <a:pt x="8" y="16"/>
                    <a:pt x="8" y="16"/>
                    <a:pt x="8" y="16"/>
                  </a:cubicBezTo>
                  <a:cubicBezTo>
                    <a:pt x="10" y="13"/>
                    <a:pt x="10" y="13"/>
                    <a:pt x="10" y="13"/>
                  </a:cubicBezTo>
                  <a:cubicBezTo>
                    <a:pt x="11" y="12"/>
                    <a:pt x="11" y="12"/>
                    <a:pt x="11" y="12"/>
                  </a:cubicBezTo>
                  <a:cubicBezTo>
                    <a:pt x="10" y="11"/>
                    <a:pt x="10" y="11"/>
                    <a:pt x="10" y="11"/>
                  </a:cubicBezTo>
                  <a:cubicBezTo>
                    <a:pt x="6" y="7"/>
                    <a:pt x="6" y="7"/>
                    <a:pt x="6" y="7"/>
                  </a:cubicBezTo>
                  <a:cubicBezTo>
                    <a:pt x="5" y="5"/>
                    <a:pt x="5" y="5"/>
                    <a:pt x="5" y="5"/>
                  </a:cubicBezTo>
                  <a:lnTo>
                    <a:pt x="4" y="7"/>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 name="Freeform 18"/>
            <p:cNvSpPr/>
            <p:nvPr/>
          </p:nvSpPr>
          <p:spPr bwMode="auto">
            <a:xfrm>
              <a:off x="538" y="510"/>
              <a:ext cx="54" cy="47"/>
            </a:xfrm>
            <a:custGeom>
              <a:avLst/>
              <a:gdLst>
                <a:gd name="T0" fmla="*/ 12 w 14"/>
                <a:gd name="T1" fmla="*/ 10 h 12"/>
                <a:gd name="T2" fmla="*/ 12 w 14"/>
                <a:gd name="T3" fmla="*/ 11 h 12"/>
                <a:gd name="T4" fmla="*/ 12 w 14"/>
                <a:gd name="T5" fmla="*/ 12 h 12"/>
                <a:gd name="T6" fmla="*/ 8 w 14"/>
                <a:gd name="T7" fmla="*/ 11 h 12"/>
                <a:gd name="T8" fmla="*/ 8 w 14"/>
                <a:gd name="T9" fmla="*/ 10 h 12"/>
                <a:gd name="T10" fmla="*/ 11 w 14"/>
                <a:gd name="T11" fmla="*/ 9 h 12"/>
                <a:gd name="T12" fmla="*/ 12 w 14"/>
                <a:gd name="T13" fmla="*/ 8 h 12"/>
                <a:gd name="T14" fmla="*/ 12 w 14"/>
                <a:gd name="T15" fmla="*/ 6 h 12"/>
                <a:gd name="T16" fmla="*/ 12 w 14"/>
                <a:gd name="T17" fmla="*/ 6 h 12"/>
                <a:gd name="T18" fmla="*/ 9 w 14"/>
                <a:gd name="T19" fmla="*/ 8 h 12"/>
                <a:gd name="T20" fmla="*/ 8 w 14"/>
                <a:gd name="T21" fmla="*/ 8 h 12"/>
                <a:gd name="T22" fmla="*/ 6 w 14"/>
                <a:gd name="T23" fmla="*/ 10 h 12"/>
                <a:gd name="T24" fmla="*/ 3 w 14"/>
                <a:gd name="T25" fmla="*/ 10 h 12"/>
                <a:gd name="T26" fmla="*/ 1 w 14"/>
                <a:gd name="T27" fmla="*/ 7 h 12"/>
                <a:gd name="T28" fmla="*/ 1 w 14"/>
                <a:gd name="T29" fmla="*/ 4 h 12"/>
                <a:gd name="T30" fmla="*/ 2 w 14"/>
                <a:gd name="T31" fmla="*/ 2 h 12"/>
                <a:gd name="T32" fmla="*/ 3 w 14"/>
                <a:gd name="T33" fmla="*/ 1 h 12"/>
                <a:gd name="T34" fmla="*/ 2 w 14"/>
                <a:gd name="T35" fmla="*/ 1 h 12"/>
                <a:gd name="T36" fmla="*/ 3 w 14"/>
                <a:gd name="T37" fmla="*/ 0 h 12"/>
                <a:gd name="T38" fmla="*/ 8 w 14"/>
                <a:gd name="T39" fmla="*/ 0 h 12"/>
                <a:gd name="T40" fmla="*/ 8 w 14"/>
                <a:gd name="T41" fmla="*/ 2 h 12"/>
                <a:gd name="T42" fmla="*/ 5 w 14"/>
                <a:gd name="T43" fmla="*/ 2 h 12"/>
                <a:gd name="T44" fmla="*/ 3 w 14"/>
                <a:gd name="T45" fmla="*/ 4 h 12"/>
                <a:gd name="T46" fmla="*/ 2 w 14"/>
                <a:gd name="T47" fmla="*/ 6 h 12"/>
                <a:gd name="T48" fmla="*/ 3 w 14"/>
                <a:gd name="T49" fmla="*/ 7 h 12"/>
                <a:gd name="T50" fmla="*/ 6 w 14"/>
                <a:gd name="T51" fmla="*/ 5 h 12"/>
                <a:gd name="T52" fmla="*/ 6 w 14"/>
                <a:gd name="T53" fmla="*/ 5 h 12"/>
                <a:gd name="T54" fmla="*/ 8 w 14"/>
                <a:gd name="T55" fmla="*/ 3 h 12"/>
                <a:gd name="T56" fmla="*/ 9 w 14"/>
                <a:gd name="T57" fmla="*/ 3 h 12"/>
                <a:gd name="T58" fmla="*/ 10 w 14"/>
                <a:gd name="T59" fmla="*/ 2 h 12"/>
                <a:gd name="T60" fmla="*/ 12 w 14"/>
                <a:gd name="T61" fmla="*/ 3 h 12"/>
                <a:gd name="T62" fmla="*/ 14 w 14"/>
                <a:gd name="T63" fmla="*/ 5 h 12"/>
                <a:gd name="T64" fmla="*/ 14 w 14"/>
                <a:gd name="T65" fmla="*/ 8 h 12"/>
                <a:gd name="T66" fmla="*/ 13 w 14"/>
                <a:gd name="T67" fmla="*/ 10 h 12"/>
                <a:gd name="T68" fmla="*/ 12 w 14"/>
                <a:gd name="T69"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 h="12">
                  <a:moveTo>
                    <a:pt x="12" y="10"/>
                  </a:moveTo>
                  <a:cubicBezTo>
                    <a:pt x="12" y="11"/>
                    <a:pt x="12" y="11"/>
                    <a:pt x="12" y="11"/>
                  </a:cubicBezTo>
                  <a:cubicBezTo>
                    <a:pt x="12" y="12"/>
                    <a:pt x="12" y="12"/>
                    <a:pt x="12" y="12"/>
                  </a:cubicBezTo>
                  <a:cubicBezTo>
                    <a:pt x="8" y="11"/>
                    <a:pt x="8" y="11"/>
                    <a:pt x="8" y="11"/>
                  </a:cubicBezTo>
                  <a:cubicBezTo>
                    <a:pt x="8" y="10"/>
                    <a:pt x="8" y="10"/>
                    <a:pt x="8" y="10"/>
                  </a:cubicBezTo>
                  <a:cubicBezTo>
                    <a:pt x="9" y="10"/>
                    <a:pt x="10" y="10"/>
                    <a:pt x="11" y="9"/>
                  </a:cubicBezTo>
                  <a:cubicBezTo>
                    <a:pt x="11" y="9"/>
                    <a:pt x="12" y="8"/>
                    <a:pt x="12" y="8"/>
                  </a:cubicBezTo>
                  <a:cubicBezTo>
                    <a:pt x="12" y="7"/>
                    <a:pt x="12" y="7"/>
                    <a:pt x="12" y="6"/>
                  </a:cubicBezTo>
                  <a:cubicBezTo>
                    <a:pt x="12" y="6"/>
                    <a:pt x="12" y="6"/>
                    <a:pt x="12" y="6"/>
                  </a:cubicBezTo>
                  <a:cubicBezTo>
                    <a:pt x="11" y="5"/>
                    <a:pt x="10" y="6"/>
                    <a:pt x="9" y="8"/>
                  </a:cubicBezTo>
                  <a:cubicBezTo>
                    <a:pt x="9" y="8"/>
                    <a:pt x="8" y="8"/>
                    <a:pt x="8" y="8"/>
                  </a:cubicBezTo>
                  <a:cubicBezTo>
                    <a:pt x="7" y="9"/>
                    <a:pt x="6" y="10"/>
                    <a:pt x="6" y="10"/>
                  </a:cubicBezTo>
                  <a:cubicBezTo>
                    <a:pt x="5" y="10"/>
                    <a:pt x="4" y="10"/>
                    <a:pt x="3" y="10"/>
                  </a:cubicBezTo>
                  <a:cubicBezTo>
                    <a:pt x="2" y="9"/>
                    <a:pt x="1" y="8"/>
                    <a:pt x="1" y="7"/>
                  </a:cubicBezTo>
                  <a:cubicBezTo>
                    <a:pt x="0" y="6"/>
                    <a:pt x="0" y="5"/>
                    <a:pt x="1" y="4"/>
                  </a:cubicBezTo>
                  <a:cubicBezTo>
                    <a:pt x="1" y="3"/>
                    <a:pt x="1" y="3"/>
                    <a:pt x="2" y="2"/>
                  </a:cubicBezTo>
                  <a:cubicBezTo>
                    <a:pt x="2" y="2"/>
                    <a:pt x="3" y="1"/>
                    <a:pt x="3" y="1"/>
                  </a:cubicBezTo>
                  <a:cubicBezTo>
                    <a:pt x="2" y="1"/>
                    <a:pt x="2" y="1"/>
                    <a:pt x="2" y="1"/>
                  </a:cubicBezTo>
                  <a:cubicBezTo>
                    <a:pt x="3" y="0"/>
                    <a:pt x="3" y="0"/>
                    <a:pt x="3" y="0"/>
                  </a:cubicBezTo>
                  <a:cubicBezTo>
                    <a:pt x="8" y="0"/>
                    <a:pt x="8" y="0"/>
                    <a:pt x="8" y="0"/>
                  </a:cubicBezTo>
                  <a:cubicBezTo>
                    <a:pt x="8" y="2"/>
                    <a:pt x="8" y="2"/>
                    <a:pt x="8" y="2"/>
                  </a:cubicBezTo>
                  <a:cubicBezTo>
                    <a:pt x="7" y="2"/>
                    <a:pt x="6" y="2"/>
                    <a:pt x="5" y="2"/>
                  </a:cubicBezTo>
                  <a:cubicBezTo>
                    <a:pt x="4" y="3"/>
                    <a:pt x="3" y="3"/>
                    <a:pt x="3" y="4"/>
                  </a:cubicBezTo>
                  <a:cubicBezTo>
                    <a:pt x="2" y="5"/>
                    <a:pt x="2" y="5"/>
                    <a:pt x="2" y="6"/>
                  </a:cubicBezTo>
                  <a:cubicBezTo>
                    <a:pt x="3" y="6"/>
                    <a:pt x="3" y="7"/>
                    <a:pt x="3" y="7"/>
                  </a:cubicBezTo>
                  <a:cubicBezTo>
                    <a:pt x="4" y="7"/>
                    <a:pt x="5" y="7"/>
                    <a:pt x="6" y="5"/>
                  </a:cubicBezTo>
                  <a:cubicBezTo>
                    <a:pt x="6" y="5"/>
                    <a:pt x="6" y="5"/>
                    <a:pt x="6" y="5"/>
                  </a:cubicBezTo>
                  <a:cubicBezTo>
                    <a:pt x="7" y="4"/>
                    <a:pt x="7" y="4"/>
                    <a:pt x="8" y="3"/>
                  </a:cubicBezTo>
                  <a:cubicBezTo>
                    <a:pt x="8" y="3"/>
                    <a:pt x="8" y="3"/>
                    <a:pt x="9" y="3"/>
                  </a:cubicBezTo>
                  <a:cubicBezTo>
                    <a:pt x="9" y="2"/>
                    <a:pt x="10" y="2"/>
                    <a:pt x="10" y="2"/>
                  </a:cubicBezTo>
                  <a:cubicBezTo>
                    <a:pt x="11" y="2"/>
                    <a:pt x="11" y="3"/>
                    <a:pt x="12" y="3"/>
                  </a:cubicBezTo>
                  <a:cubicBezTo>
                    <a:pt x="13" y="3"/>
                    <a:pt x="14" y="4"/>
                    <a:pt x="14" y="5"/>
                  </a:cubicBezTo>
                  <a:cubicBezTo>
                    <a:pt x="14" y="6"/>
                    <a:pt x="14" y="7"/>
                    <a:pt x="14" y="8"/>
                  </a:cubicBezTo>
                  <a:cubicBezTo>
                    <a:pt x="14" y="9"/>
                    <a:pt x="13" y="9"/>
                    <a:pt x="13" y="10"/>
                  </a:cubicBezTo>
                  <a:cubicBezTo>
                    <a:pt x="13" y="10"/>
                    <a:pt x="12" y="10"/>
                    <a:pt x="12" y="10"/>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 name="Freeform 19"/>
            <p:cNvSpPr/>
            <p:nvPr/>
          </p:nvSpPr>
          <p:spPr bwMode="auto">
            <a:xfrm>
              <a:off x="521" y="557"/>
              <a:ext cx="59" cy="47"/>
            </a:xfrm>
            <a:custGeom>
              <a:avLst/>
              <a:gdLst>
                <a:gd name="T0" fmla="*/ 15 w 15"/>
                <a:gd name="T1" fmla="*/ 2 h 12"/>
                <a:gd name="T2" fmla="*/ 12 w 15"/>
                <a:gd name="T3" fmla="*/ 12 h 12"/>
                <a:gd name="T4" fmla="*/ 8 w 15"/>
                <a:gd name="T5" fmla="*/ 12 h 12"/>
                <a:gd name="T6" fmla="*/ 8 w 15"/>
                <a:gd name="T7" fmla="*/ 10 h 12"/>
                <a:gd name="T8" fmla="*/ 10 w 15"/>
                <a:gd name="T9" fmla="*/ 10 h 12"/>
                <a:gd name="T10" fmla="*/ 11 w 15"/>
                <a:gd name="T11" fmla="*/ 8 h 12"/>
                <a:gd name="T12" fmla="*/ 11 w 15"/>
                <a:gd name="T13" fmla="*/ 8 h 12"/>
                <a:gd name="T14" fmla="*/ 4 w 15"/>
                <a:gd name="T15" fmla="*/ 6 h 12"/>
                <a:gd name="T16" fmla="*/ 2 w 15"/>
                <a:gd name="T17" fmla="*/ 5 h 12"/>
                <a:gd name="T18" fmla="*/ 2 w 15"/>
                <a:gd name="T19" fmla="*/ 6 h 12"/>
                <a:gd name="T20" fmla="*/ 0 w 15"/>
                <a:gd name="T21" fmla="*/ 6 h 12"/>
                <a:gd name="T22" fmla="*/ 2 w 15"/>
                <a:gd name="T23" fmla="*/ 0 h 12"/>
                <a:gd name="T24" fmla="*/ 3 w 15"/>
                <a:gd name="T25" fmla="*/ 1 h 12"/>
                <a:gd name="T26" fmla="*/ 3 w 15"/>
                <a:gd name="T27" fmla="*/ 2 h 12"/>
                <a:gd name="T28" fmla="*/ 5 w 15"/>
                <a:gd name="T29" fmla="*/ 3 h 12"/>
                <a:gd name="T30" fmla="*/ 12 w 15"/>
                <a:gd name="T31" fmla="*/ 5 h 12"/>
                <a:gd name="T32" fmla="*/ 12 w 15"/>
                <a:gd name="T33" fmla="*/ 5 h 12"/>
                <a:gd name="T34" fmla="*/ 12 w 15"/>
                <a:gd name="T35" fmla="*/ 3 h 12"/>
                <a:gd name="T36" fmla="*/ 11 w 15"/>
                <a:gd name="T37" fmla="*/ 1 h 12"/>
                <a:gd name="T38" fmla="*/ 11 w 15"/>
                <a:gd name="T39" fmla="*/ 0 h 12"/>
                <a:gd name="T40" fmla="*/ 15 w 15"/>
                <a:gd name="T4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 h="12">
                  <a:moveTo>
                    <a:pt x="15" y="2"/>
                  </a:moveTo>
                  <a:cubicBezTo>
                    <a:pt x="12" y="12"/>
                    <a:pt x="12" y="12"/>
                    <a:pt x="12" y="12"/>
                  </a:cubicBezTo>
                  <a:cubicBezTo>
                    <a:pt x="8" y="12"/>
                    <a:pt x="8" y="12"/>
                    <a:pt x="8" y="12"/>
                  </a:cubicBezTo>
                  <a:cubicBezTo>
                    <a:pt x="8" y="10"/>
                    <a:pt x="8" y="10"/>
                    <a:pt x="8" y="10"/>
                  </a:cubicBezTo>
                  <a:cubicBezTo>
                    <a:pt x="9" y="10"/>
                    <a:pt x="9" y="10"/>
                    <a:pt x="10" y="10"/>
                  </a:cubicBezTo>
                  <a:cubicBezTo>
                    <a:pt x="11" y="9"/>
                    <a:pt x="11" y="9"/>
                    <a:pt x="11" y="8"/>
                  </a:cubicBezTo>
                  <a:cubicBezTo>
                    <a:pt x="11" y="8"/>
                    <a:pt x="11" y="8"/>
                    <a:pt x="11" y="8"/>
                  </a:cubicBezTo>
                  <a:cubicBezTo>
                    <a:pt x="4" y="6"/>
                    <a:pt x="4" y="6"/>
                    <a:pt x="4" y="6"/>
                  </a:cubicBezTo>
                  <a:cubicBezTo>
                    <a:pt x="3" y="5"/>
                    <a:pt x="3" y="5"/>
                    <a:pt x="2" y="5"/>
                  </a:cubicBezTo>
                  <a:cubicBezTo>
                    <a:pt x="2" y="5"/>
                    <a:pt x="2" y="6"/>
                    <a:pt x="2" y="6"/>
                  </a:cubicBezTo>
                  <a:cubicBezTo>
                    <a:pt x="0" y="6"/>
                    <a:pt x="0" y="6"/>
                    <a:pt x="0" y="6"/>
                  </a:cubicBezTo>
                  <a:cubicBezTo>
                    <a:pt x="2" y="0"/>
                    <a:pt x="2" y="0"/>
                    <a:pt x="2" y="0"/>
                  </a:cubicBezTo>
                  <a:cubicBezTo>
                    <a:pt x="3" y="1"/>
                    <a:pt x="3" y="1"/>
                    <a:pt x="3" y="1"/>
                  </a:cubicBezTo>
                  <a:cubicBezTo>
                    <a:pt x="3" y="1"/>
                    <a:pt x="3" y="2"/>
                    <a:pt x="3" y="2"/>
                  </a:cubicBezTo>
                  <a:cubicBezTo>
                    <a:pt x="4" y="2"/>
                    <a:pt x="4" y="2"/>
                    <a:pt x="5" y="3"/>
                  </a:cubicBezTo>
                  <a:cubicBezTo>
                    <a:pt x="12" y="5"/>
                    <a:pt x="12" y="5"/>
                    <a:pt x="12" y="5"/>
                  </a:cubicBezTo>
                  <a:cubicBezTo>
                    <a:pt x="12" y="5"/>
                    <a:pt x="12" y="5"/>
                    <a:pt x="12" y="5"/>
                  </a:cubicBezTo>
                  <a:cubicBezTo>
                    <a:pt x="12" y="4"/>
                    <a:pt x="12" y="3"/>
                    <a:pt x="12" y="3"/>
                  </a:cubicBezTo>
                  <a:cubicBezTo>
                    <a:pt x="12" y="2"/>
                    <a:pt x="11" y="2"/>
                    <a:pt x="11" y="1"/>
                  </a:cubicBezTo>
                  <a:cubicBezTo>
                    <a:pt x="11" y="0"/>
                    <a:pt x="11" y="0"/>
                    <a:pt x="11" y="0"/>
                  </a:cubicBezTo>
                  <a:lnTo>
                    <a:pt x="15" y="2"/>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 name="Freeform 20"/>
            <p:cNvSpPr>
              <a:spLocks noEditPoints="1"/>
            </p:cNvSpPr>
            <p:nvPr/>
          </p:nvSpPr>
          <p:spPr bwMode="auto">
            <a:xfrm>
              <a:off x="511" y="591"/>
              <a:ext cx="57" cy="47"/>
            </a:xfrm>
            <a:custGeom>
              <a:avLst/>
              <a:gdLst>
                <a:gd name="T0" fmla="*/ 7 w 15"/>
                <a:gd name="T1" fmla="*/ 8 h 12"/>
                <a:gd name="T2" fmla="*/ 8 w 15"/>
                <a:gd name="T3" fmla="*/ 5 h 12"/>
                <a:gd name="T4" fmla="*/ 11 w 15"/>
                <a:gd name="T5" fmla="*/ 7 h 12"/>
                <a:gd name="T6" fmla="*/ 7 w 15"/>
                <a:gd name="T7" fmla="*/ 8 h 12"/>
                <a:gd name="T8" fmla="*/ 6 w 15"/>
                <a:gd name="T9" fmla="*/ 2 h 12"/>
                <a:gd name="T10" fmla="*/ 6 w 15"/>
                <a:gd name="T11" fmla="*/ 2 h 12"/>
                <a:gd name="T12" fmla="*/ 4 w 15"/>
                <a:gd name="T13" fmla="*/ 0 h 12"/>
                <a:gd name="T14" fmla="*/ 3 w 15"/>
                <a:gd name="T15" fmla="*/ 0 h 12"/>
                <a:gd name="T16" fmla="*/ 2 w 15"/>
                <a:gd name="T17" fmla="*/ 4 h 12"/>
                <a:gd name="T18" fmla="*/ 3 w 15"/>
                <a:gd name="T19" fmla="*/ 5 h 12"/>
                <a:gd name="T20" fmla="*/ 4 w 15"/>
                <a:gd name="T21" fmla="*/ 4 h 12"/>
                <a:gd name="T22" fmla="*/ 4 w 15"/>
                <a:gd name="T23" fmla="*/ 4 h 12"/>
                <a:gd name="T24" fmla="*/ 5 w 15"/>
                <a:gd name="T25" fmla="*/ 4 h 12"/>
                <a:gd name="T26" fmla="*/ 5 w 15"/>
                <a:gd name="T27" fmla="*/ 4 h 12"/>
                <a:gd name="T28" fmla="*/ 6 w 15"/>
                <a:gd name="T29" fmla="*/ 4 h 12"/>
                <a:gd name="T30" fmla="*/ 6 w 15"/>
                <a:gd name="T31" fmla="*/ 8 h 12"/>
                <a:gd name="T32" fmla="*/ 4 w 15"/>
                <a:gd name="T33" fmla="*/ 8 h 12"/>
                <a:gd name="T34" fmla="*/ 4 w 15"/>
                <a:gd name="T35" fmla="*/ 8 h 12"/>
                <a:gd name="T36" fmla="*/ 3 w 15"/>
                <a:gd name="T37" fmla="*/ 8 h 12"/>
                <a:gd name="T38" fmla="*/ 3 w 15"/>
                <a:gd name="T39" fmla="*/ 8 h 12"/>
                <a:gd name="T40" fmla="*/ 3 w 15"/>
                <a:gd name="T41" fmla="*/ 7 h 12"/>
                <a:gd name="T42" fmla="*/ 3 w 15"/>
                <a:gd name="T43" fmla="*/ 7 h 12"/>
                <a:gd name="T44" fmla="*/ 1 w 15"/>
                <a:gd name="T45" fmla="*/ 7 h 12"/>
                <a:gd name="T46" fmla="*/ 0 w 15"/>
                <a:gd name="T47" fmla="*/ 12 h 12"/>
                <a:gd name="T48" fmla="*/ 2 w 15"/>
                <a:gd name="T49" fmla="*/ 12 h 12"/>
                <a:gd name="T50" fmla="*/ 4 w 15"/>
                <a:gd name="T51" fmla="*/ 11 h 12"/>
                <a:gd name="T52" fmla="*/ 4 w 15"/>
                <a:gd name="T53" fmla="*/ 11 h 12"/>
                <a:gd name="T54" fmla="*/ 14 w 15"/>
                <a:gd name="T55" fmla="*/ 10 h 12"/>
                <a:gd name="T56" fmla="*/ 15 w 15"/>
                <a:gd name="T57" fmla="*/ 7 h 12"/>
                <a:gd name="T58" fmla="*/ 6 w 15"/>
                <a:gd name="T59"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 h="12">
                  <a:moveTo>
                    <a:pt x="7" y="8"/>
                  </a:moveTo>
                  <a:cubicBezTo>
                    <a:pt x="8" y="5"/>
                    <a:pt x="8" y="5"/>
                    <a:pt x="8" y="5"/>
                  </a:cubicBezTo>
                  <a:cubicBezTo>
                    <a:pt x="11" y="7"/>
                    <a:pt x="11" y="7"/>
                    <a:pt x="11" y="7"/>
                  </a:cubicBezTo>
                  <a:lnTo>
                    <a:pt x="7" y="8"/>
                  </a:lnTo>
                  <a:close/>
                  <a:moveTo>
                    <a:pt x="6" y="2"/>
                  </a:moveTo>
                  <a:cubicBezTo>
                    <a:pt x="6" y="2"/>
                    <a:pt x="6" y="2"/>
                    <a:pt x="6" y="2"/>
                  </a:cubicBezTo>
                  <a:cubicBezTo>
                    <a:pt x="5" y="1"/>
                    <a:pt x="4" y="1"/>
                    <a:pt x="4" y="0"/>
                  </a:cubicBezTo>
                  <a:cubicBezTo>
                    <a:pt x="3" y="0"/>
                    <a:pt x="3" y="0"/>
                    <a:pt x="3" y="0"/>
                  </a:cubicBezTo>
                  <a:cubicBezTo>
                    <a:pt x="2" y="4"/>
                    <a:pt x="2" y="4"/>
                    <a:pt x="2" y="4"/>
                  </a:cubicBezTo>
                  <a:cubicBezTo>
                    <a:pt x="3" y="5"/>
                    <a:pt x="3" y="5"/>
                    <a:pt x="3" y="5"/>
                  </a:cubicBezTo>
                  <a:cubicBezTo>
                    <a:pt x="3" y="4"/>
                    <a:pt x="3" y="4"/>
                    <a:pt x="4" y="4"/>
                  </a:cubicBezTo>
                  <a:cubicBezTo>
                    <a:pt x="4" y="3"/>
                    <a:pt x="4" y="3"/>
                    <a:pt x="4" y="4"/>
                  </a:cubicBezTo>
                  <a:cubicBezTo>
                    <a:pt x="4" y="4"/>
                    <a:pt x="4" y="4"/>
                    <a:pt x="5" y="4"/>
                  </a:cubicBezTo>
                  <a:cubicBezTo>
                    <a:pt x="5" y="4"/>
                    <a:pt x="5" y="4"/>
                    <a:pt x="5" y="4"/>
                  </a:cubicBezTo>
                  <a:cubicBezTo>
                    <a:pt x="6" y="4"/>
                    <a:pt x="6" y="4"/>
                    <a:pt x="6" y="4"/>
                  </a:cubicBezTo>
                  <a:cubicBezTo>
                    <a:pt x="6" y="8"/>
                    <a:pt x="6" y="8"/>
                    <a:pt x="6" y="8"/>
                  </a:cubicBezTo>
                  <a:cubicBezTo>
                    <a:pt x="4" y="8"/>
                    <a:pt x="4" y="8"/>
                    <a:pt x="4" y="8"/>
                  </a:cubicBezTo>
                  <a:cubicBezTo>
                    <a:pt x="4" y="8"/>
                    <a:pt x="4" y="8"/>
                    <a:pt x="4" y="8"/>
                  </a:cubicBezTo>
                  <a:cubicBezTo>
                    <a:pt x="4" y="8"/>
                    <a:pt x="3" y="8"/>
                    <a:pt x="3" y="8"/>
                  </a:cubicBezTo>
                  <a:cubicBezTo>
                    <a:pt x="3" y="8"/>
                    <a:pt x="3" y="8"/>
                    <a:pt x="3" y="8"/>
                  </a:cubicBezTo>
                  <a:cubicBezTo>
                    <a:pt x="3" y="8"/>
                    <a:pt x="3" y="7"/>
                    <a:pt x="3" y="7"/>
                  </a:cubicBezTo>
                  <a:cubicBezTo>
                    <a:pt x="3" y="7"/>
                    <a:pt x="3" y="7"/>
                    <a:pt x="3" y="7"/>
                  </a:cubicBezTo>
                  <a:cubicBezTo>
                    <a:pt x="1" y="7"/>
                    <a:pt x="1" y="7"/>
                    <a:pt x="1" y="7"/>
                  </a:cubicBezTo>
                  <a:cubicBezTo>
                    <a:pt x="0" y="12"/>
                    <a:pt x="0" y="12"/>
                    <a:pt x="0" y="12"/>
                  </a:cubicBezTo>
                  <a:cubicBezTo>
                    <a:pt x="2" y="12"/>
                    <a:pt x="2" y="12"/>
                    <a:pt x="2" y="12"/>
                  </a:cubicBezTo>
                  <a:cubicBezTo>
                    <a:pt x="2" y="12"/>
                    <a:pt x="3" y="11"/>
                    <a:pt x="4" y="11"/>
                  </a:cubicBezTo>
                  <a:cubicBezTo>
                    <a:pt x="4" y="11"/>
                    <a:pt x="4" y="11"/>
                    <a:pt x="4" y="11"/>
                  </a:cubicBezTo>
                  <a:cubicBezTo>
                    <a:pt x="14" y="10"/>
                    <a:pt x="14" y="10"/>
                    <a:pt x="14" y="10"/>
                  </a:cubicBezTo>
                  <a:cubicBezTo>
                    <a:pt x="15" y="7"/>
                    <a:pt x="15" y="7"/>
                    <a:pt x="15" y="7"/>
                  </a:cubicBezTo>
                  <a:lnTo>
                    <a:pt x="6" y="2"/>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8" name="Freeform 21"/>
            <p:cNvSpPr/>
            <p:nvPr/>
          </p:nvSpPr>
          <p:spPr bwMode="auto">
            <a:xfrm>
              <a:off x="511" y="638"/>
              <a:ext cx="49" cy="47"/>
            </a:xfrm>
            <a:custGeom>
              <a:avLst/>
              <a:gdLst>
                <a:gd name="T0" fmla="*/ 13 w 13"/>
                <a:gd name="T1" fmla="*/ 1 h 12"/>
                <a:gd name="T2" fmla="*/ 13 w 13"/>
                <a:gd name="T3" fmla="*/ 11 h 12"/>
                <a:gd name="T4" fmla="*/ 9 w 13"/>
                <a:gd name="T5" fmla="*/ 12 h 12"/>
                <a:gd name="T6" fmla="*/ 8 w 13"/>
                <a:gd name="T7" fmla="*/ 11 h 12"/>
                <a:gd name="T8" fmla="*/ 11 w 13"/>
                <a:gd name="T9" fmla="*/ 10 h 12"/>
                <a:gd name="T10" fmla="*/ 11 w 13"/>
                <a:gd name="T11" fmla="*/ 8 h 12"/>
                <a:gd name="T12" fmla="*/ 11 w 13"/>
                <a:gd name="T13" fmla="*/ 8 h 12"/>
                <a:gd name="T14" fmla="*/ 4 w 13"/>
                <a:gd name="T15" fmla="*/ 7 h 12"/>
                <a:gd name="T16" fmla="*/ 2 w 13"/>
                <a:gd name="T17" fmla="*/ 8 h 12"/>
                <a:gd name="T18" fmla="*/ 2 w 13"/>
                <a:gd name="T19" fmla="*/ 9 h 12"/>
                <a:gd name="T20" fmla="*/ 0 w 13"/>
                <a:gd name="T21" fmla="*/ 9 h 12"/>
                <a:gd name="T22" fmla="*/ 0 w 13"/>
                <a:gd name="T23" fmla="*/ 3 h 12"/>
                <a:gd name="T24" fmla="*/ 2 w 13"/>
                <a:gd name="T25" fmla="*/ 3 h 12"/>
                <a:gd name="T26" fmla="*/ 2 w 13"/>
                <a:gd name="T27" fmla="*/ 4 h 12"/>
                <a:gd name="T28" fmla="*/ 4 w 13"/>
                <a:gd name="T29" fmla="*/ 4 h 12"/>
                <a:gd name="T30" fmla="*/ 12 w 13"/>
                <a:gd name="T31" fmla="*/ 5 h 12"/>
                <a:gd name="T32" fmla="*/ 12 w 13"/>
                <a:gd name="T33" fmla="*/ 5 h 12"/>
                <a:gd name="T34" fmla="*/ 11 w 13"/>
                <a:gd name="T35" fmla="*/ 3 h 12"/>
                <a:gd name="T36" fmla="*/ 9 w 13"/>
                <a:gd name="T37" fmla="*/ 1 h 12"/>
                <a:gd name="T38" fmla="*/ 10 w 13"/>
                <a:gd name="T39" fmla="*/ 0 h 12"/>
                <a:gd name="T40" fmla="*/ 13 w 13"/>
                <a:gd name="T41"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 h="12">
                  <a:moveTo>
                    <a:pt x="13" y="1"/>
                  </a:moveTo>
                  <a:cubicBezTo>
                    <a:pt x="13" y="11"/>
                    <a:pt x="13" y="11"/>
                    <a:pt x="13" y="11"/>
                  </a:cubicBezTo>
                  <a:cubicBezTo>
                    <a:pt x="9" y="12"/>
                    <a:pt x="9" y="12"/>
                    <a:pt x="9" y="12"/>
                  </a:cubicBezTo>
                  <a:cubicBezTo>
                    <a:pt x="8" y="11"/>
                    <a:pt x="8" y="11"/>
                    <a:pt x="8" y="11"/>
                  </a:cubicBezTo>
                  <a:cubicBezTo>
                    <a:pt x="10" y="11"/>
                    <a:pt x="10" y="10"/>
                    <a:pt x="11" y="10"/>
                  </a:cubicBezTo>
                  <a:cubicBezTo>
                    <a:pt x="11" y="9"/>
                    <a:pt x="11" y="9"/>
                    <a:pt x="11" y="8"/>
                  </a:cubicBezTo>
                  <a:cubicBezTo>
                    <a:pt x="11" y="8"/>
                    <a:pt x="11" y="8"/>
                    <a:pt x="11" y="8"/>
                  </a:cubicBezTo>
                  <a:cubicBezTo>
                    <a:pt x="4" y="7"/>
                    <a:pt x="4" y="7"/>
                    <a:pt x="4" y="7"/>
                  </a:cubicBezTo>
                  <a:cubicBezTo>
                    <a:pt x="3" y="7"/>
                    <a:pt x="2" y="7"/>
                    <a:pt x="2" y="8"/>
                  </a:cubicBezTo>
                  <a:cubicBezTo>
                    <a:pt x="2" y="8"/>
                    <a:pt x="2" y="8"/>
                    <a:pt x="2" y="9"/>
                  </a:cubicBezTo>
                  <a:cubicBezTo>
                    <a:pt x="0" y="9"/>
                    <a:pt x="0" y="9"/>
                    <a:pt x="0" y="9"/>
                  </a:cubicBezTo>
                  <a:cubicBezTo>
                    <a:pt x="0" y="3"/>
                    <a:pt x="0" y="3"/>
                    <a:pt x="0" y="3"/>
                  </a:cubicBezTo>
                  <a:cubicBezTo>
                    <a:pt x="2" y="3"/>
                    <a:pt x="2" y="3"/>
                    <a:pt x="2" y="3"/>
                  </a:cubicBezTo>
                  <a:cubicBezTo>
                    <a:pt x="2" y="3"/>
                    <a:pt x="2" y="4"/>
                    <a:pt x="2" y="4"/>
                  </a:cubicBezTo>
                  <a:cubicBezTo>
                    <a:pt x="2" y="4"/>
                    <a:pt x="3" y="4"/>
                    <a:pt x="4" y="4"/>
                  </a:cubicBezTo>
                  <a:cubicBezTo>
                    <a:pt x="12" y="5"/>
                    <a:pt x="12" y="5"/>
                    <a:pt x="12" y="5"/>
                  </a:cubicBezTo>
                  <a:cubicBezTo>
                    <a:pt x="12" y="5"/>
                    <a:pt x="12" y="5"/>
                    <a:pt x="12" y="5"/>
                  </a:cubicBezTo>
                  <a:cubicBezTo>
                    <a:pt x="12" y="4"/>
                    <a:pt x="11" y="3"/>
                    <a:pt x="11" y="3"/>
                  </a:cubicBezTo>
                  <a:cubicBezTo>
                    <a:pt x="11" y="2"/>
                    <a:pt x="10" y="2"/>
                    <a:pt x="9" y="1"/>
                  </a:cubicBezTo>
                  <a:cubicBezTo>
                    <a:pt x="10" y="0"/>
                    <a:pt x="10" y="0"/>
                    <a:pt x="10" y="0"/>
                  </a:cubicBezTo>
                  <a:lnTo>
                    <a:pt x="13" y="1"/>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9" name="Freeform 22"/>
            <p:cNvSpPr/>
            <p:nvPr/>
          </p:nvSpPr>
          <p:spPr bwMode="auto">
            <a:xfrm>
              <a:off x="511" y="690"/>
              <a:ext cx="54" cy="47"/>
            </a:xfrm>
            <a:custGeom>
              <a:avLst/>
              <a:gdLst>
                <a:gd name="T0" fmla="*/ 13 w 14"/>
                <a:gd name="T1" fmla="*/ 0 h 12"/>
                <a:gd name="T2" fmla="*/ 14 w 14"/>
                <a:gd name="T3" fmla="*/ 9 h 12"/>
                <a:gd name="T4" fmla="*/ 11 w 14"/>
                <a:gd name="T5" fmla="*/ 11 h 12"/>
                <a:gd name="T6" fmla="*/ 10 w 14"/>
                <a:gd name="T7" fmla="*/ 10 h 12"/>
                <a:gd name="T8" fmla="*/ 12 w 14"/>
                <a:gd name="T9" fmla="*/ 8 h 12"/>
                <a:gd name="T10" fmla="*/ 12 w 14"/>
                <a:gd name="T11" fmla="*/ 6 h 12"/>
                <a:gd name="T12" fmla="*/ 12 w 14"/>
                <a:gd name="T13" fmla="*/ 5 h 12"/>
                <a:gd name="T14" fmla="*/ 11 w 14"/>
                <a:gd name="T15" fmla="*/ 4 h 12"/>
                <a:gd name="T16" fmla="*/ 9 w 14"/>
                <a:gd name="T17" fmla="*/ 5 h 12"/>
                <a:gd name="T18" fmla="*/ 9 w 14"/>
                <a:gd name="T19" fmla="*/ 5 h 12"/>
                <a:gd name="T20" fmla="*/ 9 w 14"/>
                <a:gd name="T21" fmla="*/ 6 h 12"/>
                <a:gd name="T22" fmla="*/ 11 w 14"/>
                <a:gd name="T23" fmla="*/ 7 h 12"/>
                <a:gd name="T24" fmla="*/ 11 w 14"/>
                <a:gd name="T25" fmla="*/ 8 h 12"/>
                <a:gd name="T26" fmla="*/ 5 w 14"/>
                <a:gd name="T27" fmla="*/ 8 h 12"/>
                <a:gd name="T28" fmla="*/ 5 w 14"/>
                <a:gd name="T29" fmla="*/ 7 h 12"/>
                <a:gd name="T30" fmla="*/ 7 w 14"/>
                <a:gd name="T31" fmla="*/ 7 h 12"/>
                <a:gd name="T32" fmla="*/ 7 w 14"/>
                <a:gd name="T33" fmla="*/ 5 h 12"/>
                <a:gd name="T34" fmla="*/ 7 w 14"/>
                <a:gd name="T35" fmla="*/ 5 h 12"/>
                <a:gd name="T36" fmla="*/ 4 w 14"/>
                <a:gd name="T37" fmla="*/ 5 h 12"/>
                <a:gd name="T38" fmla="*/ 3 w 14"/>
                <a:gd name="T39" fmla="*/ 6 h 12"/>
                <a:gd name="T40" fmla="*/ 2 w 14"/>
                <a:gd name="T41" fmla="*/ 7 h 12"/>
                <a:gd name="T42" fmla="*/ 4 w 14"/>
                <a:gd name="T43" fmla="*/ 9 h 12"/>
                <a:gd name="T44" fmla="*/ 7 w 14"/>
                <a:gd name="T45" fmla="*/ 11 h 12"/>
                <a:gd name="T46" fmla="*/ 6 w 14"/>
                <a:gd name="T47" fmla="*/ 12 h 12"/>
                <a:gd name="T48" fmla="*/ 1 w 14"/>
                <a:gd name="T49" fmla="*/ 11 h 12"/>
                <a:gd name="T50" fmla="*/ 0 w 14"/>
                <a:gd name="T51" fmla="*/ 1 h 12"/>
                <a:gd name="T52" fmla="*/ 2 w 14"/>
                <a:gd name="T53" fmla="*/ 1 h 12"/>
                <a:gd name="T54" fmla="*/ 2 w 14"/>
                <a:gd name="T55" fmla="*/ 2 h 12"/>
                <a:gd name="T56" fmla="*/ 4 w 14"/>
                <a:gd name="T57" fmla="*/ 2 h 12"/>
                <a:gd name="T58" fmla="*/ 9 w 14"/>
                <a:gd name="T59" fmla="*/ 1 h 12"/>
                <a:gd name="T60" fmla="*/ 11 w 14"/>
                <a:gd name="T61" fmla="*/ 1 h 12"/>
                <a:gd name="T62" fmla="*/ 12 w 14"/>
                <a:gd name="T63" fmla="*/ 0 h 12"/>
                <a:gd name="T64" fmla="*/ 13 w 14"/>
                <a:gd name="T6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 h="12">
                  <a:moveTo>
                    <a:pt x="13" y="0"/>
                  </a:moveTo>
                  <a:cubicBezTo>
                    <a:pt x="14" y="9"/>
                    <a:pt x="14" y="9"/>
                    <a:pt x="14" y="9"/>
                  </a:cubicBezTo>
                  <a:cubicBezTo>
                    <a:pt x="11" y="11"/>
                    <a:pt x="11" y="11"/>
                    <a:pt x="11" y="11"/>
                  </a:cubicBezTo>
                  <a:cubicBezTo>
                    <a:pt x="10" y="10"/>
                    <a:pt x="10" y="10"/>
                    <a:pt x="10" y="10"/>
                  </a:cubicBezTo>
                  <a:cubicBezTo>
                    <a:pt x="11" y="10"/>
                    <a:pt x="11" y="9"/>
                    <a:pt x="12" y="8"/>
                  </a:cubicBezTo>
                  <a:cubicBezTo>
                    <a:pt x="12" y="7"/>
                    <a:pt x="12" y="6"/>
                    <a:pt x="12" y="6"/>
                  </a:cubicBezTo>
                  <a:cubicBezTo>
                    <a:pt x="12" y="5"/>
                    <a:pt x="12" y="5"/>
                    <a:pt x="12" y="5"/>
                  </a:cubicBezTo>
                  <a:cubicBezTo>
                    <a:pt x="12" y="4"/>
                    <a:pt x="11" y="4"/>
                    <a:pt x="11" y="4"/>
                  </a:cubicBezTo>
                  <a:cubicBezTo>
                    <a:pt x="9" y="5"/>
                    <a:pt x="9" y="5"/>
                    <a:pt x="9" y="5"/>
                  </a:cubicBezTo>
                  <a:cubicBezTo>
                    <a:pt x="9" y="5"/>
                    <a:pt x="9" y="5"/>
                    <a:pt x="9" y="5"/>
                  </a:cubicBezTo>
                  <a:cubicBezTo>
                    <a:pt x="9" y="6"/>
                    <a:pt x="9" y="6"/>
                    <a:pt x="9" y="6"/>
                  </a:cubicBezTo>
                  <a:cubicBezTo>
                    <a:pt x="10" y="7"/>
                    <a:pt x="10" y="7"/>
                    <a:pt x="11" y="7"/>
                  </a:cubicBezTo>
                  <a:cubicBezTo>
                    <a:pt x="11" y="8"/>
                    <a:pt x="11" y="8"/>
                    <a:pt x="11" y="8"/>
                  </a:cubicBezTo>
                  <a:cubicBezTo>
                    <a:pt x="5" y="8"/>
                    <a:pt x="5" y="8"/>
                    <a:pt x="5" y="8"/>
                  </a:cubicBezTo>
                  <a:cubicBezTo>
                    <a:pt x="5" y="7"/>
                    <a:pt x="5" y="7"/>
                    <a:pt x="5" y="7"/>
                  </a:cubicBezTo>
                  <a:cubicBezTo>
                    <a:pt x="6" y="7"/>
                    <a:pt x="6" y="7"/>
                    <a:pt x="7" y="7"/>
                  </a:cubicBezTo>
                  <a:cubicBezTo>
                    <a:pt x="7" y="6"/>
                    <a:pt x="7" y="6"/>
                    <a:pt x="7" y="5"/>
                  </a:cubicBezTo>
                  <a:cubicBezTo>
                    <a:pt x="7" y="5"/>
                    <a:pt x="7" y="5"/>
                    <a:pt x="7" y="5"/>
                  </a:cubicBezTo>
                  <a:cubicBezTo>
                    <a:pt x="4" y="5"/>
                    <a:pt x="4" y="5"/>
                    <a:pt x="4" y="5"/>
                  </a:cubicBezTo>
                  <a:cubicBezTo>
                    <a:pt x="3" y="5"/>
                    <a:pt x="3" y="5"/>
                    <a:pt x="3" y="6"/>
                  </a:cubicBezTo>
                  <a:cubicBezTo>
                    <a:pt x="2" y="6"/>
                    <a:pt x="2" y="6"/>
                    <a:pt x="2" y="7"/>
                  </a:cubicBezTo>
                  <a:cubicBezTo>
                    <a:pt x="3" y="8"/>
                    <a:pt x="3" y="8"/>
                    <a:pt x="4" y="9"/>
                  </a:cubicBezTo>
                  <a:cubicBezTo>
                    <a:pt x="4" y="10"/>
                    <a:pt x="5" y="11"/>
                    <a:pt x="7" y="11"/>
                  </a:cubicBezTo>
                  <a:cubicBezTo>
                    <a:pt x="6" y="12"/>
                    <a:pt x="6" y="12"/>
                    <a:pt x="6" y="12"/>
                  </a:cubicBezTo>
                  <a:cubicBezTo>
                    <a:pt x="1" y="11"/>
                    <a:pt x="1" y="11"/>
                    <a:pt x="1" y="11"/>
                  </a:cubicBezTo>
                  <a:cubicBezTo>
                    <a:pt x="0" y="1"/>
                    <a:pt x="0" y="1"/>
                    <a:pt x="0" y="1"/>
                  </a:cubicBezTo>
                  <a:cubicBezTo>
                    <a:pt x="2" y="1"/>
                    <a:pt x="2" y="1"/>
                    <a:pt x="2" y="1"/>
                  </a:cubicBezTo>
                  <a:cubicBezTo>
                    <a:pt x="2" y="2"/>
                    <a:pt x="2" y="2"/>
                    <a:pt x="2" y="2"/>
                  </a:cubicBezTo>
                  <a:cubicBezTo>
                    <a:pt x="3" y="2"/>
                    <a:pt x="3" y="2"/>
                    <a:pt x="4" y="2"/>
                  </a:cubicBezTo>
                  <a:cubicBezTo>
                    <a:pt x="9" y="1"/>
                    <a:pt x="9" y="1"/>
                    <a:pt x="9" y="1"/>
                  </a:cubicBezTo>
                  <a:cubicBezTo>
                    <a:pt x="10" y="1"/>
                    <a:pt x="11" y="1"/>
                    <a:pt x="11" y="1"/>
                  </a:cubicBezTo>
                  <a:cubicBezTo>
                    <a:pt x="12" y="1"/>
                    <a:pt x="12" y="0"/>
                    <a:pt x="12" y="0"/>
                  </a:cubicBezTo>
                  <a:lnTo>
                    <a:pt x="13" y="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0" name="Freeform 23"/>
            <p:cNvSpPr/>
            <p:nvPr/>
          </p:nvSpPr>
          <p:spPr bwMode="auto">
            <a:xfrm>
              <a:off x="526" y="757"/>
              <a:ext cx="57" cy="54"/>
            </a:xfrm>
            <a:custGeom>
              <a:avLst/>
              <a:gdLst>
                <a:gd name="T0" fmla="*/ 14 w 15"/>
                <a:gd name="T1" fmla="*/ 7 h 14"/>
                <a:gd name="T2" fmla="*/ 14 w 15"/>
                <a:gd name="T3" fmla="*/ 7 h 14"/>
                <a:gd name="T4" fmla="*/ 15 w 15"/>
                <a:gd name="T5" fmla="*/ 8 h 14"/>
                <a:gd name="T6" fmla="*/ 11 w 15"/>
                <a:gd name="T7" fmla="*/ 10 h 14"/>
                <a:gd name="T8" fmla="*/ 10 w 15"/>
                <a:gd name="T9" fmla="*/ 9 h 14"/>
                <a:gd name="T10" fmla="*/ 12 w 15"/>
                <a:gd name="T11" fmla="*/ 7 h 14"/>
                <a:gd name="T12" fmla="*/ 12 w 15"/>
                <a:gd name="T13" fmla="*/ 5 h 14"/>
                <a:gd name="T14" fmla="*/ 10 w 15"/>
                <a:gd name="T15" fmla="*/ 3 h 14"/>
                <a:gd name="T16" fmla="*/ 6 w 15"/>
                <a:gd name="T17" fmla="*/ 4 h 14"/>
                <a:gd name="T18" fmla="*/ 3 w 15"/>
                <a:gd name="T19" fmla="*/ 6 h 14"/>
                <a:gd name="T20" fmla="*/ 3 w 15"/>
                <a:gd name="T21" fmla="*/ 8 h 14"/>
                <a:gd name="T22" fmla="*/ 4 w 15"/>
                <a:gd name="T23" fmla="*/ 10 h 14"/>
                <a:gd name="T24" fmla="*/ 6 w 15"/>
                <a:gd name="T25" fmla="*/ 10 h 14"/>
                <a:gd name="T26" fmla="*/ 6 w 15"/>
                <a:gd name="T27" fmla="*/ 9 h 14"/>
                <a:gd name="T28" fmla="*/ 6 w 15"/>
                <a:gd name="T29" fmla="*/ 8 h 14"/>
                <a:gd name="T30" fmla="*/ 8 w 15"/>
                <a:gd name="T31" fmla="*/ 7 h 14"/>
                <a:gd name="T32" fmla="*/ 10 w 15"/>
                <a:gd name="T33" fmla="*/ 12 h 14"/>
                <a:gd name="T34" fmla="*/ 8 w 15"/>
                <a:gd name="T35" fmla="*/ 13 h 14"/>
                <a:gd name="T36" fmla="*/ 7 w 15"/>
                <a:gd name="T37" fmla="*/ 12 h 14"/>
                <a:gd name="T38" fmla="*/ 6 w 15"/>
                <a:gd name="T39" fmla="*/ 12 h 14"/>
                <a:gd name="T40" fmla="*/ 3 w 15"/>
                <a:gd name="T41" fmla="*/ 14 h 14"/>
                <a:gd name="T42" fmla="*/ 2 w 15"/>
                <a:gd name="T43" fmla="*/ 12 h 14"/>
                <a:gd name="T44" fmla="*/ 3 w 15"/>
                <a:gd name="T45" fmla="*/ 11 h 14"/>
                <a:gd name="T46" fmla="*/ 1 w 15"/>
                <a:gd name="T47" fmla="*/ 10 h 14"/>
                <a:gd name="T48" fmla="*/ 0 w 15"/>
                <a:gd name="T49" fmla="*/ 8 h 14"/>
                <a:gd name="T50" fmla="*/ 1 w 15"/>
                <a:gd name="T51" fmla="*/ 4 h 14"/>
                <a:gd name="T52" fmla="*/ 5 w 15"/>
                <a:gd name="T53" fmla="*/ 1 h 14"/>
                <a:gd name="T54" fmla="*/ 10 w 15"/>
                <a:gd name="T55" fmla="*/ 1 h 14"/>
                <a:gd name="T56" fmla="*/ 14 w 15"/>
                <a:gd name="T57" fmla="*/ 4 h 14"/>
                <a:gd name="T58" fmla="*/ 14 w 15"/>
                <a:gd name="T59" fmla="*/ 5 h 14"/>
                <a:gd name="T60" fmla="*/ 14 w 15"/>
                <a:gd name="T61"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 h="14">
                  <a:moveTo>
                    <a:pt x="14" y="7"/>
                  </a:moveTo>
                  <a:cubicBezTo>
                    <a:pt x="14" y="7"/>
                    <a:pt x="14" y="7"/>
                    <a:pt x="14" y="7"/>
                  </a:cubicBezTo>
                  <a:cubicBezTo>
                    <a:pt x="15" y="8"/>
                    <a:pt x="15" y="8"/>
                    <a:pt x="15" y="8"/>
                  </a:cubicBezTo>
                  <a:cubicBezTo>
                    <a:pt x="11" y="10"/>
                    <a:pt x="11" y="10"/>
                    <a:pt x="11" y="10"/>
                  </a:cubicBezTo>
                  <a:cubicBezTo>
                    <a:pt x="10" y="9"/>
                    <a:pt x="10" y="9"/>
                    <a:pt x="10" y="9"/>
                  </a:cubicBezTo>
                  <a:cubicBezTo>
                    <a:pt x="11" y="8"/>
                    <a:pt x="12" y="7"/>
                    <a:pt x="12" y="7"/>
                  </a:cubicBezTo>
                  <a:cubicBezTo>
                    <a:pt x="12" y="6"/>
                    <a:pt x="12" y="5"/>
                    <a:pt x="12" y="5"/>
                  </a:cubicBezTo>
                  <a:cubicBezTo>
                    <a:pt x="12" y="4"/>
                    <a:pt x="11" y="3"/>
                    <a:pt x="10" y="3"/>
                  </a:cubicBezTo>
                  <a:cubicBezTo>
                    <a:pt x="9" y="3"/>
                    <a:pt x="8" y="3"/>
                    <a:pt x="6" y="4"/>
                  </a:cubicBezTo>
                  <a:cubicBezTo>
                    <a:pt x="5" y="4"/>
                    <a:pt x="4" y="5"/>
                    <a:pt x="3" y="6"/>
                  </a:cubicBezTo>
                  <a:cubicBezTo>
                    <a:pt x="2" y="7"/>
                    <a:pt x="2" y="7"/>
                    <a:pt x="3" y="8"/>
                  </a:cubicBezTo>
                  <a:cubicBezTo>
                    <a:pt x="3" y="9"/>
                    <a:pt x="3" y="9"/>
                    <a:pt x="4" y="10"/>
                  </a:cubicBezTo>
                  <a:cubicBezTo>
                    <a:pt x="4" y="10"/>
                    <a:pt x="5" y="10"/>
                    <a:pt x="6" y="10"/>
                  </a:cubicBezTo>
                  <a:cubicBezTo>
                    <a:pt x="6" y="9"/>
                    <a:pt x="6" y="9"/>
                    <a:pt x="6" y="9"/>
                  </a:cubicBezTo>
                  <a:cubicBezTo>
                    <a:pt x="7" y="9"/>
                    <a:pt x="6" y="8"/>
                    <a:pt x="6" y="8"/>
                  </a:cubicBezTo>
                  <a:cubicBezTo>
                    <a:pt x="8" y="7"/>
                    <a:pt x="8" y="7"/>
                    <a:pt x="8" y="7"/>
                  </a:cubicBezTo>
                  <a:cubicBezTo>
                    <a:pt x="10" y="12"/>
                    <a:pt x="10" y="12"/>
                    <a:pt x="10" y="12"/>
                  </a:cubicBezTo>
                  <a:cubicBezTo>
                    <a:pt x="8" y="13"/>
                    <a:pt x="8" y="13"/>
                    <a:pt x="8" y="13"/>
                  </a:cubicBezTo>
                  <a:cubicBezTo>
                    <a:pt x="8" y="12"/>
                    <a:pt x="8" y="12"/>
                    <a:pt x="7" y="12"/>
                  </a:cubicBezTo>
                  <a:cubicBezTo>
                    <a:pt x="7" y="12"/>
                    <a:pt x="7" y="12"/>
                    <a:pt x="6" y="12"/>
                  </a:cubicBezTo>
                  <a:cubicBezTo>
                    <a:pt x="3" y="14"/>
                    <a:pt x="3" y="14"/>
                    <a:pt x="3" y="14"/>
                  </a:cubicBezTo>
                  <a:cubicBezTo>
                    <a:pt x="2" y="12"/>
                    <a:pt x="2" y="12"/>
                    <a:pt x="2" y="12"/>
                  </a:cubicBezTo>
                  <a:cubicBezTo>
                    <a:pt x="3" y="11"/>
                    <a:pt x="3" y="11"/>
                    <a:pt x="3" y="11"/>
                  </a:cubicBezTo>
                  <a:cubicBezTo>
                    <a:pt x="2" y="11"/>
                    <a:pt x="2" y="10"/>
                    <a:pt x="1" y="10"/>
                  </a:cubicBezTo>
                  <a:cubicBezTo>
                    <a:pt x="1" y="9"/>
                    <a:pt x="1" y="9"/>
                    <a:pt x="0" y="8"/>
                  </a:cubicBezTo>
                  <a:cubicBezTo>
                    <a:pt x="0" y="7"/>
                    <a:pt x="0" y="5"/>
                    <a:pt x="1" y="4"/>
                  </a:cubicBezTo>
                  <a:cubicBezTo>
                    <a:pt x="2" y="3"/>
                    <a:pt x="3" y="2"/>
                    <a:pt x="5" y="1"/>
                  </a:cubicBezTo>
                  <a:cubicBezTo>
                    <a:pt x="7" y="0"/>
                    <a:pt x="9" y="0"/>
                    <a:pt x="10" y="1"/>
                  </a:cubicBezTo>
                  <a:cubicBezTo>
                    <a:pt x="12" y="1"/>
                    <a:pt x="13" y="2"/>
                    <a:pt x="14" y="4"/>
                  </a:cubicBezTo>
                  <a:cubicBezTo>
                    <a:pt x="14" y="4"/>
                    <a:pt x="14" y="5"/>
                    <a:pt x="14" y="5"/>
                  </a:cubicBezTo>
                  <a:cubicBezTo>
                    <a:pt x="14" y="6"/>
                    <a:pt x="14" y="6"/>
                    <a:pt x="14" y="7"/>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1" name="Freeform 24"/>
            <p:cNvSpPr>
              <a:spLocks noEditPoints="1"/>
            </p:cNvSpPr>
            <p:nvPr/>
          </p:nvSpPr>
          <p:spPr bwMode="auto">
            <a:xfrm>
              <a:off x="540" y="796"/>
              <a:ext cx="62" cy="69"/>
            </a:xfrm>
            <a:custGeom>
              <a:avLst/>
              <a:gdLst>
                <a:gd name="T0" fmla="*/ 11 w 16"/>
                <a:gd name="T1" fmla="*/ 5 h 18"/>
                <a:gd name="T2" fmla="*/ 12 w 16"/>
                <a:gd name="T3" fmla="*/ 5 h 18"/>
                <a:gd name="T4" fmla="*/ 13 w 16"/>
                <a:gd name="T5" fmla="*/ 6 h 18"/>
                <a:gd name="T6" fmla="*/ 14 w 16"/>
                <a:gd name="T7" fmla="*/ 8 h 18"/>
                <a:gd name="T8" fmla="*/ 13 w 16"/>
                <a:gd name="T9" fmla="*/ 9 h 18"/>
                <a:gd name="T10" fmla="*/ 11 w 16"/>
                <a:gd name="T11" fmla="*/ 9 h 18"/>
                <a:gd name="T12" fmla="*/ 9 w 16"/>
                <a:gd name="T13" fmla="*/ 7 h 18"/>
                <a:gd name="T14" fmla="*/ 9 w 16"/>
                <a:gd name="T15" fmla="*/ 7 h 18"/>
                <a:gd name="T16" fmla="*/ 9 w 16"/>
                <a:gd name="T17" fmla="*/ 7 h 18"/>
                <a:gd name="T18" fmla="*/ 11 w 16"/>
                <a:gd name="T19" fmla="*/ 5 h 18"/>
                <a:gd name="T20" fmla="*/ 10 w 16"/>
                <a:gd name="T21" fmla="*/ 1 h 18"/>
                <a:gd name="T22" fmla="*/ 11 w 16"/>
                <a:gd name="T23" fmla="*/ 2 h 18"/>
                <a:gd name="T24" fmla="*/ 9 w 16"/>
                <a:gd name="T25" fmla="*/ 3 h 18"/>
                <a:gd name="T26" fmla="*/ 4 w 16"/>
                <a:gd name="T27" fmla="*/ 6 h 18"/>
                <a:gd name="T28" fmla="*/ 3 w 16"/>
                <a:gd name="T29" fmla="*/ 6 h 18"/>
                <a:gd name="T30" fmla="*/ 2 w 16"/>
                <a:gd name="T31" fmla="*/ 5 h 18"/>
                <a:gd name="T32" fmla="*/ 0 w 16"/>
                <a:gd name="T33" fmla="*/ 6 h 18"/>
                <a:gd name="T34" fmla="*/ 3 w 16"/>
                <a:gd name="T35" fmla="*/ 11 h 18"/>
                <a:gd name="T36" fmla="*/ 5 w 16"/>
                <a:gd name="T37" fmla="*/ 11 h 18"/>
                <a:gd name="T38" fmla="*/ 4 w 16"/>
                <a:gd name="T39" fmla="*/ 9 h 18"/>
                <a:gd name="T40" fmla="*/ 6 w 16"/>
                <a:gd name="T41" fmla="*/ 8 h 18"/>
                <a:gd name="T42" fmla="*/ 7 w 16"/>
                <a:gd name="T43" fmla="*/ 7 h 18"/>
                <a:gd name="T44" fmla="*/ 8 w 16"/>
                <a:gd name="T45" fmla="*/ 8 h 18"/>
                <a:gd name="T46" fmla="*/ 5 w 16"/>
                <a:gd name="T47" fmla="*/ 14 h 18"/>
                <a:gd name="T48" fmla="*/ 7 w 16"/>
                <a:gd name="T49" fmla="*/ 18 h 18"/>
                <a:gd name="T50" fmla="*/ 8 w 16"/>
                <a:gd name="T51" fmla="*/ 17 h 18"/>
                <a:gd name="T52" fmla="*/ 8 w 16"/>
                <a:gd name="T53" fmla="*/ 16 h 18"/>
                <a:gd name="T54" fmla="*/ 8 w 16"/>
                <a:gd name="T55" fmla="*/ 15 h 18"/>
                <a:gd name="T56" fmla="*/ 10 w 16"/>
                <a:gd name="T57" fmla="*/ 11 h 18"/>
                <a:gd name="T58" fmla="*/ 12 w 16"/>
                <a:gd name="T59" fmla="*/ 12 h 18"/>
                <a:gd name="T60" fmla="*/ 14 w 16"/>
                <a:gd name="T61" fmla="*/ 12 h 18"/>
                <a:gd name="T62" fmla="*/ 16 w 16"/>
                <a:gd name="T63" fmla="*/ 9 h 18"/>
                <a:gd name="T64" fmla="*/ 15 w 16"/>
                <a:gd name="T65" fmla="*/ 6 h 18"/>
                <a:gd name="T66" fmla="*/ 12 w 16"/>
                <a:gd name="T67" fmla="*/ 0 h 18"/>
                <a:gd name="T68" fmla="*/ 10 w 16"/>
                <a:gd name="T69"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 h="18">
                  <a:moveTo>
                    <a:pt x="11" y="5"/>
                  </a:moveTo>
                  <a:cubicBezTo>
                    <a:pt x="12" y="5"/>
                    <a:pt x="12" y="5"/>
                    <a:pt x="12" y="5"/>
                  </a:cubicBezTo>
                  <a:cubicBezTo>
                    <a:pt x="13" y="5"/>
                    <a:pt x="13" y="5"/>
                    <a:pt x="13" y="6"/>
                  </a:cubicBezTo>
                  <a:cubicBezTo>
                    <a:pt x="14" y="7"/>
                    <a:pt x="14" y="7"/>
                    <a:pt x="14" y="8"/>
                  </a:cubicBezTo>
                  <a:cubicBezTo>
                    <a:pt x="14" y="8"/>
                    <a:pt x="13" y="9"/>
                    <a:pt x="13" y="9"/>
                  </a:cubicBezTo>
                  <a:cubicBezTo>
                    <a:pt x="12" y="9"/>
                    <a:pt x="12" y="9"/>
                    <a:pt x="11" y="9"/>
                  </a:cubicBezTo>
                  <a:cubicBezTo>
                    <a:pt x="10" y="9"/>
                    <a:pt x="10" y="8"/>
                    <a:pt x="9" y="7"/>
                  </a:cubicBezTo>
                  <a:cubicBezTo>
                    <a:pt x="9" y="7"/>
                    <a:pt x="9" y="7"/>
                    <a:pt x="9" y="7"/>
                  </a:cubicBezTo>
                  <a:cubicBezTo>
                    <a:pt x="9" y="7"/>
                    <a:pt x="9" y="7"/>
                    <a:pt x="9" y="7"/>
                  </a:cubicBezTo>
                  <a:lnTo>
                    <a:pt x="11" y="5"/>
                  </a:lnTo>
                  <a:close/>
                  <a:moveTo>
                    <a:pt x="10" y="1"/>
                  </a:moveTo>
                  <a:cubicBezTo>
                    <a:pt x="11" y="1"/>
                    <a:pt x="11" y="2"/>
                    <a:pt x="11" y="2"/>
                  </a:cubicBezTo>
                  <a:cubicBezTo>
                    <a:pt x="10" y="2"/>
                    <a:pt x="10" y="3"/>
                    <a:pt x="9" y="3"/>
                  </a:cubicBezTo>
                  <a:cubicBezTo>
                    <a:pt x="4" y="6"/>
                    <a:pt x="4" y="6"/>
                    <a:pt x="4" y="6"/>
                  </a:cubicBezTo>
                  <a:cubicBezTo>
                    <a:pt x="4" y="6"/>
                    <a:pt x="3" y="6"/>
                    <a:pt x="3" y="6"/>
                  </a:cubicBezTo>
                  <a:cubicBezTo>
                    <a:pt x="2" y="6"/>
                    <a:pt x="2" y="6"/>
                    <a:pt x="2" y="5"/>
                  </a:cubicBezTo>
                  <a:cubicBezTo>
                    <a:pt x="0" y="6"/>
                    <a:pt x="0" y="6"/>
                    <a:pt x="0" y="6"/>
                  </a:cubicBezTo>
                  <a:cubicBezTo>
                    <a:pt x="3" y="11"/>
                    <a:pt x="3" y="11"/>
                    <a:pt x="3" y="11"/>
                  </a:cubicBezTo>
                  <a:cubicBezTo>
                    <a:pt x="5" y="11"/>
                    <a:pt x="5" y="11"/>
                    <a:pt x="5" y="11"/>
                  </a:cubicBezTo>
                  <a:cubicBezTo>
                    <a:pt x="4" y="10"/>
                    <a:pt x="4" y="10"/>
                    <a:pt x="4" y="9"/>
                  </a:cubicBezTo>
                  <a:cubicBezTo>
                    <a:pt x="5" y="9"/>
                    <a:pt x="5" y="9"/>
                    <a:pt x="6" y="8"/>
                  </a:cubicBezTo>
                  <a:cubicBezTo>
                    <a:pt x="7" y="7"/>
                    <a:pt x="7" y="7"/>
                    <a:pt x="7" y="7"/>
                  </a:cubicBezTo>
                  <a:cubicBezTo>
                    <a:pt x="8" y="8"/>
                    <a:pt x="8" y="8"/>
                    <a:pt x="8" y="8"/>
                  </a:cubicBezTo>
                  <a:cubicBezTo>
                    <a:pt x="5" y="14"/>
                    <a:pt x="5" y="14"/>
                    <a:pt x="5" y="14"/>
                  </a:cubicBezTo>
                  <a:cubicBezTo>
                    <a:pt x="7" y="18"/>
                    <a:pt x="7" y="18"/>
                    <a:pt x="7" y="18"/>
                  </a:cubicBezTo>
                  <a:cubicBezTo>
                    <a:pt x="8" y="17"/>
                    <a:pt x="8" y="17"/>
                    <a:pt x="8" y="17"/>
                  </a:cubicBezTo>
                  <a:cubicBezTo>
                    <a:pt x="8" y="17"/>
                    <a:pt x="8" y="16"/>
                    <a:pt x="8" y="16"/>
                  </a:cubicBezTo>
                  <a:cubicBezTo>
                    <a:pt x="8" y="16"/>
                    <a:pt x="8" y="15"/>
                    <a:pt x="8" y="15"/>
                  </a:cubicBezTo>
                  <a:cubicBezTo>
                    <a:pt x="10" y="11"/>
                    <a:pt x="10" y="11"/>
                    <a:pt x="10" y="11"/>
                  </a:cubicBezTo>
                  <a:cubicBezTo>
                    <a:pt x="11" y="12"/>
                    <a:pt x="11" y="12"/>
                    <a:pt x="12" y="12"/>
                  </a:cubicBezTo>
                  <a:cubicBezTo>
                    <a:pt x="13" y="12"/>
                    <a:pt x="13" y="12"/>
                    <a:pt x="14" y="12"/>
                  </a:cubicBezTo>
                  <a:cubicBezTo>
                    <a:pt x="15" y="11"/>
                    <a:pt x="16" y="10"/>
                    <a:pt x="16" y="9"/>
                  </a:cubicBezTo>
                  <a:cubicBezTo>
                    <a:pt x="16" y="9"/>
                    <a:pt x="16" y="7"/>
                    <a:pt x="15" y="6"/>
                  </a:cubicBezTo>
                  <a:cubicBezTo>
                    <a:pt x="12" y="0"/>
                    <a:pt x="12" y="0"/>
                    <a:pt x="12" y="0"/>
                  </a:cubicBezTo>
                  <a:lnTo>
                    <a:pt x="10" y="1"/>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2" name="Freeform 25"/>
            <p:cNvSpPr/>
            <p:nvPr/>
          </p:nvSpPr>
          <p:spPr bwMode="auto">
            <a:xfrm>
              <a:off x="568" y="838"/>
              <a:ext cx="59" cy="52"/>
            </a:xfrm>
            <a:custGeom>
              <a:avLst/>
              <a:gdLst>
                <a:gd name="T0" fmla="*/ 11 w 15"/>
                <a:gd name="T1" fmla="*/ 0 h 13"/>
                <a:gd name="T2" fmla="*/ 15 w 15"/>
                <a:gd name="T3" fmla="*/ 5 h 13"/>
                <a:gd name="T4" fmla="*/ 13 w 15"/>
                <a:gd name="T5" fmla="*/ 6 h 13"/>
                <a:gd name="T6" fmla="*/ 12 w 15"/>
                <a:gd name="T7" fmla="*/ 5 h 13"/>
                <a:gd name="T8" fmla="*/ 10 w 15"/>
                <a:gd name="T9" fmla="*/ 6 h 13"/>
                <a:gd name="T10" fmla="*/ 6 w 15"/>
                <a:gd name="T11" fmla="*/ 9 h 13"/>
                <a:gd name="T12" fmla="*/ 5 w 15"/>
                <a:gd name="T13" fmla="*/ 11 h 13"/>
                <a:gd name="T14" fmla="*/ 5 w 15"/>
                <a:gd name="T15" fmla="*/ 12 h 13"/>
                <a:gd name="T16" fmla="*/ 4 w 15"/>
                <a:gd name="T17" fmla="*/ 13 h 13"/>
                <a:gd name="T18" fmla="*/ 0 w 15"/>
                <a:gd name="T19" fmla="*/ 8 h 13"/>
                <a:gd name="T20" fmla="*/ 2 w 15"/>
                <a:gd name="T21" fmla="*/ 7 h 13"/>
                <a:gd name="T22" fmla="*/ 3 w 15"/>
                <a:gd name="T23" fmla="*/ 8 h 13"/>
                <a:gd name="T24" fmla="*/ 5 w 15"/>
                <a:gd name="T25" fmla="*/ 7 h 13"/>
                <a:gd name="T26" fmla="*/ 9 w 15"/>
                <a:gd name="T27" fmla="*/ 4 h 13"/>
                <a:gd name="T28" fmla="*/ 10 w 15"/>
                <a:gd name="T29" fmla="*/ 2 h 13"/>
                <a:gd name="T30" fmla="*/ 10 w 15"/>
                <a:gd name="T31" fmla="*/ 1 h 13"/>
                <a:gd name="T32" fmla="*/ 11 w 15"/>
                <a:gd name="T33"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13">
                  <a:moveTo>
                    <a:pt x="11" y="0"/>
                  </a:moveTo>
                  <a:cubicBezTo>
                    <a:pt x="15" y="5"/>
                    <a:pt x="15" y="5"/>
                    <a:pt x="15" y="5"/>
                  </a:cubicBezTo>
                  <a:cubicBezTo>
                    <a:pt x="13" y="6"/>
                    <a:pt x="13" y="6"/>
                    <a:pt x="13" y="6"/>
                  </a:cubicBezTo>
                  <a:cubicBezTo>
                    <a:pt x="13" y="6"/>
                    <a:pt x="13" y="5"/>
                    <a:pt x="12" y="5"/>
                  </a:cubicBezTo>
                  <a:cubicBezTo>
                    <a:pt x="12" y="5"/>
                    <a:pt x="11" y="6"/>
                    <a:pt x="10" y="6"/>
                  </a:cubicBezTo>
                  <a:cubicBezTo>
                    <a:pt x="6" y="9"/>
                    <a:pt x="6" y="9"/>
                    <a:pt x="6" y="9"/>
                  </a:cubicBezTo>
                  <a:cubicBezTo>
                    <a:pt x="5" y="10"/>
                    <a:pt x="5" y="10"/>
                    <a:pt x="5" y="11"/>
                  </a:cubicBezTo>
                  <a:cubicBezTo>
                    <a:pt x="5" y="11"/>
                    <a:pt x="5" y="11"/>
                    <a:pt x="5" y="12"/>
                  </a:cubicBezTo>
                  <a:cubicBezTo>
                    <a:pt x="4" y="13"/>
                    <a:pt x="4" y="13"/>
                    <a:pt x="4" y="13"/>
                  </a:cubicBezTo>
                  <a:cubicBezTo>
                    <a:pt x="0" y="8"/>
                    <a:pt x="0" y="8"/>
                    <a:pt x="0" y="8"/>
                  </a:cubicBezTo>
                  <a:cubicBezTo>
                    <a:pt x="2" y="7"/>
                    <a:pt x="2" y="7"/>
                    <a:pt x="2" y="7"/>
                  </a:cubicBezTo>
                  <a:cubicBezTo>
                    <a:pt x="2" y="7"/>
                    <a:pt x="2" y="8"/>
                    <a:pt x="3" y="8"/>
                  </a:cubicBezTo>
                  <a:cubicBezTo>
                    <a:pt x="3" y="8"/>
                    <a:pt x="4" y="7"/>
                    <a:pt x="5" y="7"/>
                  </a:cubicBezTo>
                  <a:cubicBezTo>
                    <a:pt x="9" y="4"/>
                    <a:pt x="9" y="4"/>
                    <a:pt x="9" y="4"/>
                  </a:cubicBezTo>
                  <a:cubicBezTo>
                    <a:pt x="9" y="3"/>
                    <a:pt x="10" y="3"/>
                    <a:pt x="10" y="2"/>
                  </a:cubicBezTo>
                  <a:cubicBezTo>
                    <a:pt x="10" y="2"/>
                    <a:pt x="10" y="2"/>
                    <a:pt x="10" y="1"/>
                  </a:cubicBezTo>
                  <a:lnTo>
                    <a:pt x="11" y="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3" name="Freeform 26"/>
            <p:cNvSpPr>
              <a:spLocks noEditPoints="1"/>
            </p:cNvSpPr>
            <p:nvPr/>
          </p:nvSpPr>
          <p:spPr bwMode="auto">
            <a:xfrm>
              <a:off x="587" y="863"/>
              <a:ext cx="62" cy="57"/>
            </a:xfrm>
            <a:custGeom>
              <a:avLst/>
              <a:gdLst>
                <a:gd name="T0" fmla="*/ 11 w 16"/>
                <a:gd name="T1" fmla="*/ 5 h 15"/>
                <a:gd name="T2" fmla="*/ 12 w 16"/>
                <a:gd name="T3" fmla="*/ 5 h 15"/>
                <a:gd name="T4" fmla="*/ 13 w 16"/>
                <a:gd name="T5" fmla="*/ 5 h 15"/>
                <a:gd name="T6" fmla="*/ 13 w 16"/>
                <a:gd name="T7" fmla="*/ 8 h 15"/>
                <a:gd name="T8" fmla="*/ 11 w 16"/>
                <a:gd name="T9" fmla="*/ 11 h 15"/>
                <a:gd name="T10" fmla="*/ 8 w 16"/>
                <a:gd name="T11" fmla="*/ 13 h 15"/>
                <a:gd name="T12" fmla="*/ 5 w 16"/>
                <a:gd name="T13" fmla="*/ 11 h 15"/>
                <a:gd name="T14" fmla="*/ 5 w 16"/>
                <a:gd name="T15" fmla="*/ 10 h 15"/>
                <a:gd name="T16" fmla="*/ 5 w 16"/>
                <a:gd name="T17" fmla="*/ 9 h 15"/>
                <a:gd name="T18" fmla="*/ 11 w 16"/>
                <a:gd name="T19" fmla="*/ 5 h 15"/>
                <a:gd name="T20" fmla="*/ 9 w 16"/>
                <a:gd name="T21" fmla="*/ 1 h 15"/>
                <a:gd name="T22" fmla="*/ 9 w 16"/>
                <a:gd name="T23" fmla="*/ 2 h 15"/>
                <a:gd name="T24" fmla="*/ 8 w 16"/>
                <a:gd name="T25" fmla="*/ 3 h 15"/>
                <a:gd name="T26" fmla="*/ 4 w 16"/>
                <a:gd name="T27" fmla="*/ 6 h 15"/>
                <a:gd name="T28" fmla="*/ 2 w 16"/>
                <a:gd name="T29" fmla="*/ 7 h 15"/>
                <a:gd name="T30" fmla="*/ 1 w 16"/>
                <a:gd name="T31" fmla="*/ 7 h 15"/>
                <a:gd name="T32" fmla="*/ 0 w 16"/>
                <a:gd name="T33" fmla="*/ 8 h 15"/>
                <a:gd name="T34" fmla="*/ 4 w 16"/>
                <a:gd name="T35" fmla="*/ 12 h 15"/>
                <a:gd name="T36" fmla="*/ 8 w 16"/>
                <a:gd name="T37" fmla="*/ 15 h 15"/>
                <a:gd name="T38" fmla="*/ 13 w 16"/>
                <a:gd name="T39" fmla="*/ 14 h 15"/>
                <a:gd name="T40" fmla="*/ 16 w 16"/>
                <a:gd name="T41" fmla="*/ 9 h 15"/>
                <a:gd name="T42" fmla="*/ 14 w 16"/>
                <a:gd name="T43" fmla="*/ 4 h 15"/>
                <a:gd name="T44" fmla="*/ 10 w 16"/>
                <a:gd name="T45" fmla="*/ 0 h 15"/>
                <a:gd name="T46" fmla="*/ 9 w 16"/>
                <a:gd name="T47"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 h="15">
                  <a:moveTo>
                    <a:pt x="11" y="5"/>
                  </a:moveTo>
                  <a:cubicBezTo>
                    <a:pt x="11" y="5"/>
                    <a:pt x="12" y="5"/>
                    <a:pt x="12" y="5"/>
                  </a:cubicBezTo>
                  <a:cubicBezTo>
                    <a:pt x="12" y="5"/>
                    <a:pt x="12" y="5"/>
                    <a:pt x="13" y="5"/>
                  </a:cubicBezTo>
                  <a:cubicBezTo>
                    <a:pt x="13" y="6"/>
                    <a:pt x="14" y="7"/>
                    <a:pt x="13" y="8"/>
                  </a:cubicBezTo>
                  <a:cubicBezTo>
                    <a:pt x="13" y="9"/>
                    <a:pt x="12" y="10"/>
                    <a:pt x="11" y="11"/>
                  </a:cubicBezTo>
                  <a:cubicBezTo>
                    <a:pt x="10" y="12"/>
                    <a:pt x="9" y="13"/>
                    <a:pt x="8" y="13"/>
                  </a:cubicBezTo>
                  <a:cubicBezTo>
                    <a:pt x="7" y="13"/>
                    <a:pt x="6" y="12"/>
                    <a:pt x="5" y="11"/>
                  </a:cubicBezTo>
                  <a:cubicBezTo>
                    <a:pt x="5" y="11"/>
                    <a:pt x="4" y="11"/>
                    <a:pt x="5" y="10"/>
                  </a:cubicBezTo>
                  <a:cubicBezTo>
                    <a:pt x="5" y="10"/>
                    <a:pt x="5" y="10"/>
                    <a:pt x="5" y="9"/>
                  </a:cubicBezTo>
                  <a:lnTo>
                    <a:pt x="11" y="5"/>
                  </a:lnTo>
                  <a:close/>
                  <a:moveTo>
                    <a:pt x="9" y="1"/>
                  </a:moveTo>
                  <a:cubicBezTo>
                    <a:pt x="9" y="1"/>
                    <a:pt x="10" y="2"/>
                    <a:pt x="9" y="2"/>
                  </a:cubicBezTo>
                  <a:cubicBezTo>
                    <a:pt x="9" y="2"/>
                    <a:pt x="9" y="3"/>
                    <a:pt x="8" y="3"/>
                  </a:cubicBezTo>
                  <a:cubicBezTo>
                    <a:pt x="4" y="6"/>
                    <a:pt x="4" y="6"/>
                    <a:pt x="4" y="6"/>
                  </a:cubicBezTo>
                  <a:cubicBezTo>
                    <a:pt x="3" y="7"/>
                    <a:pt x="3" y="7"/>
                    <a:pt x="2" y="7"/>
                  </a:cubicBezTo>
                  <a:cubicBezTo>
                    <a:pt x="2" y="8"/>
                    <a:pt x="2" y="7"/>
                    <a:pt x="1" y="7"/>
                  </a:cubicBezTo>
                  <a:cubicBezTo>
                    <a:pt x="0" y="8"/>
                    <a:pt x="0" y="8"/>
                    <a:pt x="0" y="8"/>
                  </a:cubicBezTo>
                  <a:cubicBezTo>
                    <a:pt x="4" y="12"/>
                    <a:pt x="4" y="12"/>
                    <a:pt x="4" y="12"/>
                  </a:cubicBezTo>
                  <a:cubicBezTo>
                    <a:pt x="5" y="14"/>
                    <a:pt x="7" y="15"/>
                    <a:pt x="8" y="15"/>
                  </a:cubicBezTo>
                  <a:cubicBezTo>
                    <a:pt x="10" y="15"/>
                    <a:pt x="12" y="15"/>
                    <a:pt x="13" y="14"/>
                  </a:cubicBezTo>
                  <a:cubicBezTo>
                    <a:pt x="15" y="12"/>
                    <a:pt x="16" y="11"/>
                    <a:pt x="16" y="9"/>
                  </a:cubicBezTo>
                  <a:cubicBezTo>
                    <a:pt x="16" y="8"/>
                    <a:pt x="15" y="6"/>
                    <a:pt x="14" y="4"/>
                  </a:cubicBezTo>
                  <a:cubicBezTo>
                    <a:pt x="10" y="0"/>
                    <a:pt x="10" y="0"/>
                    <a:pt x="10" y="0"/>
                  </a:cubicBezTo>
                  <a:lnTo>
                    <a:pt x="9" y="1"/>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4" name="Freeform 27"/>
            <p:cNvSpPr/>
            <p:nvPr/>
          </p:nvSpPr>
          <p:spPr bwMode="auto">
            <a:xfrm>
              <a:off x="649" y="917"/>
              <a:ext cx="54" cy="54"/>
            </a:xfrm>
            <a:custGeom>
              <a:avLst/>
              <a:gdLst>
                <a:gd name="T0" fmla="*/ 13 w 14"/>
                <a:gd name="T1" fmla="*/ 4 h 14"/>
                <a:gd name="T2" fmla="*/ 13 w 14"/>
                <a:gd name="T3" fmla="*/ 4 h 14"/>
                <a:gd name="T4" fmla="*/ 14 w 14"/>
                <a:gd name="T5" fmla="*/ 4 h 14"/>
                <a:gd name="T6" fmla="*/ 13 w 14"/>
                <a:gd name="T7" fmla="*/ 9 h 14"/>
                <a:gd name="T8" fmla="*/ 11 w 14"/>
                <a:gd name="T9" fmla="*/ 8 h 14"/>
                <a:gd name="T10" fmla="*/ 11 w 14"/>
                <a:gd name="T11" fmla="*/ 5 h 14"/>
                <a:gd name="T12" fmla="*/ 10 w 14"/>
                <a:gd name="T13" fmla="*/ 3 h 14"/>
                <a:gd name="T14" fmla="*/ 8 w 14"/>
                <a:gd name="T15" fmla="*/ 3 h 14"/>
                <a:gd name="T16" fmla="*/ 5 w 14"/>
                <a:gd name="T17" fmla="*/ 5 h 14"/>
                <a:gd name="T18" fmla="*/ 3 w 14"/>
                <a:gd name="T19" fmla="*/ 9 h 14"/>
                <a:gd name="T20" fmla="*/ 4 w 14"/>
                <a:gd name="T21" fmla="*/ 11 h 14"/>
                <a:gd name="T22" fmla="*/ 7 w 14"/>
                <a:gd name="T23" fmla="*/ 12 h 14"/>
                <a:gd name="T24" fmla="*/ 9 w 14"/>
                <a:gd name="T25" fmla="*/ 11 h 14"/>
                <a:gd name="T26" fmla="*/ 10 w 14"/>
                <a:gd name="T27" fmla="*/ 13 h 14"/>
                <a:gd name="T28" fmla="*/ 6 w 14"/>
                <a:gd name="T29" fmla="*/ 14 h 14"/>
                <a:gd name="T30" fmla="*/ 3 w 14"/>
                <a:gd name="T31" fmla="*/ 13 h 14"/>
                <a:gd name="T32" fmla="*/ 0 w 14"/>
                <a:gd name="T33" fmla="*/ 8 h 14"/>
                <a:gd name="T34" fmla="*/ 2 w 14"/>
                <a:gd name="T35" fmla="*/ 3 h 14"/>
                <a:gd name="T36" fmla="*/ 6 w 14"/>
                <a:gd name="T37" fmla="*/ 1 h 14"/>
                <a:gd name="T38" fmla="*/ 11 w 14"/>
                <a:gd name="T39" fmla="*/ 2 h 14"/>
                <a:gd name="T40" fmla="*/ 12 w 14"/>
                <a:gd name="T41" fmla="*/ 3 h 14"/>
                <a:gd name="T42" fmla="*/ 13 w 14"/>
                <a:gd name="T43" fmla="*/ 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 h="14">
                  <a:moveTo>
                    <a:pt x="13" y="4"/>
                  </a:moveTo>
                  <a:cubicBezTo>
                    <a:pt x="13" y="4"/>
                    <a:pt x="13" y="4"/>
                    <a:pt x="13" y="4"/>
                  </a:cubicBezTo>
                  <a:cubicBezTo>
                    <a:pt x="14" y="4"/>
                    <a:pt x="14" y="4"/>
                    <a:pt x="14" y="4"/>
                  </a:cubicBezTo>
                  <a:cubicBezTo>
                    <a:pt x="13" y="9"/>
                    <a:pt x="13" y="9"/>
                    <a:pt x="13" y="9"/>
                  </a:cubicBezTo>
                  <a:cubicBezTo>
                    <a:pt x="11" y="8"/>
                    <a:pt x="11" y="8"/>
                    <a:pt x="11" y="8"/>
                  </a:cubicBezTo>
                  <a:cubicBezTo>
                    <a:pt x="12" y="7"/>
                    <a:pt x="12" y="6"/>
                    <a:pt x="11" y="5"/>
                  </a:cubicBezTo>
                  <a:cubicBezTo>
                    <a:pt x="11" y="4"/>
                    <a:pt x="11" y="4"/>
                    <a:pt x="10" y="3"/>
                  </a:cubicBezTo>
                  <a:cubicBezTo>
                    <a:pt x="10" y="3"/>
                    <a:pt x="9" y="3"/>
                    <a:pt x="8" y="3"/>
                  </a:cubicBezTo>
                  <a:cubicBezTo>
                    <a:pt x="7" y="3"/>
                    <a:pt x="6" y="4"/>
                    <a:pt x="5" y="5"/>
                  </a:cubicBezTo>
                  <a:cubicBezTo>
                    <a:pt x="4" y="7"/>
                    <a:pt x="3" y="8"/>
                    <a:pt x="3" y="9"/>
                  </a:cubicBezTo>
                  <a:cubicBezTo>
                    <a:pt x="3" y="10"/>
                    <a:pt x="3" y="11"/>
                    <a:pt x="4" y="11"/>
                  </a:cubicBezTo>
                  <a:cubicBezTo>
                    <a:pt x="5" y="12"/>
                    <a:pt x="6" y="12"/>
                    <a:pt x="7" y="12"/>
                  </a:cubicBezTo>
                  <a:cubicBezTo>
                    <a:pt x="7" y="12"/>
                    <a:pt x="8" y="12"/>
                    <a:pt x="9" y="11"/>
                  </a:cubicBezTo>
                  <a:cubicBezTo>
                    <a:pt x="10" y="13"/>
                    <a:pt x="10" y="13"/>
                    <a:pt x="10" y="13"/>
                  </a:cubicBezTo>
                  <a:cubicBezTo>
                    <a:pt x="9" y="14"/>
                    <a:pt x="7" y="14"/>
                    <a:pt x="6" y="14"/>
                  </a:cubicBezTo>
                  <a:cubicBezTo>
                    <a:pt x="5" y="14"/>
                    <a:pt x="4" y="13"/>
                    <a:pt x="3" y="13"/>
                  </a:cubicBezTo>
                  <a:cubicBezTo>
                    <a:pt x="1" y="11"/>
                    <a:pt x="0" y="10"/>
                    <a:pt x="0" y="8"/>
                  </a:cubicBezTo>
                  <a:cubicBezTo>
                    <a:pt x="0" y="7"/>
                    <a:pt x="1" y="5"/>
                    <a:pt x="2" y="3"/>
                  </a:cubicBezTo>
                  <a:cubicBezTo>
                    <a:pt x="3" y="2"/>
                    <a:pt x="5" y="1"/>
                    <a:pt x="6" y="1"/>
                  </a:cubicBezTo>
                  <a:cubicBezTo>
                    <a:pt x="8" y="0"/>
                    <a:pt x="10" y="1"/>
                    <a:pt x="11" y="2"/>
                  </a:cubicBezTo>
                  <a:cubicBezTo>
                    <a:pt x="11" y="2"/>
                    <a:pt x="12" y="2"/>
                    <a:pt x="12" y="3"/>
                  </a:cubicBezTo>
                  <a:cubicBezTo>
                    <a:pt x="12" y="3"/>
                    <a:pt x="13" y="4"/>
                    <a:pt x="13" y="4"/>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5" name="Freeform 28"/>
            <p:cNvSpPr>
              <a:spLocks noEditPoints="1"/>
            </p:cNvSpPr>
            <p:nvPr/>
          </p:nvSpPr>
          <p:spPr bwMode="auto">
            <a:xfrm>
              <a:off x="696" y="944"/>
              <a:ext cx="49" cy="54"/>
            </a:xfrm>
            <a:custGeom>
              <a:avLst/>
              <a:gdLst>
                <a:gd name="T0" fmla="*/ 10 w 13"/>
                <a:gd name="T1" fmla="*/ 4 h 14"/>
                <a:gd name="T2" fmla="*/ 9 w 13"/>
                <a:gd name="T3" fmla="*/ 8 h 14"/>
                <a:gd name="T4" fmla="*/ 7 w 13"/>
                <a:gd name="T5" fmla="*/ 11 h 14"/>
                <a:gd name="T6" fmla="*/ 4 w 13"/>
                <a:gd name="T7" fmla="*/ 11 h 14"/>
                <a:gd name="T8" fmla="*/ 3 w 13"/>
                <a:gd name="T9" fmla="*/ 9 h 14"/>
                <a:gd name="T10" fmla="*/ 4 w 13"/>
                <a:gd name="T11" fmla="*/ 5 h 14"/>
                <a:gd name="T12" fmla="*/ 6 w 13"/>
                <a:gd name="T13" fmla="*/ 2 h 14"/>
                <a:gd name="T14" fmla="*/ 9 w 13"/>
                <a:gd name="T15" fmla="*/ 2 h 14"/>
                <a:gd name="T16" fmla="*/ 10 w 13"/>
                <a:gd name="T17" fmla="*/ 4 h 14"/>
                <a:gd name="T18" fmla="*/ 4 w 13"/>
                <a:gd name="T19" fmla="*/ 0 h 14"/>
                <a:gd name="T20" fmla="*/ 1 w 13"/>
                <a:gd name="T21" fmla="*/ 4 h 14"/>
                <a:gd name="T22" fmla="*/ 0 w 13"/>
                <a:gd name="T23" fmla="*/ 9 h 14"/>
                <a:gd name="T24" fmla="*/ 3 w 13"/>
                <a:gd name="T25" fmla="*/ 13 h 14"/>
                <a:gd name="T26" fmla="*/ 8 w 13"/>
                <a:gd name="T27" fmla="*/ 13 h 14"/>
                <a:gd name="T28" fmla="*/ 12 w 13"/>
                <a:gd name="T29" fmla="*/ 9 h 14"/>
                <a:gd name="T30" fmla="*/ 13 w 13"/>
                <a:gd name="T31" fmla="*/ 4 h 14"/>
                <a:gd name="T32" fmla="*/ 9 w 13"/>
                <a:gd name="T33" fmla="*/ 1 h 14"/>
                <a:gd name="T34" fmla="*/ 4 w 13"/>
                <a:gd name="T3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 h="14">
                  <a:moveTo>
                    <a:pt x="10" y="4"/>
                  </a:moveTo>
                  <a:cubicBezTo>
                    <a:pt x="10" y="5"/>
                    <a:pt x="10" y="7"/>
                    <a:pt x="9" y="8"/>
                  </a:cubicBezTo>
                  <a:cubicBezTo>
                    <a:pt x="8" y="9"/>
                    <a:pt x="8" y="10"/>
                    <a:pt x="7" y="11"/>
                  </a:cubicBezTo>
                  <a:cubicBezTo>
                    <a:pt x="6" y="12"/>
                    <a:pt x="5" y="12"/>
                    <a:pt x="4" y="11"/>
                  </a:cubicBezTo>
                  <a:cubicBezTo>
                    <a:pt x="3" y="11"/>
                    <a:pt x="3" y="10"/>
                    <a:pt x="3" y="9"/>
                  </a:cubicBezTo>
                  <a:cubicBezTo>
                    <a:pt x="3" y="8"/>
                    <a:pt x="3" y="7"/>
                    <a:pt x="4" y="5"/>
                  </a:cubicBezTo>
                  <a:cubicBezTo>
                    <a:pt x="4" y="4"/>
                    <a:pt x="5" y="3"/>
                    <a:pt x="6" y="2"/>
                  </a:cubicBezTo>
                  <a:cubicBezTo>
                    <a:pt x="7" y="2"/>
                    <a:pt x="8" y="2"/>
                    <a:pt x="9" y="2"/>
                  </a:cubicBezTo>
                  <a:cubicBezTo>
                    <a:pt x="9" y="2"/>
                    <a:pt x="10" y="3"/>
                    <a:pt x="10" y="4"/>
                  </a:cubicBezTo>
                  <a:close/>
                  <a:moveTo>
                    <a:pt x="4" y="0"/>
                  </a:moveTo>
                  <a:cubicBezTo>
                    <a:pt x="3" y="1"/>
                    <a:pt x="1" y="2"/>
                    <a:pt x="1" y="4"/>
                  </a:cubicBezTo>
                  <a:cubicBezTo>
                    <a:pt x="0" y="6"/>
                    <a:pt x="0" y="8"/>
                    <a:pt x="0" y="9"/>
                  </a:cubicBezTo>
                  <a:cubicBezTo>
                    <a:pt x="1" y="11"/>
                    <a:pt x="2" y="12"/>
                    <a:pt x="3" y="13"/>
                  </a:cubicBezTo>
                  <a:cubicBezTo>
                    <a:pt x="5" y="14"/>
                    <a:pt x="7" y="14"/>
                    <a:pt x="8" y="13"/>
                  </a:cubicBezTo>
                  <a:cubicBezTo>
                    <a:pt x="10" y="12"/>
                    <a:pt x="11" y="11"/>
                    <a:pt x="12" y="9"/>
                  </a:cubicBezTo>
                  <a:cubicBezTo>
                    <a:pt x="13" y="8"/>
                    <a:pt x="13" y="6"/>
                    <a:pt x="13" y="4"/>
                  </a:cubicBezTo>
                  <a:cubicBezTo>
                    <a:pt x="12" y="3"/>
                    <a:pt x="11" y="1"/>
                    <a:pt x="9" y="1"/>
                  </a:cubicBezTo>
                  <a:cubicBezTo>
                    <a:pt x="8" y="0"/>
                    <a:pt x="6" y="0"/>
                    <a:pt x="4" y="0"/>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6" name="Freeform 29"/>
            <p:cNvSpPr>
              <a:spLocks noEditPoints="1"/>
            </p:cNvSpPr>
            <p:nvPr/>
          </p:nvSpPr>
          <p:spPr bwMode="auto">
            <a:xfrm>
              <a:off x="743" y="959"/>
              <a:ext cx="54" cy="62"/>
            </a:xfrm>
            <a:custGeom>
              <a:avLst/>
              <a:gdLst>
                <a:gd name="T0" fmla="*/ 7 w 14"/>
                <a:gd name="T1" fmla="*/ 4 h 16"/>
                <a:gd name="T2" fmla="*/ 7 w 14"/>
                <a:gd name="T3" fmla="*/ 3 h 16"/>
                <a:gd name="T4" fmla="*/ 9 w 14"/>
                <a:gd name="T5" fmla="*/ 3 h 16"/>
                <a:gd name="T6" fmla="*/ 10 w 14"/>
                <a:gd name="T7" fmla="*/ 4 h 16"/>
                <a:gd name="T8" fmla="*/ 10 w 14"/>
                <a:gd name="T9" fmla="*/ 5 h 16"/>
                <a:gd name="T10" fmla="*/ 9 w 14"/>
                <a:gd name="T11" fmla="*/ 7 h 16"/>
                <a:gd name="T12" fmla="*/ 7 w 14"/>
                <a:gd name="T13" fmla="*/ 6 h 16"/>
                <a:gd name="T14" fmla="*/ 6 w 14"/>
                <a:gd name="T15" fmla="*/ 6 h 16"/>
                <a:gd name="T16" fmla="*/ 6 w 14"/>
                <a:gd name="T17" fmla="*/ 6 h 16"/>
                <a:gd name="T18" fmla="*/ 7 w 14"/>
                <a:gd name="T19" fmla="*/ 4 h 16"/>
                <a:gd name="T20" fmla="*/ 3 w 14"/>
                <a:gd name="T21" fmla="*/ 1 h 16"/>
                <a:gd name="T22" fmla="*/ 4 w 14"/>
                <a:gd name="T23" fmla="*/ 2 h 16"/>
                <a:gd name="T24" fmla="*/ 4 w 14"/>
                <a:gd name="T25" fmla="*/ 4 h 16"/>
                <a:gd name="T26" fmla="*/ 2 w 14"/>
                <a:gd name="T27" fmla="*/ 9 h 16"/>
                <a:gd name="T28" fmla="*/ 1 w 14"/>
                <a:gd name="T29" fmla="*/ 10 h 16"/>
                <a:gd name="T30" fmla="*/ 0 w 14"/>
                <a:gd name="T31" fmla="*/ 10 h 16"/>
                <a:gd name="T32" fmla="*/ 0 w 14"/>
                <a:gd name="T33" fmla="*/ 12 h 16"/>
                <a:gd name="T34" fmla="*/ 5 w 14"/>
                <a:gd name="T35" fmla="*/ 14 h 16"/>
                <a:gd name="T36" fmla="*/ 6 w 14"/>
                <a:gd name="T37" fmla="*/ 12 h 16"/>
                <a:gd name="T38" fmla="*/ 5 w 14"/>
                <a:gd name="T39" fmla="*/ 11 h 16"/>
                <a:gd name="T40" fmla="*/ 5 w 14"/>
                <a:gd name="T41" fmla="*/ 9 h 16"/>
                <a:gd name="T42" fmla="*/ 6 w 14"/>
                <a:gd name="T43" fmla="*/ 8 h 16"/>
                <a:gd name="T44" fmla="*/ 7 w 14"/>
                <a:gd name="T45" fmla="*/ 8 h 16"/>
                <a:gd name="T46" fmla="*/ 9 w 14"/>
                <a:gd name="T47" fmla="*/ 15 h 16"/>
                <a:gd name="T48" fmla="*/ 12 w 14"/>
                <a:gd name="T49" fmla="*/ 16 h 16"/>
                <a:gd name="T50" fmla="*/ 13 w 14"/>
                <a:gd name="T51" fmla="*/ 14 h 16"/>
                <a:gd name="T52" fmla="*/ 12 w 14"/>
                <a:gd name="T53" fmla="*/ 14 h 16"/>
                <a:gd name="T54" fmla="*/ 11 w 14"/>
                <a:gd name="T55" fmla="*/ 13 h 16"/>
                <a:gd name="T56" fmla="*/ 10 w 14"/>
                <a:gd name="T57" fmla="*/ 9 h 16"/>
                <a:gd name="T58" fmla="*/ 12 w 14"/>
                <a:gd name="T59" fmla="*/ 8 h 16"/>
                <a:gd name="T60" fmla="*/ 14 w 14"/>
                <a:gd name="T61" fmla="*/ 6 h 16"/>
                <a:gd name="T62" fmla="*/ 13 w 14"/>
                <a:gd name="T63" fmla="*/ 3 h 16"/>
                <a:gd name="T64" fmla="*/ 10 w 14"/>
                <a:gd name="T65" fmla="*/ 1 h 16"/>
                <a:gd name="T66" fmla="*/ 3 w 14"/>
                <a:gd name="T67" fmla="*/ 0 h 16"/>
                <a:gd name="T68" fmla="*/ 3 w 14"/>
                <a:gd name="T69"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 h="16">
                  <a:moveTo>
                    <a:pt x="7" y="4"/>
                  </a:moveTo>
                  <a:cubicBezTo>
                    <a:pt x="7" y="3"/>
                    <a:pt x="7" y="3"/>
                    <a:pt x="7" y="3"/>
                  </a:cubicBezTo>
                  <a:cubicBezTo>
                    <a:pt x="8" y="3"/>
                    <a:pt x="8" y="3"/>
                    <a:pt x="9" y="3"/>
                  </a:cubicBezTo>
                  <a:cubicBezTo>
                    <a:pt x="9" y="3"/>
                    <a:pt x="10" y="3"/>
                    <a:pt x="10" y="4"/>
                  </a:cubicBezTo>
                  <a:cubicBezTo>
                    <a:pt x="11" y="4"/>
                    <a:pt x="11" y="5"/>
                    <a:pt x="10" y="5"/>
                  </a:cubicBezTo>
                  <a:cubicBezTo>
                    <a:pt x="10" y="6"/>
                    <a:pt x="10" y="6"/>
                    <a:pt x="9" y="7"/>
                  </a:cubicBezTo>
                  <a:cubicBezTo>
                    <a:pt x="9" y="7"/>
                    <a:pt x="8" y="7"/>
                    <a:pt x="7" y="6"/>
                  </a:cubicBezTo>
                  <a:cubicBezTo>
                    <a:pt x="7" y="6"/>
                    <a:pt x="6" y="6"/>
                    <a:pt x="6" y="6"/>
                  </a:cubicBezTo>
                  <a:cubicBezTo>
                    <a:pt x="6" y="6"/>
                    <a:pt x="6" y="6"/>
                    <a:pt x="6" y="6"/>
                  </a:cubicBezTo>
                  <a:lnTo>
                    <a:pt x="7" y="4"/>
                  </a:lnTo>
                  <a:close/>
                  <a:moveTo>
                    <a:pt x="3" y="1"/>
                  </a:moveTo>
                  <a:cubicBezTo>
                    <a:pt x="3" y="1"/>
                    <a:pt x="4" y="2"/>
                    <a:pt x="4" y="2"/>
                  </a:cubicBezTo>
                  <a:cubicBezTo>
                    <a:pt x="4" y="2"/>
                    <a:pt x="4" y="3"/>
                    <a:pt x="4" y="4"/>
                  </a:cubicBezTo>
                  <a:cubicBezTo>
                    <a:pt x="2" y="9"/>
                    <a:pt x="2" y="9"/>
                    <a:pt x="2" y="9"/>
                  </a:cubicBezTo>
                  <a:cubicBezTo>
                    <a:pt x="2" y="10"/>
                    <a:pt x="2" y="10"/>
                    <a:pt x="1" y="10"/>
                  </a:cubicBezTo>
                  <a:cubicBezTo>
                    <a:pt x="1" y="11"/>
                    <a:pt x="1" y="11"/>
                    <a:pt x="0" y="10"/>
                  </a:cubicBezTo>
                  <a:cubicBezTo>
                    <a:pt x="0" y="12"/>
                    <a:pt x="0" y="12"/>
                    <a:pt x="0" y="12"/>
                  </a:cubicBezTo>
                  <a:cubicBezTo>
                    <a:pt x="5" y="14"/>
                    <a:pt x="5" y="14"/>
                    <a:pt x="5" y="14"/>
                  </a:cubicBezTo>
                  <a:cubicBezTo>
                    <a:pt x="6" y="12"/>
                    <a:pt x="6" y="12"/>
                    <a:pt x="6" y="12"/>
                  </a:cubicBezTo>
                  <a:cubicBezTo>
                    <a:pt x="5" y="12"/>
                    <a:pt x="5" y="12"/>
                    <a:pt x="5" y="11"/>
                  </a:cubicBezTo>
                  <a:cubicBezTo>
                    <a:pt x="5" y="11"/>
                    <a:pt x="5" y="10"/>
                    <a:pt x="5" y="9"/>
                  </a:cubicBezTo>
                  <a:cubicBezTo>
                    <a:pt x="6" y="8"/>
                    <a:pt x="6" y="8"/>
                    <a:pt x="6" y="8"/>
                  </a:cubicBezTo>
                  <a:cubicBezTo>
                    <a:pt x="7" y="8"/>
                    <a:pt x="7" y="8"/>
                    <a:pt x="7" y="8"/>
                  </a:cubicBezTo>
                  <a:cubicBezTo>
                    <a:pt x="9" y="15"/>
                    <a:pt x="9" y="15"/>
                    <a:pt x="9" y="15"/>
                  </a:cubicBezTo>
                  <a:cubicBezTo>
                    <a:pt x="12" y="16"/>
                    <a:pt x="12" y="16"/>
                    <a:pt x="12" y="16"/>
                  </a:cubicBezTo>
                  <a:cubicBezTo>
                    <a:pt x="13" y="14"/>
                    <a:pt x="13" y="14"/>
                    <a:pt x="13" y="14"/>
                  </a:cubicBezTo>
                  <a:cubicBezTo>
                    <a:pt x="12" y="14"/>
                    <a:pt x="12" y="14"/>
                    <a:pt x="12" y="14"/>
                  </a:cubicBezTo>
                  <a:cubicBezTo>
                    <a:pt x="12" y="13"/>
                    <a:pt x="11" y="13"/>
                    <a:pt x="11" y="13"/>
                  </a:cubicBezTo>
                  <a:cubicBezTo>
                    <a:pt x="10" y="9"/>
                    <a:pt x="10" y="9"/>
                    <a:pt x="10" y="9"/>
                  </a:cubicBezTo>
                  <a:cubicBezTo>
                    <a:pt x="11" y="9"/>
                    <a:pt x="12" y="9"/>
                    <a:pt x="12" y="8"/>
                  </a:cubicBezTo>
                  <a:cubicBezTo>
                    <a:pt x="13" y="8"/>
                    <a:pt x="13" y="7"/>
                    <a:pt x="14" y="6"/>
                  </a:cubicBezTo>
                  <a:cubicBezTo>
                    <a:pt x="14" y="5"/>
                    <a:pt x="14" y="4"/>
                    <a:pt x="13" y="3"/>
                  </a:cubicBezTo>
                  <a:cubicBezTo>
                    <a:pt x="13" y="3"/>
                    <a:pt x="11" y="2"/>
                    <a:pt x="10" y="1"/>
                  </a:cubicBezTo>
                  <a:cubicBezTo>
                    <a:pt x="3" y="0"/>
                    <a:pt x="3" y="0"/>
                    <a:pt x="3" y="0"/>
                  </a:cubicBezTo>
                  <a:lnTo>
                    <a:pt x="3" y="1"/>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7" name="Freeform 30"/>
            <p:cNvSpPr>
              <a:spLocks noEditPoints="1"/>
            </p:cNvSpPr>
            <p:nvPr/>
          </p:nvSpPr>
          <p:spPr bwMode="auto">
            <a:xfrm>
              <a:off x="797" y="971"/>
              <a:ext cx="47" cy="54"/>
            </a:xfrm>
            <a:custGeom>
              <a:avLst/>
              <a:gdLst>
                <a:gd name="T0" fmla="*/ 6 w 12"/>
                <a:gd name="T1" fmla="*/ 4 h 14"/>
                <a:gd name="T2" fmla="*/ 6 w 12"/>
                <a:gd name="T3" fmla="*/ 3 h 14"/>
                <a:gd name="T4" fmla="*/ 7 w 12"/>
                <a:gd name="T5" fmla="*/ 2 h 14"/>
                <a:gd name="T6" fmla="*/ 9 w 12"/>
                <a:gd name="T7" fmla="*/ 3 h 14"/>
                <a:gd name="T8" fmla="*/ 9 w 12"/>
                <a:gd name="T9" fmla="*/ 5 h 14"/>
                <a:gd name="T10" fmla="*/ 8 w 12"/>
                <a:gd name="T11" fmla="*/ 7 h 14"/>
                <a:gd name="T12" fmla="*/ 6 w 12"/>
                <a:gd name="T13" fmla="*/ 7 h 14"/>
                <a:gd name="T14" fmla="*/ 6 w 12"/>
                <a:gd name="T15" fmla="*/ 7 h 14"/>
                <a:gd name="T16" fmla="*/ 6 w 12"/>
                <a:gd name="T17" fmla="*/ 7 h 14"/>
                <a:gd name="T18" fmla="*/ 6 w 12"/>
                <a:gd name="T19" fmla="*/ 4 h 14"/>
                <a:gd name="T20" fmla="*/ 2 w 12"/>
                <a:gd name="T21" fmla="*/ 2 h 14"/>
                <a:gd name="T22" fmla="*/ 3 w 12"/>
                <a:gd name="T23" fmla="*/ 2 h 14"/>
                <a:gd name="T24" fmla="*/ 3 w 12"/>
                <a:gd name="T25" fmla="*/ 4 h 14"/>
                <a:gd name="T26" fmla="*/ 2 w 12"/>
                <a:gd name="T27" fmla="*/ 9 h 14"/>
                <a:gd name="T28" fmla="*/ 2 w 12"/>
                <a:gd name="T29" fmla="*/ 11 h 14"/>
                <a:gd name="T30" fmla="*/ 1 w 12"/>
                <a:gd name="T31" fmla="*/ 12 h 14"/>
                <a:gd name="T32" fmla="*/ 0 w 12"/>
                <a:gd name="T33" fmla="*/ 13 h 14"/>
                <a:gd name="T34" fmla="*/ 6 w 12"/>
                <a:gd name="T35" fmla="*/ 14 h 14"/>
                <a:gd name="T36" fmla="*/ 6 w 12"/>
                <a:gd name="T37" fmla="*/ 12 h 14"/>
                <a:gd name="T38" fmla="*/ 5 w 12"/>
                <a:gd name="T39" fmla="*/ 12 h 14"/>
                <a:gd name="T40" fmla="*/ 5 w 12"/>
                <a:gd name="T41" fmla="*/ 10 h 14"/>
                <a:gd name="T42" fmla="*/ 5 w 12"/>
                <a:gd name="T43" fmla="*/ 8 h 14"/>
                <a:gd name="T44" fmla="*/ 7 w 12"/>
                <a:gd name="T45" fmla="*/ 9 h 14"/>
                <a:gd name="T46" fmla="*/ 11 w 12"/>
                <a:gd name="T47" fmla="*/ 8 h 14"/>
                <a:gd name="T48" fmla="*/ 12 w 12"/>
                <a:gd name="T49" fmla="*/ 5 h 14"/>
                <a:gd name="T50" fmla="*/ 12 w 12"/>
                <a:gd name="T51" fmla="*/ 2 h 14"/>
                <a:gd name="T52" fmla="*/ 8 w 12"/>
                <a:gd name="T53" fmla="*/ 1 h 14"/>
                <a:gd name="T54" fmla="*/ 2 w 12"/>
                <a:gd name="T55" fmla="*/ 0 h 14"/>
                <a:gd name="T56" fmla="*/ 2 w 12"/>
                <a:gd name="T57"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 h="14">
                  <a:moveTo>
                    <a:pt x="6" y="4"/>
                  </a:moveTo>
                  <a:cubicBezTo>
                    <a:pt x="6" y="3"/>
                    <a:pt x="6" y="3"/>
                    <a:pt x="6" y="3"/>
                  </a:cubicBezTo>
                  <a:cubicBezTo>
                    <a:pt x="7" y="2"/>
                    <a:pt x="7" y="2"/>
                    <a:pt x="7" y="2"/>
                  </a:cubicBezTo>
                  <a:cubicBezTo>
                    <a:pt x="8" y="3"/>
                    <a:pt x="8" y="3"/>
                    <a:pt x="9" y="3"/>
                  </a:cubicBezTo>
                  <a:cubicBezTo>
                    <a:pt x="9" y="4"/>
                    <a:pt x="9" y="4"/>
                    <a:pt x="9" y="5"/>
                  </a:cubicBezTo>
                  <a:cubicBezTo>
                    <a:pt x="9" y="6"/>
                    <a:pt x="9" y="6"/>
                    <a:pt x="8" y="7"/>
                  </a:cubicBezTo>
                  <a:cubicBezTo>
                    <a:pt x="8" y="7"/>
                    <a:pt x="7" y="7"/>
                    <a:pt x="6" y="7"/>
                  </a:cubicBezTo>
                  <a:cubicBezTo>
                    <a:pt x="6" y="7"/>
                    <a:pt x="6" y="7"/>
                    <a:pt x="6" y="7"/>
                  </a:cubicBezTo>
                  <a:cubicBezTo>
                    <a:pt x="6" y="7"/>
                    <a:pt x="6" y="7"/>
                    <a:pt x="6" y="7"/>
                  </a:cubicBezTo>
                  <a:lnTo>
                    <a:pt x="6" y="4"/>
                  </a:lnTo>
                  <a:close/>
                  <a:moveTo>
                    <a:pt x="2" y="2"/>
                  </a:moveTo>
                  <a:cubicBezTo>
                    <a:pt x="2" y="2"/>
                    <a:pt x="3" y="2"/>
                    <a:pt x="3" y="2"/>
                  </a:cubicBezTo>
                  <a:cubicBezTo>
                    <a:pt x="3" y="3"/>
                    <a:pt x="3" y="3"/>
                    <a:pt x="3" y="4"/>
                  </a:cubicBezTo>
                  <a:cubicBezTo>
                    <a:pt x="2" y="9"/>
                    <a:pt x="2" y="9"/>
                    <a:pt x="2" y="9"/>
                  </a:cubicBezTo>
                  <a:cubicBezTo>
                    <a:pt x="2" y="10"/>
                    <a:pt x="2" y="11"/>
                    <a:pt x="2" y="11"/>
                  </a:cubicBezTo>
                  <a:cubicBezTo>
                    <a:pt x="1" y="11"/>
                    <a:pt x="1" y="12"/>
                    <a:pt x="1" y="12"/>
                  </a:cubicBezTo>
                  <a:cubicBezTo>
                    <a:pt x="0" y="13"/>
                    <a:pt x="0" y="13"/>
                    <a:pt x="0" y="13"/>
                  </a:cubicBezTo>
                  <a:cubicBezTo>
                    <a:pt x="6" y="14"/>
                    <a:pt x="6" y="14"/>
                    <a:pt x="6" y="14"/>
                  </a:cubicBezTo>
                  <a:cubicBezTo>
                    <a:pt x="6" y="12"/>
                    <a:pt x="6" y="12"/>
                    <a:pt x="6" y="12"/>
                  </a:cubicBezTo>
                  <a:cubicBezTo>
                    <a:pt x="6" y="12"/>
                    <a:pt x="5" y="12"/>
                    <a:pt x="5" y="12"/>
                  </a:cubicBezTo>
                  <a:cubicBezTo>
                    <a:pt x="5" y="11"/>
                    <a:pt x="5" y="11"/>
                    <a:pt x="5" y="10"/>
                  </a:cubicBezTo>
                  <a:cubicBezTo>
                    <a:pt x="5" y="8"/>
                    <a:pt x="5" y="8"/>
                    <a:pt x="5" y="8"/>
                  </a:cubicBezTo>
                  <a:cubicBezTo>
                    <a:pt x="7" y="9"/>
                    <a:pt x="7" y="9"/>
                    <a:pt x="7" y="9"/>
                  </a:cubicBezTo>
                  <a:cubicBezTo>
                    <a:pt x="9" y="9"/>
                    <a:pt x="10" y="9"/>
                    <a:pt x="11" y="8"/>
                  </a:cubicBezTo>
                  <a:cubicBezTo>
                    <a:pt x="12" y="8"/>
                    <a:pt x="12" y="7"/>
                    <a:pt x="12" y="5"/>
                  </a:cubicBezTo>
                  <a:cubicBezTo>
                    <a:pt x="12" y="4"/>
                    <a:pt x="12" y="3"/>
                    <a:pt x="12" y="2"/>
                  </a:cubicBezTo>
                  <a:cubicBezTo>
                    <a:pt x="11" y="2"/>
                    <a:pt x="10" y="1"/>
                    <a:pt x="8" y="1"/>
                  </a:cubicBezTo>
                  <a:cubicBezTo>
                    <a:pt x="2" y="0"/>
                    <a:pt x="2" y="0"/>
                    <a:pt x="2" y="0"/>
                  </a:cubicBezTo>
                  <a:lnTo>
                    <a:pt x="2" y="2"/>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8" name="Freeform 31"/>
            <p:cNvSpPr>
              <a:spLocks noEditPoints="1"/>
            </p:cNvSpPr>
            <p:nvPr/>
          </p:nvSpPr>
          <p:spPr bwMode="auto">
            <a:xfrm>
              <a:off x="846" y="974"/>
              <a:ext cx="52" cy="57"/>
            </a:xfrm>
            <a:custGeom>
              <a:avLst/>
              <a:gdLst>
                <a:gd name="T0" fmla="*/ 8 w 13"/>
                <a:gd name="T1" fmla="*/ 3 h 14"/>
                <a:gd name="T2" fmla="*/ 9 w 13"/>
                <a:gd name="T3" fmla="*/ 7 h 14"/>
                <a:gd name="T4" fmla="*/ 9 w 13"/>
                <a:gd name="T5" fmla="*/ 11 h 14"/>
                <a:gd name="T6" fmla="*/ 6 w 13"/>
                <a:gd name="T7" fmla="*/ 12 h 14"/>
                <a:gd name="T8" fmla="*/ 4 w 13"/>
                <a:gd name="T9" fmla="*/ 11 h 14"/>
                <a:gd name="T10" fmla="*/ 3 w 13"/>
                <a:gd name="T11" fmla="*/ 7 h 14"/>
                <a:gd name="T12" fmla="*/ 4 w 13"/>
                <a:gd name="T13" fmla="*/ 3 h 14"/>
                <a:gd name="T14" fmla="*/ 6 w 13"/>
                <a:gd name="T15" fmla="*/ 2 h 14"/>
                <a:gd name="T16" fmla="*/ 8 w 13"/>
                <a:gd name="T17" fmla="*/ 3 h 14"/>
                <a:gd name="T18" fmla="*/ 1 w 13"/>
                <a:gd name="T19" fmla="*/ 2 h 14"/>
                <a:gd name="T20" fmla="*/ 0 w 13"/>
                <a:gd name="T21" fmla="*/ 7 h 14"/>
                <a:gd name="T22" fmla="*/ 2 w 13"/>
                <a:gd name="T23" fmla="*/ 12 h 14"/>
                <a:gd name="T24" fmla="*/ 7 w 13"/>
                <a:gd name="T25" fmla="*/ 14 h 14"/>
                <a:gd name="T26" fmla="*/ 11 w 13"/>
                <a:gd name="T27" fmla="*/ 12 h 14"/>
                <a:gd name="T28" fmla="*/ 13 w 13"/>
                <a:gd name="T29" fmla="*/ 7 h 14"/>
                <a:gd name="T30" fmla="*/ 11 w 13"/>
                <a:gd name="T31" fmla="*/ 2 h 14"/>
                <a:gd name="T32" fmla="*/ 6 w 13"/>
                <a:gd name="T33" fmla="*/ 0 h 14"/>
                <a:gd name="T34" fmla="*/ 1 w 13"/>
                <a:gd name="T35"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 h="14">
                  <a:moveTo>
                    <a:pt x="8" y="3"/>
                  </a:moveTo>
                  <a:cubicBezTo>
                    <a:pt x="9" y="4"/>
                    <a:pt x="9" y="5"/>
                    <a:pt x="9" y="7"/>
                  </a:cubicBezTo>
                  <a:cubicBezTo>
                    <a:pt x="9" y="9"/>
                    <a:pt x="9" y="10"/>
                    <a:pt x="9" y="11"/>
                  </a:cubicBezTo>
                  <a:cubicBezTo>
                    <a:pt x="8" y="12"/>
                    <a:pt x="7" y="12"/>
                    <a:pt x="6" y="12"/>
                  </a:cubicBezTo>
                  <a:cubicBezTo>
                    <a:pt x="5" y="12"/>
                    <a:pt x="5" y="12"/>
                    <a:pt x="4" y="11"/>
                  </a:cubicBezTo>
                  <a:cubicBezTo>
                    <a:pt x="4" y="10"/>
                    <a:pt x="3" y="9"/>
                    <a:pt x="3" y="7"/>
                  </a:cubicBezTo>
                  <a:cubicBezTo>
                    <a:pt x="3" y="6"/>
                    <a:pt x="3" y="4"/>
                    <a:pt x="4" y="3"/>
                  </a:cubicBezTo>
                  <a:cubicBezTo>
                    <a:pt x="4" y="2"/>
                    <a:pt x="5" y="2"/>
                    <a:pt x="6" y="2"/>
                  </a:cubicBezTo>
                  <a:cubicBezTo>
                    <a:pt x="7" y="2"/>
                    <a:pt x="8" y="2"/>
                    <a:pt x="8" y="3"/>
                  </a:cubicBezTo>
                  <a:close/>
                  <a:moveTo>
                    <a:pt x="1" y="2"/>
                  </a:moveTo>
                  <a:cubicBezTo>
                    <a:pt x="0" y="4"/>
                    <a:pt x="0" y="5"/>
                    <a:pt x="0" y="7"/>
                  </a:cubicBezTo>
                  <a:cubicBezTo>
                    <a:pt x="0" y="9"/>
                    <a:pt x="1" y="11"/>
                    <a:pt x="2" y="12"/>
                  </a:cubicBezTo>
                  <a:cubicBezTo>
                    <a:pt x="3" y="13"/>
                    <a:pt x="5" y="14"/>
                    <a:pt x="7" y="14"/>
                  </a:cubicBezTo>
                  <a:cubicBezTo>
                    <a:pt x="8" y="14"/>
                    <a:pt x="10" y="13"/>
                    <a:pt x="11" y="12"/>
                  </a:cubicBezTo>
                  <a:cubicBezTo>
                    <a:pt x="12" y="11"/>
                    <a:pt x="13" y="9"/>
                    <a:pt x="13" y="7"/>
                  </a:cubicBezTo>
                  <a:cubicBezTo>
                    <a:pt x="13" y="5"/>
                    <a:pt x="12" y="3"/>
                    <a:pt x="11" y="2"/>
                  </a:cubicBezTo>
                  <a:cubicBezTo>
                    <a:pt x="9" y="1"/>
                    <a:pt x="8" y="0"/>
                    <a:pt x="6" y="0"/>
                  </a:cubicBezTo>
                  <a:cubicBezTo>
                    <a:pt x="4" y="0"/>
                    <a:pt x="3" y="1"/>
                    <a:pt x="1" y="2"/>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9" name="Freeform 32"/>
            <p:cNvSpPr>
              <a:spLocks noEditPoints="1"/>
            </p:cNvSpPr>
            <p:nvPr/>
          </p:nvSpPr>
          <p:spPr bwMode="auto">
            <a:xfrm>
              <a:off x="893" y="971"/>
              <a:ext cx="62" cy="54"/>
            </a:xfrm>
            <a:custGeom>
              <a:avLst/>
              <a:gdLst>
                <a:gd name="T0" fmla="*/ 5 w 16"/>
                <a:gd name="T1" fmla="*/ 4 h 14"/>
                <a:gd name="T2" fmla="*/ 5 w 16"/>
                <a:gd name="T3" fmla="*/ 2 h 14"/>
                <a:gd name="T4" fmla="*/ 6 w 16"/>
                <a:gd name="T5" fmla="*/ 2 h 14"/>
                <a:gd name="T6" fmla="*/ 8 w 16"/>
                <a:gd name="T7" fmla="*/ 2 h 14"/>
                <a:gd name="T8" fmla="*/ 9 w 16"/>
                <a:gd name="T9" fmla="*/ 3 h 14"/>
                <a:gd name="T10" fmla="*/ 9 w 16"/>
                <a:gd name="T11" fmla="*/ 5 h 14"/>
                <a:gd name="T12" fmla="*/ 6 w 16"/>
                <a:gd name="T13" fmla="*/ 6 h 14"/>
                <a:gd name="T14" fmla="*/ 6 w 16"/>
                <a:gd name="T15" fmla="*/ 6 h 14"/>
                <a:gd name="T16" fmla="*/ 6 w 16"/>
                <a:gd name="T17" fmla="*/ 6 h 14"/>
                <a:gd name="T18" fmla="*/ 5 w 16"/>
                <a:gd name="T19" fmla="*/ 4 h 14"/>
                <a:gd name="T20" fmla="*/ 1 w 16"/>
                <a:gd name="T21" fmla="*/ 3 h 14"/>
                <a:gd name="T22" fmla="*/ 2 w 16"/>
                <a:gd name="T23" fmla="*/ 3 h 14"/>
                <a:gd name="T24" fmla="*/ 2 w 16"/>
                <a:gd name="T25" fmla="*/ 5 h 14"/>
                <a:gd name="T26" fmla="*/ 3 w 16"/>
                <a:gd name="T27" fmla="*/ 10 h 14"/>
                <a:gd name="T28" fmla="*/ 3 w 16"/>
                <a:gd name="T29" fmla="*/ 12 h 14"/>
                <a:gd name="T30" fmla="*/ 2 w 16"/>
                <a:gd name="T31" fmla="*/ 12 h 14"/>
                <a:gd name="T32" fmla="*/ 2 w 16"/>
                <a:gd name="T33" fmla="*/ 14 h 14"/>
                <a:gd name="T34" fmla="*/ 8 w 16"/>
                <a:gd name="T35" fmla="*/ 13 h 14"/>
                <a:gd name="T36" fmla="*/ 8 w 16"/>
                <a:gd name="T37" fmla="*/ 11 h 14"/>
                <a:gd name="T38" fmla="*/ 7 w 16"/>
                <a:gd name="T39" fmla="*/ 11 h 14"/>
                <a:gd name="T40" fmla="*/ 6 w 16"/>
                <a:gd name="T41" fmla="*/ 9 h 14"/>
                <a:gd name="T42" fmla="*/ 6 w 16"/>
                <a:gd name="T43" fmla="*/ 8 h 14"/>
                <a:gd name="T44" fmla="*/ 7 w 16"/>
                <a:gd name="T45" fmla="*/ 8 h 14"/>
                <a:gd name="T46" fmla="*/ 12 w 16"/>
                <a:gd name="T47" fmla="*/ 13 h 14"/>
                <a:gd name="T48" fmla="*/ 16 w 16"/>
                <a:gd name="T49" fmla="*/ 12 h 14"/>
                <a:gd name="T50" fmla="*/ 15 w 16"/>
                <a:gd name="T51" fmla="*/ 10 h 14"/>
                <a:gd name="T52" fmla="*/ 14 w 16"/>
                <a:gd name="T53" fmla="*/ 10 h 14"/>
                <a:gd name="T54" fmla="*/ 13 w 16"/>
                <a:gd name="T55" fmla="*/ 9 h 14"/>
                <a:gd name="T56" fmla="*/ 10 w 16"/>
                <a:gd name="T57" fmla="*/ 7 h 14"/>
                <a:gd name="T58" fmla="*/ 12 w 16"/>
                <a:gd name="T59" fmla="*/ 5 h 14"/>
                <a:gd name="T60" fmla="*/ 12 w 16"/>
                <a:gd name="T61" fmla="*/ 3 h 14"/>
                <a:gd name="T62" fmla="*/ 11 w 16"/>
                <a:gd name="T63" fmla="*/ 0 h 14"/>
                <a:gd name="T64" fmla="*/ 7 w 16"/>
                <a:gd name="T65" fmla="*/ 0 h 14"/>
                <a:gd name="T66" fmla="*/ 0 w 16"/>
                <a:gd name="T67" fmla="*/ 1 h 14"/>
                <a:gd name="T68" fmla="*/ 1 w 16"/>
                <a:gd name="T69"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 h="14">
                  <a:moveTo>
                    <a:pt x="5" y="4"/>
                  </a:moveTo>
                  <a:cubicBezTo>
                    <a:pt x="5" y="3"/>
                    <a:pt x="5" y="2"/>
                    <a:pt x="5" y="2"/>
                  </a:cubicBezTo>
                  <a:cubicBezTo>
                    <a:pt x="5" y="2"/>
                    <a:pt x="6" y="2"/>
                    <a:pt x="6" y="2"/>
                  </a:cubicBezTo>
                  <a:cubicBezTo>
                    <a:pt x="7" y="2"/>
                    <a:pt x="8" y="2"/>
                    <a:pt x="8" y="2"/>
                  </a:cubicBezTo>
                  <a:cubicBezTo>
                    <a:pt x="9" y="2"/>
                    <a:pt x="9" y="3"/>
                    <a:pt x="9" y="3"/>
                  </a:cubicBezTo>
                  <a:cubicBezTo>
                    <a:pt x="9" y="4"/>
                    <a:pt x="9" y="5"/>
                    <a:pt x="9" y="5"/>
                  </a:cubicBezTo>
                  <a:cubicBezTo>
                    <a:pt x="8" y="5"/>
                    <a:pt x="7" y="6"/>
                    <a:pt x="6" y="6"/>
                  </a:cubicBezTo>
                  <a:cubicBezTo>
                    <a:pt x="6" y="6"/>
                    <a:pt x="6" y="6"/>
                    <a:pt x="6" y="6"/>
                  </a:cubicBezTo>
                  <a:cubicBezTo>
                    <a:pt x="6" y="6"/>
                    <a:pt x="6" y="6"/>
                    <a:pt x="6" y="6"/>
                  </a:cubicBezTo>
                  <a:lnTo>
                    <a:pt x="5" y="4"/>
                  </a:lnTo>
                  <a:close/>
                  <a:moveTo>
                    <a:pt x="1" y="3"/>
                  </a:moveTo>
                  <a:cubicBezTo>
                    <a:pt x="1" y="3"/>
                    <a:pt x="1" y="3"/>
                    <a:pt x="2" y="3"/>
                  </a:cubicBezTo>
                  <a:cubicBezTo>
                    <a:pt x="2" y="3"/>
                    <a:pt x="2" y="4"/>
                    <a:pt x="2" y="5"/>
                  </a:cubicBezTo>
                  <a:cubicBezTo>
                    <a:pt x="3" y="10"/>
                    <a:pt x="3" y="10"/>
                    <a:pt x="3" y="10"/>
                  </a:cubicBezTo>
                  <a:cubicBezTo>
                    <a:pt x="3" y="11"/>
                    <a:pt x="3" y="12"/>
                    <a:pt x="3" y="12"/>
                  </a:cubicBezTo>
                  <a:cubicBezTo>
                    <a:pt x="3" y="12"/>
                    <a:pt x="3" y="12"/>
                    <a:pt x="2" y="12"/>
                  </a:cubicBezTo>
                  <a:cubicBezTo>
                    <a:pt x="2" y="14"/>
                    <a:pt x="2" y="14"/>
                    <a:pt x="2" y="14"/>
                  </a:cubicBezTo>
                  <a:cubicBezTo>
                    <a:pt x="8" y="13"/>
                    <a:pt x="8" y="13"/>
                    <a:pt x="8" y="13"/>
                  </a:cubicBezTo>
                  <a:cubicBezTo>
                    <a:pt x="8" y="11"/>
                    <a:pt x="8" y="11"/>
                    <a:pt x="8" y="11"/>
                  </a:cubicBezTo>
                  <a:cubicBezTo>
                    <a:pt x="7" y="12"/>
                    <a:pt x="7" y="11"/>
                    <a:pt x="7" y="11"/>
                  </a:cubicBezTo>
                  <a:cubicBezTo>
                    <a:pt x="7" y="11"/>
                    <a:pt x="6" y="10"/>
                    <a:pt x="6" y="9"/>
                  </a:cubicBezTo>
                  <a:cubicBezTo>
                    <a:pt x="6" y="8"/>
                    <a:pt x="6" y="8"/>
                    <a:pt x="6" y="8"/>
                  </a:cubicBezTo>
                  <a:cubicBezTo>
                    <a:pt x="7" y="8"/>
                    <a:pt x="7" y="8"/>
                    <a:pt x="7" y="8"/>
                  </a:cubicBezTo>
                  <a:cubicBezTo>
                    <a:pt x="12" y="13"/>
                    <a:pt x="12" y="13"/>
                    <a:pt x="12" y="13"/>
                  </a:cubicBezTo>
                  <a:cubicBezTo>
                    <a:pt x="16" y="12"/>
                    <a:pt x="16" y="12"/>
                    <a:pt x="16" y="12"/>
                  </a:cubicBezTo>
                  <a:cubicBezTo>
                    <a:pt x="15" y="10"/>
                    <a:pt x="15" y="10"/>
                    <a:pt x="15" y="10"/>
                  </a:cubicBezTo>
                  <a:cubicBezTo>
                    <a:pt x="15" y="10"/>
                    <a:pt x="14" y="10"/>
                    <a:pt x="14" y="10"/>
                  </a:cubicBezTo>
                  <a:cubicBezTo>
                    <a:pt x="14" y="10"/>
                    <a:pt x="13" y="10"/>
                    <a:pt x="13" y="9"/>
                  </a:cubicBezTo>
                  <a:cubicBezTo>
                    <a:pt x="10" y="7"/>
                    <a:pt x="10" y="7"/>
                    <a:pt x="10" y="7"/>
                  </a:cubicBezTo>
                  <a:cubicBezTo>
                    <a:pt x="11" y="6"/>
                    <a:pt x="12" y="6"/>
                    <a:pt x="12" y="5"/>
                  </a:cubicBezTo>
                  <a:cubicBezTo>
                    <a:pt x="12" y="4"/>
                    <a:pt x="13" y="4"/>
                    <a:pt x="12" y="3"/>
                  </a:cubicBezTo>
                  <a:cubicBezTo>
                    <a:pt x="12" y="2"/>
                    <a:pt x="12" y="1"/>
                    <a:pt x="11" y="0"/>
                  </a:cubicBezTo>
                  <a:cubicBezTo>
                    <a:pt x="10" y="0"/>
                    <a:pt x="9" y="0"/>
                    <a:pt x="7" y="0"/>
                  </a:cubicBezTo>
                  <a:cubicBezTo>
                    <a:pt x="0" y="1"/>
                    <a:pt x="0" y="1"/>
                    <a:pt x="0" y="1"/>
                  </a:cubicBezTo>
                  <a:lnTo>
                    <a:pt x="1" y="3"/>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0" name="Freeform 33"/>
            <p:cNvSpPr>
              <a:spLocks noEditPoints="1"/>
            </p:cNvSpPr>
            <p:nvPr/>
          </p:nvSpPr>
          <p:spPr bwMode="auto">
            <a:xfrm>
              <a:off x="955" y="957"/>
              <a:ext cx="52" cy="57"/>
            </a:xfrm>
            <a:custGeom>
              <a:avLst/>
              <a:gdLst>
                <a:gd name="T0" fmla="*/ 5 w 13"/>
                <a:gd name="T1" fmla="*/ 7 h 15"/>
                <a:gd name="T2" fmla="*/ 3 w 13"/>
                <a:gd name="T3" fmla="*/ 8 h 15"/>
                <a:gd name="T4" fmla="*/ 3 w 13"/>
                <a:gd name="T5" fmla="*/ 4 h 15"/>
                <a:gd name="T6" fmla="*/ 5 w 13"/>
                <a:gd name="T7" fmla="*/ 7 h 15"/>
                <a:gd name="T8" fmla="*/ 1 w 13"/>
                <a:gd name="T9" fmla="*/ 11 h 15"/>
                <a:gd name="T10" fmla="*/ 1 w 13"/>
                <a:gd name="T11" fmla="*/ 11 h 15"/>
                <a:gd name="T12" fmla="*/ 0 w 13"/>
                <a:gd name="T13" fmla="*/ 14 h 15"/>
                <a:gd name="T14" fmla="*/ 1 w 13"/>
                <a:gd name="T15" fmla="*/ 15 h 15"/>
                <a:gd name="T16" fmla="*/ 5 w 13"/>
                <a:gd name="T17" fmla="*/ 14 h 15"/>
                <a:gd name="T18" fmla="*/ 5 w 13"/>
                <a:gd name="T19" fmla="*/ 12 h 15"/>
                <a:gd name="T20" fmla="*/ 4 w 13"/>
                <a:gd name="T21" fmla="*/ 12 h 15"/>
                <a:gd name="T22" fmla="*/ 3 w 13"/>
                <a:gd name="T23" fmla="*/ 12 h 15"/>
                <a:gd name="T24" fmla="*/ 3 w 13"/>
                <a:gd name="T25" fmla="*/ 12 h 15"/>
                <a:gd name="T26" fmla="*/ 3 w 13"/>
                <a:gd name="T27" fmla="*/ 11 h 15"/>
                <a:gd name="T28" fmla="*/ 3 w 13"/>
                <a:gd name="T29" fmla="*/ 10 h 15"/>
                <a:gd name="T30" fmla="*/ 6 w 13"/>
                <a:gd name="T31" fmla="*/ 8 h 15"/>
                <a:gd name="T32" fmla="*/ 8 w 13"/>
                <a:gd name="T33" fmla="*/ 10 h 15"/>
                <a:gd name="T34" fmla="*/ 8 w 13"/>
                <a:gd name="T35" fmla="*/ 10 h 15"/>
                <a:gd name="T36" fmla="*/ 8 w 13"/>
                <a:gd name="T37" fmla="*/ 10 h 15"/>
                <a:gd name="T38" fmla="*/ 8 w 13"/>
                <a:gd name="T39" fmla="*/ 11 h 15"/>
                <a:gd name="T40" fmla="*/ 7 w 13"/>
                <a:gd name="T41" fmla="*/ 11 h 15"/>
                <a:gd name="T42" fmla="*/ 7 w 13"/>
                <a:gd name="T43" fmla="*/ 11 h 15"/>
                <a:gd name="T44" fmla="*/ 8 w 13"/>
                <a:gd name="T45" fmla="*/ 13 h 15"/>
                <a:gd name="T46" fmla="*/ 13 w 13"/>
                <a:gd name="T47" fmla="*/ 11 h 15"/>
                <a:gd name="T48" fmla="*/ 12 w 13"/>
                <a:gd name="T49" fmla="*/ 9 h 15"/>
                <a:gd name="T50" fmla="*/ 10 w 13"/>
                <a:gd name="T51" fmla="*/ 8 h 15"/>
                <a:gd name="T52" fmla="*/ 10 w 13"/>
                <a:gd name="T53" fmla="*/ 8 h 15"/>
                <a:gd name="T54" fmla="*/ 4 w 13"/>
                <a:gd name="T55" fmla="*/ 0 h 15"/>
                <a:gd name="T56" fmla="*/ 1 w 13"/>
                <a:gd name="T57" fmla="*/ 1 h 15"/>
                <a:gd name="T58" fmla="*/ 1 w 13"/>
                <a:gd name="T59"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 h="15">
                  <a:moveTo>
                    <a:pt x="5" y="7"/>
                  </a:moveTo>
                  <a:cubicBezTo>
                    <a:pt x="3" y="8"/>
                    <a:pt x="3" y="8"/>
                    <a:pt x="3" y="8"/>
                  </a:cubicBezTo>
                  <a:cubicBezTo>
                    <a:pt x="3" y="4"/>
                    <a:pt x="3" y="4"/>
                    <a:pt x="3" y="4"/>
                  </a:cubicBezTo>
                  <a:lnTo>
                    <a:pt x="5" y="7"/>
                  </a:lnTo>
                  <a:close/>
                  <a:moveTo>
                    <a:pt x="1" y="11"/>
                  </a:moveTo>
                  <a:cubicBezTo>
                    <a:pt x="1" y="11"/>
                    <a:pt x="1" y="11"/>
                    <a:pt x="1" y="11"/>
                  </a:cubicBezTo>
                  <a:cubicBezTo>
                    <a:pt x="1" y="13"/>
                    <a:pt x="1" y="14"/>
                    <a:pt x="0" y="14"/>
                  </a:cubicBezTo>
                  <a:cubicBezTo>
                    <a:pt x="1" y="15"/>
                    <a:pt x="1" y="15"/>
                    <a:pt x="1" y="15"/>
                  </a:cubicBezTo>
                  <a:cubicBezTo>
                    <a:pt x="5" y="14"/>
                    <a:pt x="5" y="14"/>
                    <a:pt x="5" y="14"/>
                  </a:cubicBezTo>
                  <a:cubicBezTo>
                    <a:pt x="5" y="12"/>
                    <a:pt x="5" y="12"/>
                    <a:pt x="5" y="12"/>
                  </a:cubicBezTo>
                  <a:cubicBezTo>
                    <a:pt x="4" y="12"/>
                    <a:pt x="4" y="12"/>
                    <a:pt x="4" y="12"/>
                  </a:cubicBezTo>
                  <a:cubicBezTo>
                    <a:pt x="4" y="12"/>
                    <a:pt x="3" y="12"/>
                    <a:pt x="3" y="12"/>
                  </a:cubicBezTo>
                  <a:cubicBezTo>
                    <a:pt x="3" y="12"/>
                    <a:pt x="3" y="12"/>
                    <a:pt x="3" y="12"/>
                  </a:cubicBezTo>
                  <a:cubicBezTo>
                    <a:pt x="3" y="12"/>
                    <a:pt x="3" y="12"/>
                    <a:pt x="3" y="11"/>
                  </a:cubicBezTo>
                  <a:cubicBezTo>
                    <a:pt x="3" y="10"/>
                    <a:pt x="3" y="10"/>
                    <a:pt x="3" y="10"/>
                  </a:cubicBezTo>
                  <a:cubicBezTo>
                    <a:pt x="6" y="8"/>
                    <a:pt x="6" y="8"/>
                    <a:pt x="6" y="8"/>
                  </a:cubicBezTo>
                  <a:cubicBezTo>
                    <a:pt x="8" y="10"/>
                    <a:pt x="8" y="10"/>
                    <a:pt x="8" y="10"/>
                  </a:cubicBezTo>
                  <a:cubicBezTo>
                    <a:pt x="8" y="10"/>
                    <a:pt x="8" y="10"/>
                    <a:pt x="8" y="10"/>
                  </a:cubicBezTo>
                  <a:cubicBezTo>
                    <a:pt x="8" y="10"/>
                    <a:pt x="8" y="10"/>
                    <a:pt x="8" y="10"/>
                  </a:cubicBezTo>
                  <a:cubicBezTo>
                    <a:pt x="8" y="11"/>
                    <a:pt x="8" y="11"/>
                    <a:pt x="8" y="11"/>
                  </a:cubicBezTo>
                  <a:cubicBezTo>
                    <a:pt x="8" y="11"/>
                    <a:pt x="7" y="11"/>
                    <a:pt x="7" y="11"/>
                  </a:cubicBezTo>
                  <a:cubicBezTo>
                    <a:pt x="7" y="11"/>
                    <a:pt x="7" y="11"/>
                    <a:pt x="7" y="11"/>
                  </a:cubicBezTo>
                  <a:cubicBezTo>
                    <a:pt x="8" y="13"/>
                    <a:pt x="8" y="13"/>
                    <a:pt x="8" y="13"/>
                  </a:cubicBezTo>
                  <a:cubicBezTo>
                    <a:pt x="13" y="11"/>
                    <a:pt x="13" y="11"/>
                    <a:pt x="13" y="11"/>
                  </a:cubicBezTo>
                  <a:cubicBezTo>
                    <a:pt x="12" y="9"/>
                    <a:pt x="12" y="9"/>
                    <a:pt x="12" y="9"/>
                  </a:cubicBezTo>
                  <a:cubicBezTo>
                    <a:pt x="12" y="9"/>
                    <a:pt x="11" y="9"/>
                    <a:pt x="10" y="8"/>
                  </a:cubicBezTo>
                  <a:cubicBezTo>
                    <a:pt x="10" y="8"/>
                    <a:pt x="10" y="8"/>
                    <a:pt x="10" y="8"/>
                  </a:cubicBezTo>
                  <a:cubicBezTo>
                    <a:pt x="4" y="0"/>
                    <a:pt x="4" y="0"/>
                    <a:pt x="4" y="0"/>
                  </a:cubicBezTo>
                  <a:cubicBezTo>
                    <a:pt x="1" y="1"/>
                    <a:pt x="1" y="1"/>
                    <a:pt x="1" y="1"/>
                  </a:cubicBezTo>
                  <a:lnTo>
                    <a:pt x="1" y="11"/>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1" name="Freeform 34"/>
            <p:cNvSpPr/>
            <p:nvPr/>
          </p:nvSpPr>
          <p:spPr bwMode="auto">
            <a:xfrm>
              <a:off x="982" y="937"/>
              <a:ext cx="54" cy="57"/>
            </a:xfrm>
            <a:custGeom>
              <a:avLst/>
              <a:gdLst>
                <a:gd name="T0" fmla="*/ 0 w 14"/>
                <a:gd name="T1" fmla="*/ 4 h 15"/>
                <a:gd name="T2" fmla="*/ 9 w 14"/>
                <a:gd name="T3" fmla="*/ 0 h 15"/>
                <a:gd name="T4" fmla="*/ 12 w 14"/>
                <a:gd name="T5" fmla="*/ 3 h 15"/>
                <a:gd name="T6" fmla="*/ 11 w 14"/>
                <a:gd name="T7" fmla="*/ 4 h 15"/>
                <a:gd name="T8" fmla="*/ 9 w 14"/>
                <a:gd name="T9" fmla="*/ 2 h 15"/>
                <a:gd name="T10" fmla="*/ 7 w 14"/>
                <a:gd name="T11" fmla="*/ 3 h 15"/>
                <a:gd name="T12" fmla="*/ 7 w 14"/>
                <a:gd name="T13" fmla="*/ 3 h 15"/>
                <a:gd name="T14" fmla="*/ 10 w 14"/>
                <a:gd name="T15" fmla="*/ 9 h 15"/>
                <a:gd name="T16" fmla="*/ 12 w 14"/>
                <a:gd name="T17" fmla="*/ 11 h 15"/>
                <a:gd name="T18" fmla="*/ 13 w 14"/>
                <a:gd name="T19" fmla="*/ 11 h 15"/>
                <a:gd name="T20" fmla="*/ 14 w 14"/>
                <a:gd name="T21" fmla="*/ 12 h 15"/>
                <a:gd name="T22" fmla="*/ 8 w 14"/>
                <a:gd name="T23" fmla="*/ 15 h 15"/>
                <a:gd name="T24" fmla="*/ 8 w 14"/>
                <a:gd name="T25" fmla="*/ 13 h 15"/>
                <a:gd name="T26" fmla="*/ 8 w 14"/>
                <a:gd name="T27" fmla="*/ 13 h 15"/>
                <a:gd name="T28" fmla="*/ 8 w 14"/>
                <a:gd name="T29" fmla="*/ 11 h 15"/>
                <a:gd name="T30" fmla="*/ 4 w 14"/>
                <a:gd name="T31" fmla="*/ 4 h 15"/>
                <a:gd name="T32" fmla="*/ 4 w 14"/>
                <a:gd name="T33" fmla="*/ 4 h 15"/>
                <a:gd name="T34" fmla="*/ 3 w 14"/>
                <a:gd name="T35" fmla="*/ 6 h 15"/>
                <a:gd name="T36" fmla="*/ 2 w 14"/>
                <a:gd name="T37" fmla="*/ 8 h 15"/>
                <a:gd name="T38" fmla="*/ 1 w 14"/>
                <a:gd name="T39" fmla="*/ 8 h 15"/>
                <a:gd name="T40" fmla="*/ 0 w 14"/>
                <a:gd name="T41" fmla="*/ 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 h="15">
                  <a:moveTo>
                    <a:pt x="0" y="4"/>
                  </a:moveTo>
                  <a:cubicBezTo>
                    <a:pt x="9" y="0"/>
                    <a:pt x="9" y="0"/>
                    <a:pt x="9" y="0"/>
                  </a:cubicBezTo>
                  <a:cubicBezTo>
                    <a:pt x="12" y="3"/>
                    <a:pt x="12" y="3"/>
                    <a:pt x="12" y="3"/>
                  </a:cubicBezTo>
                  <a:cubicBezTo>
                    <a:pt x="11" y="4"/>
                    <a:pt x="11" y="4"/>
                    <a:pt x="11" y="4"/>
                  </a:cubicBezTo>
                  <a:cubicBezTo>
                    <a:pt x="11" y="3"/>
                    <a:pt x="10" y="2"/>
                    <a:pt x="9" y="2"/>
                  </a:cubicBezTo>
                  <a:cubicBezTo>
                    <a:pt x="9" y="2"/>
                    <a:pt x="8" y="2"/>
                    <a:pt x="7" y="3"/>
                  </a:cubicBezTo>
                  <a:cubicBezTo>
                    <a:pt x="7" y="3"/>
                    <a:pt x="7" y="3"/>
                    <a:pt x="7" y="3"/>
                  </a:cubicBezTo>
                  <a:cubicBezTo>
                    <a:pt x="10" y="9"/>
                    <a:pt x="10" y="9"/>
                    <a:pt x="10" y="9"/>
                  </a:cubicBezTo>
                  <a:cubicBezTo>
                    <a:pt x="11" y="10"/>
                    <a:pt x="11" y="11"/>
                    <a:pt x="12" y="11"/>
                  </a:cubicBezTo>
                  <a:cubicBezTo>
                    <a:pt x="12" y="11"/>
                    <a:pt x="12" y="11"/>
                    <a:pt x="13" y="11"/>
                  </a:cubicBezTo>
                  <a:cubicBezTo>
                    <a:pt x="14" y="12"/>
                    <a:pt x="14" y="12"/>
                    <a:pt x="14" y="12"/>
                  </a:cubicBezTo>
                  <a:cubicBezTo>
                    <a:pt x="8" y="15"/>
                    <a:pt x="8" y="15"/>
                    <a:pt x="8" y="15"/>
                  </a:cubicBezTo>
                  <a:cubicBezTo>
                    <a:pt x="8" y="13"/>
                    <a:pt x="8" y="13"/>
                    <a:pt x="8" y="13"/>
                  </a:cubicBezTo>
                  <a:cubicBezTo>
                    <a:pt x="8" y="13"/>
                    <a:pt x="8" y="13"/>
                    <a:pt x="8" y="13"/>
                  </a:cubicBezTo>
                  <a:cubicBezTo>
                    <a:pt x="8" y="12"/>
                    <a:pt x="8" y="12"/>
                    <a:pt x="8" y="11"/>
                  </a:cubicBezTo>
                  <a:cubicBezTo>
                    <a:pt x="4" y="4"/>
                    <a:pt x="4" y="4"/>
                    <a:pt x="4" y="4"/>
                  </a:cubicBezTo>
                  <a:cubicBezTo>
                    <a:pt x="4" y="4"/>
                    <a:pt x="4" y="4"/>
                    <a:pt x="4" y="4"/>
                  </a:cubicBezTo>
                  <a:cubicBezTo>
                    <a:pt x="3" y="5"/>
                    <a:pt x="3" y="5"/>
                    <a:pt x="3" y="6"/>
                  </a:cubicBezTo>
                  <a:cubicBezTo>
                    <a:pt x="2" y="6"/>
                    <a:pt x="2" y="7"/>
                    <a:pt x="2" y="8"/>
                  </a:cubicBezTo>
                  <a:cubicBezTo>
                    <a:pt x="1" y="8"/>
                    <a:pt x="1" y="8"/>
                    <a:pt x="1" y="8"/>
                  </a:cubicBezTo>
                  <a:lnTo>
                    <a:pt x="0" y="4"/>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2" name="Freeform 35"/>
            <p:cNvSpPr/>
            <p:nvPr/>
          </p:nvSpPr>
          <p:spPr bwMode="auto">
            <a:xfrm>
              <a:off x="1027" y="917"/>
              <a:ext cx="47" cy="57"/>
            </a:xfrm>
            <a:custGeom>
              <a:avLst/>
              <a:gdLst>
                <a:gd name="T0" fmla="*/ 0 w 12"/>
                <a:gd name="T1" fmla="*/ 4 h 15"/>
                <a:gd name="T2" fmla="*/ 5 w 12"/>
                <a:gd name="T3" fmla="*/ 0 h 15"/>
                <a:gd name="T4" fmla="*/ 5 w 12"/>
                <a:gd name="T5" fmla="*/ 2 h 15"/>
                <a:gd name="T6" fmla="*/ 5 w 12"/>
                <a:gd name="T7" fmla="*/ 3 h 15"/>
                <a:gd name="T8" fmla="*/ 6 w 12"/>
                <a:gd name="T9" fmla="*/ 5 h 15"/>
                <a:gd name="T10" fmla="*/ 9 w 12"/>
                <a:gd name="T11" fmla="*/ 9 h 15"/>
                <a:gd name="T12" fmla="*/ 10 w 12"/>
                <a:gd name="T13" fmla="*/ 10 h 15"/>
                <a:gd name="T14" fmla="*/ 11 w 12"/>
                <a:gd name="T15" fmla="*/ 10 h 15"/>
                <a:gd name="T16" fmla="*/ 12 w 12"/>
                <a:gd name="T17" fmla="*/ 11 h 15"/>
                <a:gd name="T18" fmla="*/ 7 w 12"/>
                <a:gd name="T19" fmla="*/ 15 h 15"/>
                <a:gd name="T20" fmla="*/ 6 w 12"/>
                <a:gd name="T21" fmla="*/ 13 h 15"/>
                <a:gd name="T22" fmla="*/ 7 w 12"/>
                <a:gd name="T23" fmla="*/ 12 h 15"/>
                <a:gd name="T24" fmla="*/ 6 w 12"/>
                <a:gd name="T25" fmla="*/ 10 h 15"/>
                <a:gd name="T26" fmla="*/ 3 w 12"/>
                <a:gd name="T27" fmla="*/ 6 h 15"/>
                <a:gd name="T28" fmla="*/ 2 w 12"/>
                <a:gd name="T29" fmla="*/ 5 h 15"/>
                <a:gd name="T30" fmla="*/ 0 w 12"/>
                <a:gd name="T31" fmla="*/ 5 h 15"/>
                <a:gd name="T32" fmla="*/ 0 w 12"/>
                <a:gd name="T33" fmla="*/ 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5">
                  <a:moveTo>
                    <a:pt x="0" y="4"/>
                  </a:moveTo>
                  <a:cubicBezTo>
                    <a:pt x="5" y="0"/>
                    <a:pt x="5" y="0"/>
                    <a:pt x="5" y="0"/>
                  </a:cubicBezTo>
                  <a:cubicBezTo>
                    <a:pt x="5" y="2"/>
                    <a:pt x="5" y="2"/>
                    <a:pt x="5" y="2"/>
                  </a:cubicBezTo>
                  <a:cubicBezTo>
                    <a:pt x="5" y="2"/>
                    <a:pt x="5" y="2"/>
                    <a:pt x="5" y="3"/>
                  </a:cubicBezTo>
                  <a:cubicBezTo>
                    <a:pt x="5" y="3"/>
                    <a:pt x="5" y="4"/>
                    <a:pt x="6" y="5"/>
                  </a:cubicBezTo>
                  <a:cubicBezTo>
                    <a:pt x="9" y="9"/>
                    <a:pt x="9" y="9"/>
                    <a:pt x="9" y="9"/>
                  </a:cubicBezTo>
                  <a:cubicBezTo>
                    <a:pt x="9" y="9"/>
                    <a:pt x="10" y="10"/>
                    <a:pt x="10" y="10"/>
                  </a:cubicBezTo>
                  <a:cubicBezTo>
                    <a:pt x="10" y="10"/>
                    <a:pt x="11" y="10"/>
                    <a:pt x="11" y="10"/>
                  </a:cubicBezTo>
                  <a:cubicBezTo>
                    <a:pt x="12" y="11"/>
                    <a:pt x="12" y="11"/>
                    <a:pt x="12" y="11"/>
                  </a:cubicBezTo>
                  <a:cubicBezTo>
                    <a:pt x="7" y="15"/>
                    <a:pt x="7" y="15"/>
                    <a:pt x="7" y="15"/>
                  </a:cubicBezTo>
                  <a:cubicBezTo>
                    <a:pt x="6" y="13"/>
                    <a:pt x="6" y="13"/>
                    <a:pt x="6" y="13"/>
                  </a:cubicBezTo>
                  <a:cubicBezTo>
                    <a:pt x="7" y="13"/>
                    <a:pt x="7" y="13"/>
                    <a:pt x="7" y="12"/>
                  </a:cubicBezTo>
                  <a:cubicBezTo>
                    <a:pt x="7" y="12"/>
                    <a:pt x="7" y="11"/>
                    <a:pt x="6" y="10"/>
                  </a:cubicBezTo>
                  <a:cubicBezTo>
                    <a:pt x="3" y="6"/>
                    <a:pt x="3" y="6"/>
                    <a:pt x="3" y="6"/>
                  </a:cubicBezTo>
                  <a:cubicBezTo>
                    <a:pt x="2" y="5"/>
                    <a:pt x="2" y="5"/>
                    <a:pt x="2" y="5"/>
                  </a:cubicBezTo>
                  <a:cubicBezTo>
                    <a:pt x="1" y="5"/>
                    <a:pt x="1" y="5"/>
                    <a:pt x="0" y="5"/>
                  </a:cubicBezTo>
                  <a:lnTo>
                    <a:pt x="0" y="4"/>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3" name="Freeform 36"/>
            <p:cNvSpPr>
              <a:spLocks noEditPoints="1"/>
            </p:cNvSpPr>
            <p:nvPr/>
          </p:nvSpPr>
          <p:spPr bwMode="auto">
            <a:xfrm>
              <a:off x="1054" y="897"/>
              <a:ext cx="54" cy="54"/>
            </a:xfrm>
            <a:custGeom>
              <a:avLst/>
              <a:gdLst>
                <a:gd name="T0" fmla="*/ 6 w 14"/>
                <a:gd name="T1" fmla="*/ 2 h 14"/>
                <a:gd name="T2" fmla="*/ 9 w 14"/>
                <a:gd name="T3" fmla="*/ 5 h 14"/>
                <a:gd name="T4" fmla="*/ 11 w 14"/>
                <a:gd name="T5" fmla="*/ 8 h 14"/>
                <a:gd name="T6" fmla="*/ 10 w 14"/>
                <a:gd name="T7" fmla="*/ 11 h 14"/>
                <a:gd name="T8" fmla="*/ 7 w 14"/>
                <a:gd name="T9" fmla="*/ 11 h 14"/>
                <a:gd name="T10" fmla="*/ 4 w 14"/>
                <a:gd name="T11" fmla="*/ 8 h 14"/>
                <a:gd name="T12" fmla="*/ 3 w 14"/>
                <a:gd name="T13" fmla="*/ 5 h 14"/>
                <a:gd name="T14" fmla="*/ 4 w 14"/>
                <a:gd name="T15" fmla="*/ 2 h 14"/>
                <a:gd name="T16" fmla="*/ 6 w 14"/>
                <a:gd name="T17" fmla="*/ 2 h 14"/>
                <a:gd name="T18" fmla="*/ 0 w 14"/>
                <a:gd name="T19" fmla="*/ 5 h 14"/>
                <a:gd name="T20" fmla="*/ 2 w 14"/>
                <a:gd name="T21" fmla="*/ 10 h 14"/>
                <a:gd name="T22" fmla="*/ 6 w 14"/>
                <a:gd name="T23" fmla="*/ 13 h 14"/>
                <a:gd name="T24" fmla="*/ 11 w 14"/>
                <a:gd name="T25" fmla="*/ 12 h 14"/>
                <a:gd name="T26" fmla="*/ 14 w 14"/>
                <a:gd name="T27" fmla="*/ 8 h 14"/>
                <a:gd name="T28" fmla="*/ 12 w 14"/>
                <a:gd name="T29" fmla="*/ 3 h 14"/>
                <a:gd name="T30" fmla="*/ 8 w 14"/>
                <a:gd name="T31" fmla="*/ 0 h 14"/>
                <a:gd name="T32" fmla="*/ 3 w 14"/>
                <a:gd name="T33" fmla="*/ 1 h 14"/>
                <a:gd name="T34" fmla="*/ 0 w 14"/>
                <a:gd name="T35" fmla="*/ 5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 h="14">
                  <a:moveTo>
                    <a:pt x="6" y="2"/>
                  </a:moveTo>
                  <a:cubicBezTo>
                    <a:pt x="7" y="3"/>
                    <a:pt x="8" y="3"/>
                    <a:pt x="9" y="5"/>
                  </a:cubicBezTo>
                  <a:cubicBezTo>
                    <a:pt x="10" y="6"/>
                    <a:pt x="11" y="7"/>
                    <a:pt x="11" y="8"/>
                  </a:cubicBezTo>
                  <a:cubicBezTo>
                    <a:pt x="11" y="9"/>
                    <a:pt x="11" y="10"/>
                    <a:pt x="10" y="11"/>
                  </a:cubicBezTo>
                  <a:cubicBezTo>
                    <a:pt x="9" y="11"/>
                    <a:pt x="8" y="11"/>
                    <a:pt x="7" y="11"/>
                  </a:cubicBezTo>
                  <a:cubicBezTo>
                    <a:pt x="6" y="11"/>
                    <a:pt x="5" y="10"/>
                    <a:pt x="4" y="8"/>
                  </a:cubicBezTo>
                  <a:cubicBezTo>
                    <a:pt x="3" y="7"/>
                    <a:pt x="3" y="6"/>
                    <a:pt x="3" y="5"/>
                  </a:cubicBezTo>
                  <a:cubicBezTo>
                    <a:pt x="3" y="4"/>
                    <a:pt x="3" y="3"/>
                    <a:pt x="4" y="2"/>
                  </a:cubicBezTo>
                  <a:cubicBezTo>
                    <a:pt x="4" y="2"/>
                    <a:pt x="5" y="2"/>
                    <a:pt x="6" y="2"/>
                  </a:cubicBezTo>
                  <a:close/>
                  <a:moveTo>
                    <a:pt x="0" y="5"/>
                  </a:moveTo>
                  <a:cubicBezTo>
                    <a:pt x="0" y="7"/>
                    <a:pt x="0" y="9"/>
                    <a:pt x="2" y="10"/>
                  </a:cubicBezTo>
                  <a:cubicBezTo>
                    <a:pt x="3" y="12"/>
                    <a:pt x="4" y="13"/>
                    <a:pt x="6" y="13"/>
                  </a:cubicBezTo>
                  <a:cubicBezTo>
                    <a:pt x="8" y="14"/>
                    <a:pt x="9" y="13"/>
                    <a:pt x="11" y="12"/>
                  </a:cubicBezTo>
                  <a:cubicBezTo>
                    <a:pt x="12" y="11"/>
                    <a:pt x="13" y="9"/>
                    <a:pt x="14" y="8"/>
                  </a:cubicBezTo>
                  <a:cubicBezTo>
                    <a:pt x="14" y="6"/>
                    <a:pt x="13" y="4"/>
                    <a:pt x="12" y="3"/>
                  </a:cubicBezTo>
                  <a:cubicBezTo>
                    <a:pt x="11" y="1"/>
                    <a:pt x="9" y="0"/>
                    <a:pt x="8" y="0"/>
                  </a:cubicBezTo>
                  <a:cubicBezTo>
                    <a:pt x="6" y="0"/>
                    <a:pt x="4" y="0"/>
                    <a:pt x="3" y="1"/>
                  </a:cubicBezTo>
                  <a:cubicBezTo>
                    <a:pt x="1" y="2"/>
                    <a:pt x="0" y="4"/>
                    <a:pt x="0" y="5"/>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4" name="Freeform 37"/>
            <p:cNvSpPr>
              <a:spLocks noEditPoints="1"/>
            </p:cNvSpPr>
            <p:nvPr/>
          </p:nvSpPr>
          <p:spPr bwMode="auto">
            <a:xfrm>
              <a:off x="1128" y="799"/>
              <a:ext cx="57" cy="54"/>
            </a:xfrm>
            <a:custGeom>
              <a:avLst/>
              <a:gdLst>
                <a:gd name="T0" fmla="*/ 5 w 15"/>
                <a:gd name="T1" fmla="*/ 3 h 14"/>
                <a:gd name="T2" fmla="*/ 9 w 15"/>
                <a:gd name="T3" fmla="*/ 4 h 14"/>
                <a:gd name="T4" fmla="*/ 12 w 15"/>
                <a:gd name="T5" fmla="*/ 6 h 14"/>
                <a:gd name="T6" fmla="*/ 12 w 15"/>
                <a:gd name="T7" fmla="*/ 9 h 14"/>
                <a:gd name="T8" fmla="*/ 10 w 15"/>
                <a:gd name="T9" fmla="*/ 10 h 14"/>
                <a:gd name="T10" fmla="*/ 6 w 15"/>
                <a:gd name="T11" fmla="*/ 9 h 14"/>
                <a:gd name="T12" fmla="*/ 3 w 15"/>
                <a:gd name="T13" fmla="*/ 7 h 14"/>
                <a:gd name="T14" fmla="*/ 3 w 15"/>
                <a:gd name="T15" fmla="*/ 4 h 14"/>
                <a:gd name="T16" fmla="*/ 5 w 15"/>
                <a:gd name="T17" fmla="*/ 3 h 14"/>
                <a:gd name="T18" fmla="*/ 1 w 15"/>
                <a:gd name="T19" fmla="*/ 9 h 14"/>
                <a:gd name="T20" fmla="*/ 5 w 15"/>
                <a:gd name="T21" fmla="*/ 12 h 14"/>
                <a:gd name="T22" fmla="*/ 10 w 15"/>
                <a:gd name="T23" fmla="*/ 13 h 14"/>
                <a:gd name="T24" fmla="*/ 14 w 15"/>
                <a:gd name="T25" fmla="*/ 10 h 14"/>
                <a:gd name="T26" fmla="*/ 14 w 15"/>
                <a:gd name="T27" fmla="*/ 5 h 14"/>
                <a:gd name="T28" fmla="*/ 10 w 15"/>
                <a:gd name="T29" fmla="*/ 1 h 14"/>
                <a:gd name="T30" fmla="*/ 5 w 15"/>
                <a:gd name="T31" fmla="*/ 0 h 14"/>
                <a:gd name="T32" fmla="*/ 1 w 15"/>
                <a:gd name="T33" fmla="*/ 4 h 14"/>
                <a:gd name="T34" fmla="*/ 1 w 15"/>
                <a:gd name="T35"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 h="14">
                  <a:moveTo>
                    <a:pt x="5" y="3"/>
                  </a:moveTo>
                  <a:cubicBezTo>
                    <a:pt x="6" y="3"/>
                    <a:pt x="7" y="3"/>
                    <a:pt x="9" y="4"/>
                  </a:cubicBezTo>
                  <a:cubicBezTo>
                    <a:pt x="10" y="5"/>
                    <a:pt x="11" y="5"/>
                    <a:pt x="12" y="6"/>
                  </a:cubicBezTo>
                  <a:cubicBezTo>
                    <a:pt x="13" y="7"/>
                    <a:pt x="13" y="8"/>
                    <a:pt x="12" y="9"/>
                  </a:cubicBezTo>
                  <a:cubicBezTo>
                    <a:pt x="12" y="10"/>
                    <a:pt x="11" y="10"/>
                    <a:pt x="10" y="10"/>
                  </a:cubicBezTo>
                  <a:cubicBezTo>
                    <a:pt x="9" y="10"/>
                    <a:pt x="8" y="10"/>
                    <a:pt x="6" y="9"/>
                  </a:cubicBezTo>
                  <a:cubicBezTo>
                    <a:pt x="5" y="9"/>
                    <a:pt x="4" y="8"/>
                    <a:pt x="3" y="7"/>
                  </a:cubicBezTo>
                  <a:cubicBezTo>
                    <a:pt x="3" y="6"/>
                    <a:pt x="2" y="5"/>
                    <a:pt x="3" y="4"/>
                  </a:cubicBezTo>
                  <a:cubicBezTo>
                    <a:pt x="3" y="4"/>
                    <a:pt x="4" y="3"/>
                    <a:pt x="5" y="3"/>
                  </a:cubicBezTo>
                  <a:close/>
                  <a:moveTo>
                    <a:pt x="1" y="9"/>
                  </a:moveTo>
                  <a:cubicBezTo>
                    <a:pt x="2" y="10"/>
                    <a:pt x="3" y="12"/>
                    <a:pt x="5" y="12"/>
                  </a:cubicBezTo>
                  <a:cubicBezTo>
                    <a:pt x="7" y="13"/>
                    <a:pt x="8" y="14"/>
                    <a:pt x="10" y="13"/>
                  </a:cubicBezTo>
                  <a:cubicBezTo>
                    <a:pt x="12" y="12"/>
                    <a:pt x="13" y="11"/>
                    <a:pt x="14" y="10"/>
                  </a:cubicBezTo>
                  <a:cubicBezTo>
                    <a:pt x="15" y="8"/>
                    <a:pt x="15" y="6"/>
                    <a:pt x="14" y="5"/>
                  </a:cubicBezTo>
                  <a:cubicBezTo>
                    <a:pt x="13" y="3"/>
                    <a:pt x="12" y="2"/>
                    <a:pt x="10" y="1"/>
                  </a:cubicBezTo>
                  <a:cubicBezTo>
                    <a:pt x="8" y="0"/>
                    <a:pt x="7" y="0"/>
                    <a:pt x="5" y="0"/>
                  </a:cubicBezTo>
                  <a:cubicBezTo>
                    <a:pt x="3" y="1"/>
                    <a:pt x="2" y="2"/>
                    <a:pt x="1" y="4"/>
                  </a:cubicBezTo>
                  <a:cubicBezTo>
                    <a:pt x="1" y="6"/>
                    <a:pt x="0" y="7"/>
                    <a:pt x="1" y="9"/>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5" name="Freeform 38"/>
            <p:cNvSpPr/>
            <p:nvPr/>
          </p:nvSpPr>
          <p:spPr bwMode="auto">
            <a:xfrm>
              <a:off x="1143" y="752"/>
              <a:ext cx="59" cy="54"/>
            </a:xfrm>
            <a:custGeom>
              <a:avLst/>
              <a:gdLst>
                <a:gd name="T0" fmla="*/ 0 w 15"/>
                <a:gd name="T1" fmla="*/ 10 h 14"/>
                <a:gd name="T2" fmla="*/ 4 w 15"/>
                <a:gd name="T3" fmla="*/ 0 h 14"/>
                <a:gd name="T4" fmla="*/ 8 w 15"/>
                <a:gd name="T5" fmla="*/ 0 h 14"/>
                <a:gd name="T6" fmla="*/ 8 w 15"/>
                <a:gd name="T7" fmla="*/ 1 h 14"/>
                <a:gd name="T8" fmla="*/ 5 w 15"/>
                <a:gd name="T9" fmla="*/ 2 h 14"/>
                <a:gd name="T10" fmla="*/ 4 w 15"/>
                <a:gd name="T11" fmla="*/ 5 h 14"/>
                <a:gd name="T12" fmla="*/ 4 w 15"/>
                <a:gd name="T13" fmla="*/ 6 h 14"/>
                <a:gd name="T14" fmla="*/ 5 w 15"/>
                <a:gd name="T15" fmla="*/ 7 h 14"/>
                <a:gd name="T16" fmla="*/ 7 w 15"/>
                <a:gd name="T17" fmla="*/ 7 h 14"/>
                <a:gd name="T18" fmla="*/ 7 w 15"/>
                <a:gd name="T19" fmla="*/ 7 h 14"/>
                <a:gd name="T20" fmla="*/ 7 w 15"/>
                <a:gd name="T21" fmla="*/ 5 h 14"/>
                <a:gd name="T22" fmla="*/ 6 w 15"/>
                <a:gd name="T23" fmla="*/ 4 h 14"/>
                <a:gd name="T24" fmla="*/ 6 w 15"/>
                <a:gd name="T25" fmla="*/ 3 h 14"/>
                <a:gd name="T26" fmla="*/ 12 w 15"/>
                <a:gd name="T27" fmla="*/ 5 h 14"/>
                <a:gd name="T28" fmla="*/ 11 w 15"/>
                <a:gd name="T29" fmla="*/ 6 h 14"/>
                <a:gd name="T30" fmla="*/ 10 w 15"/>
                <a:gd name="T31" fmla="*/ 6 h 14"/>
                <a:gd name="T32" fmla="*/ 9 w 15"/>
                <a:gd name="T33" fmla="*/ 7 h 14"/>
                <a:gd name="T34" fmla="*/ 8 w 15"/>
                <a:gd name="T35" fmla="*/ 8 h 14"/>
                <a:gd name="T36" fmla="*/ 11 w 15"/>
                <a:gd name="T37" fmla="*/ 8 h 14"/>
                <a:gd name="T38" fmla="*/ 12 w 15"/>
                <a:gd name="T39" fmla="*/ 9 h 14"/>
                <a:gd name="T40" fmla="*/ 13 w 15"/>
                <a:gd name="T41" fmla="*/ 8 h 14"/>
                <a:gd name="T42" fmla="*/ 15 w 15"/>
                <a:gd name="T43" fmla="*/ 8 h 14"/>
                <a:gd name="T44" fmla="*/ 13 w 15"/>
                <a:gd name="T45" fmla="*/ 14 h 14"/>
                <a:gd name="T46" fmla="*/ 11 w 15"/>
                <a:gd name="T47" fmla="*/ 13 h 14"/>
                <a:gd name="T48" fmla="*/ 11 w 15"/>
                <a:gd name="T49" fmla="*/ 12 h 14"/>
                <a:gd name="T50" fmla="*/ 10 w 15"/>
                <a:gd name="T51" fmla="*/ 11 h 14"/>
                <a:gd name="T52" fmla="*/ 5 w 15"/>
                <a:gd name="T53" fmla="*/ 10 h 14"/>
                <a:gd name="T54" fmla="*/ 3 w 15"/>
                <a:gd name="T55" fmla="*/ 9 h 14"/>
                <a:gd name="T56" fmla="*/ 2 w 15"/>
                <a:gd name="T57" fmla="*/ 10 h 14"/>
                <a:gd name="T58" fmla="*/ 0 w 15"/>
                <a:gd name="T5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 h="14">
                  <a:moveTo>
                    <a:pt x="0" y="10"/>
                  </a:moveTo>
                  <a:cubicBezTo>
                    <a:pt x="4" y="0"/>
                    <a:pt x="4" y="0"/>
                    <a:pt x="4" y="0"/>
                  </a:cubicBezTo>
                  <a:cubicBezTo>
                    <a:pt x="8" y="0"/>
                    <a:pt x="8" y="0"/>
                    <a:pt x="8" y="0"/>
                  </a:cubicBezTo>
                  <a:cubicBezTo>
                    <a:pt x="8" y="1"/>
                    <a:pt x="8" y="1"/>
                    <a:pt x="8" y="1"/>
                  </a:cubicBezTo>
                  <a:cubicBezTo>
                    <a:pt x="7" y="1"/>
                    <a:pt x="6" y="2"/>
                    <a:pt x="5" y="2"/>
                  </a:cubicBezTo>
                  <a:cubicBezTo>
                    <a:pt x="5" y="3"/>
                    <a:pt x="4" y="4"/>
                    <a:pt x="4" y="5"/>
                  </a:cubicBezTo>
                  <a:cubicBezTo>
                    <a:pt x="4" y="5"/>
                    <a:pt x="4" y="6"/>
                    <a:pt x="4" y="6"/>
                  </a:cubicBezTo>
                  <a:cubicBezTo>
                    <a:pt x="4" y="6"/>
                    <a:pt x="4" y="6"/>
                    <a:pt x="5" y="7"/>
                  </a:cubicBezTo>
                  <a:cubicBezTo>
                    <a:pt x="7" y="7"/>
                    <a:pt x="7" y="7"/>
                    <a:pt x="7" y="7"/>
                  </a:cubicBezTo>
                  <a:cubicBezTo>
                    <a:pt x="7" y="7"/>
                    <a:pt x="7" y="7"/>
                    <a:pt x="7" y="7"/>
                  </a:cubicBezTo>
                  <a:cubicBezTo>
                    <a:pt x="7" y="6"/>
                    <a:pt x="7" y="5"/>
                    <a:pt x="7" y="5"/>
                  </a:cubicBezTo>
                  <a:cubicBezTo>
                    <a:pt x="7" y="5"/>
                    <a:pt x="6" y="4"/>
                    <a:pt x="6" y="4"/>
                  </a:cubicBezTo>
                  <a:cubicBezTo>
                    <a:pt x="6" y="3"/>
                    <a:pt x="6" y="3"/>
                    <a:pt x="6" y="3"/>
                  </a:cubicBezTo>
                  <a:cubicBezTo>
                    <a:pt x="12" y="5"/>
                    <a:pt x="12" y="5"/>
                    <a:pt x="12" y="5"/>
                  </a:cubicBezTo>
                  <a:cubicBezTo>
                    <a:pt x="11" y="6"/>
                    <a:pt x="11" y="6"/>
                    <a:pt x="11" y="6"/>
                  </a:cubicBezTo>
                  <a:cubicBezTo>
                    <a:pt x="11" y="6"/>
                    <a:pt x="10" y="6"/>
                    <a:pt x="10" y="6"/>
                  </a:cubicBezTo>
                  <a:cubicBezTo>
                    <a:pt x="9" y="6"/>
                    <a:pt x="9" y="7"/>
                    <a:pt x="9" y="7"/>
                  </a:cubicBezTo>
                  <a:cubicBezTo>
                    <a:pt x="8" y="8"/>
                    <a:pt x="8" y="8"/>
                    <a:pt x="8" y="8"/>
                  </a:cubicBezTo>
                  <a:cubicBezTo>
                    <a:pt x="11" y="8"/>
                    <a:pt x="11" y="8"/>
                    <a:pt x="11" y="8"/>
                  </a:cubicBezTo>
                  <a:cubicBezTo>
                    <a:pt x="12" y="9"/>
                    <a:pt x="12" y="9"/>
                    <a:pt x="12" y="9"/>
                  </a:cubicBezTo>
                  <a:cubicBezTo>
                    <a:pt x="13" y="9"/>
                    <a:pt x="13" y="8"/>
                    <a:pt x="13" y="8"/>
                  </a:cubicBezTo>
                  <a:cubicBezTo>
                    <a:pt x="15" y="8"/>
                    <a:pt x="15" y="8"/>
                    <a:pt x="15" y="8"/>
                  </a:cubicBezTo>
                  <a:cubicBezTo>
                    <a:pt x="13" y="14"/>
                    <a:pt x="13" y="14"/>
                    <a:pt x="13" y="14"/>
                  </a:cubicBezTo>
                  <a:cubicBezTo>
                    <a:pt x="11" y="13"/>
                    <a:pt x="11" y="13"/>
                    <a:pt x="11" y="13"/>
                  </a:cubicBezTo>
                  <a:cubicBezTo>
                    <a:pt x="11" y="13"/>
                    <a:pt x="11" y="13"/>
                    <a:pt x="11" y="12"/>
                  </a:cubicBezTo>
                  <a:cubicBezTo>
                    <a:pt x="11" y="12"/>
                    <a:pt x="11" y="12"/>
                    <a:pt x="10" y="11"/>
                  </a:cubicBezTo>
                  <a:cubicBezTo>
                    <a:pt x="5" y="10"/>
                    <a:pt x="5" y="10"/>
                    <a:pt x="5" y="10"/>
                  </a:cubicBezTo>
                  <a:cubicBezTo>
                    <a:pt x="4" y="9"/>
                    <a:pt x="3" y="9"/>
                    <a:pt x="3" y="9"/>
                  </a:cubicBezTo>
                  <a:cubicBezTo>
                    <a:pt x="2" y="9"/>
                    <a:pt x="2" y="10"/>
                    <a:pt x="2" y="10"/>
                  </a:cubicBezTo>
                  <a:lnTo>
                    <a:pt x="0" y="1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6" name="Freeform 39"/>
            <p:cNvSpPr/>
            <p:nvPr/>
          </p:nvSpPr>
          <p:spPr bwMode="auto">
            <a:xfrm>
              <a:off x="1162" y="690"/>
              <a:ext cx="57" cy="47"/>
            </a:xfrm>
            <a:custGeom>
              <a:avLst/>
              <a:gdLst>
                <a:gd name="T0" fmla="*/ 2 w 15"/>
                <a:gd name="T1" fmla="*/ 2 h 12"/>
                <a:gd name="T2" fmla="*/ 1 w 15"/>
                <a:gd name="T3" fmla="*/ 2 h 12"/>
                <a:gd name="T4" fmla="*/ 1 w 15"/>
                <a:gd name="T5" fmla="*/ 1 h 12"/>
                <a:gd name="T6" fmla="*/ 6 w 15"/>
                <a:gd name="T7" fmla="*/ 0 h 12"/>
                <a:gd name="T8" fmla="*/ 7 w 15"/>
                <a:gd name="T9" fmla="*/ 1 h 12"/>
                <a:gd name="T10" fmla="*/ 4 w 15"/>
                <a:gd name="T11" fmla="*/ 3 h 12"/>
                <a:gd name="T12" fmla="*/ 2 w 15"/>
                <a:gd name="T13" fmla="*/ 5 h 12"/>
                <a:gd name="T14" fmla="*/ 3 w 15"/>
                <a:gd name="T15" fmla="*/ 7 h 12"/>
                <a:gd name="T16" fmla="*/ 7 w 15"/>
                <a:gd name="T17" fmla="*/ 9 h 12"/>
                <a:gd name="T18" fmla="*/ 11 w 15"/>
                <a:gd name="T19" fmla="*/ 8 h 12"/>
                <a:gd name="T20" fmla="*/ 13 w 15"/>
                <a:gd name="T21" fmla="*/ 6 h 12"/>
                <a:gd name="T22" fmla="*/ 12 w 15"/>
                <a:gd name="T23" fmla="*/ 4 h 12"/>
                <a:gd name="T24" fmla="*/ 10 w 15"/>
                <a:gd name="T25" fmla="*/ 2 h 12"/>
                <a:gd name="T26" fmla="*/ 11 w 15"/>
                <a:gd name="T27" fmla="*/ 0 h 12"/>
                <a:gd name="T28" fmla="*/ 14 w 15"/>
                <a:gd name="T29" fmla="*/ 3 h 12"/>
                <a:gd name="T30" fmla="*/ 14 w 15"/>
                <a:gd name="T31" fmla="*/ 7 h 12"/>
                <a:gd name="T32" fmla="*/ 12 w 15"/>
                <a:gd name="T33" fmla="*/ 11 h 12"/>
                <a:gd name="T34" fmla="*/ 7 w 15"/>
                <a:gd name="T35" fmla="*/ 12 h 12"/>
                <a:gd name="T36" fmla="*/ 2 w 15"/>
                <a:gd name="T37" fmla="*/ 10 h 12"/>
                <a:gd name="T38" fmla="*/ 1 w 15"/>
                <a:gd name="T39" fmla="*/ 5 h 12"/>
                <a:gd name="T40" fmla="*/ 1 w 15"/>
                <a:gd name="T41" fmla="*/ 4 h 12"/>
                <a:gd name="T42" fmla="*/ 2 w 15"/>
                <a:gd name="T43"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 h="12">
                  <a:moveTo>
                    <a:pt x="2" y="2"/>
                  </a:moveTo>
                  <a:cubicBezTo>
                    <a:pt x="1" y="2"/>
                    <a:pt x="1" y="2"/>
                    <a:pt x="1" y="2"/>
                  </a:cubicBezTo>
                  <a:cubicBezTo>
                    <a:pt x="1" y="1"/>
                    <a:pt x="1" y="1"/>
                    <a:pt x="1" y="1"/>
                  </a:cubicBezTo>
                  <a:cubicBezTo>
                    <a:pt x="6" y="0"/>
                    <a:pt x="6" y="0"/>
                    <a:pt x="6" y="0"/>
                  </a:cubicBezTo>
                  <a:cubicBezTo>
                    <a:pt x="7" y="1"/>
                    <a:pt x="7" y="1"/>
                    <a:pt x="7" y="1"/>
                  </a:cubicBezTo>
                  <a:cubicBezTo>
                    <a:pt x="5" y="2"/>
                    <a:pt x="4" y="2"/>
                    <a:pt x="4" y="3"/>
                  </a:cubicBezTo>
                  <a:cubicBezTo>
                    <a:pt x="3" y="3"/>
                    <a:pt x="3" y="4"/>
                    <a:pt x="2" y="5"/>
                  </a:cubicBezTo>
                  <a:cubicBezTo>
                    <a:pt x="2" y="6"/>
                    <a:pt x="3" y="7"/>
                    <a:pt x="3" y="7"/>
                  </a:cubicBezTo>
                  <a:cubicBezTo>
                    <a:pt x="4" y="8"/>
                    <a:pt x="5" y="8"/>
                    <a:pt x="7" y="9"/>
                  </a:cubicBezTo>
                  <a:cubicBezTo>
                    <a:pt x="9" y="9"/>
                    <a:pt x="10" y="9"/>
                    <a:pt x="11" y="8"/>
                  </a:cubicBezTo>
                  <a:cubicBezTo>
                    <a:pt x="12" y="8"/>
                    <a:pt x="12" y="7"/>
                    <a:pt x="13" y="6"/>
                  </a:cubicBezTo>
                  <a:cubicBezTo>
                    <a:pt x="13" y="5"/>
                    <a:pt x="12" y="5"/>
                    <a:pt x="12" y="4"/>
                  </a:cubicBezTo>
                  <a:cubicBezTo>
                    <a:pt x="12" y="3"/>
                    <a:pt x="11" y="2"/>
                    <a:pt x="10" y="2"/>
                  </a:cubicBezTo>
                  <a:cubicBezTo>
                    <a:pt x="11" y="0"/>
                    <a:pt x="11" y="0"/>
                    <a:pt x="11" y="0"/>
                  </a:cubicBezTo>
                  <a:cubicBezTo>
                    <a:pt x="12" y="1"/>
                    <a:pt x="13" y="2"/>
                    <a:pt x="14" y="3"/>
                  </a:cubicBezTo>
                  <a:cubicBezTo>
                    <a:pt x="14" y="4"/>
                    <a:pt x="15" y="5"/>
                    <a:pt x="14" y="7"/>
                  </a:cubicBezTo>
                  <a:cubicBezTo>
                    <a:pt x="14" y="9"/>
                    <a:pt x="13" y="10"/>
                    <a:pt x="12" y="11"/>
                  </a:cubicBezTo>
                  <a:cubicBezTo>
                    <a:pt x="10" y="12"/>
                    <a:pt x="9" y="12"/>
                    <a:pt x="7" y="12"/>
                  </a:cubicBezTo>
                  <a:cubicBezTo>
                    <a:pt x="5" y="12"/>
                    <a:pt x="3" y="11"/>
                    <a:pt x="2" y="10"/>
                  </a:cubicBezTo>
                  <a:cubicBezTo>
                    <a:pt x="1" y="8"/>
                    <a:pt x="0" y="7"/>
                    <a:pt x="1" y="5"/>
                  </a:cubicBezTo>
                  <a:cubicBezTo>
                    <a:pt x="1" y="5"/>
                    <a:pt x="1" y="4"/>
                    <a:pt x="1" y="4"/>
                  </a:cubicBezTo>
                  <a:cubicBezTo>
                    <a:pt x="1" y="3"/>
                    <a:pt x="2" y="3"/>
                    <a:pt x="2" y="2"/>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7" name="Freeform 40"/>
            <p:cNvSpPr/>
            <p:nvPr/>
          </p:nvSpPr>
          <p:spPr bwMode="auto">
            <a:xfrm>
              <a:off x="1165" y="636"/>
              <a:ext cx="52" cy="54"/>
            </a:xfrm>
            <a:custGeom>
              <a:avLst/>
              <a:gdLst>
                <a:gd name="T0" fmla="*/ 0 w 13"/>
                <a:gd name="T1" fmla="*/ 14 h 14"/>
                <a:gd name="T2" fmla="*/ 0 w 13"/>
                <a:gd name="T3" fmla="*/ 8 h 14"/>
                <a:gd name="T4" fmla="*/ 1 w 13"/>
                <a:gd name="T5" fmla="*/ 8 h 14"/>
                <a:gd name="T6" fmla="*/ 2 w 13"/>
                <a:gd name="T7" fmla="*/ 9 h 14"/>
                <a:gd name="T8" fmla="*/ 4 w 13"/>
                <a:gd name="T9" fmla="*/ 9 h 14"/>
                <a:gd name="T10" fmla="*/ 5 w 13"/>
                <a:gd name="T11" fmla="*/ 9 h 14"/>
                <a:gd name="T12" fmla="*/ 5 w 13"/>
                <a:gd name="T13" fmla="*/ 5 h 14"/>
                <a:gd name="T14" fmla="*/ 4 w 13"/>
                <a:gd name="T15" fmla="*/ 5 h 14"/>
                <a:gd name="T16" fmla="*/ 2 w 13"/>
                <a:gd name="T17" fmla="*/ 5 h 14"/>
                <a:gd name="T18" fmla="*/ 1 w 13"/>
                <a:gd name="T19" fmla="*/ 6 h 14"/>
                <a:gd name="T20" fmla="*/ 0 w 13"/>
                <a:gd name="T21" fmla="*/ 6 h 14"/>
                <a:gd name="T22" fmla="*/ 0 w 13"/>
                <a:gd name="T23" fmla="*/ 0 h 14"/>
                <a:gd name="T24" fmla="*/ 1 w 13"/>
                <a:gd name="T25" fmla="*/ 0 h 14"/>
                <a:gd name="T26" fmla="*/ 2 w 13"/>
                <a:gd name="T27" fmla="*/ 1 h 14"/>
                <a:gd name="T28" fmla="*/ 4 w 13"/>
                <a:gd name="T29" fmla="*/ 2 h 14"/>
                <a:gd name="T30" fmla="*/ 9 w 13"/>
                <a:gd name="T31" fmla="*/ 1 h 14"/>
                <a:gd name="T32" fmla="*/ 11 w 13"/>
                <a:gd name="T33" fmla="*/ 1 h 14"/>
                <a:gd name="T34" fmla="*/ 11 w 13"/>
                <a:gd name="T35" fmla="*/ 0 h 14"/>
                <a:gd name="T36" fmla="*/ 13 w 13"/>
                <a:gd name="T37" fmla="*/ 0 h 14"/>
                <a:gd name="T38" fmla="*/ 13 w 13"/>
                <a:gd name="T39" fmla="*/ 6 h 14"/>
                <a:gd name="T40" fmla="*/ 11 w 13"/>
                <a:gd name="T41" fmla="*/ 6 h 14"/>
                <a:gd name="T42" fmla="*/ 11 w 13"/>
                <a:gd name="T43" fmla="*/ 5 h 14"/>
                <a:gd name="T44" fmla="*/ 9 w 13"/>
                <a:gd name="T45" fmla="*/ 5 h 14"/>
                <a:gd name="T46" fmla="*/ 7 w 13"/>
                <a:gd name="T47" fmla="*/ 5 h 14"/>
                <a:gd name="T48" fmla="*/ 7 w 13"/>
                <a:gd name="T49" fmla="*/ 9 h 14"/>
                <a:gd name="T50" fmla="*/ 9 w 13"/>
                <a:gd name="T51" fmla="*/ 9 h 14"/>
                <a:gd name="T52" fmla="*/ 11 w 13"/>
                <a:gd name="T53" fmla="*/ 9 h 14"/>
                <a:gd name="T54" fmla="*/ 12 w 13"/>
                <a:gd name="T55" fmla="*/ 7 h 14"/>
                <a:gd name="T56" fmla="*/ 13 w 13"/>
                <a:gd name="T57" fmla="*/ 7 h 14"/>
                <a:gd name="T58" fmla="*/ 13 w 13"/>
                <a:gd name="T59" fmla="*/ 13 h 14"/>
                <a:gd name="T60" fmla="*/ 12 w 13"/>
                <a:gd name="T61" fmla="*/ 13 h 14"/>
                <a:gd name="T62" fmla="*/ 11 w 13"/>
                <a:gd name="T63" fmla="*/ 12 h 14"/>
                <a:gd name="T64" fmla="*/ 9 w 13"/>
                <a:gd name="T65" fmla="*/ 12 h 14"/>
                <a:gd name="T66" fmla="*/ 4 w 13"/>
                <a:gd name="T67" fmla="*/ 12 h 14"/>
                <a:gd name="T68" fmla="*/ 2 w 13"/>
                <a:gd name="T69" fmla="*/ 13 h 14"/>
                <a:gd name="T70" fmla="*/ 2 w 13"/>
                <a:gd name="T71" fmla="*/ 14 h 14"/>
                <a:gd name="T72" fmla="*/ 0 w 13"/>
                <a:gd name="T73"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 h="14">
                  <a:moveTo>
                    <a:pt x="0" y="14"/>
                  </a:moveTo>
                  <a:cubicBezTo>
                    <a:pt x="0" y="8"/>
                    <a:pt x="0" y="8"/>
                    <a:pt x="0" y="8"/>
                  </a:cubicBezTo>
                  <a:cubicBezTo>
                    <a:pt x="1" y="8"/>
                    <a:pt x="1" y="8"/>
                    <a:pt x="1" y="8"/>
                  </a:cubicBezTo>
                  <a:cubicBezTo>
                    <a:pt x="2" y="8"/>
                    <a:pt x="2" y="9"/>
                    <a:pt x="2" y="9"/>
                  </a:cubicBezTo>
                  <a:cubicBezTo>
                    <a:pt x="2" y="9"/>
                    <a:pt x="3" y="9"/>
                    <a:pt x="4" y="9"/>
                  </a:cubicBezTo>
                  <a:cubicBezTo>
                    <a:pt x="5" y="9"/>
                    <a:pt x="5" y="9"/>
                    <a:pt x="5" y="9"/>
                  </a:cubicBezTo>
                  <a:cubicBezTo>
                    <a:pt x="5" y="5"/>
                    <a:pt x="5" y="5"/>
                    <a:pt x="5" y="5"/>
                  </a:cubicBezTo>
                  <a:cubicBezTo>
                    <a:pt x="4" y="5"/>
                    <a:pt x="4" y="5"/>
                    <a:pt x="4" y="5"/>
                  </a:cubicBezTo>
                  <a:cubicBezTo>
                    <a:pt x="3" y="5"/>
                    <a:pt x="2" y="5"/>
                    <a:pt x="2" y="5"/>
                  </a:cubicBezTo>
                  <a:cubicBezTo>
                    <a:pt x="2" y="5"/>
                    <a:pt x="1" y="6"/>
                    <a:pt x="1" y="6"/>
                  </a:cubicBezTo>
                  <a:cubicBezTo>
                    <a:pt x="0" y="6"/>
                    <a:pt x="0" y="6"/>
                    <a:pt x="0" y="6"/>
                  </a:cubicBezTo>
                  <a:cubicBezTo>
                    <a:pt x="0" y="0"/>
                    <a:pt x="0" y="0"/>
                    <a:pt x="0" y="0"/>
                  </a:cubicBezTo>
                  <a:cubicBezTo>
                    <a:pt x="1" y="0"/>
                    <a:pt x="1" y="0"/>
                    <a:pt x="1" y="0"/>
                  </a:cubicBezTo>
                  <a:cubicBezTo>
                    <a:pt x="1" y="1"/>
                    <a:pt x="1" y="1"/>
                    <a:pt x="2" y="1"/>
                  </a:cubicBezTo>
                  <a:cubicBezTo>
                    <a:pt x="2" y="2"/>
                    <a:pt x="3" y="2"/>
                    <a:pt x="4" y="2"/>
                  </a:cubicBezTo>
                  <a:cubicBezTo>
                    <a:pt x="9" y="1"/>
                    <a:pt x="9" y="1"/>
                    <a:pt x="9" y="1"/>
                  </a:cubicBezTo>
                  <a:cubicBezTo>
                    <a:pt x="10" y="1"/>
                    <a:pt x="10" y="1"/>
                    <a:pt x="11" y="1"/>
                  </a:cubicBezTo>
                  <a:cubicBezTo>
                    <a:pt x="11" y="1"/>
                    <a:pt x="11" y="1"/>
                    <a:pt x="11" y="0"/>
                  </a:cubicBezTo>
                  <a:cubicBezTo>
                    <a:pt x="13" y="0"/>
                    <a:pt x="13" y="0"/>
                    <a:pt x="13" y="0"/>
                  </a:cubicBezTo>
                  <a:cubicBezTo>
                    <a:pt x="13" y="6"/>
                    <a:pt x="13" y="6"/>
                    <a:pt x="13" y="6"/>
                  </a:cubicBezTo>
                  <a:cubicBezTo>
                    <a:pt x="11" y="6"/>
                    <a:pt x="11" y="6"/>
                    <a:pt x="11" y="6"/>
                  </a:cubicBezTo>
                  <a:cubicBezTo>
                    <a:pt x="11" y="5"/>
                    <a:pt x="11" y="5"/>
                    <a:pt x="11" y="5"/>
                  </a:cubicBezTo>
                  <a:cubicBezTo>
                    <a:pt x="11" y="5"/>
                    <a:pt x="10" y="4"/>
                    <a:pt x="9" y="5"/>
                  </a:cubicBezTo>
                  <a:cubicBezTo>
                    <a:pt x="7" y="5"/>
                    <a:pt x="7" y="5"/>
                    <a:pt x="7" y="5"/>
                  </a:cubicBezTo>
                  <a:cubicBezTo>
                    <a:pt x="7" y="9"/>
                    <a:pt x="7" y="9"/>
                    <a:pt x="7" y="9"/>
                  </a:cubicBezTo>
                  <a:cubicBezTo>
                    <a:pt x="9" y="9"/>
                    <a:pt x="9" y="9"/>
                    <a:pt x="9" y="9"/>
                  </a:cubicBezTo>
                  <a:cubicBezTo>
                    <a:pt x="10" y="9"/>
                    <a:pt x="11" y="9"/>
                    <a:pt x="11" y="9"/>
                  </a:cubicBezTo>
                  <a:cubicBezTo>
                    <a:pt x="11" y="8"/>
                    <a:pt x="12" y="8"/>
                    <a:pt x="12" y="7"/>
                  </a:cubicBezTo>
                  <a:cubicBezTo>
                    <a:pt x="13" y="7"/>
                    <a:pt x="13" y="7"/>
                    <a:pt x="13" y="7"/>
                  </a:cubicBezTo>
                  <a:cubicBezTo>
                    <a:pt x="13" y="13"/>
                    <a:pt x="13" y="13"/>
                    <a:pt x="13" y="13"/>
                  </a:cubicBezTo>
                  <a:cubicBezTo>
                    <a:pt x="12" y="13"/>
                    <a:pt x="12" y="13"/>
                    <a:pt x="12" y="13"/>
                  </a:cubicBezTo>
                  <a:cubicBezTo>
                    <a:pt x="12" y="13"/>
                    <a:pt x="12" y="12"/>
                    <a:pt x="11" y="12"/>
                  </a:cubicBezTo>
                  <a:cubicBezTo>
                    <a:pt x="11" y="12"/>
                    <a:pt x="10" y="12"/>
                    <a:pt x="9" y="12"/>
                  </a:cubicBezTo>
                  <a:cubicBezTo>
                    <a:pt x="4" y="12"/>
                    <a:pt x="4" y="12"/>
                    <a:pt x="4" y="12"/>
                  </a:cubicBezTo>
                  <a:cubicBezTo>
                    <a:pt x="3" y="12"/>
                    <a:pt x="2" y="12"/>
                    <a:pt x="2" y="13"/>
                  </a:cubicBezTo>
                  <a:cubicBezTo>
                    <a:pt x="2" y="13"/>
                    <a:pt x="2" y="13"/>
                    <a:pt x="2" y="14"/>
                  </a:cubicBezTo>
                  <a:lnTo>
                    <a:pt x="0" y="14"/>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8" name="Freeform 41"/>
            <p:cNvSpPr/>
            <p:nvPr/>
          </p:nvSpPr>
          <p:spPr bwMode="auto">
            <a:xfrm>
              <a:off x="1162" y="604"/>
              <a:ext cx="54" cy="32"/>
            </a:xfrm>
            <a:custGeom>
              <a:avLst/>
              <a:gdLst>
                <a:gd name="T0" fmla="*/ 1 w 14"/>
                <a:gd name="T1" fmla="*/ 8 h 8"/>
                <a:gd name="T2" fmla="*/ 0 w 14"/>
                <a:gd name="T3" fmla="*/ 5 h 8"/>
                <a:gd name="T4" fmla="*/ 0 w 14"/>
                <a:gd name="T5" fmla="*/ 2 h 8"/>
                <a:gd name="T6" fmla="*/ 1 w 14"/>
                <a:gd name="T7" fmla="*/ 2 h 8"/>
                <a:gd name="T8" fmla="*/ 2 w 14"/>
                <a:gd name="T9" fmla="*/ 3 h 8"/>
                <a:gd name="T10" fmla="*/ 4 w 14"/>
                <a:gd name="T11" fmla="*/ 3 h 8"/>
                <a:gd name="T12" fmla="*/ 9 w 14"/>
                <a:gd name="T13" fmla="*/ 2 h 8"/>
                <a:gd name="T14" fmla="*/ 11 w 14"/>
                <a:gd name="T15" fmla="*/ 1 h 8"/>
                <a:gd name="T16" fmla="*/ 11 w 14"/>
                <a:gd name="T17" fmla="*/ 0 h 8"/>
                <a:gd name="T18" fmla="*/ 12 w 14"/>
                <a:gd name="T19" fmla="*/ 0 h 8"/>
                <a:gd name="T20" fmla="*/ 14 w 14"/>
                <a:gd name="T21" fmla="*/ 5 h 8"/>
                <a:gd name="T22" fmla="*/ 12 w 14"/>
                <a:gd name="T23" fmla="*/ 6 h 8"/>
                <a:gd name="T24" fmla="*/ 11 w 14"/>
                <a:gd name="T25" fmla="*/ 5 h 8"/>
                <a:gd name="T26" fmla="*/ 9 w 14"/>
                <a:gd name="T27" fmla="*/ 5 h 8"/>
                <a:gd name="T28" fmla="*/ 4 w 14"/>
                <a:gd name="T29" fmla="*/ 6 h 8"/>
                <a:gd name="T30" fmla="*/ 2 w 14"/>
                <a:gd name="T31" fmla="*/ 6 h 8"/>
                <a:gd name="T32" fmla="*/ 2 w 14"/>
                <a:gd name="T33" fmla="*/ 8 h 8"/>
                <a:gd name="T34" fmla="*/ 1 w 14"/>
                <a:gd name="T35"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 h="8">
                  <a:moveTo>
                    <a:pt x="1" y="8"/>
                  </a:moveTo>
                  <a:cubicBezTo>
                    <a:pt x="1" y="8"/>
                    <a:pt x="0" y="7"/>
                    <a:pt x="0" y="5"/>
                  </a:cubicBezTo>
                  <a:cubicBezTo>
                    <a:pt x="0" y="3"/>
                    <a:pt x="0" y="2"/>
                    <a:pt x="0" y="2"/>
                  </a:cubicBezTo>
                  <a:cubicBezTo>
                    <a:pt x="1" y="2"/>
                    <a:pt x="1" y="2"/>
                    <a:pt x="1" y="2"/>
                  </a:cubicBezTo>
                  <a:cubicBezTo>
                    <a:pt x="1" y="2"/>
                    <a:pt x="1" y="3"/>
                    <a:pt x="2" y="3"/>
                  </a:cubicBezTo>
                  <a:cubicBezTo>
                    <a:pt x="2" y="3"/>
                    <a:pt x="3" y="3"/>
                    <a:pt x="4" y="3"/>
                  </a:cubicBezTo>
                  <a:cubicBezTo>
                    <a:pt x="9" y="2"/>
                    <a:pt x="9" y="2"/>
                    <a:pt x="9" y="2"/>
                  </a:cubicBezTo>
                  <a:cubicBezTo>
                    <a:pt x="10" y="2"/>
                    <a:pt x="10" y="1"/>
                    <a:pt x="11" y="1"/>
                  </a:cubicBezTo>
                  <a:cubicBezTo>
                    <a:pt x="11" y="1"/>
                    <a:pt x="11" y="0"/>
                    <a:pt x="11" y="0"/>
                  </a:cubicBezTo>
                  <a:cubicBezTo>
                    <a:pt x="12" y="0"/>
                    <a:pt x="12" y="0"/>
                    <a:pt x="12" y="0"/>
                  </a:cubicBezTo>
                  <a:cubicBezTo>
                    <a:pt x="14" y="5"/>
                    <a:pt x="14" y="5"/>
                    <a:pt x="14" y="5"/>
                  </a:cubicBezTo>
                  <a:cubicBezTo>
                    <a:pt x="12" y="6"/>
                    <a:pt x="12" y="6"/>
                    <a:pt x="12" y="6"/>
                  </a:cubicBezTo>
                  <a:cubicBezTo>
                    <a:pt x="12" y="5"/>
                    <a:pt x="12" y="5"/>
                    <a:pt x="11" y="5"/>
                  </a:cubicBezTo>
                  <a:cubicBezTo>
                    <a:pt x="11" y="5"/>
                    <a:pt x="10" y="5"/>
                    <a:pt x="9" y="5"/>
                  </a:cubicBezTo>
                  <a:cubicBezTo>
                    <a:pt x="4" y="6"/>
                    <a:pt x="4" y="6"/>
                    <a:pt x="4" y="6"/>
                  </a:cubicBezTo>
                  <a:cubicBezTo>
                    <a:pt x="3" y="6"/>
                    <a:pt x="3" y="6"/>
                    <a:pt x="2" y="6"/>
                  </a:cubicBezTo>
                  <a:cubicBezTo>
                    <a:pt x="2" y="7"/>
                    <a:pt x="2" y="7"/>
                    <a:pt x="2" y="8"/>
                  </a:cubicBezTo>
                  <a:lnTo>
                    <a:pt x="1" y="8"/>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9" name="Freeform 42"/>
            <p:cNvSpPr/>
            <p:nvPr/>
          </p:nvSpPr>
          <p:spPr bwMode="auto">
            <a:xfrm>
              <a:off x="1148" y="554"/>
              <a:ext cx="62" cy="54"/>
            </a:xfrm>
            <a:custGeom>
              <a:avLst/>
              <a:gdLst>
                <a:gd name="T0" fmla="*/ 3 w 16"/>
                <a:gd name="T1" fmla="*/ 14 h 14"/>
                <a:gd name="T2" fmla="*/ 2 w 16"/>
                <a:gd name="T3" fmla="*/ 9 h 14"/>
                <a:gd name="T4" fmla="*/ 8 w 16"/>
                <a:gd name="T5" fmla="*/ 3 h 14"/>
                <a:gd name="T6" fmla="*/ 5 w 16"/>
                <a:gd name="T7" fmla="*/ 4 h 14"/>
                <a:gd name="T8" fmla="*/ 3 w 16"/>
                <a:gd name="T9" fmla="*/ 5 h 14"/>
                <a:gd name="T10" fmla="*/ 3 w 16"/>
                <a:gd name="T11" fmla="*/ 6 h 14"/>
                <a:gd name="T12" fmla="*/ 1 w 16"/>
                <a:gd name="T13" fmla="*/ 7 h 14"/>
                <a:gd name="T14" fmla="*/ 0 w 16"/>
                <a:gd name="T15" fmla="*/ 3 h 14"/>
                <a:gd name="T16" fmla="*/ 2 w 16"/>
                <a:gd name="T17" fmla="*/ 2 h 14"/>
                <a:gd name="T18" fmla="*/ 2 w 16"/>
                <a:gd name="T19" fmla="*/ 3 h 14"/>
                <a:gd name="T20" fmla="*/ 4 w 16"/>
                <a:gd name="T21" fmla="*/ 3 h 14"/>
                <a:gd name="T22" fmla="*/ 13 w 16"/>
                <a:gd name="T23" fmla="*/ 0 h 14"/>
                <a:gd name="T24" fmla="*/ 14 w 16"/>
                <a:gd name="T25" fmla="*/ 2 h 14"/>
                <a:gd name="T26" fmla="*/ 6 w 16"/>
                <a:gd name="T27" fmla="*/ 11 h 14"/>
                <a:gd name="T28" fmla="*/ 11 w 16"/>
                <a:gd name="T29" fmla="*/ 9 h 14"/>
                <a:gd name="T30" fmla="*/ 13 w 16"/>
                <a:gd name="T31" fmla="*/ 8 h 14"/>
                <a:gd name="T32" fmla="*/ 13 w 16"/>
                <a:gd name="T33" fmla="*/ 7 h 14"/>
                <a:gd name="T34" fmla="*/ 15 w 16"/>
                <a:gd name="T35" fmla="*/ 6 h 14"/>
                <a:gd name="T36" fmla="*/ 16 w 16"/>
                <a:gd name="T37" fmla="*/ 11 h 14"/>
                <a:gd name="T38" fmla="*/ 15 w 16"/>
                <a:gd name="T39" fmla="*/ 11 h 14"/>
                <a:gd name="T40" fmla="*/ 14 w 16"/>
                <a:gd name="T41" fmla="*/ 10 h 14"/>
                <a:gd name="T42" fmla="*/ 12 w 16"/>
                <a:gd name="T43" fmla="*/ 10 h 14"/>
                <a:gd name="T44" fmla="*/ 7 w 16"/>
                <a:gd name="T45" fmla="*/ 12 h 14"/>
                <a:gd name="T46" fmla="*/ 5 w 16"/>
                <a:gd name="T47" fmla="*/ 13 h 14"/>
                <a:gd name="T48" fmla="*/ 5 w 16"/>
                <a:gd name="T49" fmla="*/ 14 h 14"/>
                <a:gd name="T50" fmla="*/ 3 w 16"/>
                <a:gd name="T51"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 h="14">
                  <a:moveTo>
                    <a:pt x="3" y="14"/>
                  </a:moveTo>
                  <a:cubicBezTo>
                    <a:pt x="2" y="9"/>
                    <a:pt x="2" y="9"/>
                    <a:pt x="2" y="9"/>
                  </a:cubicBezTo>
                  <a:cubicBezTo>
                    <a:pt x="8" y="3"/>
                    <a:pt x="8" y="3"/>
                    <a:pt x="8" y="3"/>
                  </a:cubicBezTo>
                  <a:cubicBezTo>
                    <a:pt x="5" y="4"/>
                    <a:pt x="5" y="4"/>
                    <a:pt x="5" y="4"/>
                  </a:cubicBezTo>
                  <a:cubicBezTo>
                    <a:pt x="4" y="5"/>
                    <a:pt x="3" y="5"/>
                    <a:pt x="3" y="5"/>
                  </a:cubicBezTo>
                  <a:cubicBezTo>
                    <a:pt x="3" y="5"/>
                    <a:pt x="3" y="6"/>
                    <a:pt x="3" y="6"/>
                  </a:cubicBezTo>
                  <a:cubicBezTo>
                    <a:pt x="1" y="7"/>
                    <a:pt x="1" y="7"/>
                    <a:pt x="1" y="7"/>
                  </a:cubicBezTo>
                  <a:cubicBezTo>
                    <a:pt x="0" y="3"/>
                    <a:pt x="0" y="3"/>
                    <a:pt x="0" y="3"/>
                  </a:cubicBezTo>
                  <a:cubicBezTo>
                    <a:pt x="2" y="2"/>
                    <a:pt x="2" y="2"/>
                    <a:pt x="2" y="2"/>
                  </a:cubicBezTo>
                  <a:cubicBezTo>
                    <a:pt x="2" y="3"/>
                    <a:pt x="2" y="3"/>
                    <a:pt x="2" y="3"/>
                  </a:cubicBezTo>
                  <a:cubicBezTo>
                    <a:pt x="3" y="3"/>
                    <a:pt x="3" y="3"/>
                    <a:pt x="4" y="3"/>
                  </a:cubicBezTo>
                  <a:cubicBezTo>
                    <a:pt x="13" y="0"/>
                    <a:pt x="13" y="0"/>
                    <a:pt x="13" y="0"/>
                  </a:cubicBezTo>
                  <a:cubicBezTo>
                    <a:pt x="14" y="2"/>
                    <a:pt x="14" y="2"/>
                    <a:pt x="14" y="2"/>
                  </a:cubicBezTo>
                  <a:cubicBezTo>
                    <a:pt x="6" y="11"/>
                    <a:pt x="6" y="11"/>
                    <a:pt x="6" y="11"/>
                  </a:cubicBezTo>
                  <a:cubicBezTo>
                    <a:pt x="11" y="9"/>
                    <a:pt x="11" y="9"/>
                    <a:pt x="11" y="9"/>
                  </a:cubicBezTo>
                  <a:cubicBezTo>
                    <a:pt x="12" y="9"/>
                    <a:pt x="13" y="8"/>
                    <a:pt x="13" y="8"/>
                  </a:cubicBezTo>
                  <a:cubicBezTo>
                    <a:pt x="14" y="8"/>
                    <a:pt x="14" y="7"/>
                    <a:pt x="13" y="7"/>
                  </a:cubicBezTo>
                  <a:cubicBezTo>
                    <a:pt x="15" y="6"/>
                    <a:pt x="15" y="6"/>
                    <a:pt x="15" y="6"/>
                  </a:cubicBezTo>
                  <a:cubicBezTo>
                    <a:pt x="16" y="11"/>
                    <a:pt x="16" y="11"/>
                    <a:pt x="16" y="11"/>
                  </a:cubicBezTo>
                  <a:cubicBezTo>
                    <a:pt x="15" y="11"/>
                    <a:pt x="15" y="11"/>
                    <a:pt x="15" y="11"/>
                  </a:cubicBezTo>
                  <a:cubicBezTo>
                    <a:pt x="14" y="11"/>
                    <a:pt x="14" y="10"/>
                    <a:pt x="14" y="10"/>
                  </a:cubicBezTo>
                  <a:cubicBezTo>
                    <a:pt x="14" y="10"/>
                    <a:pt x="13" y="10"/>
                    <a:pt x="12" y="10"/>
                  </a:cubicBezTo>
                  <a:cubicBezTo>
                    <a:pt x="7" y="12"/>
                    <a:pt x="7" y="12"/>
                    <a:pt x="7" y="12"/>
                  </a:cubicBezTo>
                  <a:cubicBezTo>
                    <a:pt x="6" y="12"/>
                    <a:pt x="5" y="12"/>
                    <a:pt x="5" y="13"/>
                  </a:cubicBezTo>
                  <a:cubicBezTo>
                    <a:pt x="5" y="13"/>
                    <a:pt x="5" y="13"/>
                    <a:pt x="5" y="14"/>
                  </a:cubicBezTo>
                  <a:lnTo>
                    <a:pt x="3" y="14"/>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0" name="Freeform 43"/>
            <p:cNvSpPr>
              <a:spLocks noEditPoints="1"/>
            </p:cNvSpPr>
            <p:nvPr/>
          </p:nvSpPr>
          <p:spPr bwMode="auto">
            <a:xfrm>
              <a:off x="1138" y="502"/>
              <a:ext cx="59" cy="52"/>
            </a:xfrm>
            <a:custGeom>
              <a:avLst/>
              <a:gdLst>
                <a:gd name="T0" fmla="*/ 6 w 15"/>
                <a:gd name="T1" fmla="*/ 8 h 13"/>
                <a:gd name="T2" fmla="*/ 7 w 15"/>
                <a:gd name="T3" fmla="*/ 10 h 13"/>
                <a:gd name="T4" fmla="*/ 3 w 15"/>
                <a:gd name="T5" fmla="*/ 11 h 13"/>
                <a:gd name="T6" fmla="*/ 6 w 15"/>
                <a:gd name="T7" fmla="*/ 8 h 13"/>
                <a:gd name="T8" fmla="*/ 11 w 15"/>
                <a:gd name="T9" fmla="*/ 12 h 13"/>
                <a:gd name="T10" fmla="*/ 11 w 15"/>
                <a:gd name="T11" fmla="*/ 12 h 13"/>
                <a:gd name="T12" fmla="*/ 13 w 15"/>
                <a:gd name="T13" fmla="*/ 13 h 13"/>
                <a:gd name="T14" fmla="*/ 15 w 15"/>
                <a:gd name="T15" fmla="*/ 12 h 13"/>
                <a:gd name="T16" fmla="*/ 13 w 15"/>
                <a:gd name="T17" fmla="*/ 8 h 13"/>
                <a:gd name="T18" fmla="*/ 11 w 15"/>
                <a:gd name="T19" fmla="*/ 8 h 13"/>
                <a:gd name="T20" fmla="*/ 12 w 15"/>
                <a:gd name="T21" fmla="*/ 9 h 13"/>
                <a:gd name="T22" fmla="*/ 11 w 15"/>
                <a:gd name="T23" fmla="*/ 10 h 13"/>
                <a:gd name="T24" fmla="*/ 11 w 15"/>
                <a:gd name="T25" fmla="*/ 10 h 13"/>
                <a:gd name="T26" fmla="*/ 11 w 15"/>
                <a:gd name="T27" fmla="*/ 10 h 13"/>
                <a:gd name="T28" fmla="*/ 9 w 15"/>
                <a:gd name="T29" fmla="*/ 10 h 13"/>
                <a:gd name="T30" fmla="*/ 7 w 15"/>
                <a:gd name="T31" fmla="*/ 7 h 13"/>
                <a:gd name="T32" fmla="*/ 9 w 15"/>
                <a:gd name="T33" fmla="*/ 6 h 13"/>
                <a:gd name="T34" fmla="*/ 9 w 15"/>
                <a:gd name="T35" fmla="*/ 5 h 13"/>
                <a:gd name="T36" fmla="*/ 9 w 15"/>
                <a:gd name="T37" fmla="*/ 5 h 13"/>
                <a:gd name="T38" fmla="*/ 10 w 15"/>
                <a:gd name="T39" fmla="*/ 5 h 13"/>
                <a:gd name="T40" fmla="*/ 10 w 15"/>
                <a:gd name="T41" fmla="*/ 6 h 13"/>
                <a:gd name="T42" fmla="*/ 10 w 15"/>
                <a:gd name="T43" fmla="*/ 6 h 13"/>
                <a:gd name="T44" fmla="*/ 12 w 15"/>
                <a:gd name="T45" fmla="*/ 6 h 13"/>
                <a:gd name="T46" fmla="*/ 10 w 15"/>
                <a:gd name="T47" fmla="*/ 0 h 13"/>
                <a:gd name="T48" fmla="*/ 8 w 15"/>
                <a:gd name="T49" fmla="*/ 1 h 13"/>
                <a:gd name="T50" fmla="*/ 7 w 15"/>
                <a:gd name="T51" fmla="*/ 3 h 13"/>
                <a:gd name="T52" fmla="*/ 7 w 15"/>
                <a:gd name="T53" fmla="*/ 3 h 13"/>
                <a:gd name="T54" fmla="*/ 0 w 15"/>
                <a:gd name="T55" fmla="*/ 10 h 13"/>
                <a:gd name="T56" fmla="*/ 1 w 15"/>
                <a:gd name="T57" fmla="*/ 13 h 13"/>
                <a:gd name="T58" fmla="*/ 11 w 15"/>
                <a:gd name="T59"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 h="13">
                  <a:moveTo>
                    <a:pt x="6" y="8"/>
                  </a:moveTo>
                  <a:cubicBezTo>
                    <a:pt x="7" y="10"/>
                    <a:pt x="7" y="10"/>
                    <a:pt x="7" y="10"/>
                  </a:cubicBezTo>
                  <a:cubicBezTo>
                    <a:pt x="3" y="11"/>
                    <a:pt x="3" y="11"/>
                    <a:pt x="3" y="11"/>
                  </a:cubicBezTo>
                  <a:lnTo>
                    <a:pt x="6" y="8"/>
                  </a:lnTo>
                  <a:close/>
                  <a:moveTo>
                    <a:pt x="11" y="12"/>
                  </a:moveTo>
                  <a:cubicBezTo>
                    <a:pt x="11" y="12"/>
                    <a:pt x="11" y="12"/>
                    <a:pt x="11" y="12"/>
                  </a:cubicBezTo>
                  <a:cubicBezTo>
                    <a:pt x="12" y="12"/>
                    <a:pt x="13" y="12"/>
                    <a:pt x="13" y="13"/>
                  </a:cubicBezTo>
                  <a:cubicBezTo>
                    <a:pt x="15" y="12"/>
                    <a:pt x="15" y="12"/>
                    <a:pt x="15" y="12"/>
                  </a:cubicBezTo>
                  <a:cubicBezTo>
                    <a:pt x="13" y="8"/>
                    <a:pt x="13" y="8"/>
                    <a:pt x="13" y="8"/>
                  </a:cubicBezTo>
                  <a:cubicBezTo>
                    <a:pt x="11" y="8"/>
                    <a:pt x="11" y="8"/>
                    <a:pt x="11" y="8"/>
                  </a:cubicBezTo>
                  <a:cubicBezTo>
                    <a:pt x="12" y="9"/>
                    <a:pt x="12" y="9"/>
                    <a:pt x="12" y="9"/>
                  </a:cubicBezTo>
                  <a:cubicBezTo>
                    <a:pt x="12" y="10"/>
                    <a:pt x="11" y="10"/>
                    <a:pt x="11" y="10"/>
                  </a:cubicBezTo>
                  <a:cubicBezTo>
                    <a:pt x="11" y="10"/>
                    <a:pt x="11" y="10"/>
                    <a:pt x="11" y="10"/>
                  </a:cubicBezTo>
                  <a:cubicBezTo>
                    <a:pt x="11" y="10"/>
                    <a:pt x="11" y="10"/>
                    <a:pt x="11" y="10"/>
                  </a:cubicBezTo>
                  <a:cubicBezTo>
                    <a:pt x="9" y="10"/>
                    <a:pt x="9" y="10"/>
                    <a:pt x="9" y="10"/>
                  </a:cubicBezTo>
                  <a:cubicBezTo>
                    <a:pt x="7" y="7"/>
                    <a:pt x="7" y="7"/>
                    <a:pt x="7" y="7"/>
                  </a:cubicBezTo>
                  <a:cubicBezTo>
                    <a:pt x="9" y="6"/>
                    <a:pt x="9" y="6"/>
                    <a:pt x="9" y="6"/>
                  </a:cubicBezTo>
                  <a:cubicBezTo>
                    <a:pt x="9" y="6"/>
                    <a:pt x="9" y="6"/>
                    <a:pt x="9" y="5"/>
                  </a:cubicBezTo>
                  <a:cubicBezTo>
                    <a:pt x="9" y="5"/>
                    <a:pt x="9" y="5"/>
                    <a:pt x="9" y="5"/>
                  </a:cubicBezTo>
                  <a:cubicBezTo>
                    <a:pt x="10" y="5"/>
                    <a:pt x="10" y="5"/>
                    <a:pt x="10" y="5"/>
                  </a:cubicBezTo>
                  <a:cubicBezTo>
                    <a:pt x="10" y="5"/>
                    <a:pt x="10" y="6"/>
                    <a:pt x="10" y="6"/>
                  </a:cubicBezTo>
                  <a:cubicBezTo>
                    <a:pt x="10" y="6"/>
                    <a:pt x="10" y="6"/>
                    <a:pt x="10" y="6"/>
                  </a:cubicBezTo>
                  <a:cubicBezTo>
                    <a:pt x="12" y="6"/>
                    <a:pt x="12" y="6"/>
                    <a:pt x="12" y="6"/>
                  </a:cubicBezTo>
                  <a:cubicBezTo>
                    <a:pt x="10" y="0"/>
                    <a:pt x="10" y="0"/>
                    <a:pt x="10" y="0"/>
                  </a:cubicBezTo>
                  <a:cubicBezTo>
                    <a:pt x="8" y="1"/>
                    <a:pt x="8" y="1"/>
                    <a:pt x="8" y="1"/>
                  </a:cubicBezTo>
                  <a:cubicBezTo>
                    <a:pt x="8" y="2"/>
                    <a:pt x="8" y="2"/>
                    <a:pt x="7" y="3"/>
                  </a:cubicBezTo>
                  <a:cubicBezTo>
                    <a:pt x="7" y="3"/>
                    <a:pt x="7" y="3"/>
                    <a:pt x="7" y="3"/>
                  </a:cubicBezTo>
                  <a:cubicBezTo>
                    <a:pt x="0" y="10"/>
                    <a:pt x="0" y="10"/>
                    <a:pt x="0" y="10"/>
                  </a:cubicBezTo>
                  <a:cubicBezTo>
                    <a:pt x="1" y="13"/>
                    <a:pt x="1" y="13"/>
                    <a:pt x="1" y="13"/>
                  </a:cubicBezTo>
                  <a:lnTo>
                    <a:pt x="11" y="12"/>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1" name="Freeform 44"/>
            <p:cNvSpPr/>
            <p:nvPr/>
          </p:nvSpPr>
          <p:spPr bwMode="auto">
            <a:xfrm>
              <a:off x="1081" y="850"/>
              <a:ext cx="67" cy="69"/>
            </a:xfrm>
            <a:custGeom>
              <a:avLst/>
              <a:gdLst>
                <a:gd name="T0" fmla="*/ 0 w 17"/>
                <a:gd name="T1" fmla="*/ 10 h 18"/>
                <a:gd name="T2" fmla="*/ 3 w 17"/>
                <a:gd name="T3" fmla="*/ 6 h 18"/>
                <a:gd name="T4" fmla="*/ 12 w 17"/>
                <a:gd name="T5" fmla="*/ 7 h 18"/>
                <a:gd name="T6" fmla="*/ 9 w 17"/>
                <a:gd name="T7" fmla="*/ 5 h 18"/>
                <a:gd name="T8" fmla="*/ 7 w 17"/>
                <a:gd name="T9" fmla="*/ 4 h 18"/>
                <a:gd name="T10" fmla="*/ 6 w 17"/>
                <a:gd name="T11" fmla="*/ 5 h 18"/>
                <a:gd name="T12" fmla="*/ 5 w 17"/>
                <a:gd name="T13" fmla="*/ 4 h 18"/>
                <a:gd name="T14" fmla="*/ 8 w 17"/>
                <a:gd name="T15" fmla="*/ 0 h 18"/>
                <a:gd name="T16" fmla="*/ 9 w 17"/>
                <a:gd name="T17" fmla="*/ 1 h 18"/>
                <a:gd name="T18" fmla="*/ 9 w 17"/>
                <a:gd name="T19" fmla="*/ 2 h 18"/>
                <a:gd name="T20" fmla="*/ 10 w 17"/>
                <a:gd name="T21" fmla="*/ 4 h 18"/>
                <a:gd name="T22" fmla="*/ 17 w 17"/>
                <a:gd name="T23" fmla="*/ 10 h 18"/>
                <a:gd name="T24" fmla="*/ 16 w 17"/>
                <a:gd name="T25" fmla="*/ 11 h 18"/>
                <a:gd name="T26" fmla="*/ 4 w 17"/>
                <a:gd name="T27" fmla="*/ 9 h 18"/>
                <a:gd name="T28" fmla="*/ 9 w 17"/>
                <a:gd name="T29" fmla="*/ 13 h 18"/>
                <a:gd name="T30" fmla="*/ 11 w 17"/>
                <a:gd name="T31" fmla="*/ 14 h 18"/>
                <a:gd name="T32" fmla="*/ 12 w 17"/>
                <a:gd name="T33" fmla="*/ 14 h 18"/>
                <a:gd name="T34" fmla="*/ 13 w 17"/>
                <a:gd name="T35" fmla="*/ 15 h 18"/>
                <a:gd name="T36" fmla="*/ 10 w 17"/>
                <a:gd name="T37" fmla="*/ 18 h 18"/>
                <a:gd name="T38" fmla="*/ 9 w 17"/>
                <a:gd name="T39" fmla="*/ 17 h 18"/>
                <a:gd name="T40" fmla="*/ 9 w 17"/>
                <a:gd name="T41" fmla="*/ 16 h 18"/>
                <a:gd name="T42" fmla="*/ 8 w 17"/>
                <a:gd name="T43" fmla="*/ 14 h 18"/>
                <a:gd name="T44" fmla="*/ 4 w 17"/>
                <a:gd name="T45" fmla="*/ 11 h 18"/>
                <a:gd name="T46" fmla="*/ 2 w 17"/>
                <a:gd name="T47" fmla="*/ 10 h 18"/>
                <a:gd name="T48" fmla="*/ 1 w 17"/>
                <a:gd name="T49" fmla="*/ 11 h 18"/>
                <a:gd name="T50" fmla="*/ 0 w 17"/>
                <a:gd name="T51"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 h="18">
                  <a:moveTo>
                    <a:pt x="0" y="10"/>
                  </a:moveTo>
                  <a:cubicBezTo>
                    <a:pt x="3" y="6"/>
                    <a:pt x="3" y="6"/>
                    <a:pt x="3" y="6"/>
                  </a:cubicBezTo>
                  <a:cubicBezTo>
                    <a:pt x="12" y="7"/>
                    <a:pt x="12" y="7"/>
                    <a:pt x="12" y="7"/>
                  </a:cubicBezTo>
                  <a:cubicBezTo>
                    <a:pt x="9" y="5"/>
                    <a:pt x="9" y="5"/>
                    <a:pt x="9" y="5"/>
                  </a:cubicBezTo>
                  <a:cubicBezTo>
                    <a:pt x="8" y="4"/>
                    <a:pt x="8" y="4"/>
                    <a:pt x="7" y="4"/>
                  </a:cubicBezTo>
                  <a:cubicBezTo>
                    <a:pt x="7" y="4"/>
                    <a:pt x="7" y="4"/>
                    <a:pt x="6" y="5"/>
                  </a:cubicBezTo>
                  <a:cubicBezTo>
                    <a:pt x="5" y="4"/>
                    <a:pt x="5" y="4"/>
                    <a:pt x="5" y="4"/>
                  </a:cubicBezTo>
                  <a:cubicBezTo>
                    <a:pt x="8" y="0"/>
                    <a:pt x="8" y="0"/>
                    <a:pt x="8" y="0"/>
                  </a:cubicBezTo>
                  <a:cubicBezTo>
                    <a:pt x="9" y="1"/>
                    <a:pt x="9" y="1"/>
                    <a:pt x="9" y="1"/>
                  </a:cubicBezTo>
                  <a:cubicBezTo>
                    <a:pt x="9" y="2"/>
                    <a:pt x="9" y="2"/>
                    <a:pt x="9" y="2"/>
                  </a:cubicBezTo>
                  <a:cubicBezTo>
                    <a:pt x="9" y="3"/>
                    <a:pt x="9" y="3"/>
                    <a:pt x="10" y="4"/>
                  </a:cubicBezTo>
                  <a:cubicBezTo>
                    <a:pt x="17" y="10"/>
                    <a:pt x="17" y="10"/>
                    <a:pt x="17" y="10"/>
                  </a:cubicBezTo>
                  <a:cubicBezTo>
                    <a:pt x="16" y="11"/>
                    <a:pt x="16" y="11"/>
                    <a:pt x="16" y="11"/>
                  </a:cubicBezTo>
                  <a:cubicBezTo>
                    <a:pt x="4" y="9"/>
                    <a:pt x="4" y="9"/>
                    <a:pt x="4" y="9"/>
                  </a:cubicBezTo>
                  <a:cubicBezTo>
                    <a:pt x="9" y="13"/>
                    <a:pt x="9" y="13"/>
                    <a:pt x="9" y="13"/>
                  </a:cubicBezTo>
                  <a:cubicBezTo>
                    <a:pt x="10" y="14"/>
                    <a:pt x="10" y="14"/>
                    <a:pt x="11" y="14"/>
                  </a:cubicBezTo>
                  <a:cubicBezTo>
                    <a:pt x="11" y="14"/>
                    <a:pt x="11" y="14"/>
                    <a:pt x="12" y="14"/>
                  </a:cubicBezTo>
                  <a:cubicBezTo>
                    <a:pt x="13" y="15"/>
                    <a:pt x="13" y="15"/>
                    <a:pt x="13" y="15"/>
                  </a:cubicBezTo>
                  <a:cubicBezTo>
                    <a:pt x="10" y="18"/>
                    <a:pt x="10" y="18"/>
                    <a:pt x="10" y="18"/>
                  </a:cubicBezTo>
                  <a:cubicBezTo>
                    <a:pt x="9" y="17"/>
                    <a:pt x="9" y="17"/>
                    <a:pt x="9" y="17"/>
                  </a:cubicBezTo>
                  <a:cubicBezTo>
                    <a:pt x="9" y="16"/>
                    <a:pt x="9" y="16"/>
                    <a:pt x="9" y="16"/>
                  </a:cubicBezTo>
                  <a:cubicBezTo>
                    <a:pt x="9" y="15"/>
                    <a:pt x="9" y="15"/>
                    <a:pt x="8" y="14"/>
                  </a:cubicBezTo>
                  <a:cubicBezTo>
                    <a:pt x="4" y="11"/>
                    <a:pt x="4" y="11"/>
                    <a:pt x="4" y="11"/>
                  </a:cubicBezTo>
                  <a:cubicBezTo>
                    <a:pt x="3" y="10"/>
                    <a:pt x="3" y="10"/>
                    <a:pt x="2" y="10"/>
                  </a:cubicBezTo>
                  <a:cubicBezTo>
                    <a:pt x="2" y="10"/>
                    <a:pt x="2" y="10"/>
                    <a:pt x="1" y="11"/>
                  </a:cubicBezTo>
                  <a:lnTo>
                    <a:pt x="0" y="1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2" name="Freeform 45"/>
            <p:cNvSpPr>
              <a:spLocks noEditPoints="1"/>
            </p:cNvSpPr>
            <p:nvPr/>
          </p:nvSpPr>
          <p:spPr bwMode="auto">
            <a:xfrm>
              <a:off x="580" y="389"/>
              <a:ext cx="568" cy="568"/>
            </a:xfrm>
            <a:custGeom>
              <a:avLst/>
              <a:gdLst>
                <a:gd name="T0" fmla="*/ 0 w 146"/>
                <a:gd name="T1" fmla="*/ 73 h 145"/>
                <a:gd name="T2" fmla="*/ 73 w 146"/>
                <a:gd name="T3" fmla="*/ 145 h 145"/>
                <a:gd name="T4" fmla="*/ 146 w 146"/>
                <a:gd name="T5" fmla="*/ 73 h 145"/>
                <a:gd name="T6" fmla="*/ 73 w 146"/>
                <a:gd name="T7" fmla="*/ 0 h 145"/>
                <a:gd name="T8" fmla="*/ 0 w 146"/>
                <a:gd name="T9" fmla="*/ 73 h 145"/>
                <a:gd name="T10" fmla="*/ 2 w 146"/>
                <a:gd name="T11" fmla="*/ 73 h 145"/>
                <a:gd name="T12" fmla="*/ 73 w 146"/>
                <a:gd name="T13" fmla="*/ 1 h 145"/>
                <a:gd name="T14" fmla="*/ 144 w 146"/>
                <a:gd name="T15" fmla="*/ 73 h 145"/>
                <a:gd name="T16" fmla="*/ 73 w 146"/>
                <a:gd name="T17" fmla="*/ 144 h 145"/>
                <a:gd name="T18" fmla="*/ 2 w 146"/>
                <a:gd name="T19" fmla="*/ 73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45">
                  <a:moveTo>
                    <a:pt x="0" y="73"/>
                  </a:moveTo>
                  <a:cubicBezTo>
                    <a:pt x="0" y="113"/>
                    <a:pt x="33" y="145"/>
                    <a:pt x="73" y="145"/>
                  </a:cubicBezTo>
                  <a:cubicBezTo>
                    <a:pt x="113" y="145"/>
                    <a:pt x="146" y="113"/>
                    <a:pt x="146" y="73"/>
                  </a:cubicBezTo>
                  <a:cubicBezTo>
                    <a:pt x="146" y="33"/>
                    <a:pt x="113" y="0"/>
                    <a:pt x="73" y="0"/>
                  </a:cubicBezTo>
                  <a:cubicBezTo>
                    <a:pt x="33" y="0"/>
                    <a:pt x="0" y="33"/>
                    <a:pt x="0" y="73"/>
                  </a:cubicBezTo>
                  <a:close/>
                  <a:moveTo>
                    <a:pt x="2" y="73"/>
                  </a:moveTo>
                  <a:cubicBezTo>
                    <a:pt x="2" y="33"/>
                    <a:pt x="34" y="1"/>
                    <a:pt x="73" y="1"/>
                  </a:cubicBezTo>
                  <a:cubicBezTo>
                    <a:pt x="112" y="1"/>
                    <a:pt x="144" y="33"/>
                    <a:pt x="144" y="73"/>
                  </a:cubicBezTo>
                  <a:cubicBezTo>
                    <a:pt x="144" y="112"/>
                    <a:pt x="112" y="144"/>
                    <a:pt x="73" y="144"/>
                  </a:cubicBezTo>
                  <a:cubicBezTo>
                    <a:pt x="34" y="144"/>
                    <a:pt x="2" y="112"/>
                    <a:pt x="2" y="73"/>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3" name="Freeform 46"/>
            <p:cNvSpPr/>
            <p:nvPr/>
          </p:nvSpPr>
          <p:spPr bwMode="auto">
            <a:xfrm>
              <a:off x="711" y="408"/>
              <a:ext cx="410" cy="343"/>
            </a:xfrm>
            <a:custGeom>
              <a:avLst/>
              <a:gdLst>
                <a:gd name="T0" fmla="*/ 39 w 105"/>
                <a:gd name="T1" fmla="*/ 0 h 88"/>
                <a:gd name="T2" fmla="*/ 0 w 105"/>
                <a:gd name="T3" fmla="*/ 71 h 88"/>
                <a:gd name="T4" fmla="*/ 0 w 105"/>
                <a:gd name="T5" fmla="*/ 83 h 88"/>
                <a:gd name="T6" fmla="*/ 13 w 105"/>
                <a:gd name="T7" fmla="*/ 86 h 88"/>
                <a:gd name="T8" fmla="*/ 11 w 105"/>
                <a:gd name="T9" fmla="*/ 69 h 88"/>
                <a:gd name="T10" fmla="*/ 37 w 105"/>
                <a:gd name="T11" fmla="*/ 6 h 88"/>
                <a:gd name="T12" fmla="*/ 17 w 105"/>
                <a:gd name="T13" fmla="*/ 63 h 88"/>
                <a:gd name="T14" fmla="*/ 20 w 105"/>
                <a:gd name="T15" fmla="*/ 88 h 88"/>
                <a:gd name="T16" fmla="*/ 38 w 105"/>
                <a:gd name="T17" fmla="*/ 88 h 88"/>
                <a:gd name="T18" fmla="*/ 105 w 105"/>
                <a:gd name="T19" fmla="*/ 56 h 88"/>
                <a:gd name="T20" fmla="*/ 39 w 105"/>
                <a:gd name="T21" fmla="*/ 0 h 88"/>
                <a:gd name="T22" fmla="*/ 39 w 105"/>
                <a:gd name="T23"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 h="88">
                  <a:moveTo>
                    <a:pt x="39" y="0"/>
                  </a:moveTo>
                  <a:cubicBezTo>
                    <a:pt x="17" y="7"/>
                    <a:pt x="0" y="36"/>
                    <a:pt x="0" y="71"/>
                  </a:cubicBezTo>
                  <a:cubicBezTo>
                    <a:pt x="0" y="75"/>
                    <a:pt x="0" y="79"/>
                    <a:pt x="0" y="83"/>
                  </a:cubicBezTo>
                  <a:cubicBezTo>
                    <a:pt x="4" y="85"/>
                    <a:pt x="8" y="86"/>
                    <a:pt x="13" y="86"/>
                  </a:cubicBezTo>
                  <a:cubicBezTo>
                    <a:pt x="12" y="81"/>
                    <a:pt x="11" y="75"/>
                    <a:pt x="11" y="69"/>
                  </a:cubicBezTo>
                  <a:cubicBezTo>
                    <a:pt x="11" y="40"/>
                    <a:pt x="22" y="15"/>
                    <a:pt x="37" y="6"/>
                  </a:cubicBezTo>
                  <a:cubicBezTo>
                    <a:pt x="25" y="19"/>
                    <a:pt x="17" y="40"/>
                    <a:pt x="17" y="63"/>
                  </a:cubicBezTo>
                  <a:cubicBezTo>
                    <a:pt x="17" y="72"/>
                    <a:pt x="18" y="80"/>
                    <a:pt x="20" y="88"/>
                  </a:cubicBezTo>
                  <a:cubicBezTo>
                    <a:pt x="26" y="88"/>
                    <a:pt x="32" y="88"/>
                    <a:pt x="38" y="88"/>
                  </a:cubicBezTo>
                  <a:cubicBezTo>
                    <a:pt x="70" y="87"/>
                    <a:pt x="96" y="73"/>
                    <a:pt x="105" y="56"/>
                  </a:cubicBezTo>
                  <a:cubicBezTo>
                    <a:pt x="100" y="24"/>
                    <a:pt x="72" y="0"/>
                    <a:pt x="39" y="0"/>
                  </a:cubicBezTo>
                  <a:cubicBezTo>
                    <a:pt x="39" y="0"/>
                    <a:pt x="39" y="0"/>
                    <a:pt x="39" y="0"/>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4" name="Freeform 47"/>
            <p:cNvSpPr/>
            <p:nvPr/>
          </p:nvSpPr>
          <p:spPr bwMode="auto">
            <a:xfrm>
              <a:off x="716" y="752"/>
              <a:ext cx="59" cy="52"/>
            </a:xfrm>
            <a:custGeom>
              <a:avLst/>
              <a:gdLst>
                <a:gd name="T0" fmla="*/ 15 w 15"/>
                <a:gd name="T1" fmla="*/ 13 h 13"/>
                <a:gd name="T2" fmla="*/ 12 w 15"/>
                <a:gd name="T3" fmla="*/ 3 h 13"/>
                <a:gd name="T4" fmla="*/ 0 w 15"/>
                <a:gd name="T5" fmla="*/ 0 h 13"/>
                <a:gd name="T6" fmla="*/ 2 w 15"/>
                <a:gd name="T7" fmla="*/ 10 h 13"/>
                <a:gd name="T8" fmla="*/ 15 w 15"/>
                <a:gd name="T9" fmla="*/ 13 h 13"/>
              </a:gdLst>
              <a:ahLst/>
              <a:cxnLst>
                <a:cxn ang="0">
                  <a:pos x="T0" y="T1"/>
                </a:cxn>
                <a:cxn ang="0">
                  <a:pos x="T2" y="T3"/>
                </a:cxn>
                <a:cxn ang="0">
                  <a:pos x="T4" y="T5"/>
                </a:cxn>
                <a:cxn ang="0">
                  <a:pos x="T6" y="T7"/>
                </a:cxn>
                <a:cxn ang="0">
                  <a:pos x="T8" y="T9"/>
                </a:cxn>
              </a:cxnLst>
              <a:rect l="0" t="0" r="r" b="b"/>
              <a:pathLst>
                <a:path w="15" h="13">
                  <a:moveTo>
                    <a:pt x="15" y="13"/>
                  </a:moveTo>
                  <a:cubicBezTo>
                    <a:pt x="14" y="10"/>
                    <a:pt x="13" y="7"/>
                    <a:pt x="12" y="3"/>
                  </a:cubicBezTo>
                  <a:cubicBezTo>
                    <a:pt x="8" y="2"/>
                    <a:pt x="4" y="1"/>
                    <a:pt x="0" y="0"/>
                  </a:cubicBezTo>
                  <a:cubicBezTo>
                    <a:pt x="1" y="3"/>
                    <a:pt x="1" y="6"/>
                    <a:pt x="2" y="10"/>
                  </a:cubicBezTo>
                  <a:cubicBezTo>
                    <a:pt x="6" y="11"/>
                    <a:pt x="11" y="12"/>
                    <a:pt x="15" y="13"/>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5" name="Freeform 48"/>
            <p:cNvSpPr/>
            <p:nvPr/>
          </p:nvSpPr>
          <p:spPr bwMode="auto">
            <a:xfrm>
              <a:off x="622" y="771"/>
              <a:ext cx="262" cy="165"/>
            </a:xfrm>
            <a:custGeom>
              <a:avLst/>
              <a:gdLst>
                <a:gd name="T0" fmla="*/ 42 w 67"/>
                <a:gd name="T1" fmla="*/ 16 h 42"/>
                <a:gd name="T2" fmla="*/ 29 w 67"/>
                <a:gd name="T3" fmla="*/ 13 h 42"/>
                <a:gd name="T4" fmla="*/ 42 w 67"/>
                <a:gd name="T5" fmla="*/ 35 h 42"/>
                <a:gd name="T6" fmla="*/ 24 w 67"/>
                <a:gd name="T7" fmla="*/ 12 h 42"/>
                <a:gd name="T8" fmla="*/ 0 w 67"/>
                <a:gd name="T9" fmla="*/ 0 h 42"/>
                <a:gd name="T10" fmla="*/ 62 w 67"/>
                <a:gd name="T11" fmla="*/ 42 h 42"/>
                <a:gd name="T12" fmla="*/ 67 w 67"/>
                <a:gd name="T13" fmla="*/ 42 h 42"/>
                <a:gd name="T14" fmla="*/ 42 w 67"/>
                <a:gd name="T15" fmla="*/ 16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42">
                  <a:moveTo>
                    <a:pt x="42" y="16"/>
                  </a:moveTo>
                  <a:cubicBezTo>
                    <a:pt x="38" y="15"/>
                    <a:pt x="33" y="14"/>
                    <a:pt x="29" y="13"/>
                  </a:cubicBezTo>
                  <a:cubicBezTo>
                    <a:pt x="33" y="22"/>
                    <a:pt x="37" y="29"/>
                    <a:pt x="42" y="35"/>
                  </a:cubicBezTo>
                  <a:cubicBezTo>
                    <a:pt x="35" y="30"/>
                    <a:pt x="29" y="22"/>
                    <a:pt x="24" y="12"/>
                  </a:cubicBezTo>
                  <a:cubicBezTo>
                    <a:pt x="14" y="9"/>
                    <a:pt x="6" y="5"/>
                    <a:pt x="0" y="0"/>
                  </a:cubicBezTo>
                  <a:cubicBezTo>
                    <a:pt x="10" y="24"/>
                    <a:pt x="34" y="42"/>
                    <a:pt x="62" y="42"/>
                  </a:cubicBezTo>
                  <a:cubicBezTo>
                    <a:pt x="64" y="42"/>
                    <a:pt x="65" y="42"/>
                    <a:pt x="67" y="42"/>
                  </a:cubicBezTo>
                  <a:cubicBezTo>
                    <a:pt x="57" y="39"/>
                    <a:pt x="48" y="29"/>
                    <a:pt x="42" y="16"/>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6" name="Freeform 49"/>
            <p:cNvSpPr/>
            <p:nvPr/>
          </p:nvSpPr>
          <p:spPr bwMode="auto">
            <a:xfrm>
              <a:off x="797" y="675"/>
              <a:ext cx="326" cy="252"/>
            </a:xfrm>
            <a:custGeom>
              <a:avLst/>
              <a:gdLst>
                <a:gd name="T0" fmla="*/ 22 w 84"/>
                <a:gd name="T1" fmla="*/ 26 h 65"/>
                <a:gd name="T2" fmla="*/ 0 w 84"/>
                <a:gd name="T3" fmla="*/ 25 h 65"/>
                <a:gd name="T4" fmla="*/ 4 w 84"/>
                <a:gd name="T5" fmla="*/ 35 h 65"/>
                <a:gd name="T6" fmla="*/ 19 w 84"/>
                <a:gd name="T7" fmla="*/ 36 h 65"/>
                <a:gd name="T8" fmla="*/ 78 w 84"/>
                <a:gd name="T9" fmla="*/ 18 h 65"/>
                <a:gd name="T10" fmla="*/ 13 w 84"/>
                <a:gd name="T11" fmla="*/ 42 h 65"/>
                <a:gd name="T12" fmla="*/ 7 w 84"/>
                <a:gd name="T13" fmla="*/ 42 h 65"/>
                <a:gd name="T14" fmla="*/ 33 w 84"/>
                <a:gd name="T15" fmla="*/ 65 h 65"/>
                <a:gd name="T16" fmla="*/ 84 w 84"/>
                <a:gd name="T17" fmla="*/ 0 h 65"/>
                <a:gd name="T18" fmla="*/ 22 w 84"/>
                <a:gd name="T19" fmla="*/ 2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5">
                  <a:moveTo>
                    <a:pt x="22" y="26"/>
                  </a:moveTo>
                  <a:cubicBezTo>
                    <a:pt x="14" y="26"/>
                    <a:pt x="7" y="26"/>
                    <a:pt x="0" y="25"/>
                  </a:cubicBezTo>
                  <a:cubicBezTo>
                    <a:pt x="1" y="28"/>
                    <a:pt x="2" y="32"/>
                    <a:pt x="4" y="35"/>
                  </a:cubicBezTo>
                  <a:cubicBezTo>
                    <a:pt x="9" y="36"/>
                    <a:pt x="14" y="36"/>
                    <a:pt x="19" y="36"/>
                  </a:cubicBezTo>
                  <a:cubicBezTo>
                    <a:pt x="43" y="36"/>
                    <a:pt x="65" y="29"/>
                    <a:pt x="78" y="18"/>
                  </a:cubicBezTo>
                  <a:cubicBezTo>
                    <a:pt x="69" y="32"/>
                    <a:pt x="43" y="42"/>
                    <a:pt x="13" y="42"/>
                  </a:cubicBezTo>
                  <a:cubicBezTo>
                    <a:pt x="11" y="42"/>
                    <a:pt x="9" y="42"/>
                    <a:pt x="7" y="42"/>
                  </a:cubicBezTo>
                  <a:cubicBezTo>
                    <a:pt x="14" y="53"/>
                    <a:pt x="23" y="61"/>
                    <a:pt x="33" y="65"/>
                  </a:cubicBezTo>
                  <a:cubicBezTo>
                    <a:pt x="62" y="58"/>
                    <a:pt x="84" y="31"/>
                    <a:pt x="84" y="0"/>
                  </a:cubicBezTo>
                  <a:cubicBezTo>
                    <a:pt x="75" y="14"/>
                    <a:pt x="51" y="25"/>
                    <a:pt x="22" y="26"/>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7" name="Freeform 50"/>
            <p:cNvSpPr/>
            <p:nvPr/>
          </p:nvSpPr>
          <p:spPr bwMode="auto">
            <a:xfrm>
              <a:off x="602" y="428"/>
              <a:ext cx="173" cy="351"/>
            </a:xfrm>
            <a:custGeom>
              <a:avLst/>
              <a:gdLst>
                <a:gd name="T0" fmla="*/ 26 w 44"/>
                <a:gd name="T1" fmla="*/ 90 h 90"/>
                <a:gd name="T2" fmla="*/ 23 w 44"/>
                <a:gd name="T3" fmla="*/ 80 h 90"/>
                <a:gd name="T4" fmla="*/ 7 w 44"/>
                <a:gd name="T5" fmla="*/ 67 h 90"/>
                <a:gd name="T6" fmla="*/ 23 w 44"/>
                <a:gd name="T7" fmla="*/ 76 h 90"/>
                <a:gd name="T8" fmla="*/ 21 w 44"/>
                <a:gd name="T9" fmla="*/ 60 h 90"/>
                <a:gd name="T10" fmla="*/ 44 w 44"/>
                <a:gd name="T11" fmla="*/ 0 h 90"/>
                <a:gd name="T12" fmla="*/ 0 w 44"/>
                <a:gd name="T13" fmla="*/ 63 h 90"/>
                <a:gd name="T14" fmla="*/ 0 w 44"/>
                <a:gd name="T15" fmla="*/ 70 h 90"/>
                <a:gd name="T16" fmla="*/ 26 w 44"/>
                <a:gd name="T1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90">
                  <a:moveTo>
                    <a:pt x="26" y="90"/>
                  </a:moveTo>
                  <a:cubicBezTo>
                    <a:pt x="25" y="87"/>
                    <a:pt x="24" y="84"/>
                    <a:pt x="23" y="80"/>
                  </a:cubicBezTo>
                  <a:cubicBezTo>
                    <a:pt x="16" y="77"/>
                    <a:pt x="10" y="72"/>
                    <a:pt x="7" y="67"/>
                  </a:cubicBezTo>
                  <a:cubicBezTo>
                    <a:pt x="11" y="71"/>
                    <a:pt x="17" y="74"/>
                    <a:pt x="23" y="76"/>
                  </a:cubicBezTo>
                  <a:cubicBezTo>
                    <a:pt x="22" y="71"/>
                    <a:pt x="21" y="66"/>
                    <a:pt x="21" y="60"/>
                  </a:cubicBezTo>
                  <a:cubicBezTo>
                    <a:pt x="21" y="33"/>
                    <a:pt x="31" y="10"/>
                    <a:pt x="44" y="0"/>
                  </a:cubicBezTo>
                  <a:cubicBezTo>
                    <a:pt x="18" y="9"/>
                    <a:pt x="0" y="34"/>
                    <a:pt x="0" y="63"/>
                  </a:cubicBezTo>
                  <a:cubicBezTo>
                    <a:pt x="0" y="65"/>
                    <a:pt x="0" y="68"/>
                    <a:pt x="0" y="70"/>
                  </a:cubicBezTo>
                  <a:cubicBezTo>
                    <a:pt x="6" y="79"/>
                    <a:pt x="14" y="85"/>
                    <a:pt x="26" y="90"/>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8" name="Freeform 51"/>
            <p:cNvSpPr/>
            <p:nvPr/>
          </p:nvSpPr>
          <p:spPr bwMode="auto">
            <a:xfrm>
              <a:off x="1511" y="764"/>
              <a:ext cx="173" cy="210"/>
            </a:xfrm>
            <a:custGeom>
              <a:avLst/>
              <a:gdLst>
                <a:gd name="T0" fmla="*/ 31 w 44"/>
                <a:gd name="T1" fmla="*/ 4 h 54"/>
                <a:gd name="T2" fmla="*/ 32 w 44"/>
                <a:gd name="T3" fmla="*/ 1 h 54"/>
                <a:gd name="T4" fmla="*/ 36 w 44"/>
                <a:gd name="T5" fmla="*/ 1 h 54"/>
                <a:gd name="T6" fmla="*/ 41 w 44"/>
                <a:gd name="T7" fmla="*/ 16 h 54"/>
                <a:gd name="T8" fmla="*/ 35 w 44"/>
                <a:gd name="T9" fmla="*/ 18 h 54"/>
                <a:gd name="T10" fmla="*/ 29 w 44"/>
                <a:gd name="T11" fmla="*/ 10 h 54"/>
                <a:gd name="T12" fmla="*/ 20 w 44"/>
                <a:gd name="T13" fmla="*/ 7 h 54"/>
                <a:gd name="T14" fmla="*/ 15 w 44"/>
                <a:gd name="T15" fmla="*/ 9 h 54"/>
                <a:gd name="T16" fmla="*/ 13 w 44"/>
                <a:gd name="T17" fmla="*/ 13 h 54"/>
                <a:gd name="T18" fmla="*/ 25 w 44"/>
                <a:gd name="T19" fmla="*/ 20 h 54"/>
                <a:gd name="T20" fmla="*/ 28 w 44"/>
                <a:gd name="T21" fmla="*/ 20 h 54"/>
                <a:gd name="T22" fmla="*/ 40 w 44"/>
                <a:gd name="T23" fmla="*/ 26 h 54"/>
                <a:gd name="T24" fmla="*/ 44 w 44"/>
                <a:gd name="T25" fmla="*/ 36 h 54"/>
                <a:gd name="T26" fmla="*/ 39 w 44"/>
                <a:gd name="T27" fmla="*/ 49 h 54"/>
                <a:gd name="T28" fmla="*/ 25 w 44"/>
                <a:gd name="T29" fmla="*/ 54 h 54"/>
                <a:gd name="T30" fmla="*/ 18 w 44"/>
                <a:gd name="T31" fmla="*/ 53 h 54"/>
                <a:gd name="T32" fmla="*/ 11 w 44"/>
                <a:gd name="T33" fmla="*/ 50 h 54"/>
                <a:gd name="T34" fmla="*/ 10 w 44"/>
                <a:gd name="T35" fmla="*/ 54 h 54"/>
                <a:gd name="T36" fmla="*/ 6 w 44"/>
                <a:gd name="T37" fmla="*/ 54 h 54"/>
                <a:gd name="T38" fmla="*/ 0 w 44"/>
                <a:gd name="T39" fmla="*/ 34 h 54"/>
                <a:gd name="T40" fmla="*/ 6 w 44"/>
                <a:gd name="T41" fmla="*/ 32 h 54"/>
                <a:gd name="T42" fmla="*/ 14 w 44"/>
                <a:gd name="T43" fmla="*/ 43 h 54"/>
                <a:gd name="T44" fmla="*/ 24 w 44"/>
                <a:gd name="T45" fmla="*/ 47 h 54"/>
                <a:gd name="T46" fmla="*/ 30 w 44"/>
                <a:gd name="T47" fmla="*/ 45 h 54"/>
                <a:gd name="T48" fmla="*/ 33 w 44"/>
                <a:gd name="T49" fmla="*/ 40 h 54"/>
                <a:gd name="T50" fmla="*/ 22 w 44"/>
                <a:gd name="T51" fmla="*/ 33 h 54"/>
                <a:gd name="T52" fmla="*/ 20 w 44"/>
                <a:gd name="T53" fmla="*/ 32 h 54"/>
                <a:gd name="T54" fmla="*/ 12 w 44"/>
                <a:gd name="T55" fmla="*/ 30 h 54"/>
                <a:gd name="T56" fmla="*/ 7 w 44"/>
                <a:gd name="T57" fmla="*/ 28 h 54"/>
                <a:gd name="T58" fmla="*/ 3 w 44"/>
                <a:gd name="T59" fmla="*/ 23 h 54"/>
                <a:gd name="T60" fmla="*/ 2 w 44"/>
                <a:gd name="T61" fmla="*/ 16 h 54"/>
                <a:gd name="T62" fmla="*/ 7 w 44"/>
                <a:gd name="T63" fmla="*/ 5 h 54"/>
                <a:gd name="T64" fmla="*/ 19 w 44"/>
                <a:gd name="T65" fmla="*/ 0 h 54"/>
                <a:gd name="T66" fmla="*/ 25 w 44"/>
                <a:gd name="T67" fmla="*/ 1 h 54"/>
                <a:gd name="T68" fmla="*/ 31 w 44"/>
                <a:gd name="T69" fmla="*/ 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 h="54">
                  <a:moveTo>
                    <a:pt x="31" y="4"/>
                  </a:moveTo>
                  <a:cubicBezTo>
                    <a:pt x="32" y="1"/>
                    <a:pt x="32" y="1"/>
                    <a:pt x="32" y="1"/>
                  </a:cubicBezTo>
                  <a:cubicBezTo>
                    <a:pt x="36" y="1"/>
                    <a:pt x="36" y="1"/>
                    <a:pt x="36" y="1"/>
                  </a:cubicBezTo>
                  <a:cubicBezTo>
                    <a:pt x="41" y="16"/>
                    <a:pt x="41" y="16"/>
                    <a:pt x="41" y="16"/>
                  </a:cubicBezTo>
                  <a:cubicBezTo>
                    <a:pt x="35" y="18"/>
                    <a:pt x="35" y="18"/>
                    <a:pt x="35" y="18"/>
                  </a:cubicBezTo>
                  <a:cubicBezTo>
                    <a:pt x="34" y="15"/>
                    <a:pt x="31" y="12"/>
                    <a:pt x="29" y="10"/>
                  </a:cubicBezTo>
                  <a:cubicBezTo>
                    <a:pt x="26" y="8"/>
                    <a:pt x="23" y="7"/>
                    <a:pt x="20" y="7"/>
                  </a:cubicBezTo>
                  <a:cubicBezTo>
                    <a:pt x="18" y="7"/>
                    <a:pt x="16" y="8"/>
                    <a:pt x="15" y="9"/>
                  </a:cubicBezTo>
                  <a:cubicBezTo>
                    <a:pt x="14" y="10"/>
                    <a:pt x="13" y="11"/>
                    <a:pt x="13" y="13"/>
                  </a:cubicBezTo>
                  <a:cubicBezTo>
                    <a:pt x="13" y="15"/>
                    <a:pt x="17" y="18"/>
                    <a:pt x="25" y="20"/>
                  </a:cubicBezTo>
                  <a:cubicBezTo>
                    <a:pt x="26" y="20"/>
                    <a:pt x="27" y="20"/>
                    <a:pt x="28" y="20"/>
                  </a:cubicBezTo>
                  <a:cubicBezTo>
                    <a:pt x="34" y="22"/>
                    <a:pt x="38" y="24"/>
                    <a:pt x="40" y="26"/>
                  </a:cubicBezTo>
                  <a:cubicBezTo>
                    <a:pt x="43" y="28"/>
                    <a:pt x="44" y="32"/>
                    <a:pt x="44" y="36"/>
                  </a:cubicBezTo>
                  <a:cubicBezTo>
                    <a:pt x="44" y="41"/>
                    <a:pt x="42" y="46"/>
                    <a:pt x="39" y="49"/>
                  </a:cubicBezTo>
                  <a:cubicBezTo>
                    <a:pt x="35" y="52"/>
                    <a:pt x="31" y="54"/>
                    <a:pt x="25" y="54"/>
                  </a:cubicBezTo>
                  <a:cubicBezTo>
                    <a:pt x="23" y="54"/>
                    <a:pt x="20" y="54"/>
                    <a:pt x="18" y="53"/>
                  </a:cubicBezTo>
                  <a:cubicBezTo>
                    <a:pt x="16" y="53"/>
                    <a:pt x="13" y="52"/>
                    <a:pt x="11" y="50"/>
                  </a:cubicBezTo>
                  <a:cubicBezTo>
                    <a:pt x="10" y="54"/>
                    <a:pt x="10" y="54"/>
                    <a:pt x="10" y="54"/>
                  </a:cubicBezTo>
                  <a:cubicBezTo>
                    <a:pt x="6" y="54"/>
                    <a:pt x="6" y="54"/>
                    <a:pt x="6" y="54"/>
                  </a:cubicBezTo>
                  <a:cubicBezTo>
                    <a:pt x="0" y="34"/>
                    <a:pt x="0" y="34"/>
                    <a:pt x="0" y="34"/>
                  </a:cubicBezTo>
                  <a:cubicBezTo>
                    <a:pt x="6" y="32"/>
                    <a:pt x="6" y="32"/>
                    <a:pt x="6" y="32"/>
                  </a:cubicBezTo>
                  <a:cubicBezTo>
                    <a:pt x="8" y="37"/>
                    <a:pt x="11" y="40"/>
                    <a:pt x="14" y="43"/>
                  </a:cubicBezTo>
                  <a:cubicBezTo>
                    <a:pt x="17" y="45"/>
                    <a:pt x="20" y="47"/>
                    <a:pt x="24" y="47"/>
                  </a:cubicBezTo>
                  <a:cubicBezTo>
                    <a:pt x="27" y="47"/>
                    <a:pt x="29" y="46"/>
                    <a:pt x="30" y="45"/>
                  </a:cubicBezTo>
                  <a:cubicBezTo>
                    <a:pt x="32" y="43"/>
                    <a:pt x="33" y="42"/>
                    <a:pt x="33" y="40"/>
                  </a:cubicBezTo>
                  <a:cubicBezTo>
                    <a:pt x="33" y="37"/>
                    <a:pt x="29" y="35"/>
                    <a:pt x="22" y="33"/>
                  </a:cubicBezTo>
                  <a:cubicBezTo>
                    <a:pt x="21" y="33"/>
                    <a:pt x="20" y="33"/>
                    <a:pt x="20" y="32"/>
                  </a:cubicBezTo>
                  <a:cubicBezTo>
                    <a:pt x="16" y="32"/>
                    <a:pt x="14" y="31"/>
                    <a:pt x="12" y="30"/>
                  </a:cubicBezTo>
                  <a:cubicBezTo>
                    <a:pt x="9" y="29"/>
                    <a:pt x="8" y="29"/>
                    <a:pt x="7" y="28"/>
                  </a:cubicBezTo>
                  <a:cubicBezTo>
                    <a:pt x="5" y="27"/>
                    <a:pt x="4" y="25"/>
                    <a:pt x="3" y="23"/>
                  </a:cubicBezTo>
                  <a:cubicBezTo>
                    <a:pt x="2" y="21"/>
                    <a:pt x="2" y="19"/>
                    <a:pt x="2" y="16"/>
                  </a:cubicBezTo>
                  <a:cubicBezTo>
                    <a:pt x="2" y="12"/>
                    <a:pt x="3" y="8"/>
                    <a:pt x="7" y="5"/>
                  </a:cubicBezTo>
                  <a:cubicBezTo>
                    <a:pt x="10" y="2"/>
                    <a:pt x="14" y="0"/>
                    <a:pt x="19" y="0"/>
                  </a:cubicBezTo>
                  <a:cubicBezTo>
                    <a:pt x="21" y="0"/>
                    <a:pt x="23" y="0"/>
                    <a:pt x="25" y="1"/>
                  </a:cubicBezTo>
                  <a:cubicBezTo>
                    <a:pt x="27" y="2"/>
                    <a:pt x="29" y="2"/>
                    <a:pt x="31" y="4"/>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9" name="Freeform 52"/>
            <p:cNvSpPr/>
            <p:nvPr/>
          </p:nvSpPr>
          <p:spPr bwMode="auto">
            <a:xfrm>
              <a:off x="1674" y="806"/>
              <a:ext cx="165" cy="165"/>
            </a:xfrm>
            <a:custGeom>
              <a:avLst/>
              <a:gdLst>
                <a:gd name="T0" fmla="*/ 5 w 42"/>
                <a:gd name="T1" fmla="*/ 0 h 42"/>
                <a:gd name="T2" fmla="*/ 38 w 42"/>
                <a:gd name="T3" fmla="*/ 0 h 42"/>
                <a:gd name="T4" fmla="*/ 42 w 42"/>
                <a:gd name="T5" fmla="*/ 13 h 42"/>
                <a:gd name="T6" fmla="*/ 38 w 42"/>
                <a:gd name="T7" fmla="*/ 14 h 42"/>
                <a:gd name="T8" fmla="*/ 33 w 42"/>
                <a:gd name="T9" fmla="*/ 8 h 42"/>
                <a:gd name="T10" fmla="*/ 27 w 42"/>
                <a:gd name="T11" fmla="*/ 6 h 42"/>
                <a:gd name="T12" fmla="*/ 26 w 42"/>
                <a:gd name="T13" fmla="*/ 6 h 42"/>
                <a:gd name="T14" fmla="*/ 26 w 42"/>
                <a:gd name="T15" fmla="*/ 29 h 42"/>
                <a:gd name="T16" fmla="*/ 27 w 42"/>
                <a:gd name="T17" fmla="*/ 35 h 42"/>
                <a:gd name="T18" fmla="*/ 31 w 42"/>
                <a:gd name="T19" fmla="*/ 37 h 42"/>
                <a:gd name="T20" fmla="*/ 31 w 42"/>
                <a:gd name="T21" fmla="*/ 42 h 42"/>
                <a:gd name="T22" fmla="*/ 11 w 42"/>
                <a:gd name="T23" fmla="*/ 42 h 42"/>
                <a:gd name="T24" fmla="*/ 11 w 42"/>
                <a:gd name="T25" fmla="*/ 37 h 42"/>
                <a:gd name="T26" fmla="*/ 15 w 42"/>
                <a:gd name="T27" fmla="*/ 35 h 42"/>
                <a:gd name="T28" fmla="*/ 16 w 42"/>
                <a:gd name="T29" fmla="*/ 29 h 42"/>
                <a:gd name="T30" fmla="*/ 16 w 42"/>
                <a:gd name="T31" fmla="*/ 6 h 42"/>
                <a:gd name="T32" fmla="*/ 15 w 42"/>
                <a:gd name="T33" fmla="*/ 6 h 42"/>
                <a:gd name="T34" fmla="*/ 9 w 42"/>
                <a:gd name="T35" fmla="*/ 8 h 42"/>
                <a:gd name="T36" fmla="*/ 4 w 42"/>
                <a:gd name="T37" fmla="*/ 14 h 42"/>
                <a:gd name="T38" fmla="*/ 0 w 42"/>
                <a:gd name="T39" fmla="*/ 13 h 42"/>
                <a:gd name="T40" fmla="*/ 5 w 42"/>
                <a:gd name="T4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42">
                  <a:moveTo>
                    <a:pt x="5" y="0"/>
                  </a:moveTo>
                  <a:cubicBezTo>
                    <a:pt x="38" y="0"/>
                    <a:pt x="38" y="0"/>
                    <a:pt x="38" y="0"/>
                  </a:cubicBezTo>
                  <a:cubicBezTo>
                    <a:pt x="42" y="13"/>
                    <a:pt x="42" y="13"/>
                    <a:pt x="42" y="13"/>
                  </a:cubicBezTo>
                  <a:cubicBezTo>
                    <a:pt x="38" y="14"/>
                    <a:pt x="38" y="14"/>
                    <a:pt x="38" y="14"/>
                  </a:cubicBezTo>
                  <a:cubicBezTo>
                    <a:pt x="37" y="11"/>
                    <a:pt x="35" y="9"/>
                    <a:pt x="33" y="8"/>
                  </a:cubicBezTo>
                  <a:cubicBezTo>
                    <a:pt x="32" y="6"/>
                    <a:pt x="29" y="6"/>
                    <a:pt x="27" y="6"/>
                  </a:cubicBezTo>
                  <a:cubicBezTo>
                    <a:pt x="26" y="6"/>
                    <a:pt x="26" y="6"/>
                    <a:pt x="26" y="6"/>
                  </a:cubicBezTo>
                  <a:cubicBezTo>
                    <a:pt x="26" y="29"/>
                    <a:pt x="26" y="29"/>
                    <a:pt x="26" y="29"/>
                  </a:cubicBezTo>
                  <a:cubicBezTo>
                    <a:pt x="26" y="32"/>
                    <a:pt x="27" y="34"/>
                    <a:pt x="27" y="35"/>
                  </a:cubicBezTo>
                  <a:cubicBezTo>
                    <a:pt x="28" y="36"/>
                    <a:pt x="29" y="37"/>
                    <a:pt x="31" y="37"/>
                  </a:cubicBezTo>
                  <a:cubicBezTo>
                    <a:pt x="31" y="42"/>
                    <a:pt x="31" y="42"/>
                    <a:pt x="31" y="42"/>
                  </a:cubicBezTo>
                  <a:cubicBezTo>
                    <a:pt x="11" y="42"/>
                    <a:pt x="11" y="42"/>
                    <a:pt x="11" y="42"/>
                  </a:cubicBezTo>
                  <a:cubicBezTo>
                    <a:pt x="11" y="37"/>
                    <a:pt x="11" y="37"/>
                    <a:pt x="11" y="37"/>
                  </a:cubicBezTo>
                  <a:cubicBezTo>
                    <a:pt x="13" y="37"/>
                    <a:pt x="14" y="36"/>
                    <a:pt x="15" y="35"/>
                  </a:cubicBezTo>
                  <a:cubicBezTo>
                    <a:pt x="16" y="34"/>
                    <a:pt x="16" y="32"/>
                    <a:pt x="16" y="29"/>
                  </a:cubicBezTo>
                  <a:cubicBezTo>
                    <a:pt x="16" y="6"/>
                    <a:pt x="16" y="6"/>
                    <a:pt x="16" y="6"/>
                  </a:cubicBezTo>
                  <a:cubicBezTo>
                    <a:pt x="15" y="6"/>
                    <a:pt x="15" y="6"/>
                    <a:pt x="15" y="6"/>
                  </a:cubicBezTo>
                  <a:cubicBezTo>
                    <a:pt x="13" y="6"/>
                    <a:pt x="10" y="6"/>
                    <a:pt x="9" y="8"/>
                  </a:cubicBezTo>
                  <a:cubicBezTo>
                    <a:pt x="7" y="9"/>
                    <a:pt x="5" y="11"/>
                    <a:pt x="4" y="14"/>
                  </a:cubicBezTo>
                  <a:cubicBezTo>
                    <a:pt x="0" y="13"/>
                    <a:pt x="0" y="13"/>
                    <a:pt x="0" y="13"/>
                  </a:cubicBezTo>
                  <a:lnTo>
                    <a:pt x="5" y="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0" name="Freeform 53"/>
            <p:cNvSpPr>
              <a:spLocks noEditPoints="1"/>
            </p:cNvSpPr>
            <p:nvPr/>
          </p:nvSpPr>
          <p:spPr bwMode="auto">
            <a:xfrm>
              <a:off x="1812" y="806"/>
              <a:ext cx="170" cy="165"/>
            </a:xfrm>
            <a:custGeom>
              <a:avLst/>
              <a:gdLst>
                <a:gd name="T0" fmla="*/ 25 w 44"/>
                <a:gd name="T1" fmla="*/ 22 h 42"/>
                <a:gd name="T2" fmla="*/ 17 w 44"/>
                <a:gd name="T3" fmla="*/ 22 h 42"/>
                <a:gd name="T4" fmla="*/ 21 w 44"/>
                <a:gd name="T5" fmla="*/ 10 h 42"/>
                <a:gd name="T6" fmla="*/ 25 w 44"/>
                <a:gd name="T7" fmla="*/ 22 h 42"/>
                <a:gd name="T8" fmla="*/ 7 w 44"/>
                <a:gd name="T9" fmla="*/ 30 h 42"/>
                <a:gd name="T10" fmla="*/ 7 w 44"/>
                <a:gd name="T11" fmla="*/ 30 h 42"/>
                <a:gd name="T12" fmla="*/ 0 w 44"/>
                <a:gd name="T13" fmla="*/ 37 h 42"/>
                <a:gd name="T14" fmla="*/ 0 w 44"/>
                <a:gd name="T15" fmla="*/ 42 h 42"/>
                <a:gd name="T16" fmla="*/ 17 w 44"/>
                <a:gd name="T17" fmla="*/ 42 h 42"/>
                <a:gd name="T18" fmla="*/ 17 w 44"/>
                <a:gd name="T19" fmla="*/ 37 h 42"/>
                <a:gd name="T20" fmla="*/ 14 w 44"/>
                <a:gd name="T21" fmla="*/ 36 h 42"/>
                <a:gd name="T22" fmla="*/ 13 w 44"/>
                <a:gd name="T23" fmla="*/ 34 h 42"/>
                <a:gd name="T24" fmla="*/ 13 w 44"/>
                <a:gd name="T25" fmla="*/ 33 h 42"/>
                <a:gd name="T26" fmla="*/ 13 w 44"/>
                <a:gd name="T27" fmla="*/ 33 h 42"/>
                <a:gd name="T28" fmla="*/ 15 w 44"/>
                <a:gd name="T29" fmla="*/ 27 h 42"/>
                <a:gd name="T30" fmla="*/ 27 w 44"/>
                <a:gd name="T31" fmla="*/ 27 h 42"/>
                <a:gd name="T32" fmla="*/ 29 w 44"/>
                <a:gd name="T33" fmla="*/ 33 h 42"/>
                <a:gd name="T34" fmla="*/ 29 w 44"/>
                <a:gd name="T35" fmla="*/ 33 h 42"/>
                <a:gd name="T36" fmla="*/ 29 w 44"/>
                <a:gd name="T37" fmla="*/ 34 h 42"/>
                <a:gd name="T38" fmla="*/ 28 w 44"/>
                <a:gd name="T39" fmla="*/ 36 h 42"/>
                <a:gd name="T40" fmla="*/ 25 w 44"/>
                <a:gd name="T41" fmla="*/ 37 h 42"/>
                <a:gd name="T42" fmla="*/ 25 w 44"/>
                <a:gd name="T43" fmla="*/ 37 h 42"/>
                <a:gd name="T44" fmla="*/ 25 w 44"/>
                <a:gd name="T45" fmla="*/ 42 h 42"/>
                <a:gd name="T46" fmla="*/ 44 w 44"/>
                <a:gd name="T47" fmla="*/ 42 h 42"/>
                <a:gd name="T48" fmla="*/ 44 w 44"/>
                <a:gd name="T49" fmla="*/ 37 h 42"/>
                <a:gd name="T50" fmla="*/ 39 w 44"/>
                <a:gd name="T51" fmla="*/ 31 h 42"/>
                <a:gd name="T52" fmla="*/ 39 w 44"/>
                <a:gd name="T53" fmla="*/ 31 h 42"/>
                <a:gd name="T54" fmla="*/ 28 w 44"/>
                <a:gd name="T55" fmla="*/ 0 h 42"/>
                <a:gd name="T56" fmla="*/ 19 w 44"/>
                <a:gd name="T57" fmla="*/ 0 h 42"/>
                <a:gd name="T58" fmla="*/ 7 w 44"/>
                <a:gd name="T59" fmla="*/ 3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 h="42">
                  <a:moveTo>
                    <a:pt x="25" y="22"/>
                  </a:moveTo>
                  <a:cubicBezTo>
                    <a:pt x="17" y="22"/>
                    <a:pt x="17" y="22"/>
                    <a:pt x="17" y="22"/>
                  </a:cubicBezTo>
                  <a:cubicBezTo>
                    <a:pt x="21" y="10"/>
                    <a:pt x="21" y="10"/>
                    <a:pt x="21" y="10"/>
                  </a:cubicBezTo>
                  <a:lnTo>
                    <a:pt x="25" y="22"/>
                  </a:lnTo>
                  <a:close/>
                  <a:moveTo>
                    <a:pt x="7" y="30"/>
                  </a:moveTo>
                  <a:cubicBezTo>
                    <a:pt x="7" y="30"/>
                    <a:pt x="7" y="30"/>
                    <a:pt x="7" y="30"/>
                  </a:cubicBezTo>
                  <a:cubicBezTo>
                    <a:pt x="5" y="34"/>
                    <a:pt x="3" y="36"/>
                    <a:pt x="0" y="37"/>
                  </a:cubicBezTo>
                  <a:cubicBezTo>
                    <a:pt x="0" y="42"/>
                    <a:pt x="0" y="42"/>
                    <a:pt x="0" y="42"/>
                  </a:cubicBezTo>
                  <a:cubicBezTo>
                    <a:pt x="17" y="42"/>
                    <a:pt x="17" y="42"/>
                    <a:pt x="17" y="42"/>
                  </a:cubicBezTo>
                  <a:cubicBezTo>
                    <a:pt x="17" y="37"/>
                    <a:pt x="17" y="37"/>
                    <a:pt x="17" y="37"/>
                  </a:cubicBezTo>
                  <a:cubicBezTo>
                    <a:pt x="15" y="37"/>
                    <a:pt x="14" y="37"/>
                    <a:pt x="14" y="36"/>
                  </a:cubicBezTo>
                  <a:cubicBezTo>
                    <a:pt x="13" y="36"/>
                    <a:pt x="13" y="35"/>
                    <a:pt x="13" y="34"/>
                  </a:cubicBezTo>
                  <a:cubicBezTo>
                    <a:pt x="13" y="34"/>
                    <a:pt x="13" y="33"/>
                    <a:pt x="13" y="33"/>
                  </a:cubicBezTo>
                  <a:cubicBezTo>
                    <a:pt x="13" y="33"/>
                    <a:pt x="13" y="33"/>
                    <a:pt x="13" y="33"/>
                  </a:cubicBezTo>
                  <a:cubicBezTo>
                    <a:pt x="15" y="27"/>
                    <a:pt x="15" y="27"/>
                    <a:pt x="15" y="27"/>
                  </a:cubicBezTo>
                  <a:cubicBezTo>
                    <a:pt x="27" y="27"/>
                    <a:pt x="27" y="27"/>
                    <a:pt x="27" y="27"/>
                  </a:cubicBezTo>
                  <a:cubicBezTo>
                    <a:pt x="29" y="33"/>
                    <a:pt x="29" y="33"/>
                    <a:pt x="29" y="33"/>
                  </a:cubicBezTo>
                  <a:cubicBezTo>
                    <a:pt x="29" y="33"/>
                    <a:pt x="29" y="33"/>
                    <a:pt x="29" y="33"/>
                  </a:cubicBezTo>
                  <a:cubicBezTo>
                    <a:pt x="29" y="34"/>
                    <a:pt x="29" y="34"/>
                    <a:pt x="29" y="34"/>
                  </a:cubicBezTo>
                  <a:cubicBezTo>
                    <a:pt x="29" y="35"/>
                    <a:pt x="29" y="36"/>
                    <a:pt x="28" y="36"/>
                  </a:cubicBezTo>
                  <a:cubicBezTo>
                    <a:pt x="28" y="37"/>
                    <a:pt x="27" y="37"/>
                    <a:pt x="25" y="37"/>
                  </a:cubicBezTo>
                  <a:cubicBezTo>
                    <a:pt x="25" y="37"/>
                    <a:pt x="25" y="37"/>
                    <a:pt x="25" y="37"/>
                  </a:cubicBezTo>
                  <a:cubicBezTo>
                    <a:pt x="25" y="42"/>
                    <a:pt x="25" y="42"/>
                    <a:pt x="25" y="42"/>
                  </a:cubicBezTo>
                  <a:cubicBezTo>
                    <a:pt x="44" y="42"/>
                    <a:pt x="44" y="42"/>
                    <a:pt x="44" y="42"/>
                  </a:cubicBezTo>
                  <a:cubicBezTo>
                    <a:pt x="44" y="37"/>
                    <a:pt x="44" y="37"/>
                    <a:pt x="44" y="37"/>
                  </a:cubicBezTo>
                  <a:cubicBezTo>
                    <a:pt x="42" y="36"/>
                    <a:pt x="40" y="35"/>
                    <a:pt x="39" y="31"/>
                  </a:cubicBezTo>
                  <a:cubicBezTo>
                    <a:pt x="39" y="31"/>
                    <a:pt x="39" y="31"/>
                    <a:pt x="39" y="31"/>
                  </a:cubicBezTo>
                  <a:cubicBezTo>
                    <a:pt x="28" y="0"/>
                    <a:pt x="28" y="0"/>
                    <a:pt x="28" y="0"/>
                  </a:cubicBezTo>
                  <a:cubicBezTo>
                    <a:pt x="19" y="0"/>
                    <a:pt x="19" y="0"/>
                    <a:pt x="19" y="0"/>
                  </a:cubicBezTo>
                  <a:lnTo>
                    <a:pt x="7" y="3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1" name="Freeform 54"/>
            <p:cNvSpPr/>
            <p:nvPr/>
          </p:nvSpPr>
          <p:spPr bwMode="auto">
            <a:xfrm>
              <a:off x="1957" y="806"/>
              <a:ext cx="163" cy="165"/>
            </a:xfrm>
            <a:custGeom>
              <a:avLst/>
              <a:gdLst>
                <a:gd name="T0" fmla="*/ 4 w 42"/>
                <a:gd name="T1" fmla="*/ 0 h 42"/>
                <a:gd name="T2" fmla="*/ 37 w 42"/>
                <a:gd name="T3" fmla="*/ 0 h 42"/>
                <a:gd name="T4" fmla="*/ 42 w 42"/>
                <a:gd name="T5" fmla="*/ 13 h 42"/>
                <a:gd name="T6" fmla="*/ 38 w 42"/>
                <a:gd name="T7" fmla="*/ 14 h 42"/>
                <a:gd name="T8" fmla="*/ 33 w 42"/>
                <a:gd name="T9" fmla="*/ 8 h 42"/>
                <a:gd name="T10" fmla="*/ 26 w 42"/>
                <a:gd name="T11" fmla="*/ 6 h 42"/>
                <a:gd name="T12" fmla="*/ 26 w 42"/>
                <a:gd name="T13" fmla="*/ 6 h 42"/>
                <a:gd name="T14" fmla="*/ 26 w 42"/>
                <a:gd name="T15" fmla="*/ 29 h 42"/>
                <a:gd name="T16" fmla="*/ 27 w 42"/>
                <a:gd name="T17" fmla="*/ 35 h 42"/>
                <a:gd name="T18" fmla="*/ 30 w 42"/>
                <a:gd name="T19" fmla="*/ 37 h 42"/>
                <a:gd name="T20" fmla="*/ 30 w 42"/>
                <a:gd name="T21" fmla="*/ 42 h 42"/>
                <a:gd name="T22" fmla="*/ 11 w 42"/>
                <a:gd name="T23" fmla="*/ 42 h 42"/>
                <a:gd name="T24" fmla="*/ 11 w 42"/>
                <a:gd name="T25" fmla="*/ 37 h 42"/>
                <a:gd name="T26" fmla="*/ 14 w 42"/>
                <a:gd name="T27" fmla="*/ 35 h 42"/>
                <a:gd name="T28" fmla="*/ 15 w 42"/>
                <a:gd name="T29" fmla="*/ 29 h 42"/>
                <a:gd name="T30" fmla="*/ 15 w 42"/>
                <a:gd name="T31" fmla="*/ 6 h 42"/>
                <a:gd name="T32" fmla="*/ 15 w 42"/>
                <a:gd name="T33" fmla="*/ 6 h 42"/>
                <a:gd name="T34" fmla="*/ 8 w 42"/>
                <a:gd name="T35" fmla="*/ 8 h 42"/>
                <a:gd name="T36" fmla="*/ 3 w 42"/>
                <a:gd name="T37" fmla="*/ 14 h 42"/>
                <a:gd name="T38" fmla="*/ 0 w 42"/>
                <a:gd name="T39" fmla="*/ 13 h 42"/>
                <a:gd name="T40" fmla="*/ 4 w 42"/>
                <a:gd name="T4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42">
                  <a:moveTo>
                    <a:pt x="4" y="0"/>
                  </a:moveTo>
                  <a:cubicBezTo>
                    <a:pt x="37" y="0"/>
                    <a:pt x="37" y="0"/>
                    <a:pt x="37" y="0"/>
                  </a:cubicBezTo>
                  <a:cubicBezTo>
                    <a:pt x="42" y="13"/>
                    <a:pt x="42" y="13"/>
                    <a:pt x="42" y="13"/>
                  </a:cubicBezTo>
                  <a:cubicBezTo>
                    <a:pt x="38" y="14"/>
                    <a:pt x="38" y="14"/>
                    <a:pt x="38" y="14"/>
                  </a:cubicBezTo>
                  <a:cubicBezTo>
                    <a:pt x="36" y="11"/>
                    <a:pt x="34" y="9"/>
                    <a:pt x="33" y="8"/>
                  </a:cubicBezTo>
                  <a:cubicBezTo>
                    <a:pt x="31" y="6"/>
                    <a:pt x="29" y="6"/>
                    <a:pt x="26" y="6"/>
                  </a:cubicBezTo>
                  <a:cubicBezTo>
                    <a:pt x="26" y="6"/>
                    <a:pt x="26" y="6"/>
                    <a:pt x="26" y="6"/>
                  </a:cubicBezTo>
                  <a:cubicBezTo>
                    <a:pt x="26" y="29"/>
                    <a:pt x="26" y="29"/>
                    <a:pt x="26" y="29"/>
                  </a:cubicBezTo>
                  <a:cubicBezTo>
                    <a:pt x="26" y="32"/>
                    <a:pt x="26" y="34"/>
                    <a:pt x="27" y="35"/>
                  </a:cubicBezTo>
                  <a:cubicBezTo>
                    <a:pt x="27" y="36"/>
                    <a:pt x="29" y="37"/>
                    <a:pt x="30" y="37"/>
                  </a:cubicBezTo>
                  <a:cubicBezTo>
                    <a:pt x="30" y="42"/>
                    <a:pt x="30" y="42"/>
                    <a:pt x="30" y="42"/>
                  </a:cubicBezTo>
                  <a:cubicBezTo>
                    <a:pt x="11" y="42"/>
                    <a:pt x="11" y="42"/>
                    <a:pt x="11" y="42"/>
                  </a:cubicBezTo>
                  <a:cubicBezTo>
                    <a:pt x="11" y="37"/>
                    <a:pt x="11" y="37"/>
                    <a:pt x="11" y="37"/>
                  </a:cubicBezTo>
                  <a:cubicBezTo>
                    <a:pt x="12" y="37"/>
                    <a:pt x="14" y="36"/>
                    <a:pt x="14" y="35"/>
                  </a:cubicBezTo>
                  <a:cubicBezTo>
                    <a:pt x="15" y="34"/>
                    <a:pt x="15" y="32"/>
                    <a:pt x="15" y="29"/>
                  </a:cubicBezTo>
                  <a:cubicBezTo>
                    <a:pt x="15" y="6"/>
                    <a:pt x="15" y="6"/>
                    <a:pt x="15" y="6"/>
                  </a:cubicBezTo>
                  <a:cubicBezTo>
                    <a:pt x="15" y="6"/>
                    <a:pt x="15" y="6"/>
                    <a:pt x="15" y="6"/>
                  </a:cubicBezTo>
                  <a:cubicBezTo>
                    <a:pt x="12" y="6"/>
                    <a:pt x="10" y="6"/>
                    <a:pt x="8" y="8"/>
                  </a:cubicBezTo>
                  <a:cubicBezTo>
                    <a:pt x="6" y="9"/>
                    <a:pt x="5" y="11"/>
                    <a:pt x="3" y="14"/>
                  </a:cubicBezTo>
                  <a:cubicBezTo>
                    <a:pt x="0" y="13"/>
                    <a:pt x="0" y="13"/>
                    <a:pt x="0" y="13"/>
                  </a:cubicBezTo>
                  <a:lnTo>
                    <a:pt x="4" y="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2" name="Freeform 55"/>
            <p:cNvSpPr/>
            <p:nvPr/>
          </p:nvSpPr>
          <p:spPr bwMode="auto">
            <a:xfrm>
              <a:off x="2113" y="806"/>
              <a:ext cx="156" cy="165"/>
            </a:xfrm>
            <a:custGeom>
              <a:avLst/>
              <a:gdLst>
                <a:gd name="T0" fmla="*/ 0 w 40"/>
                <a:gd name="T1" fmla="*/ 0 h 42"/>
                <a:gd name="T2" fmla="*/ 33 w 40"/>
                <a:gd name="T3" fmla="*/ 0 h 42"/>
                <a:gd name="T4" fmla="*/ 39 w 40"/>
                <a:gd name="T5" fmla="*/ 13 h 42"/>
                <a:gd name="T6" fmla="*/ 35 w 40"/>
                <a:gd name="T7" fmla="*/ 15 h 42"/>
                <a:gd name="T8" fmla="*/ 28 w 40"/>
                <a:gd name="T9" fmla="*/ 7 h 42"/>
                <a:gd name="T10" fmla="*/ 20 w 40"/>
                <a:gd name="T11" fmla="*/ 5 h 42"/>
                <a:gd name="T12" fmla="*/ 16 w 40"/>
                <a:gd name="T13" fmla="*/ 6 h 42"/>
                <a:gd name="T14" fmla="*/ 15 w 40"/>
                <a:gd name="T15" fmla="*/ 10 h 42"/>
                <a:gd name="T16" fmla="*/ 15 w 40"/>
                <a:gd name="T17" fmla="*/ 16 h 42"/>
                <a:gd name="T18" fmla="*/ 17 w 40"/>
                <a:gd name="T19" fmla="*/ 16 h 42"/>
                <a:gd name="T20" fmla="*/ 22 w 40"/>
                <a:gd name="T21" fmla="*/ 15 h 42"/>
                <a:gd name="T22" fmla="*/ 23 w 40"/>
                <a:gd name="T23" fmla="*/ 10 h 42"/>
                <a:gd name="T24" fmla="*/ 27 w 40"/>
                <a:gd name="T25" fmla="*/ 10 h 42"/>
                <a:gd name="T26" fmla="*/ 27 w 40"/>
                <a:gd name="T27" fmla="*/ 29 h 42"/>
                <a:gd name="T28" fmla="*/ 23 w 40"/>
                <a:gd name="T29" fmla="*/ 29 h 42"/>
                <a:gd name="T30" fmla="*/ 21 w 40"/>
                <a:gd name="T31" fmla="*/ 23 h 42"/>
                <a:gd name="T32" fmla="*/ 17 w 40"/>
                <a:gd name="T33" fmla="*/ 22 h 42"/>
                <a:gd name="T34" fmla="*/ 15 w 40"/>
                <a:gd name="T35" fmla="*/ 22 h 42"/>
                <a:gd name="T36" fmla="*/ 15 w 40"/>
                <a:gd name="T37" fmla="*/ 32 h 42"/>
                <a:gd name="T38" fmla="*/ 16 w 40"/>
                <a:gd name="T39" fmla="*/ 36 h 42"/>
                <a:gd name="T40" fmla="*/ 20 w 40"/>
                <a:gd name="T41" fmla="*/ 37 h 42"/>
                <a:gd name="T42" fmla="*/ 29 w 40"/>
                <a:gd name="T43" fmla="*/ 34 h 42"/>
                <a:gd name="T44" fmla="*/ 37 w 40"/>
                <a:gd name="T45" fmla="*/ 25 h 42"/>
                <a:gd name="T46" fmla="*/ 40 w 40"/>
                <a:gd name="T47" fmla="*/ 27 h 42"/>
                <a:gd name="T48" fmla="*/ 34 w 40"/>
                <a:gd name="T49" fmla="*/ 42 h 42"/>
                <a:gd name="T50" fmla="*/ 0 w 40"/>
                <a:gd name="T51" fmla="*/ 42 h 42"/>
                <a:gd name="T52" fmla="*/ 0 w 40"/>
                <a:gd name="T53" fmla="*/ 37 h 42"/>
                <a:gd name="T54" fmla="*/ 4 w 40"/>
                <a:gd name="T55" fmla="*/ 35 h 42"/>
                <a:gd name="T56" fmla="*/ 5 w 40"/>
                <a:gd name="T57" fmla="*/ 29 h 42"/>
                <a:gd name="T58" fmla="*/ 5 w 40"/>
                <a:gd name="T59" fmla="*/ 13 h 42"/>
                <a:gd name="T60" fmla="*/ 4 w 40"/>
                <a:gd name="T61" fmla="*/ 6 h 42"/>
                <a:gd name="T62" fmla="*/ 0 w 40"/>
                <a:gd name="T63" fmla="*/ 5 h 42"/>
                <a:gd name="T64" fmla="*/ 0 w 40"/>
                <a:gd name="T65"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 h="42">
                  <a:moveTo>
                    <a:pt x="0" y="0"/>
                  </a:moveTo>
                  <a:cubicBezTo>
                    <a:pt x="33" y="0"/>
                    <a:pt x="33" y="0"/>
                    <a:pt x="33" y="0"/>
                  </a:cubicBezTo>
                  <a:cubicBezTo>
                    <a:pt x="39" y="13"/>
                    <a:pt x="39" y="13"/>
                    <a:pt x="39" y="13"/>
                  </a:cubicBezTo>
                  <a:cubicBezTo>
                    <a:pt x="35" y="15"/>
                    <a:pt x="35" y="15"/>
                    <a:pt x="35" y="15"/>
                  </a:cubicBezTo>
                  <a:cubicBezTo>
                    <a:pt x="33" y="11"/>
                    <a:pt x="31" y="9"/>
                    <a:pt x="28" y="7"/>
                  </a:cubicBezTo>
                  <a:cubicBezTo>
                    <a:pt x="26" y="6"/>
                    <a:pt x="23" y="5"/>
                    <a:pt x="20" y="5"/>
                  </a:cubicBezTo>
                  <a:cubicBezTo>
                    <a:pt x="18" y="5"/>
                    <a:pt x="17" y="5"/>
                    <a:pt x="16" y="6"/>
                  </a:cubicBezTo>
                  <a:cubicBezTo>
                    <a:pt x="16" y="7"/>
                    <a:pt x="15" y="8"/>
                    <a:pt x="15" y="10"/>
                  </a:cubicBezTo>
                  <a:cubicBezTo>
                    <a:pt x="15" y="16"/>
                    <a:pt x="15" y="16"/>
                    <a:pt x="15" y="16"/>
                  </a:cubicBezTo>
                  <a:cubicBezTo>
                    <a:pt x="17" y="16"/>
                    <a:pt x="17" y="16"/>
                    <a:pt x="17" y="16"/>
                  </a:cubicBezTo>
                  <a:cubicBezTo>
                    <a:pt x="19" y="16"/>
                    <a:pt x="21" y="16"/>
                    <a:pt x="22" y="15"/>
                  </a:cubicBezTo>
                  <a:cubicBezTo>
                    <a:pt x="22" y="14"/>
                    <a:pt x="23" y="13"/>
                    <a:pt x="23" y="10"/>
                  </a:cubicBezTo>
                  <a:cubicBezTo>
                    <a:pt x="27" y="10"/>
                    <a:pt x="27" y="10"/>
                    <a:pt x="27" y="10"/>
                  </a:cubicBezTo>
                  <a:cubicBezTo>
                    <a:pt x="27" y="29"/>
                    <a:pt x="27" y="29"/>
                    <a:pt x="27" y="29"/>
                  </a:cubicBezTo>
                  <a:cubicBezTo>
                    <a:pt x="23" y="29"/>
                    <a:pt x="23" y="29"/>
                    <a:pt x="23" y="29"/>
                  </a:cubicBezTo>
                  <a:cubicBezTo>
                    <a:pt x="23" y="26"/>
                    <a:pt x="22" y="25"/>
                    <a:pt x="21" y="23"/>
                  </a:cubicBezTo>
                  <a:cubicBezTo>
                    <a:pt x="20" y="22"/>
                    <a:pt x="19" y="22"/>
                    <a:pt x="17" y="22"/>
                  </a:cubicBezTo>
                  <a:cubicBezTo>
                    <a:pt x="15" y="22"/>
                    <a:pt x="15" y="22"/>
                    <a:pt x="15" y="22"/>
                  </a:cubicBezTo>
                  <a:cubicBezTo>
                    <a:pt x="15" y="32"/>
                    <a:pt x="15" y="32"/>
                    <a:pt x="15" y="32"/>
                  </a:cubicBezTo>
                  <a:cubicBezTo>
                    <a:pt x="15" y="34"/>
                    <a:pt x="16" y="35"/>
                    <a:pt x="16" y="36"/>
                  </a:cubicBezTo>
                  <a:cubicBezTo>
                    <a:pt x="17" y="37"/>
                    <a:pt x="18" y="37"/>
                    <a:pt x="20" y="37"/>
                  </a:cubicBezTo>
                  <a:cubicBezTo>
                    <a:pt x="23" y="37"/>
                    <a:pt x="26" y="36"/>
                    <a:pt x="29" y="34"/>
                  </a:cubicBezTo>
                  <a:cubicBezTo>
                    <a:pt x="32" y="32"/>
                    <a:pt x="34" y="29"/>
                    <a:pt x="37" y="25"/>
                  </a:cubicBezTo>
                  <a:cubicBezTo>
                    <a:pt x="40" y="27"/>
                    <a:pt x="40" y="27"/>
                    <a:pt x="40" y="27"/>
                  </a:cubicBezTo>
                  <a:cubicBezTo>
                    <a:pt x="34" y="42"/>
                    <a:pt x="34" y="42"/>
                    <a:pt x="34" y="42"/>
                  </a:cubicBezTo>
                  <a:cubicBezTo>
                    <a:pt x="0" y="42"/>
                    <a:pt x="0" y="42"/>
                    <a:pt x="0" y="42"/>
                  </a:cubicBezTo>
                  <a:cubicBezTo>
                    <a:pt x="0" y="37"/>
                    <a:pt x="0" y="37"/>
                    <a:pt x="0" y="37"/>
                  </a:cubicBezTo>
                  <a:cubicBezTo>
                    <a:pt x="2" y="37"/>
                    <a:pt x="4" y="36"/>
                    <a:pt x="4" y="35"/>
                  </a:cubicBezTo>
                  <a:cubicBezTo>
                    <a:pt x="5" y="35"/>
                    <a:pt x="5" y="32"/>
                    <a:pt x="5" y="29"/>
                  </a:cubicBezTo>
                  <a:cubicBezTo>
                    <a:pt x="5" y="13"/>
                    <a:pt x="5" y="13"/>
                    <a:pt x="5" y="13"/>
                  </a:cubicBezTo>
                  <a:cubicBezTo>
                    <a:pt x="5" y="9"/>
                    <a:pt x="5" y="7"/>
                    <a:pt x="4" y="6"/>
                  </a:cubicBezTo>
                  <a:cubicBezTo>
                    <a:pt x="4" y="6"/>
                    <a:pt x="2" y="5"/>
                    <a:pt x="0" y="5"/>
                  </a:cubicBezTo>
                  <a:lnTo>
                    <a:pt x="0" y="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3" name="Freeform 56"/>
            <p:cNvSpPr/>
            <p:nvPr/>
          </p:nvSpPr>
          <p:spPr bwMode="auto">
            <a:xfrm>
              <a:off x="2355" y="764"/>
              <a:ext cx="202" cy="210"/>
            </a:xfrm>
            <a:custGeom>
              <a:avLst/>
              <a:gdLst>
                <a:gd name="T0" fmla="*/ 36 w 52"/>
                <a:gd name="T1" fmla="*/ 3 h 54"/>
                <a:gd name="T2" fmla="*/ 37 w 52"/>
                <a:gd name="T3" fmla="*/ 1 h 54"/>
                <a:gd name="T4" fmla="*/ 42 w 52"/>
                <a:gd name="T5" fmla="*/ 1 h 54"/>
                <a:gd name="T6" fmla="*/ 46 w 52"/>
                <a:gd name="T7" fmla="*/ 18 h 54"/>
                <a:gd name="T8" fmla="*/ 41 w 52"/>
                <a:gd name="T9" fmla="*/ 20 h 54"/>
                <a:gd name="T10" fmla="*/ 33 w 52"/>
                <a:gd name="T11" fmla="*/ 10 h 54"/>
                <a:gd name="T12" fmla="*/ 25 w 52"/>
                <a:gd name="T13" fmla="*/ 7 h 54"/>
                <a:gd name="T14" fmla="*/ 17 w 52"/>
                <a:gd name="T15" fmla="*/ 12 h 54"/>
                <a:gd name="T16" fmla="*/ 13 w 52"/>
                <a:gd name="T17" fmla="*/ 27 h 54"/>
                <a:gd name="T18" fmla="*/ 16 w 52"/>
                <a:gd name="T19" fmla="*/ 41 h 54"/>
                <a:gd name="T20" fmla="*/ 25 w 52"/>
                <a:gd name="T21" fmla="*/ 46 h 54"/>
                <a:gd name="T22" fmla="*/ 32 w 52"/>
                <a:gd name="T23" fmla="*/ 44 h 54"/>
                <a:gd name="T24" fmla="*/ 35 w 52"/>
                <a:gd name="T25" fmla="*/ 37 h 54"/>
                <a:gd name="T26" fmla="*/ 34 w 52"/>
                <a:gd name="T27" fmla="*/ 33 h 54"/>
                <a:gd name="T28" fmla="*/ 29 w 52"/>
                <a:gd name="T29" fmla="*/ 32 h 54"/>
                <a:gd name="T30" fmla="*/ 29 w 52"/>
                <a:gd name="T31" fmla="*/ 26 h 54"/>
                <a:gd name="T32" fmla="*/ 52 w 52"/>
                <a:gd name="T33" fmla="*/ 26 h 54"/>
                <a:gd name="T34" fmla="*/ 52 w 52"/>
                <a:gd name="T35" fmla="*/ 32 h 54"/>
                <a:gd name="T36" fmla="*/ 47 w 52"/>
                <a:gd name="T37" fmla="*/ 34 h 54"/>
                <a:gd name="T38" fmla="*/ 46 w 52"/>
                <a:gd name="T39" fmla="*/ 40 h 54"/>
                <a:gd name="T40" fmla="*/ 46 w 52"/>
                <a:gd name="T41" fmla="*/ 54 h 54"/>
                <a:gd name="T42" fmla="*/ 39 w 52"/>
                <a:gd name="T43" fmla="*/ 54 h 54"/>
                <a:gd name="T44" fmla="*/ 37 w 52"/>
                <a:gd name="T45" fmla="*/ 49 h 54"/>
                <a:gd name="T46" fmla="*/ 30 w 52"/>
                <a:gd name="T47" fmla="*/ 53 h 54"/>
                <a:gd name="T48" fmla="*/ 22 w 52"/>
                <a:gd name="T49" fmla="*/ 54 h 54"/>
                <a:gd name="T50" fmla="*/ 6 w 52"/>
                <a:gd name="T51" fmla="*/ 47 h 54"/>
                <a:gd name="T52" fmla="*/ 0 w 52"/>
                <a:gd name="T53" fmla="*/ 27 h 54"/>
                <a:gd name="T54" fmla="*/ 7 w 52"/>
                <a:gd name="T55" fmla="*/ 7 h 54"/>
                <a:gd name="T56" fmla="*/ 25 w 52"/>
                <a:gd name="T57" fmla="*/ 0 h 54"/>
                <a:gd name="T58" fmla="*/ 30 w 52"/>
                <a:gd name="T59" fmla="*/ 1 h 54"/>
                <a:gd name="T60" fmla="*/ 36 w 52"/>
                <a:gd name="T61"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2" h="54">
                  <a:moveTo>
                    <a:pt x="36" y="3"/>
                  </a:moveTo>
                  <a:cubicBezTo>
                    <a:pt x="37" y="1"/>
                    <a:pt x="37" y="1"/>
                    <a:pt x="37" y="1"/>
                  </a:cubicBezTo>
                  <a:cubicBezTo>
                    <a:pt x="42" y="1"/>
                    <a:pt x="42" y="1"/>
                    <a:pt x="42" y="1"/>
                  </a:cubicBezTo>
                  <a:cubicBezTo>
                    <a:pt x="46" y="18"/>
                    <a:pt x="46" y="18"/>
                    <a:pt x="46" y="18"/>
                  </a:cubicBezTo>
                  <a:cubicBezTo>
                    <a:pt x="41" y="20"/>
                    <a:pt x="41" y="20"/>
                    <a:pt x="41" y="20"/>
                  </a:cubicBezTo>
                  <a:cubicBezTo>
                    <a:pt x="38" y="16"/>
                    <a:pt x="36" y="12"/>
                    <a:pt x="33" y="10"/>
                  </a:cubicBezTo>
                  <a:cubicBezTo>
                    <a:pt x="31" y="8"/>
                    <a:pt x="28" y="7"/>
                    <a:pt x="25" y="7"/>
                  </a:cubicBezTo>
                  <a:cubicBezTo>
                    <a:pt x="22" y="7"/>
                    <a:pt x="19" y="9"/>
                    <a:pt x="17" y="12"/>
                  </a:cubicBezTo>
                  <a:cubicBezTo>
                    <a:pt x="14" y="16"/>
                    <a:pt x="13" y="20"/>
                    <a:pt x="13" y="27"/>
                  </a:cubicBezTo>
                  <a:cubicBezTo>
                    <a:pt x="13" y="33"/>
                    <a:pt x="14" y="38"/>
                    <a:pt x="16" y="41"/>
                  </a:cubicBezTo>
                  <a:cubicBezTo>
                    <a:pt x="18" y="45"/>
                    <a:pt x="21" y="46"/>
                    <a:pt x="25" y="46"/>
                  </a:cubicBezTo>
                  <a:cubicBezTo>
                    <a:pt x="28" y="46"/>
                    <a:pt x="31" y="45"/>
                    <a:pt x="32" y="44"/>
                  </a:cubicBezTo>
                  <a:cubicBezTo>
                    <a:pt x="34" y="42"/>
                    <a:pt x="35" y="40"/>
                    <a:pt x="35" y="37"/>
                  </a:cubicBezTo>
                  <a:cubicBezTo>
                    <a:pt x="35" y="36"/>
                    <a:pt x="35" y="34"/>
                    <a:pt x="34" y="33"/>
                  </a:cubicBezTo>
                  <a:cubicBezTo>
                    <a:pt x="33" y="33"/>
                    <a:pt x="31" y="32"/>
                    <a:pt x="29" y="32"/>
                  </a:cubicBezTo>
                  <a:cubicBezTo>
                    <a:pt x="29" y="26"/>
                    <a:pt x="29" y="26"/>
                    <a:pt x="29" y="26"/>
                  </a:cubicBezTo>
                  <a:cubicBezTo>
                    <a:pt x="52" y="26"/>
                    <a:pt x="52" y="26"/>
                    <a:pt x="52" y="26"/>
                  </a:cubicBezTo>
                  <a:cubicBezTo>
                    <a:pt x="52" y="32"/>
                    <a:pt x="52" y="32"/>
                    <a:pt x="52" y="32"/>
                  </a:cubicBezTo>
                  <a:cubicBezTo>
                    <a:pt x="50" y="33"/>
                    <a:pt x="48" y="33"/>
                    <a:pt x="47" y="34"/>
                  </a:cubicBezTo>
                  <a:cubicBezTo>
                    <a:pt x="47" y="35"/>
                    <a:pt x="46" y="37"/>
                    <a:pt x="46" y="40"/>
                  </a:cubicBezTo>
                  <a:cubicBezTo>
                    <a:pt x="46" y="54"/>
                    <a:pt x="46" y="54"/>
                    <a:pt x="46" y="54"/>
                  </a:cubicBezTo>
                  <a:cubicBezTo>
                    <a:pt x="39" y="54"/>
                    <a:pt x="39" y="54"/>
                    <a:pt x="39" y="54"/>
                  </a:cubicBezTo>
                  <a:cubicBezTo>
                    <a:pt x="37" y="49"/>
                    <a:pt x="37" y="49"/>
                    <a:pt x="37" y="49"/>
                  </a:cubicBezTo>
                  <a:cubicBezTo>
                    <a:pt x="35" y="51"/>
                    <a:pt x="33" y="52"/>
                    <a:pt x="30" y="53"/>
                  </a:cubicBezTo>
                  <a:cubicBezTo>
                    <a:pt x="28" y="54"/>
                    <a:pt x="25" y="54"/>
                    <a:pt x="22" y="54"/>
                  </a:cubicBezTo>
                  <a:cubicBezTo>
                    <a:pt x="16" y="54"/>
                    <a:pt x="10" y="52"/>
                    <a:pt x="6" y="47"/>
                  </a:cubicBezTo>
                  <a:cubicBezTo>
                    <a:pt x="2" y="42"/>
                    <a:pt x="0" y="35"/>
                    <a:pt x="0" y="27"/>
                  </a:cubicBezTo>
                  <a:cubicBezTo>
                    <a:pt x="0" y="19"/>
                    <a:pt x="2" y="12"/>
                    <a:pt x="7" y="7"/>
                  </a:cubicBezTo>
                  <a:cubicBezTo>
                    <a:pt x="12" y="2"/>
                    <a:pt x="18" y="0"/>
                    <a:pt x="25" y="0"/>
                  </a:cubicBezTo>
                  <a:cubicBezTo>
                    <a:pt x="27" y="0"/>
                    <a:pt x="29" y="0"/>
                    <a:pt x="30" y="1"/>
                  </a:cubicBezTo>
                  <a:cubicBezTo>
                    <a:pt x="32" y="1"/>
                    <a:pt x="34" y="2"/>
                    <a:pt x="36" y="3"/>
                  </a:cubicBez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4" name="Freeform 57"/>
            <p:cNvSpPr>
              <a:spLocks noEditPoints="1"/>
            </p:cNvSpPr>
            <p:nvPr/>
          </p:nvSpPr>
          <p:spPr bwMode="auto">
            <a:xfrm>
              <a:off x="2552" y="806"/>
              <a:ext cx="175" cy="165"/>
            </a:xfrm>
            <a:custGeom>
              <a:avLst/>
              <a:gdLst>
                <a:gd name="T0" fmla="*/ 15 w 45"/>
                <a:gd name="T1" fmla="*/ 10 h 42"/>
                <a:gd name="T2" fmla="*/ 16 w 45"/>
                <a:gd name="T3" fmla="*/ 6 h 42"/>
                <a:gd name="T4" fmla="*/ 20 w 45"/>
                <a:gd name="T5" fmla="*/ 5 h 42"/>
                <a:gd name="T6" fmla="*/ 26 w 45"/>
                <a:gd name="T7" fmla="*/ 7 h 42"/>
                <a:gd name="T8" fmla="*/ 29 w 45"/>
                <a:gd name="T9" fmla="*/ 12 h 42"/>
                <a:gd name="T10" fmla="*/ 26 w 45"/>
                <a:gd name="T11" fmla="*/ 17 h 42"/>
                <a:gd name="T12" fmla="*/ 17 w 45"/>
                <a:gd name="T13" fmla="*/ 18 h 42"/>
                <a:gd name="T14" fmla="*/ 16 w 45"/>
                <a:gd name="T15" fmla="*/ 18 h 42"/>
                <a:gd name="T16" fmla="*/ 15 w 45"/>
                <a:gd name="T17" fmla="*/ 18 h 42"/>
                <a:gd name="T18" fmla="*/ 15 w 45"/>
                <a:gd name="T19" fmla="*/ 10 h 42"/>
                <a:gd name="T20" fmla="*/ 0 w 45"/>
                <a:gd name="T21" fmla="*/ 5 h 42"/>
                <a:gd name="T22" fmla="*/ 4 w 45"/>
                <a:gd name="T23" fmla="*/ 7 h 42"/>
                <a:gd name="T24" fmla="*/ 5 w 45"/>
                <a:gd name="T25" fmla="*/ 13 h 42"/>
                <a:gd name="T26" fmla="*/ 5 w 45"/>
                <a:gd name="T27" fmla="*/ 29 h 42"/>
                <a:gd name="T28" fmla="*/ 4 w 45"/>
                <a:gd name="T29" fmla="*/ 35 h 42"/>
                <a:gd name="T30" fmla="*/ 0 w 45"/>
                <a:gd name="T31" fmla="*/ 37 h 42"/>
                <a:gd name="T32" fmla="*/ 0 w 45"/>
                <a:gd name="T33" fmla="*/ 42 h 42"/>
                <a:gd name="T34" fmla="*/ 20 w 45"/>
                <a:gd name="T35" fmla="*/ 42 h 42"/>
                <a:gd name="T36" fmla="*/ 20 w 45"/>
                <a:gd name="T37" fmla="*/ 37 h 42"/>
                <a:gd name="T38" fmla="*/ 16 w 45"/>
                <a:gd name="T39" fmla="*/ 35 h 42"/>
                <a:gd name="T40" fmla="*/ 15 w 45"/>
                <a:gd name="T41" fmla="*/ 29 h 42"/>
                <a:gd name="T42" fmla="*/ 15 w 45"/>
                <a:gd name="T43" fmla="*/ 24 h 42"/>
                <a:gd name="T44" fmla="*/ 19 w 45"/>
                <a:gd name="T45" fmla="*/ 24 h 42"/>
                <a:gd name="T46" fmla="*/ 32 w 45"/>
                <a:gd name="T47" fmla="*/ 42 h 42"/>
                <a:gd name="T48" fmla="*/ 45 w 45"/>
                <a:gd name="T49" fmla="*/ 42 h 42"/>
                <a:gd name="T50" fmla="*/ 45 w 45"/>
                <a:gd name="T51" fmla="*/ 37 h 42"/>
                <a:gd name="T52" fmla="*/ 41 w 45"/>
                <a:gd name="T53" fmla="*/ 36 h 42"/>
                <a:gd name="T54" fmla="*/ 38 w 45"/>
                <a:gd name="T55" fmla="*/ 33 h 42"/>
                <a:gd name="T56" fmla="*/ 30 w 45"/>
                <a:gd name="T57" fmla="*/ 23 h 42"/>
                <a:gd name="T58" fmla="*/ 37 w 45"/>
                <a:gd name="T59" fmla="*/ 18 h 42"/>
                <a:gd name="T60" fmla="*/ 39 w 45"/>
                <a:gd name="T61" fmla="*/ 11 h 42"/>
                <a:gd name="T62" fmla="*/ 35 w 45"/>
                <a:gd name="T63" fmla="*/ 3 h 42"/>
                <a:gd name="T64" fmla="*/ 23 w 45"/>
                <a:gd name="T65" fmla="*/ 0 h 42"/>
                <a:gd name="T66" fmla="*/ 0 w 45"/>
                <a:gd name="T67" fmla="*/ 0 h 42"/>
                <a:gd name="T68" fmla="*/ 0 w 45"/>
                <a:gd name="T69"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5" h="42">
                  <a:moveTo>
                    <a:pt x="15" y="10"/>
                  </a:moveTo>
                  <a:cubicBezTo>
                    <a:pt x="15" y="8"/>
                    <a:pt x="15" y="7"/>
                    <a:pt x="16" y="6"/>
                  </a:cubicBezTo>
                  <a:cubicBezTo>
                    <a:pt x="17" y="6"/>
                    <a:pt x="18" y="5"/>
                    <a:pt x="20" y="5"/>
                  </a:cubicBezTo>
                  <a:cubicBezTo>
                    <a:pt x="22" y="5"/>
                    <a:pt x="25" y="6"/>
                    <a:pt x="26" y="7"/>
                  </a:cubicBezTo>
                  <a:cubicBezTo>
                    <a:pt x="28" y="8"/>
                    <a:pt x="29" y="10"/>
                    <a:pt x="29" y="12"/>
                  </a:cubicBezTo>
                  <a:cubicBezTo>
                    <a:pt x="29" y="14"/>
                    <a:pt x="28" y="15"/>
                    <a:pt x="26" y="17"/>
                  </a:cubicBezTo>
                  <a:cubicBezTo>
                    <a:pt x="24" y="18"/>
                    <a:pt x="21" y="18"/>
                    <a:pt x="17" y="18"/>
                  </a:cubicBezTo>
                  <a:cubicBezTo>
                    <a:pt x="17" y="18"/>
                    <a:pt x="16" y="18"/>
                    <a:pt x="16" y="18"/>
                  </a:cubicBezTo>
                  <a:cubicBezTo>
                    <a:pt x="16" y="18"/>
                    <a:pt x="15" y="18"/>
                    <a:pt x="15" y="18"/>
                  </a:cubicBezTo>
                  <a:lnTo>
                    <a:pt x="15" y="10"/>
                  </a:lnTo>
                  <a:close/>
                  <a:moveTo>
                    <a:pt x="0" y="5"/>
                  </a:moveTo>
                  <a:cubicBezTo>
                    <a:pt x="2" y="5"/>
                    <a:pt x="3" y="6"/>
                    <a:pt x="4" y="7"/>
                  </a:cubicBezTo>
                  <a:cubicBezTo>
                    <a:pt x="4" y="7"/>
                    <a:pt x="5" y="10"/>
                    <a:pt x="5" y="13"/>
                  </a:cubicBezTo>
                  <a:cubicBezTo>
                    <a:pt x="5" y="29"/>
                    <a:pt x="5" y="29"/>
                    <a:pt x="5" y="29"/>
                  </a:cubicBezTo>
                  <a:cubicBezTo>
                    <a:pt x="5" y="32"/>
                    <a:pt x="4" y="34"/>
                    <a:pt x="4" y="35"/>
                  </a:cubicBezTo>
                  <a:cubicBezTo>
                    <a:pt x="3" y="36"/>
                    <a:pt x="2" y="37"/>
                    <a:pt x="0" y="37"/>
                  </a:cubicBezTo>
                  <a:cubicBezTo>
                    <a:pt x="0" y="42"/>
                    <a:pt x="0" y="42"/>
                    <a:pt x="0" y="42"/>
                  </a:cubicBezTo>
                  <a:cubicBezTo>
                    <a:pt x="20" y="42"/>
                    <a:pt x="20" y="42"/>
                    <a:pt x="20" y="42"/>
                  </a:cubicBezTo>
                  <a:cubicBezTo>
                    <a:pt x="20" y="37"/>
                    <a:pt x="20" y="37"/>
                    <a:pt x="20" y="37"/>
                  </a:cubicBezTo>
                  <a:cubicBezTo>
                    <a:pt x="18" y="37"/>
                    <a:pt x="17" y="36"/>
                    <a:pt x="16" y="35"/>
                  </a:cubicBezTo>
                  <a:cubicBezTo>
                    <a:pt x="15" y="34"/>
                    <a:pt x="15" y="32"/>
                    <a:pt x="15" y="29"/>
                  </a:cubicBezTo>
                  <a:cubicBezTo>
                    <a:pt x="15" y="24"/>
                    <a:pt x="15" y="24"/>
                    <a:pt x="15" y="24"/>
                  </a:cubicBezTo>
                  <a:cubicBezTo>
                    <a:pt x="19" y="24"/>
                    <a:pt x="19" y="24"/>
                    <a:pt x="19" y="24"/>
                  </a:cubicBezTo>
                  <a:cubicBezTo>
                    <a:pt x="32" y="42"/>
                    <a:pt x="32" y="42"/>
                    <a:pt x="32" y="42"/>
                  </a:cubicBezTo>
                  <a:cubicBezTo>
                    <a:pt x="45" y="42"/>
                    <a:pt x="45" y="42"/>
                    <a:pt x="45" y="42"/>
                  </a:cubicBezTo>
                  <a:cubicBezTo>
                    <a:pt x="45" y="37"/>
                    <a:pt x="45" y="37"/>
                    <a:pt x="45" y="37"/>
                  </a:cubicBezTo>
                  <a:cubicBezTo>
                    <a:pt x="43" y="37"/>
                    <a:pt x="42" y="36"/>
                    <a:pt x="41" y="36"/>
                  </a:cubicBezTo>
                  <a:cubicBezTo>
                    <a:pt x="40" y="35"/>
                    <a:pt x="39" y="34"/>
                    <a:pt x="38" y="33"/>
                  </a:cubicBezTo>
                  <a:cubicBezTo>
                    <a:pt x="30" y="23"/>
                    <a:pt x="30" y="23"/>
                    <a:pt x="30" y="23"/>
                  </a:cubicBezTo>
                  <a:cubicBezTo>
                    <a:pt x="33" y="22"/>
                    <a:pt x="35" y="20"/>
                    <a:pt x="37" y="18"/>
                  </a:cubicBezTo>
                  <a:cubicBezTo>
                    <a:pt x="38" y="17"/>
                    <a:pt x="39" y="14"/>
                    <a:pt x="39" y="11"/>
                  </a:cubicBezTo>
                  <a:cubicBezTo>
                    <a:pt x="39" y="8"/>
                    <a:pt x="38" y="5"/>
                    <a:pt x="35" y="3"/>
                  </a:cubicBezTo>
                  <a:cubicBezTo>
                    <a:pt x="32" y="1"/>
                    <a:pt x="28" y="0"/>
                    <a:pt x="23" y="0"/>
                  </a:cubicBezTo>
                  <a:cubicBezTo>
                    <a:pt x="0" y="0"/>
                    <a:pt x="0" y="0"/>
                    <a:pt x="0" y="0"/>
                  </a:cubicBezTo>
                  <a:lnTo>
                    <a:pt x="0" y="5"/>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5" name="Freeform 58"/>
            <p:cNvSpPr/>
            <p:nvPr/>
          </p:nvSpPr>
          <p:spPr bwMode="auto">
            <a:xfrm>
              <a:off x="2720" y="806"/>
              <a:ext cx="77" cy="165"/>
            </a:xfrm>
            <a:custGeom>
              <a:avLst/>
              <a:gdLst>
                <a:gd name="T0" fmla="*/ 0 w 20"/>
                <a:gd name="T1" fmla="*/ 0 h 42"/>
                <a:gd name="T2" fmla="*/ 20 w 20"/>
                <a:gd name="T3" fmla="*/ 0 h 42"/>
                <a:gd name="T4" fmla="*/ 20 w 20"/>
                <a:gd name="T5" fmla="*/ 5 h 42"/>
                <a:gd name="T6" fmla="*/ 16 w 20"/>
                <a:gd name="T7" fmla="*/ 7 h 42"/>
                <a:gd name="T8" fmla="*/ 15 w 20"/>
                <a:gd name="T9" fmla="*/ 13 h 42"/>
                <a:gd name="T10" fmla="*/ 15 w 20"/>
                <a:gd name="T11" fmla="*/ 29 h 42"/>
                <a:gd name="T12" fmla="*/ 16 w 20"/>
                <a:gd name="T13" fmla="*/ 35 h 42"/>
                <a:gd name="T14" fmla="*/ 20 w 20"/>
                <a:gd name="T15" fmla="*/ 37 h 42"/>
                <a:gd name="T16" fmla="*/ 20 w 20"/>
                <a:gd name="T17" fmla="*/ 42 h 42"/>
                <a:gd name="T18" fmla="*/ 0 w 20"/>
                <a:gd name="T19" fmla="*/ 42 h 42"/>
                <a:gd name="T20" fmla="*/ 0 w 20"/>
                <a:gd name="T21" fmla="*/ 37 h 42"/>
                <a:gd name="T22" fmla="*/ 4 w 20"/>
                <a:gd name="T23" fmla="*/ 35 h 42"/>
                <a:gd name="T24" fmla="*/ 5 w 20"/>
                <a:gd name="T25" fmla="*/ 29 h 42"/>
                <a:gd name="T26" fmla="*/ 5 w 20"/>
                <a:gd name="T27" fmla="*/ 13 h 42"/>
                <a:gd name="T28" fmla="*/ 4 w 20"/>
                <a:gd name="T29" fmla="*/ 7 h 42"/>
                <a:gd name="T30" fmla="*/ 0 w 20"/>
                <a:gd name="T31" fmla="*/ 5 h 42"/>
                <a:gd name="T32" fmla="*/ 0 w 20"/>
                <a:gd name="T3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 h="42">
                  <a:moveTo>
                    <a:pt x="0" y="0"/>
                  </a:moveTo>
                  <a:cubicBezTo>
                    <a:pt x="20" y="0"/>
                    <a:pt x="20" y="0"/>
                    <a:pt x="20" y="0"/>
                  </a:cubicBezTo>
                  <a:cubicBezTo>
                    <a:pt x="20" y="5"/>
                    <a:pt x="20" y="5"/>
                    <a:pt x="20" y="5"/>
                  </a:cubicBezTo>
                  <a:cubicBezTo>
                    <a:pt x="18" y="5"/>
                    <a:pt x="17" y="6"/>
                    <a:pt x="16" y="7"/>
                  </a:cubicBezTo>
                  <a:cubicBezTo>
                    <a:pt x="16" y="8"/>
                    <a:pt x="15" y="10"/>
                    <a:pt x="15" y="13"/>
                  </a:cubicBezTo>
                  <a:cubicBezTo>
                    <a:pt x="15" y="29"/>
                    <a:pt x="15" y="29"/>
                    <a:pt x="15" y="29"/>
                  </a:cubicBezTo>
                  <a:cubicBezTo>
                    <a:pt x="15" y="32"/>
                    <a:pt x="16" y="34"/>
                    <a:pt x="16" y="35"/>
                  </a:cubicBezTo>
                  <a:cubicBezTo>
                    <a:pt x="17" y="36"/>
                    <a:pt x="18" y="37"/>
                    <a:pt x="20" y="37"/>
                  </a:cubicBezTo>
                  <a:cubicBezTo>
                    <a:pt x="20" y="42"/>
                    <a:pt x="20" y="42"/>
                    <a:pt x="20" y="42"/>
                  </a:cubicBezTo>
                  <a:cubicBezTo>
                    <a:pt x="0" y="42"/>
                    <a:pt x="0" y="42"/>
                    <a:pt x="0" y="42"/>
                  </a:cubicBezTo>
                  <a:cubicBezTo>
                    <a:pt x="0" y="37"/>
                    <a:pt x="0" y="37"/>
                    <a:pt x="0" y="37"/>
                  </a:cubicBezTo>
                  <a:cubicBezTo>
                    <a:pt x="2" y="37"/>
                    <a:pt x="3" y="36"/>
                    <a:pt x="4" y="35"/>
                  </a:cubicBezTo>
                  <a:cubicBezTo>
                    <a:pt x="4" y="34"/>
                    <a:pt x="5" y="32"/>
                    <a:pt x="5" y="29"/>
                  </a:cubicBezTo>
                  <a:cubicBezTo>
                    <a:pt x="5" y="13"/>
                    <a:pt x="5" y="13"/>
                    <a:pt x="5" y="13"/>
                  </a:cubicBezTo>
                  <a:cubicBezTo>
                    <a:pt x="5" y="10"/>
                    <a:pt x="4" y="7"/>
                    <a:pt x="4" y="7"/>
                  </a:cubicBezTo>
                  <a:cubicBezTo>
                    <a:pt x="3" y="6"/>
                    <a:pt x="2" y="5"/>
                    <a:pt x="0" y="5"/>
                  </a:cubicBezTo>
                  <a:lnTo>
                    <a:pt x="0" y="0"/>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6" name="Freeform 59"/>
            <p:cNvSpPr>
              <a:spLocks noEditPoints="1"/>
            </p:cNvSpPr>
            <p:nvPr/>
          </p:nvSpPr>
          <p:spPr bwMode="auto">
            <a:xfrm>
              <a:off x="2804" y="806"/>
              <a:ext cx="168" cy="165"/>
            </a:xfrm>
            <a:custGeom>
              <a:avLst/>
              <a:gdLst>
                <a:gd name="T0" fmla="*/ 15 w 43"/>
                <a:gd name="T1" fmla="*/ 10 h 42"/>
                <a:gd name="T2" fmla="*/ 16 w 43"/>
                <a:gd name="T3" fmla="*/ 6 h 42"/>
                <a:gd name="T4" fmla="*/ 19 w 43"/>
                <a:gd name="T5" fmla="*/ 5 h 42"/>
                <a:gd name="T6" fmla="*/ 28 w 43"/>
                <a:gd name="T7" fmla="*/ 9 h 42"/>
                <a:gd name="T8" fmla="*/ 32 w 43"/>
                <a:gd name="T9" fmla="*/ 21 h 42"/>
                <a:gd name="T10" fmla="*/ 28 w 43"/>
                <a:gd name="T11" fmla="*/ 33 h 42"/>
                <a:gd name="T12" fmla="*/ 19 w 43"/>
                <a:gd name="T13" fmla="*/ 37 h 42"/>
                <a:gd name="T14" fmla="*/ 16 w 43"/>
                <a:gd name="T15" fmla="*/ 36 h 42"/>
                <a:gd name="T16" fmla="*/ 15 w 43"/>
                <a:gd name="T17" fmla="*/ 32 h 42"/>
                <a:gd name="T18" fmla="*/ 15 w 43"/>
                <a:gd name="T19" fmla="*/ 10 h 42"/>
                <a:gd name="T20" fmla="*/ 0 w 43"/>
                <a:gd name="T21" fmla="*/ 5 h 42"/>
                <a:gd name="T22" fmla="*/ 4 w 43"/>
                <a:gd name="T23" fmla="*/ 6 h 42"/>
                <a:gd name="T24" fmla="*/ 5 w 43"/>
                <a:gd name="T25" fmla="*/ 13 h 42"/>
                <a:gd name="T26" fmla="*/ 5 w 43"/>
                <a:gd name="T27" fmla="*/ 29 h 42"/>
                <a:gd name="T28" fmla="*/ 4 w 43"/>
                <a:gd name="T29" fmla="*/ 35 h 42"/>
                <a:gd name="T30" fmla="*/ 0 w 43"/>
                <a:gd name="T31" fmla="*/ 37 h 42"/>
                <a:gd name="T32" fmla="*/ 0 w 43"/>
                <a:gd name="T33" fmla="*/ 42 h 42"/>
                <a:gd name="T34" fmla="*/ 20 w 43"/>
                <a:gd name="T35" fmla="*/ 42 h 42"/>
                <a:gd name="T36" fmla="*/ 37 w 43"/>
                <a:gd name="T37" fmla="*/ 37 h 42"/>
                <a:gd name="T38" fmla="*/ 43 w 43"/>
                <a:gd name="T39" fmla="*/ 21 h 42"/>
                <a:gd name="T40" fmla="*/ 37 w 43"/>
                <a:gd name="T41" fmla="*/ 5 h 42"/>
                <a:gd name="T42" fmla="*/ 20 w 43"/>
                <a:gd name="T43" fmla="*/ 0 h 42"/>
                <a:gd name="T44" fmla="*/ 0 w 43"/>
                <a:gd name="T45" fmla="*/ 0 h 42"/>
                <a:gd name="T46" fmla="*/ 0 w 43"/>
                <a:gd name="T47"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3" h="42">
                  <a:moveTo>
                    <a:pt x="15" y="10"/>
                  </a:moveTo>
                  <a:cubicBezTo>
                    <a:pt x="15" y="8"/>
                    <a:pt x="15" y="7"/>
                    <a:pt x="16" y="6"/>
                  </a:cubicBezTo>
                  <a:cubicBezTo>
                    <a:pt x="16" y="5"/>
                    <a:pt x="18" y="5"/>
                    <a:pt x="19" y="5"/>
                  </a:cubicBezTo>
                  <a:cubicBezTo>
                    <a:pt x="23" y="5"/>
                    <a:pt x="26" y="7"/>
                    <a:pt x="28" y="9"/>
                  </a:cubicBezTo>
                  <a:cubicBezTo>
                    <a:pt x="31" y="12"/>
                    <a:pt x="32" y="16"/>
                    <a:pt x="32" y="21"/>
                  </a:cubicBezTo>
                  <a:cubicBezTo>
                    <a:pt x="32" y="26"/>
                    <a:pt x="31" y="30"/>
                    <a:pt x="28" y="33"/>
                  </a:cubicBezTo>
                  <a:cubicBezTo>
                    <a:pt x="26" y="35"/>
                    <a:pt x="23" y="37"/>
                    <a:pt x="19" y="37"/>
                  </a:cubicBezTo>
                  <a:cubicBezTo>
                    <a:pt x="18" y="37"/>
                    <a:pt x="16" y="36"/>
                    <a:pt x="16" y="36"/>
                  </a:cubicBezTo>
                  <a:cubicBezTo>
                    <a:pt x="15" y="35"/>
                    <a:pt x="15" y="34"/>
                    <a:pt x="15" y="32"/>
                  </a:cubicBezTo>
                  <a:lnTo>
                    <a:pt x="15" y="10"/>
                  </a:lnTo>
                  <a:close/>
                  <a:moveTo>
                    <a:pt x="0" y="5"/>
                  </a:moveTo>
                  <a:cubicBezTo>
                    <a:pt x="2" y="5"/>
                    <a:pt x="3" y="6"/>
                    <a:pt x="4" y="6"/>
                  </a:cubicBezTo>
                  <a:cubicBezTo>
                    <a:pt x="4" y="7"/>
                    <a:pt x="5" y="9"/>
                    <a:pt x="5" y="13"/>
                  </a:cubicBezTo>
                  <a:cubicBezTo>
                    <a:pt x="5" y="29"/>
                    <a:pt x="5" y="29"/>
                    <a:pt x="5" y="29"/>
                  </a:cubicBezTo>
                  <a:cubicBezTo>
                    <a:pt x="5" y="32"/>
                    <a:pt x="4" y="35"/>
                    <a:pt x="4" y="35"/>
                  </a:cubicBezTo>
                  <a:cubicBezTo>
                    <a:pt x="3" y="36"/>
                    <a:pt x="2" y="37"/>
                    <a:pt x="0" y="37"/>
                  </a:cubicBezTo>
                  <a:cubicBezTo>
                    <a:pt x="0" y="42"/>
                    <a:pt x="0" y="42"/>
                    <a:pt x="0" y="42"/>
                  </a:cubicBezTo>
                  <a:cubicBezTo>
                    <a:pt x="20" y="42"/>
                    <a:pt x="20" y="42"/>
                    <a:pt x="20" y="42"/>
                  </a:cubicBezTo>
                  <a:cubicBezTo>
                    <a:pt x="27" y="42"/>
                    <a:pt x="33" y="40"/>
                    <a:pt x="37" y="37"/>
                  </a:cubicBezTo>
                  <a:cubicBezTo>
                    <a:pt x="41" y="33"/>
                    <a:pt x="43" y="28"/>
                    <a:pt x="43" y="21"/>
                  </a:cubicBezTo>
                  <a:cubicBezTo>
                    <a:pt x="43" y="14"/>
                    <a:pt x="41" y="9"/>
                    <a:pt x="37" y="5"/>
                  </a:cubicBezTo>
                  <a:cubicBezTo>
                    <a:pt x="33" y="2"/>
                    <a:pt x="27" y="0"/>
                    <a:pt x="20" y="0"/>
                  </a:cubicBezTo>
                  <a:cubicBezTo>
                    <a:pt x="0" y="0"/>
                    <a:pt x="0" y="0"/>
                    <a:pt x="0" y="0"/>
                  </a:cubicBezTo>
                  <a:lnTo>
                    <a:pt x="0" y="5"/>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7" name="Freeform 60"/>
            <p:cNvSpPr>
              <a:spLocks noEditPoints="1"/>
            </p:cNvSpPr>
            <p:nvPr/>
          </p:nvSpPr>
          <p:spPr bwMode="auto">
            <a:xfrm>
              <a:off x="1530" y="384"/>
              <a:ext cx="311" cy="348"/>
            </a:xfrm>
            <a:custGeom>
              <a:avLst/>
              <a:gdLst>
                <a:gd name="T0" fmla="*/ 46 w 80"/>
                <a:gd name="T1" fmla="*/ 60 h 89"/>
                <a:gd name="T2" fmla="*/ 46 w 80"/>
                <a:gd name="T3" fmla="*/ 47 h 89"/>
                <a:gd name="T4" fmla="*/ 52 w 80"/>
                <a:gd name="T5" fmla="*/ 47 h 89"/>
                <a:gd name="T6" fmla="*/ 47 w 80"/>
                <a:gd name="T7" fmla="*/ 52 h 89"/>
                <a:gd name="T8" fmla="*/ 53 w 80"/>
                <a:gd name="T9" fmla="*/ 57 h 89"/>
                <a:gd name="T10" fmla="*/ 55 w 80"/>
                <a:gd name="T11" fmla="*/ 60 h 89"/>
                <a:gd name="T12" fmla="*/ 46 w 80"/>
                <a:gd name="T13" fmla="*/ 60 h 89"/>
                <a:gd name="T14" fmla="*/ 13 w 80"/>
                <a:gd name="T15" fmla="*/ 71 h 89"/>
                <a:gd name="T16" fmla="*/ 21 w 80"/>
                <a:gd name="T17" fmla="*/ 70 h 89"/>
                <a:gd name="T18" fmla="*/ 58 w 80"/>
                <a:gd name="T19" fmla="*/ 70 h 89"/>
                <a:gd name="T20" fmla="*/ 67 w 80"/>
                <a:gd name="T21" fmla="*/ 71 h 89"/>
                <a:gd name="T22" fmla="*/ 67 w 80"/>
                <a:gd name="T23" fmla="*/ 60 h 89"/>
                <a:gd name="T24" fmla="*/ 60 w 80"/>
                <a:gd name="T25" fmla="*/ 60 h 89"/>
                <a:gd name="T26" fmla="*/ 65 w 80"/>
                <a:gd name="T27" fmla="*/ 55 h 89"/>
                <a:gd name="T28" fmla="*/ 62 w 80"/>
                <a:gd name="T29" fmla="*/ 53 h 89"/>
                <a:gd name="T30" fmla="*/ 59 w 80"/>
                <a:gd name="T31" fmla="*/ 50 h 89"/>
                <a:gd name="T32" fmla="*/ 57 w 80"/>
                <a:gd name="T33" fmla="*/ 47 h 89"/>
                <a:gd name="T34" fmla="*/ 64 w 80"/>
                <a:gd name="T35" fmla="*/ 47 h 89"/>
                <a:gd name="T36" fmla="*/ 64 w 80"/>
                <a:gd name="T37" fmla="*/ 37 h 89"/>
                <a:gd name="T38" fmla="*/ 58 w 80"/>
                <a:gd name="T39" fmla="*/ 37 h 89"/>
                <a:gd name="T40" fmla="*/ 46 w 80"/>
                <a:gd name="T41" fmla="*/ 37 h 89"/>
                <a:gd name="T42" fmla="*/ 46 w 80"/>
                <a:gd name="T43" fmla="*/ 27 h 89"/>
                <a:gd name="T44" fmla="*/ 58 w 80"/>
                <a:gd name="T45" fmla="*/ 27 h 89"/>
                <a:gd name="T46" fmla="*/ 66 w 80"/>
                <a:gd name="T47" fmla="*/ 28 h 89"/>
                <a:gd name="T48" fmla="*/ 66 w 80"/>
                <a:gd name="T49" fmla="*/ 17 h 89"/>
                <a:gd name="T50" fmla="*/ 58 w 80"/>
                <a:gd name="T51" fmla="*/ 17 h 89"/>
                <a:gd name="T52" fmla="*/ 22 w 80"/>
                <a:gd name="T53" fmla="*/ 17 h 89"/>
                <a:gd name="T54" fmla="*/ 14 w 80"/>
                <a:gd name="T55" fmla="*/ 17 h 89"/>
                <a:gd name="T56" fmla="*/ 14 w 80"/>
                <a:gd name="T57" fmla="*/ 27 h 89"/>
                <a:gd name="T58" fmla="*/ 22 w 80"/>
                <a:gd name="T59" fmla="*/ 27 h 89"/>
                <a:gd name="T60" fmla="*/ 35 w 80"/>
                <a:gd name="T61" fmla="*/ 27 h 89"/>
                <a:gd name="T62" fmla="*/ 35 w 80"/>
                <a:gd name="T63" fmla="*/ 37 h 89"/>
                <a:gd name="T64" fmla="*/ 25 w 80"/>
                <a:gd name="T65" fmla="*/ 37 h 89"/>
                <a:gd name="T66" fmla="*/ 17 w 80"/>
                <a:gd name="T67" fmla="*/ 37 h 89"/>
                <a:gd name="T68" fmla="*/ 17 w 80"/>
                <a:gd name="T69" fmla="*/ 47 h 89"/>
                <a:gd name="T70" fmla="*/ 25 w 80"/>
                <a:gd name="T71" fmla="*/ 47 h 89"/>
                <a:gd name="T72" fmla="*/ 35 w 80"/>
                <a:gd name="T73" fmla="*/ 47 h 89"/>
                <a:gd name="T74" fmla="*/ 35 w 80"/>
                <a:gd name="T75" fmla="*/ 60 h 89"/>
                <a:gd name="T76" fmla="*/ 21 w 80"/>
                <a:gd name="T77" fmla="*/ 60 h 89"/>
                <a:gd name="T78" fmla="*/ 13 w 80"/>
                <a:gd name="T79" fmla="*/ 60 h 89"/>
                <a:gd name="T80" fmla="*/ 13 w 80"/>
                <a:gd name="T81" fmla="*/ 71 h 89"/>
                <a:gd name="T82" fmla="*/ 0 w 80"/>
                <a:gd name="T83" fmla="*/ 11 h 89"/>
                <a:gd name="T84" fmla="*/ 0 w 80"/>
                <a:gd name="T85" fmla="*/ 77 h 89"/>
                <a:gd name="T86" fmla="*/ 0 w 80"/>
                <a:gd name="T87" fmla="*/ 88 h 89"/>
                <a:gd name="T88" fmla="*/ 11 w 80"/>
                <a:gd name="T89" fmla="*/ 88 h 89"/>
                <a:gd name="T90" fmla="*/ 11 w 80"/>
                <a:gd name="T91" fmla="*/ 87 h 89"/>
                <a:gd name="T92" fmla="*/ 69 w 80"/>
                <a:gd name="T93" fmla="*/ 87 h 89"/>
                <a:gd name="T94" fmla="*/ 69 w 80"/>
                <a:gd name="T95" fmla="*/ 89 h 89"/>
                <a:gd name="T96" fmla="*/ 80 w 80"/>
                <a:gd name="T97" fmla="*/ 89 h 89"/>
                <a:gd name="T98" fmla="*/ 80 w 80"/>
                <a:gd name="T99" fmla="*/ 78 h 89"/>
                <a:gd name="T100" fmla="*/ 80 w 80"/>
                <a:gd name="T101" fmla="*/ 11 h 89"/>
                <a:gd name="T102" fmla="*/ 80 w 80"/>
                <a:gd name="T103" fmla="*/ 0 h 89"/>
                <a:gd name="T104" fmla="*/ 71 w 80"/>
                <a:gd name="T105" fmla="*/ 0 h 89"/>
                <a:gd name="T106" fmla="*/ 9 w 80"/>
                <a:gd name="T107" fmla="*/ 0 h 89"/>
                <a:gd name="T108" fmla="*/ 0 w 80"/>
                <a:gd name="T109" fmla="*/ 0 h 89"/>
                <a:gd name="T110" fmla="*/ 0 w 80"/>
                <a:gd name="T111" fmla="*/ 11 h 89"/>
                <a:gd name="T112" fmla="*/ 11 w 80"/>
                <a:gd name="T113" fmla="*/ 11 h 89"/>
                <a:gd name="T114" fmla="*/ 69 w 80"/>
                <a:gd name="T115" fmla="*/ 11 h 89"/>
                <a:gd name="T116" fmla="*/ 69 w 80"/>
                <a:gd name="T117" fmla="*/ 76 h 89"/>
                <a:gd name="T118" fmla="*/ 11 w 80"/>
                <a:gd name="T119" fmla="*/ 76 h 89"/>
                <a:gd name="T120" fmla="*/ 11 w 80"/>
                <a:gd name="T121"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0" h="89">
                  <a:moveTo>
                    <a:pt x="46" y="60"/>
                  </a:moveTo>
                  <a:cubicBezTo>
                    <a:pt x="46" y="47"/>
                    <a:pt x="46" y="47"/>
                    <a:pt x="46" y="47"/>
                  </a:cubicBezTo>
                  <a:cubicBezTo>
                    <a:pt x="52" y="47"/>
                    <a:pt x="52" y="47"/>
                    <a:pt x="52" y="47"/>
                  </a:cubicBezTo>
                  <a:cubicBezTo>
                    <a:pt x="51" y="49"/>
                    <a:pt x="49" y="50"/>
                    <a:pt x="47" y="52"/>
                  </a:cubicBezTo>
                  <a:cubicBezTo>
                    <a:pt x="50" y="54"/>
                    <a:pt x="52" y="56"/>
                    <a:pt x="53" y="57"/>
                  </a:cubicBezTo>
                  <a:cubicBezTo>
                    <a:pt x="54" y="59"/>
                    <a:pt x="55" y="59"/>
                    <a:pt x="55" y="60"/>
                  </a:cubicBezTo>
                  <a:lnTo>
                    <a:pt x="46" y="60"/>
                  </a:lnTo>
                  <a:close/>
                  <a:moveTo>
                    <a:pt x="13" y="71"/>
                  </a:moveTo>
                  <a:cubicBezTo>
                    <a:pt x="21" y="70"/>
                    <a:pt x="21" y="70"/>
                    <a:pt x="21" y="70"/>
                  </a:cubicBezTo>
                  <a:cubicBezTo>
                    <a:pt x="58" y="70"/>
                    <a:pt x="58" y="70"/>
                    <a:pt x="58" y="70"/>
                  </a:cubicBezTo>
                  <a:cubicBezTo>
                    <a:pt x="67" y="71"/>
                    <a:pt x="67" y="71"/>
                    <a:pt x="67" y="71"/>
                  </a:cubicBezTo>
                  <a:cubicBezTo>
                    <a:pt x="67" y="60"/>
                    <a:pt x="67" y="60"/>
                    <a:pt x="67" y="60"/>
                  </a:cubicBezTo>
                  <a:cubicBezTo>
                    <a:pt x="60" y="60"/>
                    <a:pt x="60" y="60"/>
                    <a:pt x="60" y="60"/>
                  </a:cubicBezTo>
                  <a:cubicBezTo>
                    <a:pt x="62" y="58"/>
                    <a:pt x="63" y="57"/>
                    <a:pt x="65" y="55"/>
                  </a:cubicBezTo>
                  <a:cubicBezTo>
                    <a:pt x="62" y="53"/>
                    <a:pt x="62" y="53"/>
                    <a:pt x="62" y="53"/>
                  </a:cubicBezTo>
                  <a:cubicBezTo>
                    <a:pt x="59" y="50"/>
                    <a:pt x="59" y="50"/>
                    <a:pt x="59" y="50"/>
                  </a:cubicBezTo>
                  <a:cubicBezTo>
                    <a:pt x="58" y="49"/>
                    <a:pt x="58" y="48"/>
                    <a:pt x="57" y="47"/>
                  </a:cubicBezTo>
                  <a:cubicBezTo>
                    <a:pt x="64" y="47"/>
                    <a:pt x="64" y="47"/>
                    <a:pt x="64" y="47"/>
                  </a:cubicBezTo>
                  <a:cubicBezTo>
                    <a:pt x="64" y="37"/>
                    <a:pt x="64" y="37"/>
                    <a:pt x="64" y="37"/>
                  </a:cubicBezTo>
                  <a:cubicBezTo>
                    <a:pt x="58" y="37"/>
                    <a:pt x="58" y="37"/>
                    <a:pt x="58" y="37"/>
                  </a:cubicBezTo>
                  <a:cubicBezTo>
                    <a:pt x="46" y="37"/>
                    <a:pt x="46" y="37"/>
                    <a:pt x="46" y="37"/>
                  </a:cubicBezTo>
                  <a:cubicBezTo>
                    <a:pt x="46" y="27"/>
                    <a:pt x="46" y="27"/>
                    <a:pt x="46" y="27"/>
                  </a:cubicBezTo>
                  <a:cubicBezTo>
                    <a:pt x="58" y="27"/>
                    <a:pt x="58" y="27"/>
                    <a:pt x="58" y="27"/>
                  </a:cubicBezTo>
                  <a:cubicBezTo>
                    <a:pt x="66" y="28"/>
                    <a:pt x="66" y="28"/>
                    <a:pt x="66" y="28"/>
                  </a:cubicBezTo>
                  <a:cubicBezTo>
                    <a:pt x="66" y="17"/>
                    <a:pt x="66" y="17"/>
                    <a:pt x="66" y="17"/>
                  </a:cubicBezTo>
                  <a:cubicBezTo>
                    <a:pt x="58" y="17"/>
                    <a:pt x="58" y="17"/>
                    <a:pt x="58" y="17"/>
                  </a:cubicBezTo>
                  <a:cubicBezTo>
                    <a:pt x="22" y="17"/>
                    <a:pt x="22" y="17"/>
                    <a:pt x="22" y="17"/>
                  </a:cubicBezTo>
                  <a:cubicBezTo>
                    <a:pt x="14" y="17"/>
                    <a:pt x="14" y="17"/>
                    <a:pt x="14" y="17"/>
                  </a:cubicBezTo>
                  <a:cubicBezTo>
                    <a:pt x="14" y="27"/>
                    <a:pt x="14" y="27"/>
                    <a:pt x="14" y="27"/>
                  </a:cubicBezTo>
                  <a:cubicBezTo>
                    <a:pt x="22" y="27"/>
                    <a:pt x="22" y="27"/>
                    <a:pt x="22" y="27"/>
                  </a:cubicBezTo>
                  <a:cubicBezTo>
                    <a:pt x="35" y="27"/>
                    <a:pt x="35" y="27"/>
                    <a:pt x="35" y="27"/>
                  </a:cubicBezTo>
                  <a:cubicBezTo>
                    <a:pt x="35" y="37"/>
                    <a:pt x="35" y="37"/>
                    <a:pt x="35" y="37"/>
                  </a:cubicBezTo>
                  <a:cubicBezTo>
                    <a:pt x="25" y="37"/>
                    <a:pt x="25" y="37"/>
                    <a:pt x="25" y="37"/>
                  </a:cubicBezTo>
                  <a:cubicBezTo>
                    <a:pt x="17" y="37"/>
                    <a:pt x="17" y="37"/>
                    <a:pt x="17" y="37"/>
                  </a:cubicBezTo>
                  <a:cubicBezTo>
                    <a:pt x="17" y="47"/>
                    <a:pt x="17" y="47"/>
                    <a:pt x="17" y="47"/>
                  </a:cubicBezTo>
                  <a:cubicBezTo>
                    <a:pt x="25" y="47"/>
                    <a:pt x="25" y="47"/>
                    <a:pt x="25" y="47"/>
                  </a:cubicBezTo>
                  <a:cubicBezTo>
                    <a:pt x="35" y="47"/>
                    <a:pt x="35" y="47"/>
                    <a:pt x="35" y="47"/>
                  </a:cubicBezTo>
                  <a:cubicBezTo>
                    <a:pt x="35" y="60"/>
                    <a:pt x="35" y="60"/>
                    <a:pt x="35" y="60"/>
                  </a:cubicBezTo>
                  <a:cubicBezTo>
                    <a:pt x="21" y="60"/>
                    <a:pt x="21" y="60"/>
                    <a:pt x="21" y="60"/>
                  </a:cubicBezTo>
                  <a:cubicBezTo>
                    <a:pt x="13" y="60"/>
                    <a:pt x="13" y="60"/>
                    <a:pt x="13" y="60"/>
                  </a:cubicBezTo>
                  <a:lnTo>
                    <a:pt x="13" y="71"/>
                  </a:lnTo>
                  <a:close/>
                  <a:moveTo>
                    <a:pt x="0" y="11"/>
                  </a:moveTo>
                  <a:cubicBezTo>
                    <a:pt x="0" y="77"/>
                    <a:pt x="0" y="77"/>
                    <a:pt x="0" y="77"/>
                  </a:cubicBezTo>
                  <a:cubicBezTo>
                    <a:pt x="0" y="88"/>
                    <a:pt x="0" y="88"/>
                    <a:pt x="0" y="88"/>
                  </a:cubicBezTo>
                  <a:cubicBezTo>
                    <a:pt x="11" y="88"/>
                    <a:pt x="11" y="88"/>
                    <a:pt x="11" y="88"/>
                  </a:cubicBezTo>
                  <a:cubicBezTo>
                    <a:pt x="11" y="87"/>
                    <a:pt x="11" y="87"/>
                    <a:pt x="11" y="87"/>
                  </a:cubicBezTo>
                  <a:cubicBezTo>
                    <a:pt x="69" y="87"/>
                    <a:pt x="69" y="87"/>
                    <a:pt x="69" y="87"/>
                  </a:cubicBezTo>
                  <a:cubicBezTo>
                    <a:pt x="69" y="89"/>
                    <a:pt x="69" y="89"/>
                    <a:pt x="69" y="89"/>
                  </a:cubicBezTo>
                  <a:cubicBezTo>
                    <a:pt x="80" y="89"/>
                    <a:pt x="80" y="89"/>
                    <a:pt x="80" y="89"/>
                  </a:cubicBezTo>
                  <a:cubicBezTo>
                    <a:pt x="80" y="78"/>
                    <a:pt x="80" y="78"/>
                    <a:pt x="80" y="78"/>
                  </a:cubicBezTo>
                  <a:cubicBezTo>
                    <a:pt x="80" y="11"/>
                    <a:pt x="80" y="11"/>
                    <a:pt x="80" y="11"/>
                  </a:cubicBezTo>
                  <a:cubicBezTo>
                    <a:pt x="80" y="0"/>
                    <a:pt x="80" y="0"/>
                    <a:pt x="80" y="0"/>
                  </a:cubicBezTo>
                  <a:cubicBezTo>
                    <a:pt x="71" y="0"/>
                    <a:pt x="71" y="0"/>
                    <a:pt x="71" y="0"/>
                  </a:cubicBezTo>
                  <a:cubicBezTo>
                    <a:pt x="9" y="0"/>
                    <a:pt x="9" y="0"/>
                    <a:pt x="9" y="0"/>
                  </a:cubicBezTo>
                  <a:cubicBezTo>
                    <a:pt x="0" y="0"/>
                    <a:pt x="0" y="0"/>
                    <a:pt x="0" y="0"/>
                  </a:cubicBezTo>
                  <a:lnTo>
                    <a:pt x="0" y="11"/>
                  </a:lnTo>
                  <a:close/>
                  <a:moveTo>
                    <a:pt x="11" y="11"/>
                  </a:moveTo>
                  <a:cubicBezTo>
                    <a:pt x="69" y="11"/>
                    <a:pt x="69" y="11"/>
                    <a:pt x="69" y="11"/>
                  </a:cubicBezTo>
                  <a:cubicBezTo>
                    <a:pt x="69" y="76"/>
                    <a:pt x="69" y="76"/>
                    <a:pt x="69" y="76"/>
                  </a:cubicBezTo>
                  <a:cubicBezTo>
                    <a:pt x="11" y="76"/>
                    <a:pt x="11" y="76"/>
                    <a:pt x="11" y="76"/>
                  </a:cubicBezTo>
                  <a:lnTo>
                    <a:pt x="11" y="11"/>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8" name="Freeform 61"/>
            <p:cNvSpPr>
              <a:spLocks noEditPoints="1"/>
            </p:cNvSpPr>
            <p:nvPr/>
          </p:nvSpPr>
          <p:spPr bwMode="auto">
            <a:xfrm>
              <a:off x="1888" y="367"/>
              <a:ext cx="353" cy="373"/>
            </a:xfrm>
            <a:custGeom>
              <a:avLst/>
              <a:gdLst>
                <a:gd name="T0" fmla="*/ 43 w 91"/>
                <a:gd name="T1" fmla="*/ 62 h 96"/>
                <a:gd name="T2" fmla="*/ 28 w 91"/>
                <a:gd name="T3" fmla="*/ 68 h 96"/>
                <a:gd name="T4" fmla="*/ 8 w 91"/>
                <a:gd name="T5" fmla="*/ 71 h 96"/>
                <a:gd name="T6" fmla="*/ 14 w 91"/>
                <a:gd name="T7" fmla="*/ 62 h 96"/>
                <a:gd name="T8" fmla="*/ 36 w 91"/>
                <a:gd name="T9" fmla="*/ 52 h 96"/>
                <a:gd name="T10" fmla="*/ 24 w 91"/>
                <a:gd name="T11" fmla="*/ 55 h 96"/>
                <a:gd name="T12" fmla="*/ 10 w 91"/>
                <a:gd name="T13" fmla="*/ 54 h 96"/>
                <a:gd name="T14" fmla="*/ 18 w 91"/>
                <a:gd name="T15" fmla="*/ 45 h 96"/>
                <a:gd name="T16" fmla="*/ 24 w 91"/>
                <a:gd name="T17" fmla="*/ 38 h 96"/>
                <a:gd name="T18" fmla="*/ 16 w 91"/>
                <a:gd name="T19" fmla="*/ 27 h 96"/>
                <a:gd name="T20" fmla="*/ 64 w 91"/>
                <a:gd name="T21" fmla="*/ 28 h 96"/>
                <a:gd name="T22" fmla="*/ 73 w 91"/>
                <a:gd name="T23" fmla="*/ 38 h 96"/>
                <a:gd name="T24" fmla="*/ 50 w 91"/>
                <a:gd name="T25" fmla="*/ 38 h 96"/>
                <a:gd name="T26" fmla="*/ 44 w 91"/>
                <a:gd name="T27" fmla="*/ 47 h 96"/>
                <a:gd name="T28" fmla="*/ 51 w 91"/>
                <a:gd name="T29" fmla="*/ 54 h 96"/>
                <a:gd name="T30" fmla="*/ 69 w 91"/>
                <a:gd name="T31" fmla="*/ 40 h 96"/>
                <a:gd name="T32" fmla="*/ 78 w 91"/>
                <a:gd name="T33" fmla="*/ 48 h 96"/>
                <a:gd name="T34" fmla="*/ 70 w 91"/>
                <a:gd name="T35" fmla="*/ 65 h 96"/>
                <a:gd name="T36" fmla="*/ 91 w 91"/>
                <a:gd name="T37" fmla="*/ 84 h 96"/>
                <a:gd name="T38" fmla="*/ 83 w 91"/>
                <a:gd name="T39" fmla="*/ 95 h 96"/>
                <a:gd name="T40" fmla="*/ 63 w 91"/>
                <a:gd name="T41" fmla="*/ 75 h 96"/>
                <a:gd name="T42" fmla="*/ 54 w 91"/>
                <a:gd name="T43" fmla="*/ 64 h 96"/>
                <a:gd name="T44" fmla="*/ 55 w 91"/>
                <a:gd name="T45" fmla="*/ 77 h 96"/>
                <a:gd name="T46" fmla="*/ 51 w 91"/>
                <a:gd name="T47" fmla="*/ 93 h 96"/>
                <a:gd name="T48" fmla="*/ 34 w 91"/>
                <a:gd name="T49" fmla="*/ 88 h 96"/>
                <a:gd name="T50" fmla="*/ 42 w 91"/>
                <a:gd name="T51" fmla="*/ 84 h 96"/>
                <a:gd name="T52" fmla="*/ 44 w 91"/>
                <a:gd name="T53" fmla="*/ 75 h 96"/>
                <a:gd name="T54" fmla="*/ 32 w 91"/>
                <a:gd name="T55" fmla="*/ 81 h 96"/>
                <a:gd name="T56" fmla="*/ 6 w 91"/>
                <a:gd name="T57" fmla="*/ 92 h 96"/>
                <a:gd name="T58" fmla="*/ 0 w 91"/>
                <a:gd name="T59" fmla="*/ 82 h 96"/>
                <a:gd name="T60" fmla="*/ 2 w 91"/>
                <a:gd name="T61" fmla="*/ 33 h 96"/>
                <a:gd name="T62" fmla="*/ 2 w 91"/>
                <a:gd name="T63" fmla="*/ 17 h 96"/>
                <a:gd name="T64" fmla="*/ 13 w 91"/>
                <a:gd name="T65" fmla="*/ 10 h 96"/>
                <a:gd name="T66" fmla="*/ 33 w 91"/>
                <a:gd name="T67" fmla="*/ 6 h 96"/>
                <a:gd name="T68" fmla="*/ 43 w 91"/>
                <a:gd name="T69" fmla="*/ 0 h 96"/>
                <a:gd name="T70" fmla="*/ 50 w 91"/>
                <a:gd name="T71" fmla="*/ 10 h 96"/>
                <a:gd name="T72" fmla="*/ 87 w 91"/>
                <a:gd name="T73" fmla="*/ 10 h 96"/>
                <a:gd name="T74" fmla="*/ 87 w 91"/>
                <a:gd name="T75" fmla="*/ 28 h 96"/>
                <a:gd name="T76" fmla="*/ 75 w 91"/>
                <a:gd name="T77" fmla="*/ 34 h 96"/>
                <a:gd name="T78" fmla="*/ 75 w 91"/>
                <a:gd name="T79" fmla="*/ 21 h 96"/>
                <a:gd name="T80" fmla="*/ 14 w 91"/>
                <a:gd name="T81" fmla="*/ 28 h 96"/>
                <a:gd name="T82" fmla="*/ 2 w 91"/>
                <a:gd name="T83" fmla="*/ 33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1" h="96">
                  <a:moveTo>
                    <a:pt x="26" y="72"/>
                  </a:moveTo>
                  <a:cubicBezTo>
                    <a:pt x="33" y="68"/>
                    <a:pt x="39" y="65"/>
                    <a:pt x="43" y="62"/>
                  </a:cubicBezTo>
                  <a:cubicBezTo>
                    <a:pt x="42" y="61"/>
                    <a:pt x="42" y="60"/>
                    <a:pt x="42" y="60"/>
                  </a:cubicBezTo>
                  <a:cubicBezTo>
                    <a:pt x="37" y="63"/>
                    <a:pt x="32" y="66"/>
                    <a:pt x="28" y="68"/>
                  </a:cubicBezTo>
                  <a:cubicBezTo>
                    <a:pt x="24" y="70"/>
                    <a:pt x="17" y="73"/>
                    <a:pt x="9" y="75"/>
                  </a:cubicBezTo>
                  <a:cubicBezTo>
                    <a:pt x="9" y="74"/>
                    <a:pt x="8" y="72"/>
                    <a:pt x="8" y="71"/>
                  </a:cubicBezTo>
                  <a:cubicBezTo>
                    <a:pt x="7" y="70"/>
                    <a:pt x="6" y="68"/>
                    <a:pt x="4" y="65"/>
                  </a:cubicBezTo>
                  <a:cubicBezTo>
                    <a:pt x="8" y="64"/>
                    <a:pt x="11" y="63"/>
                    <a:pt x="14" y="62"/>
                  </a:cubicBezTo>
                  <a:cubicBezTo>
                    <a:pt x="16" y="62"/>
                    <a:pt x="20" y="60"/>
                    <a:pt x="24" y="58"/>
                  </a:cubicBezTo>
                  <a:cubicBezTo>
                    <a:pt x="28" y="56"/>
                    <a:pt x="32" y="54"/>
                    <a:pt x="36" y="52"/>
                  </a:cubicBezTo>
                  <a:cubicBezTo>
                    <a:pt x="34" y="51"/>
                    <a:pt x="34" y="51"/>
                    <a:pt x="34" y="51"/>
                  </a:cubicBezTo>
                  <a:cubicBezTo>
                    <a:pt x="30" y="53"/>
                    <a:pt x="26" y="54"/>
                    <a:pt x="24" y="55"/>
                  </a:cubicBezTo>
                  <a:cubicBezTo>
                    <a:pt x="21" y="55"/>
                    <a:pt x="17" y="56"/>
                    <a:pt x="12" y="58"/>
                  </a:cubicBezTo>
                  <a:cubicBezTo>
                    <a:pt x="11" y="57"/>
                    <a:pt x="11" y="55"/>
                    <a:pt x="10" y="54"/>
                  </a:cubicBezTo>
                  <a:cubicBezTo>
                    <a:pt x="10" y="53"/>
                    <a:pt x="8" y="51"/>
                    <a:pt x="6" y="47"/>
                  </a:cubicBezTo>
                  <a:cubicBezTo>
                    <a:pt x="9" y="47"/>
                    <a:pt x="13" y="46"/>
                    <a:pt x="18" y="45"/>
                  </a:cubicBezTo>
                  <a:cubicBezTo>
                    <a:pt x="24" y="45"/>
                    <a:pt x="30" y="42"/>
                    <a:pt x="38" y="38"/>
                  </a:cubicBezTo>
                  <a:cubicBezTo>
                    <a:pt x="24" y="38"/>
                    <a:pt x="24" y="38"/>
                    <a:pt x="24" y="38"/>
                  </a:cubicBezTo>
                  <a:cubicBezTo>
                    <a:pt x="16" y="38"/>
                    <a:pt x="16" y="38"/>
                    <a:pt x="16" y="38"/>
                  </a:cubicBezTo>
                  <a:cubicBezTo>
                    <a:pt x="16" y="27"/>
                    <a:pt x="16" y="27"/>
                    <a:pt x="16" y="27"/>
                  </a:cubicBezTo>
                  <a:cubicBezTo>
                    <a:pt x="24" y="28"/>
                    <a:pt x="24" y="28"/>
                    <a:pt x="24" y="28"/>
                  </a:cubicBezTo>
                  <a:cubicBezTo>
                    <a:pt x="64" y="28"/>
                    <a:pt x="64" y="28"/>
                    <a:pt x="64" y="28"/>
                  </a:cubicBezTo>
                  <a:cubicBezTo>
                    <a:pt x="73" y="27"/>
                    <a:pt x="73" y="27"/>
                    <a:pt x="73" y="27"/>
                  </a:cubicBezTo>
                  <a:cubicBezTo>
                    <a:pt x="73" y="38"/>
                    <a:pt x="73" y="38"/>
                    <a:pt x="73" y="38"/>
                  </a:cubicBezTo>
                  <a:cubicBezTo>
                    <a:pt x="64" y="38"/>
                    <a:pt x="64" y="38"/>
                    <a:pt x="64" y="38"/>
                  </a:cubicBezTo>
                  <a:cubicBezTo>
                    <a:pt x="50" y="38"/>
                    <a:pt x="50" y="38"/>
                    <a:pt x="50" y="38"/>
                  </a:cubicBezTo>
                  <a:cubicBezTo>
                    <a:pt x="51" y="39"/>
                    <a:pt x="52" y="40"/>
                    <a:pt x="54" y="41"/>
                  </a:cubicBezTo>
                  <a:cubicBezTo>
                    <a:pt x="50" y="43"/>
                    <a:pt x="47" y="45"/>
                    <a:pt x="44" y="47"/>
                  </a:cubicBezTo>
                  <a:cubicBezTo>
                    <a:pt x="47" y="49"/>
                    <a:pt x="49" y="50"/>
                    <a:pt x="49" y="51"/>
                  </a:cubicBezTo>
                  <a:cubicBezTo>
                    <a:pt x="51" y="54"/>
                    <a:pt x="51" y="54"/>
                    <a:pt x="51" y="54"/>
                  </a:cubicBezTo>
                  <a:cubicBezTo>
                    <a:pt x="58" y="49"/>
                    <a:pt x="63" y="45"/>
                    <a:pt x="64" y="44"/>
                  </a:cubicBezTo>
                  <a:cubicBezTo>
                    <a:pt x="69" y="40"/>
                    <a:pt x="69" y="40"/>
                    <a:pt x="69" y="40"/>
                  </a:cubicBezTo>
                  <a:cubicBezTo>
                    <a:pt x="70" y="41"/>
                    <a:pt x="70" y="42"/>
                    <a:pt x="71" y="43"/>
                  </a:cubicBezTo>
                  <a:cubicBezTo>
                    <a:pt x="72" y="43"/>
                    <a:pt x="74" y="45"/>
                    <a:pt x="78" y="48"/>
                  </a:cubicBezTo>
                  <a:cubicBezTo>
                    <a:pt x="74" y="51"/>
                    <a:pt x="70" y="54"/>
                    <a:pt x="67" y="56"/>
                  </a:cubicBezTo>
                  <a:cubicBezTo>
                    <a:pt x="67" y="58"/>
                    <a:pt x="68" y="61"/>
                    <a:pt x="70" y="65"/>
                  </a:cubicBezTo>
                  <a:cubicBezTo>
                    <a:pt x="71" y="69"/>
                    <a:pt x="74" y="73"/>
                    <a:pt x="78" y="76"/>
                  </a:cubicBezTo>
                  <a:cubicBezTo>
                    <a:pt x="82" y="80"/>
                    <a:pt x="86" y="82"/>
                    <a:pt x="91" y="84"/>
                  </a:cubicBezTo>
                  <a:cubicBezTo>
                    <a:pt x="89" y="86"/>
                    <a:pt x="88" y="88"/>
                    <a:pt x="87" y="89"/>
                  </a:cubicBezTo>
                  <a:cubicBezTo>
                    <a:pt x="86" y="90"/>
                    <a:pt x="85" y="92"/>
                    <a:pt x="83" y="95"/>
                  </a:cubicBezTo>
                  <a:cubicBezTo>
                    <a:pt x="77" y="91"/>
                    <a:pt x="72" y="88"/>
                    <a:pt x="70" y="85"/>
                  </a:cubicBezTo>
                  <a:cubicBezTo>
                    <a:pt x="67" y="81"/>
                    <a:pt x="64" y="78"/>
                    <a:pt x="63" y="75"/>
                  </a:cubicBezTo>
                  <a:cubicBezTo>
                    <a:pt x="61" y="71"/>
                    <a:pt x="59" y="67"/>
                    <a:pt x="58" y="62"/>
                  </a:cubicBezTo>
                  <a:cubicBezTo>
                    <a:pt x="54" y="64"/>
                    <a:pt x="54" y="64"/>
                    <a:pt x="54" y="64"/>
                  </a:cubicBezTo>
                  <a:cubicBezTo>
                    <a:pt x="55" y="65"/>
                    <a:pt x="55" y="67"/>
                    <a:pt x="55" y="68"/>
                  </a:cubicBezTo>
                  <a:cubicBezTo>
                    <a:pt x="55" y="70"/>
                    <a:pt x="55" y="73"/>
                    <a:pt x="55" y="77"/>
                  </a:cubicBezTo>
                  <a:cubicBezTo>
                    <a:pt x="55" y="80"/>
                    <a:pt x="55" y="84"/>
                    <a:pt x="54" y="86"/>
                  </a:cubicBezTo>
                  <a:cubicBezTo>
                    <a:pt x="54" y="89"/>
                    <a:pt x="53" y="91"/>
                    <a:pt x="51" y="93"/>
                  </a:cubicBezTo>
                  <a:cubicBezTo>
                    <a:pt x="49" y="95"/>
                    <a:pt x="44" y="96"/>
                    <a:pt x="36" y="96"/>
                  </a:cubicBezTo>
                  <a:cubicBezTo>
                    <a:pt x="36" y="92"/>
                    <a:pt x="35" y="89"/>
                    <a:pt x="34" y="88"/>
                  </a:cubicBezTo>
                  <a:cubicBezTo>
                    <a:pt x="33" y="84"/>
                    <a:pt x="33" y="84"/>
                    <a:pt x="33" y="84"/>
                  </a:cubicBezTo>
                  <a:cubicBezTo>
                    <a:pt x="37" y="85"/>
                    <a:pt x="41" y="85"/>
                    <a:pt x="42" y="84"/>
                  </a:cubicBezTo>
                  <a:cubicBezTo>
                    <a:pt x="43" y="83"/>
                    <a:pt x="44" y="81"/>
                    <a:pt x="44" y="79"/>
                  </a:cubicBezTo>
                  <a:cubicBezTo>
                    <a:pt x="44" y="77"/>
                    <a:pt x="44" y="76"/>
                    <a:pt x="44" y="75"/>
                  </a:cubicBezTo>
                  <a:cubicBezTo>
                    <a:pt x="44" y="73"/>
                    <a:pt x="44" y="73"/>
                    <a:pt x="44" y="73"/>
                  </a:cubicBezTo>
                  <a:cubicBezTo>
                    <a:pt x="41" y="76"/>
                    <a:pt x="37" y="79"/>
                    <a:pt x="32" y="81"/>
                  </a:cubicBezTo>
                  <a:cubicBezTo>
                    <a:pt x="26" y="84"/>
                    <a:pt x="22" y="86"/>
                    <a:pt x="19" y="88"/>
                  </a:cubicBezTo>
                  <a:cubicBezTo>
                    <a:pt x="6" y="92"/>
                    <a:pt x="6" y="92"/>
                    <a:pt x="6" y="92"/>
                  </a:cubicBezTo>
                  <a:cubicBezTo>
                    <a:pt x="5" y="89"/>
                    <a:pt x="4" y="87"/>
                    <a:pt x="3" y="86"/>
                  </a:cubicBezTo>
                  <a:cubicBezTo>
                    <a:pt x="0" y="82"/>
                    <a:pt x="0" y="82"/>
                    <a:pt x="0" y="82"/>
                  </a:cubicBezTo>
                  <a:cubicBezTo>
                    <a:pt x="10" y="79"/>
                    <a:pt x="19" y="76"/>
                    <a:pt x="26" y="72"/>
                  </a:cubicBezTo>
                  <a:close/>
                  <a:moveTo>
                    <a:pt x="2" y="33"/>
                  </a:moveTo>
                  <a:cubicBezTo>
                    <a:pt x="2" y="28"/>
                    <a:pt x="2" y="28"/>
                    <a:pt x="2" y="28"/>
                  </a:cubicBezTo>
                  <a:cubicBezTo>
                    <a:pt x="2" y="17"/>
                    <a:pt x="2" y="17"/>
                    <a:pt x="2" y="17"/>
                  </a:cubicBezTo>
                  <a:cubicBezTo>
                    <a:pt x="2" y="10"/>
                    <a:pt x="2" y="10"/>
                    <a:pt x="2" y="10"/>
                  </a:cubicBezTo>
                  <a:cubicBezTo>
                    <a:pt x="13" y="10"/>
                    <a:pt x="13" y="10"/>
                    <a:pt x="13" y="10"/>
                  </a:cubicBezTo>
                  <a:cubicBezTo>
                    <a:pt x="38" y="10"/>
                    <a:pt x="38" y="10"/>
                    <a:pt x="38" y="10"/>
                  </a:cubicBezTo>
                  <a:cubicBezTo>
                    <a:pt x="37" y="9"/>
                    <a:pt x="35" y="7"/>
                    <a:pt x="33" y="6"/>
                  </a:cubicBezTo>
                  <a:cubicBezTo>
                    <a:pt x="34" y="5"/>
                    <a:pt x="36" y="4"/>
                    <a:pt x="37" y="4"/>
                  </a:cubicBezTo>
                  <a:cubicBezTo>
                    <a:pt x="38" y="3"/>
                    <a:pt x="40" y="2"/>
                    <a:pt x="43" y="0"/>
                  </a:cubicBezTo>
                  <a:cubicBezTo>
                    <a:pt x="47" y="4"/>
                    <a:pt x="50" y="7"/>
                    <a:pt x="52" y="8"/>
                  </a:cubicBezTo>
                  <a:cubicBezTo>
                    <a:pt x="51" y="9"/>
                    <a:pt x="51" y="10"/>
                    <a:pt x="50" y="10"/>
                  </a:cubicBezTo>
                  <a:cubicBezTo>
                    <a:pt x="77" y="10"/>
                    <a:pt x="77" y="10"/>
                    <a:pt x="77" y="10"/>
                  </a:cubicBezTo>
                  <a:cubicBezTo>
                    <a:pt x="87" y="10"/>
                    <a:pt x="87" y="10"/>
                    <a:pt x="87" y="10"/>
                  </a:cubicBezTo>
                  <a:cubicBezTo>
                    <a:pt x="87" y="17"/>
                    <a:pt x="87" y="17"/>
                    <a:pt x="87" y="17"/>
                  </a:cubicBezTo>
                  <a:cubicBezTo>
                    <a:pt x="87" y="28"/>
                    <a:pt x="87" y="28"/>
                    <a:pt x="87" y="28"/>
                  </a:cubicBezTo>
                  <a:cubicBezTo>
                    <a:pt x="87" y="34"/>
                    <a:pt x="87" y="34"/>
                    <a:pt x="87" y="34"/>
                  </a:cubicBezTo>
                  <a:cubicBezTo>
                    <a:pt x="75" y="34"/>
                    <a:pt x="75" y="34"/>
                    <a:pt x="75" y="34"/>
                  </a:cubicBezTo>
                  <a:cubicBezTo>
                    <a:pt x="75" y="28"/>
                    <a:pt x="75" y="28"/>
                    <a:pt x="75" y="28"/>
                  </a:cubicBezTo>
                  <a:cubicBezTo>
                    <a:pt x="75" y="21"/>
                    <a:pt x="75" y="21"/>
                    <a:pt x="75" y="21"/>
                  </a:cubicBezTo>
                  <a:cubicBezTo>
                    <a:pt x="14" y="21"/>
                    <a:pt x="14" y="21"/>
                    <a:pt x="14" y="21"/>
                  </a:cubicBezTo>
                  <a:cubicBezTo>
                    <a:pt x="14" y="28"/>
                    <a:pt x="14" y="28"/>
                    <a:pt x="14" y="28"/>
                  </a:cubicBezTo>
                  <a:cubicBezTo>
                    <a:pt x="14" y="33"/>
                    <a:pt x="14" y="33"/>
                    <a:pt x="14" y="33"/>
                  </a:cubicBezTo>
                  <a:lnTo>
                    <a:pt x="2" y="33"/>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9" name="Freeform 62"/>
            <p:cNvSpPr>
              <a:spLocks noEditPoints="1"/>
            </p:cNvSpPr>
            <p:nvPr/>
          </p:nvSpPr>
          <p:spPr bwMode="auto">
            <a:xfrm>
              <a:off x="2283" y="367"/>
              <a:ext cx="331" cy="373"/>
            </a:xfrm>
            <a:custGeom>
              <a:avLst/>
              <a:gdLst>
                <a:gd name="T0" fmla="*/ 12 w 85"/>
                <a:gd name="T1" fmla="*/ 25 h 96"/>
                <a:gd name="T2" fmla="*/ 30 w 85"/>
                <a:gd name="T3" fmla="*/ 25 h 96"/>
                <a:gd name="T4" fmla="*/ 30 w 85"/>
                <a:gd name="T5" fmla="*/ 37 h 96"/>
                <a:gd name="T6" fmla="*/ 12 w 85"/>
                <a:gd name="T7" fmla="*/ 37 h 96"/>
                <a:gd name="T8" fmla="*/ 12 w 85"/>
                <a:gd name="T9" fmla="*/ 25 h 96"/>
                <a:gd name="T10" fmla="*/ 0 w 85"/>
                <a:gd name="T11" fmla="*/ 22 h 96"/>
                <a:gd name="T12" fmla="*/ 0 w 85"/>
                <a:gd name="T13" fmla="*/ 61 h 96"/>
                <a:gd name="T14" fmla="*/ 0 w 85"/>
                <a:gd name="T15" fmla="*/ 71 h 96"/>
                <a:gd name="T16" fmla="*/ 12 w 85"/>
                <a:gd name="T17" fmla="*/ 71 h 96"/>
                <a:gd name="T18" fmla="*/ 12 w 85"/>
                <a:gd name="T19" fmla="*/ 70 h 96"/>
                <a:gd name="T20" fmla="*/ 30 w 85"/>
                <a:gd name="T21" fmla="*/ 70 h 96"/>
                <a:gd name="T22" fmla="*/ 30 w 85"/>
                <a:gd name="T23" fmla="*/ 84 h 96"/>
                <a:gd name="T24" fmla="*/ 31 w 85"/>
                <a:gd name="T25" fmla="*/ 90 h 96"/>
                <a:gd name="T26" fmla="*/ 34 w 85"/>
                <a:gd name="T27" fmla="*/ 94 h 96"/>
                <a:gd name="T28" fmla="*/ 42 w 85"/>
                <a:gd name="T29" fmla="*/ 95 h 96"/>
                <a:gd name="T30" fmla="*/ 56 w 85"/>
                <a:gd name="T31" fmla="*/ 96 h 96"/>
                <a:gd name="T32" fmla="*/ 70 w 85"/>
                <a:gd name="T33" fmla="*/ 96 h 96"/>
                <a:gd name="T34" fmla="*/ 76 w 85"/>
                <a:gd name="T35" fmla="*/ 94 h 96"/>
                <a:gd name="T36" fmla="*/ 80 w 85"/>
                <a:gd name="T37" fmla="*/ 91 h 96"/>
                <a:gd name="T38" fmla="*/ 85 w 85"/>
                <a:gd name="T39" fmla="*/ 79 h 96"/>
                <a:gd name="T40" fmla="*/ 74 w 85"/>
                <a:gd name="T41" fmla="*/ 73 h 96"/>
                <a:gd name="T42" fmla="*/ 73 w 85"/>
                <a:gd name="T43" fmla="*/ 77 h 96"/>
                <a:gd name="T44" fmla="*/ 71 w 85"/>
                <a:gd name="T45" fmla="*/ 82 h 96"/>
                <a:gd name="T46" fmla="*/ 66 w 85"/>
                <a:gd name="T47" fmla="*/ 84 h 96"/>
                <a:gd name="T48" fmla="*/ 57 w 85"/>
                <a:gd name="T49" fmla="*/ 84 h 96"/>
                <a:gd name="T50" fmla="*/ 46 w 85"/>
                <a:gd name="T51" fmla="*/ 84 h 96"/>
                <a:gd name="T52" fmla="*/ 42 w 85"/>
                <a:gd name="T53" fmla="*/ 83 h 96"/>
                <a:gd name="T54" fmla="*/ 41 w 85"/>
                <a:gd name="T55" fmla="*/ 80 h 96"/>
                <a:gd name="T56" fmla="*/ 41 w 85"/>
                <a:gd name="T57" fmla="*/ 70 h 96"/>
                <a:gd name="T58" fmla="*/ 62 w 85"/>
                <a:gd name="T59" fmla="*/ 70 h 96"/>
                <a:gd name="T60" fmla="*/ 62 w 85"/>
                <a:gd name="T61" fmla="*/ 72 h 96"/>
                <a:gd name="T62" fmla="*/ 74 w 85"/>
                <a:gd name="T63" fmla="*/ 72 h 96"/>
                <a:gd name="T64" fmla="*/ 73 w 85"/>
                <a:gd name="T65" fmla="*/ 62 h 96"/>
                <a:gd name="T66" fmla="*/ 73 w 85"/>
                <a:gd name="T67" fmla="*/ 22 h 96"/>
                <a:gd name="T68" fmla="*/ 74 w 85"/>
                <a:gd name="T69" fmla="*/ 14 h 96"/>
                <a:gd name="T70" fmla="*/ 66 w 85"/>
                <a:gd name="T71" fmla="*/ 14 h 96"/>
                <a:gd name="T72" fmla="*/ 41 w 85"/>
                <a:gd name="T73" fmla="*/ 14 h 96"/>
                <a:gd name="T74" fmla="*/ 41 w 85"/>
                <a:gd name="T75" fmla="*/ 8 h 96"/>
                <a:gd name="T76" fmla="*/ 42 w 85"/>
                <a:gd name="T77" fmla="*/ 0 h 96"/>
                <a:gd name="T78" fmla="*/ 30 w 85"/>
                <a:gd name="T79" fmla="*/ 0 h 96"/>
                <a:gd name="T80" fmla="*/ 30 w 85"/>
                <a:gd name="T81" fmla="*/ 8 h 96"/>
                <a:gd name="T82" fmla="*/ 30 w 85"/>
                <a:gd name="T83" fmla="*/ 14 h 96"/>
                <a:gd name="T84" fmla="*/ 9 w 85"/>
                <a:gd name="T85" fmla="*/ 14 h 96"/>
                <a:gd name="T86" fmla="*/ 0 w 85"/>
                <a:gd name="T87" fmla="*/ 14 h 96"/>
                <a:gd name="T88" fmla="*/ 0 w 85"/>
                <a:gd name="T89" fmla="*/ 22 h 96"/>
                <a:gd name="T90" fmla="*/ 12 w 85"/>
                <a:gd name="T91" fmla="*/ 47 h 96"/>
                <a:gd name="T92" fmla="*/ 30 w 85"/>
                <a:gd name="T93" fmla="*/ 47 h 96"/>
                <a:gd name="T94" fmla="*/ 30 w 85"/>
                <a:gd name="T95" fmla="*/ 59 h 96"/>
                <a:gd name="T96" fmla="*/ 12 w 85"/>
                <a:gd name="T97" fmla="*/ 59 h 96"/>
                <a:gd name="T98" fmla="*/ 12 w 85"/>
                <a:gd name="T99" fmla="*/ 47 h 96"/>
                <a:gd name="T100" fmla="*/ 41 w 85"/>
                <a:gd name="T101" fmla="*/ 25 h 96"/>
                <a:gd name="T102" fmla="*/ 62 w 85"/>
                <a:gd name="T103" fmla="*/ 25 h 96"/>
                <a:gd name="T104" fmla="*/ 62 w 85"/>
                <a:gd name="T105" fmla="*/ 37 h 96"/>
                <a:gd name="T106" fmla="*/ 41 w 85"/>
                <a:gd name="T107" fmla="*/ 37 h 96"/>
                <a:gd name="T108" fmla="*/ 41 w 85"/>
                <a:gd name="T109" fmla="*/ 25 h 96"/>
                <a:gd name="T110" fmla="*/ 41 w 85"/>
                <a:gd name="T111" fmla="*/ 47 h 96"/>
                <a:gd name="T112" fmla="*/ 62 w 85"/>
                <a:gd name="T113" fmla="*/ 47 h 96"/>
                <a:gd name="T114" fmla="*/ 62 w 85"/>
                <a:gd name="T115" fmla="*/ 59 h 96"/>
                <a:gd name="T116" fmla="*/ 41 w 85"/>
                <a:gd name="T117" fmla="*/ 59 h 96"/>
                <a:gd name="T118" fmla="*/ 41 w 85"/>
                <a:gd name="T119" fmla="*/ 4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5" h="96">
                  <a:moveTo>
                    <a:pt x="12" y="25"/>
                  </a:moveTo>
                  <a:cubicBezTo>
                    <a:pt x="30" y="25"/>
                    <a:pt x="30" y="25"/>
                    <a:pt x="30" y="25"/>
                  </a:cubicBezTo>
                  <a:cubicBezTo>
                    <a:pt x="30" y="37"/>
                    <a:pt x="30" y="37"/>
                    <a:pt x="30" y="37"/>
                  </a:cubicBezTo>
                  <a:cubicBezTo>
                    <a:pt x="12" y="37"/>
                    <a:pt x="12" y="37"/>
                    <a:pt x="12" y="37"/>
                  </a:cubicBezTo>
                  <a:lnTo>
                    <a:pt x="12" y="25"/>
                  </a:lnTo>
                  <a:close/>
                  <a:moveTo>
                    <a:pt x="0" y="22"/>
                  </a:moveTo>
                  <a:cubicBezTo>
                    <a:pt x="0" y="61"/>
                    <a:pt x="0" y="61"/>
                    <a:pt x="0" y="61"/>
                  </a:cubicBezTo>
                  <a:cubicBezTo>
                    <a:pt x="0" y="71"/>
                    <a:pt x="0" y="71"/>
                    <a:pt x="0" y="71"/>
                  </a:cubicBezTo>
                  <a:cubicBezTo>
                    <a:pt x="12" y="71"/>
                    <a:pt x="12" y="71"/>
                    <a:pt x="12" y="71"/>
                  </a:cubicBezTo>
                  <a:cubicBezTo>
                    <a:pt x="12" y="70"/>
                    <a:pt x="12" y="70"/>
                    <a:pt x="12" y="70"/>
                  </a:cubicBezTo>
                  <a:cubicBezTo>
                    <a:pt x="30" y="70"/>
                    <a:pt x="30" y="70"/>
                    <a:pt x="30" y="70"/>
                  </a:cubicBezTo>
                  <a:cubicBezTo>
                    <a:pt x="30" y="84"/>
                    <a:pt x="30" y="84"/>
                    <a:pt x="30" y="84"/>
                  </a:cubicBezTo>
                  <a:cubicBezTo>
                    <a:pt x="30" y="87"/>
                    <a:pt x="30" y="89"/>
                    <a:pt x="31" y="90"/>
                  </a:cubicBezTo>
                  <a:cubicBezTo>
                    <a:pt x="31" y="91"/>
                    <a:pt x="32" y="93"/>
                    <a:pt x="34" y="94"/>
                  </a:cubicBezTo>
                  <a:cubicBezTo>
                    <a:pt x="36" y="95"/>
                    <a:pt x="38" y="95"/>
                    <a:pt x="42" y="95"/>
                  </a:cubicBezTo>
                  <a:cubicBezTo>
                    <a:pt x="46" y="95"/>
                    <a:pt x="50" y="95"/>
                    <a:pt x="56" y="96"/>
                  </a:cubicBezTo>
                  <a:cubicBezTo>
                    <a:pt x="62" y="96"/>
                    <a:pt x="67" y="96"/>
                    <a:pt x="70" y="96"/>
                  </a:cubicBezTo>
                  <a:cubicBezTo>
                    <a:pt x="73" y="95"/>
                    <a:pt x="75" y="95"/>
                    <a:pt x="76" y="94"/>
                  </a:cubicBezTo>
                  <a:cubicBezTo>
                    <a:pt x="78" y="94"/>
                    <a:pt x="79" y="93"/>
                    <a:pt x="80" y="91"/>
                  </a:cubicBezTo>
                  <a:cubicBezTo>
                    <a:pt x="82" y="90"/>
                    <a:pt x="83" y="86"/>
                    <a:pt x="85" y="79"/>
                  </a:cubicBezTo>
                  <a:cubicBezTo>
                    <a:pt x="82" y="78"/>
                    <a:pt x="78" y="76"/>
                    <a:pt x="74" y="73"/>
                  </a:cubicBezTo>
                  <a:cubicBezTo>
                    <a:pt x="73" y="77"/>
                    <a:pt x="73" y="77"/>
                    <a:pt x="73" y="77"/>
                  </a:cubicBezTo>
                  <a:cubicBezTo>
                    <a:pt x="73" y="80"/>
                    <a:pt x="72" y="81"/>
                    <a:pt x="71" y="82"/>
                  </a:cubicBezTo>
                  <a:cubicBezTo>
                    <a:pt x="70" y="83"/>
                    <a:pt x="68" y="84"/>
                    <a:pt x="66" y="84"/>
                  </a:cubicBezTo>
                  <a:cubicBezTo>
                    <a:pt x="64" y="84"/>
                    <a:pt x="61" y="84"/>
                    <a:pt x="57" y="84"/>
                  </a:cubicBezTo>
                  <a:cubicBezTo>
                    <a:pt x="46" y="84"/>
                    <a:pt x="46" y="84"/>
                    <a:pt x="46" y="84"/>
                  </a:cubicBezTo>
                  <a:cubicBezTo>
                    <a:pt x="44" y="84"/>
                    <a:pt x="43" y="84"/>
                    <a:pt x="42" y="83"/>
                  </a:cubicBezTo>
                  <a:cubicBezTo>
                    <a:pt x="42" y="82"/>
                    <a:pt x="41" y="81"/>
                    <a:pt x="41" y="80"/>
                  </a:cubicBezTo>
                  <a:cubicBezTo>
                    <a:pt x="41" y="70"/>
                    <a:pt x="41" y="70"/>
                    <a:pt x="41" y="70"/>
                  </a:cubicBezTo>
                  <a:cubicBezTo>
                    <a:pt x="62" y="70"/>
                    <a:pt x="62" y="70"/>
                    <a:pt x="62" y="70"/>
                  </a:cubicBezTo>
                  <a:cubicBezTo>
                    <a:pt x="62" y="72"/>
                    <a:pt x="62" y="72"/>
                    <a:pt x="62" y="72"/>
                  </a:cubicBezTo>
                  <a:cubicBezTo>
                    <a:pt x="74" y="72"/>
                    <a:pt x="74" y="72"/>
                    <a:pt x="74" y="72"/>
                  </a:cubicBezTo>
                  <a:cubicBezTo>
                    <a:pt x="73" y="62"/>
                    <a:pt x="73" y="62"/>
                    <a:pt x="73" y="62"/>
                  </a:cubicBezTo>
                  <a:cubicBezTo>
                    <a:pt x="73" y="22"/>
                    <a:pt x="73" y="22"/>
                    <a:pt x="73" y="22"/>
                  </a:cubicBezTo>
                  <a:cubicBezTo>
                    <a:pt x="74" y="14"/>
                    <a:pt x="74" y="14"/>
                    <a:pt x="74" y="14"/>
                  </a:cubicBezTo>
                  <a:cubicBezTo>
                    <a:pt x="66" y="14"/>
                    <a:pt x="66" y="14"/>
                    <a:pt x="66" y="14"/>
                  </a:cubicBezTo>
                  <a:cubicBezTo>
                    <a:pt x="41" y="14"/>
                    <a:pt x="41" y="14"/>
                    <a:pt x="41" y="14"/>
                  </a:cubicBezTo>
                  <a:cubicBezTo>
                    <a:pt x="41" y="8"/>
                    <a:pt x="41" y="8"/>
                    <a:pt x="41" y="8"/>
                  </a:cubicBezTo>
                  <a:cubicBezTo>
                    <a:pt x="42" y="0"/>
                    <a:pt x="42" y="0"/>
                    <a:pt x="42" y="0"/>
                  </a:cubicBezTo>
                  <a:cubicBezTo>
                    <a:pt x="30" y="0"/>
                    <a:pt x="30" y="0"/>
                    <a:pt x="30" y="0"/>
                  </a:cubicBezTo>
                  <a:cubicBezTo>
                    <a:pt x="30" y="8"/>
                    <a:pt x="30" y="8"/>
                    <a:pt x="30" y="8"/>
                  </a:cubicBezTo>
                  <a:cubicBezTo>
                    <a:pt x="30" y="14"/>
                    <a:pt x="30" y="14"/>
                    <a:pt x="30" y="14"/>
                  </a:cubicBezTo>
                  <a:cubicBezTo>
                    <a:pt x="9" y="14"/>
                    <a:pt x="9" y="14"/>
                    <a:pt x="9" y="14"/>
                  </a:cubicBezTo>
                  <a:cubicBezTo>
                    <a:pt x="0" y="14"/>
                    <a:pt x="0" y="14"/>
                    <a:pt x="0" y="14"/>
                  </a:cubicBezTo>
                  <a:lnTo>
                    <a:pt x="0" y="22"/>
                  </a:lnTo>
                  <a:close/>
                  <a:moveTo>
                    <a:pt x="12" y="47"/>
                  </a:moveTo>
                  <a:cubicBezTo>
                    <a:pt x="30" y="47"/>
                    <a:pt x="30" y="47"/>
                    <a:pt x="30" y="47"/>
                  </a:cubicBezTo>
                  <a:cubicBezTo>
                    <a:pt x="30" y="59"/>
                    <a:pt x="30" y="59"/>
                    <a:pt x="30" y="59"/>
                  </a:cubicBezTo>
                  <a:cubicBezTo>
                    <a:pt x="12" y="59"/>
                    <a:pt x="12" y="59"/>
                    <a:pt x="12" y="59"/>
                  </a:cubicBezTo>
                  <a:lnTo>
                    <a:pt x="12" y="47"/>
                  </a:lnTo>
                  <a:close/>
                  <a:moveTo>
                    <a:pt x="41" y="25"/>
                  </a:moveTo>
                  <a:cubicBezTo>
                    <a:pt x="62" y="25"/>
                    <a:pt x="62" y="25"/>
                    <a:pt x="62" y="25"/>
                  </a:cubicBezTo>
                  <a:cubicBezTo>
                    <a:pt x="62" y="37"/>
                    <a:pt x="62" y="37"/>
                    <a:pt x="62" y="37"/>
                  </a:cubicBezTo>
                  <a:cubicBezTo>
                    <a:pt x="41" y="37"/>
                    <a:pt x="41" y="37"/>
                    <a:pt x="41" y="37"/>
                  </a:cubicBezTo>
                  <a:lnTo>
                    <a:pt x="41" y="25"/>
                  </a:lnTo>
                  <a:close/>
                  <a:moveTo>
                    <a:pt x="41" y="47"/>
                  </a:moveTo>
                  <a:cubicBezTo>
                    <a:pt x="62" y="47"/>
                    <a:pt x="62" y="47"/>
                    <a:pt x="62" y="47"/>
                  </a:cubicBezTo>
                  <a:cubicBezTo>
                    <a:pt x="62" y="59"/>
                    <a:pt x="62" y="59"/>
                    <a:pt x="62" y="59"/>
                  </a:cubicBezTo>
                  <a:cubicBezTo>
                    <a:pt x="41" y="59"/>
                    <a:pt x="41" y="59"/>
                    <a:pt x="41" y="59"/>
                  </a:cubicBezTo>
                  <a:lnTo>
                    <a:pt x="41" y="47"/>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0" name="Freeform 63"/>
            <p:cNvSpPr>
              <a:spLocks noEditPoints="1"/>
            </p:cNvSpPr>
            <p:nvPr/>
          </p:nvSpPr>
          <p:spPr bwMode="auto">
            <a:xfrm>
              <a:off x="2661" y="394"/>
              <a:ext cx="304" cy="343"/>
            </a:xfrm>
            <a:custGeom>
              <a:avLst/>
              <a:gdLst>
                <a:gd name="T0" fmla="*/ 15 w 78"/>
                <a:gd name="T1" fmla="*/ 31 h 88"/>
                <a:gd name="T2" fmla="*/ 17 w 78"/>
                <a:gd name="T3" fmla="*/ 51 h 88"/>
                <a:gd name="T4" fmla="*/ 12 w 78"/>
                <a:gd name="T5" fmla="*/ 27 h 88"/>
                <a:gd name="T6" fmla="*/ 12 w 78"/>
                <a:gd name="T7" fmla="*/ 72 h 88"/>
                <a:gd name="T8" fmla="*/ 17 w 78"/>
                <a:gd name="T9" fmla="*/ 65 h 88"/>
                <a:gd name="T10" fmla="*/ 26 w 78"/>
                <a:gd name="T11" fmla="*/ 58 h 88"/>
                <a:gd name="T12" fmla="*/ 29 w 78"/>
                <a:gd name="T13" fmla="*/ 57 h 88"/>
                <a:gd name="T14" fmla="*/ 33 w 78"/>
                <a:gd name="T15" fmla="*/ 59 h 88"/>
                <a:gd name="T16" fmla="*/ 33 w 78"/>
                <a:gd name="T17" fmla="*/ 40 h 88"/>
                <a:gd name="T18" fmla="*/ 36 w 78"/>
                <a:gd name="T19" fmla="*/ 28 h 88"/>
                <a:gd name="T20" fmla="*/ 45 w 78"/>
                <a:gd name="T21" fmla="*/ 43 h 88"/>
                <a:gd name="T22" fmla="*/ 40 w 78"/>
                <a:gd name="T23" fmla="*/ 56 h 88"/>
                <a:gd name="T24" fmla="*/ 38 w 78"/>
                <a:gd name="T25" fmla="*/ 70 h 88"/>
                <a:gd name="T26" fmla="*/ 46 w 78"/>
                <a:gd name="T27" fmla="*/ 67 h 88"/>
                <a:gd name="T28" fmla="*/ 55 w 78"/>
                <a:gd name="T29" fmla="*/ 61 h 88"/>
                <a:gd name="T30" fmla="*/ 66 w 78"/>
                <a:gd name="T31" fmla="*/ 58 h 88"/>
                <a:gd name="T32" fmla="*/ 57 w 78"/>
                <a:gd name="T33" fmla="*/ 42 h 88"/>
                <a:gd name="T34" fmla="*/ 60 w 78"/>
                <a:gd name="T35" fmla="*/ 26 h 88"/>
                <a:gd name="T36" fmla="*/ 61 w 78"/>
                <a:gd name="T37" fmla="*/ 17 h 88"/>
                <a:gd name="T38" fmla="*/ 50 w 78"/>
                <a:gd name="T39" fmla="*/ 18 h 88"/>
                <a:gd name="T40" fmla="*/ 44 w 78"/>
                <a:gd name="T41" fmla="*/ 22 h 88"/>
                <a:gd name="T42" fmla="*/ 36 w 78"/>
                <a:gd name="T43" fmla="*/ 28 h 88"/>
                <a:gd name="T44" fmla="*/ 37 w 78"/>
                <a:gd name="T45" fmla="*/ 20 h 88"/>
                <a:gd name="T46" fmla="*/ 26 w 78"/>
                <a:gd name="T47" fmla="*/ 14 h 88"/>
                <a:gd name="T48" fmla="*/ 26 w 78"/>
                <a:gd name="T49" fmla="*/ 23 h 88"/>
                <a:gd name="T50" fmla="*/ 20 w 78"/>
                <a:gd name="T51" fmla="*/ 20 h 88"/>
                <a:gd name="T52" fmla="*/ 12 w 78"/>
                <a:gd name="T53" fmla="*/ 25 h 88"/>
                <a:gd name="T54" fmla="*/ 66 w 78"/>
                <a:gd name="T55" fmla="*/ 11 h 88"/>
                <a:gd name="T56" fmla="*/ 65 w 78"/>
                <a:gd name="T57" fmla="*/ 73 h 88"/>
                <a:gd name="T58" fmla="*/ 55 w 78"/>
                <a:gd name="T59" fmla="*/ 73 h 88"/>
                <a:gd name="T60" fmla="*/ 58 w 78"/>
                <a:gd name="T61" fmla="*/ 84 h 88"/>
                <a:gd name="T62" fmla="*/ 72 w 78"/>
                <a:gd name="T63" fmla="*/ 85 h 88"/>
                <a:gd name="T64" fmla="*/ 77 w 78"/>
                <a:gd name="T65" fmla="*/ 75 h 88"/>
                <a:gd name="T66" fmla="*/ 78 w 78"/>
                <a:gd name="T67" fmla="*/ 0 h 88"/>
                <a:gd name="T68" fmla="*/ 12 w 78"/>
                <a:gd name="T69" fmla="*/ 0 h 88"/>
                <a:gd name="T70" fmla="*/ 0 w 78"/>
                <a:gd name="T71" fmla="*/ 12 h 88"/>
                <a:gd name="T72" fmla="*/ 0 w 78"/>
                <a:gd name="T73" fmla="*/ 8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8" h="88">
                  <a:moveTo>
                    <a:pt x="12" y="27"/>
                  </a:moveTo>
                  <a:cubicBezTo>
                    <a:pt x="15" y="31"/>
                    <a:pt x="15" y="31"/>
                    <a:pt x="15" y="31"/>
                  </a:cubicBezTo>
                  <a:cubicBezTo>
                    <a:pt x="15" y="32"/>
                    <a:pt x="17" y="35"/>
                    <a:pt x="21" y="41"/>
                  </a:cubicBezTo>
                  <a:cubicBezTo>
                    <a:pt x="20" y="45"/>
                    <a:pt x="19" y="49"/>
                    <a:pt x="17" y="51"/>
                  </a:cubicBezTo>
                  <a:cubicBezTo>
                    <a:pt x="16" y="53"/>
                    <a:pt x="14" y="55"/>
                    <a:pt x="12" y="58"/>
                  </a:cubicBezTo>
                  <a:lnTo>
                    <a:pt x="12" y="27"/>
                  </a:lnTo>
                  <a:close/>
                  <a:moveTo>
                    <a:pt x="12" y="85"/>
                  </a:moveTo>
                  <a:cubicBezTo>
                    <a:pt x="12" y="72"/>
                    <a:pt x="12" y="72"/>
                    <a:pt x="12" y="72"/>
                  </a:cubicBezTo>
                  <a:cubicBezTo>
                    <a:pt x="12" y="60"/>
                    <a:pt x="12" y="60"/>
                    <a:pt x="12" y="60"/>
                  </a:cubicBezTo>
                  <a:cubicBezTo>
                    <a:pt x="15" y="62"/>
                    <a:pt x="16" y="64"/>
                    <a:pt x="17" y="65"/>
                  </a:cubicBezTo>
                  <a:cubicBezTo>
                    <a:pt x="18" y="66"/>
                    <a:pt x="19" y="67"/>
                    <a:pt x="19" y="68"/>
                  </a:cubicBezTo>
                  <a:cubicBezTo>
                    <a:pt x="23" y="63"/>
                    <a:pt x="25" y="60"/>
                    <a:pt x="26" y="58"/>
                  </a:cubicBezTo>
                  <a:cubicBezTo>
                    <a:pt x="27" y="57"/>
                    <a:pt x="27" y="55"/>
                    <a:pt x="28" y="54"/>
                  </a:cubicBezTo>
                  <a:cubicBezTo>
                    <a:pt x="29" y="57"/>
                    <a:pt x="29" y="57"/>
                    <a:pt x="29" y="57"/>
                  </a:cubicBezTo>
                  <a:cubicBezTo>
                    <a:pt x="30" y="57"/>
                    <a:pt x="30" y="59"/>
                    <a:pt x="31" y="61"/>
                  </a:cubicBezTo>
                  <a:cubicBezTo>
                    <a:pt x="33" y="59"/>
                    <a:pt x="33" y="59"/>
                    <a:pt x="33" y="59"/>
                  </a:cubicBezTo>
                  <a:cubicBezTo>
                    <a:pt x="34" y="57"/>
                    <a:pt x="36" y="56"/>
                    <a:pt x="40" y="54"/>
                  </a:cubicBezTo>
                  <a:cubicBezTo>
                    <a:pt x="38" y="49"/>
                    <a:pt x="35" y="44"/>
                    <a:pt x="33" y="40"/>
                  </a:cubicBezTo>
                  <a:cubicBezTo>
                    <a:pt x="34" y="36"/>
                    <a:pt x="34" y="36"/>
                    <a:pt x="34" y="36"/>
                  </a:cubicBezTo>
                  <a:cubicBezTo>
                    <a:pt x="34" y="35"/>
                    <a:pt x="35" y="33"/>
                    <a:pt x="36" y="28"/>
                  </a:cubicBezTo>
                  <a:cubicBezTo>
                    <a:pt x="39" y="32"/>
                    <a:pt x="41" y="35"/>
                    <a:pt x="41" y="36"/>
                  </a:cubicBezTo>
                  <a:cubicBezTo>
                    <a:pt x="42" y="37"/>
                    <a:pt x="43" y="39"/>
                    <a:pt x="45" y="43"/>
                  </a:cubicBezTo>
                  <a:cubicBezTo>
                    <a:pt x="44" y="48"/>
                    <a:pt x="44" y="48"/>
                    <a:pt x="44" y="48"/>
                  </a:cubicBezTo>
                  <a:cubicBezTo>
                    <a:pt x="43" y="51"/>
                    <a:pt x="41" y="53"/>
                    <a:pt x="40" y="56"/>
                  </a:cubicBezTo>
                  <a:cubicBezTo>
                    <a:pt x="38" y="59"/>
                    <a:pt x="35" y="62"/>
                    <a:pt x="32" y="66"/>
                  </a:cubicBezTo>
                  <a:cubicBezTo>
                    <a:pt x="35" y="68"/>
                    <a:pt x="37" y="69"/>
                    <a:pt x="38" y="70"/>
                  </a:cubicBezTo>
                  <a:cubicBezTo>
                    <a:pt x="39" y="71"/>
                    <a:pt x="41" y="72"/>
                    <a:pt x="42" y="73"/>
                  </a:cubicBezTo>
                  <a:cubicBezTo>
                    <a:pt x="43" y="71"/>
                    <a:pt x="45" y="69"/>
                    <a:pt x="46" y="67"/>
                  </a:cubicBezTo>
                  <a:cubicBezTo>
                    <a:pt x="47" y="66"/>
                    <a:pt x="49" y="62"/>
                    <a:pt x="52" y="56"/>
                  </a:cubicBezTo>
                  <a:cubicBezTo>
                    <a:pt x="55" y="61"/>
                    <a:pt x="55" y="61"/>
                    <a:pt x="55" y="61"/>
                  </a:cubicBezTo>
                  <a:cubicBezTo>
                    <a:pt x="55" y="62"/>
                    <a:pt x="56" y="63"/>
                    <a:pt x="57" y="66"/>
                  </a:cubicBezTo>
                  <a:cubicBezTo>
                    <a:pt x="60" y="63"/>
                    <a:pt x="63" y="60"/>
                    <a:pt x="66" y="58"/>
                  </a:cubicBezTo>
                  <a:cubicBezTo>
                    <a:pt x="64" y="54"/>
                    <a:pt x="64" y="54"/>
                    <a:pt x="64" y="54"/>
                  </a:cubicBezTo>
                  <a:cubicBezTo>
                    <a:pt x="64" y="54"/>
                    <a:pt x="62" y="50"/>
                    <a:pt x="57" y="42"/>
                  </a:cubicBezTo>
                  <a:cubicBezTo>
                    <a:pt x="58" y="35"/>
                    <a:pt x="58" y="35"/>
                    <a:pt x="58" y="35"/>
                  </a:cubicBezTo>
                  <a:cubicBezTo>
                    <a:pt x="59" y="33"/>
                    <a:pt x="59" y="30"/>
                    <a:pt x="60" y="26"/>
                  </a:cubicBezTo>
                  <a:cubicBezTo>
                    <a:pt x="61" y="20"/>
                    <a:pt x="61" y="20"/>
                    <a:pt x="61" y="20"/>
                  </a:cubicBezTo>
                  <a:cubicBezTo>
                    <a:pt x="61" y="19"/>
                    <a:pt x="61" y="18"/>
                    <a:pt x="61" y="17"/>
                  </a:cubicBezTo>
                  <a:cubicBezTo>
                    <a:pt x="58" y="17"/>
                    <a:pt x="54" y="16"/>
                    <a:pt x="50" y="15"/>
                  </a:cubicBezTo>
                  <a:cubicBezTo>
                    <a:pt x="50" y="18"/>
                    <a:pt x="50" y="18"/>
                    <a:pt x="50" y="18"/>
                  </a:cubicBezTo>
                  <a:cubicBezTo>
                    <a:pt x="50" y="20"/>
                    <a:pt x="49" y="24"/>
                    <a:pt x="49" y="28"/>
                  </a:cubicBezTo>
                  <a:cubicBezTo>
                    <a:pt x="47" y="26"/>
                    <a:pt x="45" y="24"/>
                    <a:pt x="44" y="22"/>
                  </a:cubicBezTo>
                  <a:cubicBezTo>
                    <a:pt x="42" y="24"/>
                    <a:pt x="42" y="24"/>
                    <a:pt x="42" y="24"/>
                  </a:cubicBezTo>
                  <a:cubicBezTo>
                    <a:pt x="41" y="25"/>
                    <a:pt x="39" y="26"/>
                    <a:pt x="36" y="28"/>
                  </a:cubicBezTo>
                  <a:cubicBezTo>
                    <a:pt x="37" y="22"/>
                    <a:pt x="37" y="22"/>
                    <a:pt x="37" y="22"/>
                  </a:cubicBezTo>
                  <a:cubicBezTo>
                    <a:pt x="37" y="22"/>
                    <a:pt x="37" y="21"/>
                    <a:pt x="37" y="20"/>
                  </a:cubicBezTo>
                  <a:cubicBezTo>
                    <a:pt x="38" y="18"/>
                    <a:pt x="38" y="17"/>
                    <a:pt x="38" y="16"/>
                  </a:cubicBezTo>
                  <a:cubicBezTo>
                    <a:pt x="33" y="15"/>
                    <a:pt x="30" y="15"/>
                    <a:pt x="26" y="14"/>
                  </a:cubicBezTo>
                  <a:cubicBezTo>
                    <a:pt x="26" y="18"/>
                    <a:pt x="26" y="18"/>
                    <a:pt x="26" y="18"/>
                  </a:cubicBezTo>
                  <a:cubicBezTo>
                    <a:pt x="26" y="20"/>
                    <a:pt x="26" y="21"/>
                    <a:pt x="26" y="23"/>
                  </a:cubicBezTo>
                  <a:cubicBezTo>
                    <a:pt x="26" y="24"/>
                    <a:pt x="25" y="26"/>
                    <a:pt x="25" y="27"/>
                  </a:cubicBezTo>
                  <a:cubicBezTo>
                    <a:pt x="23" y="25"/>
                    <a:pt x="21" y="22"/>
                    <a:pt x="20" y="20"/>
                  </a:cubicBezTo>
                  <a:cubicBezTo>
                    <a:pt x="18" y="22"/>
                    <a:pt x="16" y="23"/>
                    <a:pt x="15" y="24"/>
                  </a:cubicBezTo>
                  <a:cubicBezTo>
                    <a:pt x="14" y="24"/>
                    <a:pt x="13" y="25"/>
                    <a:pt x="12" y="25"/>
                  </a:cubicBezTo>
                  <a:cubicBezTo>
                    <a:pt x="12" y="11"/>
                    <a:pt x="12" y="11"/>
                    <a:pt x="12" y="11"/>
                  </a:cubicBezTo>
                  <a:cubicBezTo>
                    <a:pt x="66" y="11"/>
                    <a:pt x="66" y="11"/>
                    <a:pt x="66" y="11"/>
                  </a:cubicBezTo>
                  <a:cubicBezTo>
                    <a:pt x="66" y="70"/>
                    <a:pt x="66" y="70"/>
                    <a:pt x="66" y="70"/>
                  </a:cubicBezTo>
                  <a:cubicBezTo>
                    <a:pt x="66" y="72"/>
                    <a:pt x="66" y="72"/>
                    <a:pt x="65" y="73"/>
                  </a:cubicBezTo>
                  <a:cubicBezTo>
                    <a:pt x="65" y="74"/>
                    <a:pt x="63" y="74"/>
                    <a:pt x="61" y="74"/>
                  </a:cubicBezTo>
                  <a:cubicBezTo>
                    <a:pt x="59" y="74"/>
                    <a:pt x="57" y="74"/>
                    <a:pt x="55" y="73"/>
                  </a:cubicBezTo>
                  <a:cubicBezTo>
                    <a:pt x="56" y="77"/>
                    <a:pt x="56" y="77"/>
                    <a:pt x="56" y="77"/>
                  </a:cubicBezTo>
                  <a:cubicBezTo>
                    <a:pt x="58" y="80"/>
                    <a:pt x="58" y="82"/>
                    <a:pt x="58" y="84"/>
                  </a:cubicBezTo>
                  <a:cubicBezTo>
                    <a:pt x="59" y="85"/>
                    <a:pt x="59" y="87"/>
                    <a:pt x="59" y="88"/>
                  </a:cubicBezTo>
                  <a:cubicBezTo>
                    <a:pt x="65" y="87"/>
                    <a:pt x="69" y="86"/>
                    <a:pt x="72" y="85"/>
                  </a:cubicBezTo>
                  <a:cubicBezTo>
                    <a:pt x="75" y="84"/>
                    <a:pt x="76" y="83"/>
                    <a:pt x="77" y="81"/>
                  </a:cubicBezTo>
                  <a:cubicBezTo>
                    <a:pt x="77" y="79"/>
                    <a:pt x="77" y="77"/>
                    <a:pt x="77" y="75"/>
                  </a:cubicBezTo>
                  <a:cubicBezTo>
                    <a:pt x="77" y="12"/>
                    <a:pt x="77" y="12"/>
                    <a:pt x="77" y="12"/>
                  </a:cubicBezTo>
                  <a:cubicBezTo>
                    <a:pt x="78" y="0"/>
                    <a:pt x="78" y="0"/>
                    <a:pt x="78" y="0"/>
                  </a:cubicBezTo>
                  <a:cubicBezTo>
                    <a:pt x="66" y="0"/>
                    <a:pt x="66" y="0"/>
                    <a:pt x="66" y="0"/>
                  </a:cubicBezTo>
                  <a:cubicBezTo>
                    <a:pt x="12" y="0"/>
                    <a:pt x="12" y="0"/>
                    <a:pt x="12" y="0"/>
                  </a:cubicBezTo>
                  <a:cubicBezTo>
                    <a:pt x="0" y="0"/>
                    <a:pt x="0" y="0"/>
                    <a:pt x="0" y="0"/>
                  </a:cubicBezTo>
                  <a:cubicBezTo>
                    <a:pt x="0" y="12"/>
                    <a:pt x="0" y="12"/>
                    <a:pt x="0" y="12"/>
                  </a:cubicBezTo>
                  <a:cubicBezTo>
                    <a:pt x="0" y="72"/>
                    <a:pt x="0" y="72"/>
                    <a:pt x="0" y="72"/>
                  </a:cubicBezTo>
                  <a:cubicBezTo>
                    <a:pt x="0" y="85"/>
                    <a:pt x="0" y="85"/>
                    <a:pt x="0" y="85"/>
                  </a:cubicBezTo>
                  <a:lnTo>
                    <a:pt x="12" y="85"/>
                  </a:lnTo>
                  <a:close/>
                </a:path>
              </a:pathLst>
            </a:custGeom>
            <a:solidFill>
              <a:schemeClr val="bg1"/>
            </a:solidFill>
            <a:ln>
              <a:noFill/>
            </a:ln>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连接符 3"/>
          <p:cNvCxnSpPr/>
          <p:nvPr/>
        </p:nvCxnSpPr>
        <p:spPr bwMode="auto">
          <a:xfrm>
            <a:off x="323850" y="1125538"/>
            <a:ext cx="8424863" cy="0"/>
          </a:xfrm>
          <a:prstGeom prst="line">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38100" cap="flat" cmpd="sng" algn="ctr">
            <a:solidFill>
              <a:srgbClr val="0000FF"/>
            </a:solidFill>
            <a:prstDash val="solid"/>
            <a:round/>
            <a:headEnd type="none" w="med" len="med"/>
            <a:tailEnd type="none" w="med" len="med"/>
          </a:ln>
          <a:effectLst/>
        </p:spPr>
      </p:cxnSp>
      <p:sp>
        <p:nvSpPr>
          <p:cNvPr id="5" name="Rectangle 2"/>
          <p:cNvSpPr>
            <a:spLocks noGrp="1" noChangeArrowheads="1"/>
          </p:cNvSpPr>
          <p:nvPr>
            <p:ph type="title"/>
          </p:nvPr>
        </p:nvSpPr>
        <p:spPr>
          <a:xfrm>
            <a:off x="323850" y="115888"/>
            <a:ext cx="7597775" cy="838200"/>
          </a:xfrm>
        </p:spPr>
        <p:txBody>
          <a:bodyPr vert="horz" wrap="square" lIns="91440" tIns="45720" rIns="91440" bIns="45720" numCol="1" anchor="ctr" anchorCtr="0" compatLnSpc="1">
            <a:normAutofit/>
          </a:bodyPr>
          <a:lstStyle/>
          <a:p>
            <a:pPr marL="914400" marR="0" lvl="0" indent="-91440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sym typeface="Calibri" panose="020F0502020204030204" pitchFamily="34" charset="0"/>
              </a:rPr>
              <a:t>汇报提纲</a:t>
            </a:r>
            <a:endParaRPr kumimoji="0" lang="zh-CN" altLang="en-US" sz="4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sym typeface="Calibri" panose="020F0502020204030204" pitchFamily="34" charset="0"/>
            </a:endParaRPr>
          </a:p>
        </p:txBody>
      </p:sp>
      <p:sp>
        <p:nvSpPr>
          <p:cNvPr id="7172" name="Slide Number Placeholder 1"/>
          <p:cNvSpPr txBox="1">
            <a:spLocks noGrp="1"/>
          </p:cNvSpPr>
          <p:nvPr>
            <p:ph type="sldNum" sz="quarter" idx="12"/>
          </p:nvPr>
        </p:nvSpPr>
        <p:spPr>
          <a:xfrm>
            <a:off x="7005638" y="6492875"/>
            <a:ext cx="2133600" cy="365125"/>
          </a:xfrm>
        </p:spPr>
        <p:txBody>
          <a:bodyPr anchor="ctr" anchorCtr="0"/>
          <a:p>
            <a:pPr marL="0" indent="0" algn="r" eaLnBrk="1" hangingPunct="1">
              <a:spcBef>
                <a:spcPct val="0"/>
              </a:spcBef>
              <a:buNone/>
            </a:pPr>
            <a:fld id="{9A0DB2DC-4C9A-4742-B13C-FB6460FD3503}" type="slidenum">
              <a:rPr lang="zh-CN" altLang="en-US" sz="1600" b="1" dirty="0">
                <a:latin typeface="Times New Roman" panose="02020603050405020304" pitchFamily="18" charset="0"/>
                <a:ea typeface="黑体" panose="02010609060101010101" pitchFamily="49" charset="-122"/>
                <a:sym typeface="黑体" panose="02010609060101010101" pitchFamily="49" charset="-122"/>
              </a:rPr>
            </a:fld>
            <a:endParaRPr lang="zh-CN" altLang="en-US" sz="1600" b="1" dirty="0">
              <a:latin typeface="Times New Roman" panose="02020603050405020304" pitchFamily="18" charset="0"/>
              <a:ea typeface="黑体" panose="02010609060101010101" pitchFamily="49" charset="-122"/>
              <a:sym typeface="黑体" panose="02010609060101010101" pitchFamily="49" charset="-122"/>
            </a:endParaRPr>
          </a:p>
        </p:txBody>
      </p:sp>
      <p:sp>
        <p:nvSpPr>
          <p:cNvPr id="7173" name="TextBox 19"/>
          <p:cNvSpPr txBox="1"/>
          <p:nvPr/>
        </p:nvSpPr>
        <p:spPr>
          <a:xfrm>
            <a:off x="395288" y="1196975"/>
            <a:ext cx="7777162" cy="501586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nSpc>
                <a:spcPct val="200000"/>
              </a:lnSpc>
              <a:spcBef>
                <a:spcPct val="0"/>
              </a:spcBef>
              <a:buFont typeface="Wingdings" panose="05000000000000000000" pitchFamily="2" charset="2"/>
              <a:buChar char="n"/>
            </a:pPr>
            <a:r>
              <a:rPr lang="zh-CN" altLang="en-US" sz="3600" b="1" dirty="0">
                <a:solidFill>
                  <a:srgbClr val="FF0000"/>
                </a:solidFill>
                <a:latin typeface="微软雅黑" panose="020B0503020204020204" pitchFamily="34" charset="-122"/>
                <a:ea typeface="微软雅黑" panose="020B0503020204020204" pitchFamily="34" charset="-122"/>
              </a:rPr>
              <a:t> 项目背景及目标</a:t>
            </a:r>
            <a:endParaRPr lang="en-US" altLang="zh-CN" sz="3600" b="1" dirty="0">
              <a:solidFill>
                <a:srgbClr val="FF0000"/>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研究内容</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技术路线及调研工作</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进度安排</a:t>
            </a:r>
            <a:endParaRPr lang="en-US" altLang="zh-CN" sz="3600" b="1" dirty="0">
              <a:solidFill>
                <a:srgbClr val="0000FF"/>
              </a:solidFill>
              <a:latin typeface="Arial" panose="020B0604020202020204" pitchFamily="34" charset="0"/>
            </a:endParaRPr>
          </a:p>
          <a:p>
            <a:pPr marL="0" lvl="0" indent="0">
              <a:spcBef>
                <a:spcPct val="0"/>
              </a:spcBef>
              <a:buFontTx/>
              <a:buNone/>
            </a:pPr>
            <a:endParaRPr lang="en-US" altLang="zh-CN" b="1" dirty="0">
              <a:solidFill>
                <a:srgbClr val="FF0000"/>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连接符 3"/>
          <p:cNvCxnSpPr/>
          <p:nvPr/>
        </p:nvCxnSpPr>
        <p:spPr bwMode="auto">
          <a:xfrm>
            <a:off x="323850" y="981075"/>
            <a:ext cx="8424863" cy="0"/>
          </a:xfrm>
          <a:prstGeom prst="line">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38100" cap="flat" cmpd="sng" algn="ctr">
            <a:solidFill>
              <a:srgbClr val="0000FF"/>
            </a:solidFill>
            <a:prstDash val="solid"/>
            <a:round/>
            <a:headEnd type="none" w="med" len="med"/>
            <a:tailEnd type="none" w="med" len="med"/>
          </a:ln>
          <a:effectLst/>
        </p:spPr>
      </p:cxnSp>
      <p:sp>
        <p:nvSpPr>
          <p:cNvPr id="5" name="Rectangle 2"/>
          <p:cNvSpPr>
            <a:spLocks noGrp="1" noChangeArrowheads="1"/>
          </p:cNvSpPr>
          <p:nvPr>
            <p:ph type="title"/>
          </p:nvPr>
        </p:nvSpPr>
        <p:spPr>
          <a:xfrm>
            <a:off x="323850" y="115888"/>
            <a:ext cx="7597775" cy="838200"/>
          </a:xfrm>
        </p:spPr>
        <p:txBody>
          <a:bodyPr vert="horz" wrap="square" lIns="91440" tIns="45720" rIns="91440" bIns="45720" numCol="1" anchor="ctr" anchorCtr="0" compatLnSpc="1">
            <a:normAutofit/>
          </a:bodyPr>
          <a:lstStyle/>
          <a:p>
            <a:pPr marL="914400" marR="0" lvl="0" indent="-91440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项目背景及目标</a:t>
            </a:r>
            <a:endParaRPr kumimoji="0" lang="zh-CN" altLang="en-US" sz="4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9220" name="Slide Number Placeholder 1"/>
          <p:cNvSpPr txBox="1">
            <a:spLocks noGrp="1"/>
          </p:cNvSpPr>
          <p:nvPr>
            <p:ph type="sldNum" sz="quarter" idx="12"/>
          </p:nvPr>
        </p:nvSpPr>
        <p:spPr>
          <a:xfrm>
            <a:off x="7005638" y="6492875"/>
            <a:ext cx="2133600" cy="365125"/>
          </a:xfrm>
        </p:spPr>
        <p:txBody>
          <a:bodyPr anchor="ctr" anchorCtr="0"/>
          <a:p>
            <a:pPr marL="0" indent="0" algn="r" eaLnBrk="1" hangingPunct="1">
              <a:spcBef>
                <a:spcPct val="0"/>
              </a:spcBef>
              <a:buNone/>
            </a:pPr>
            <a:fld id="{9A0DB2DC-4C9A-4742-B13C-FB6460FD3503}" type="slidenum">
              <a:rPr lang="zh-CN" altLang="en-US" sz="1600" b="1" dirty="0">
                <a:latin typeface="Times New Roman" panose="02020603050405020304" pitchFamily="18" charset="0"/>
                <a:ea typeface="黑体" panose="02010609060101010101" pitchFamily="49" charset="-122"/>
                <a:sym typeface="黑体" panose="02010609060101010101" pitchFamily="49" charset="-122"/>
              </a:rPr>
            </a:fld>
            <a:endParaRPr lang="zh-CN" altLang="en-US" sz="1600" b="1" dirty="0">
              <a:latin typeface="Times New Roman" panose="02020603050405020304" pitchFamily="18" charset="0"/>
              <a:ea typeface="黑体" panose="02010609060101010101" pitchFamily="49" charset="-122"/>
              <a:sym typeface="黑体" panose="02010609060101010101" pitchFamily="49" charset="-122"/>
            </a:endParaRPr>
          </a:p>
        </p:txBody>
      </p:sp>
      <p:sp>
        <p:nvSpPr>
          <p:cNvPr id="37" name="TextBox 36"/>
          <p:cNvSpPr txBox="1"/>
          <p:nvPr/>
        </p:nvSpPr>
        <p:spPr>
          <a:xfrm>
            <a:off x="468313" y="1125538"/>
            <a:ext cx="8135938" cy="5262245"/>
          </a:xfrm>
          <a:prstGeom prst="rect">
            <a:avLst/>
          </a:prstGeom>
          <a:noFill/>
        </p:spPr>
        <p:txBody>
          <a:bodyPr>
            <a:spAutoFit/>
          </a:bodyPr>
          <a:lstStyle/>
          <a:p>
            <a:pPr marR="0" defTabSz="914400">
              <a:buClrTx/>
              <a:buSzTx/>
              <a:buFontTx/>
              <a:buNone/>
              <a:defRPr/>
            </a:pPr>
            <a:r>
              <a:rPr kumimoji="0" lang="zh-CN" altLang="en-US" sz="2400" b="1" kern="1200" cap="none" spc="0" normalizeH="0" baseline="0" noProof="0" dirty="0">
                <a:solidFill>
                  <a:srgbClr val="0000FF"/>
                </a:solidFill>
                <a:latin typeface="微软雅黑" panose="020B0503020204020204" pitchFamily="34" charset="-122"/>
                <a:ea typeface="微软雅黑" panose="020B0503020204020204" pitchFamily="34" charset="-122"/>
                <a:cs typeface="+mn-cs"/>
              </a:rPr>
              <a:t>项目背景</a:t>
            </a:r>
            <a:r>
              <a:rPr kumimoji="0" lang="zh-CN" altLang="en-US" sz="2400" b="1" kern="1200" cap="none" spc="0" normalizeH="0" baseline="0" noProof="0" dirty="0">
                <a:solidFill>
                  <a:srgbClr val="0000FF"/>
                </a:solidFill>
                <a:latin typeface="Arial" panose="020B0604020202020204" pitchFamily="34" charset="0"/>
                <a:ea typeface="宋体" panose="02010600030101010101" pitchFamily="2" charset="-122"/>
                <a:cs typeface="+mn-cs"/>
              </a:rPr>
              <a:t>：</a:t>
            </a:r>
            <a:endParaRPr kumimoji="0" lang="en-US" altLang="zh-CN" sz="2400" b="1" kern="1200" cap="none" spc="0" normalizeH="0" baseline="0" noProof="0" dirty="0">
              <a:solidFill>
                <a:srgbClr val="0000FF"/>
              </a:solidFill>
              <a:latin typeface="Arial" panose="020B0604020202020204" pitchFamily="34" charset="0"/>
              <a:ea typeface="宋体" panose="02010600030101010101" pitchFamily="2" charset="-122"/>
              <a:cs typeface="+mn-cs"/>
            </a:endParaRPr>
          </a:p>
          <a:p>
            <a:pPr marL="342900" marR="0" indent="-342900" defTabSz="914400">
              <a:lnSpc>
                <a:spcPct val="150000"/>
              </a:lnSpc>
              <a:buClrTx/>
              <a:buSzTx/>
              <a:buFont typeface="Wingdings" panose="05000000000000000000" pitchFamily="2" charset="2"/>
              <a:buChar char="Ø"/>
              <a:defRPr/>
            </a:pP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随着我国</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能源转型</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和</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电力体制改革</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的不断深入，虚拟电厂作为一种新型市场主体正在迅速发展。</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虚拟电厂</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通过聚合分布式能源、可控负荷和储能等灵活性资源，可以有效</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提高新能源消纳能力</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，增强电力系统灵活性，是</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构建新型电力系统的重要支撑</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a:t>
            </a:r>
            <a:endParaRPr kumimoji="0" lang="en-US" altLang="zh-CN" sz="1600" kern="1200" cap="none" spc="0" normalizeH="0" baseline="0" noProof="0" dirty="0">
              <a:latin typeface="微软雅黑" panose="020B0503020204020204" pitchFamily="34" charset="-122"/>
              <a:ea typeface="微软雅黑" panose="020B0503020204020204" pitchFamily="34" charset="-122"/>
              <a:cs typeface="+mn-cs"/>
            </a:endParaRPr>
          </a:p>
          <a:p>
            <a:pPr marL="342900" marR="0" indent="-342900" defTabSz="914400">
              <a:lnSpc>
                <a:spcPct val="150000"/>
              </a:lnSpc>
              <a:buClrTx/>
              <a:buSzTx/>
              <a:buFont typeface="Wingdings" panose="05000000000000000000" pitchFamily="2" charset="2"/>
              <a:buChar char="Ø"/>
              <a:defRPr/>
            </a:pP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近年来，国家和地方政府出台了一系列支持虚拟电厂发展的政策。</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2021</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年</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10</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月，国务院印发的</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《2030</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年前碳达峰行动方案</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明确提出</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引导虚拟电厂参与新型电力系统灵活调节</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2022</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年</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1</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月，国家发改委和国家能源局发布的</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十四五</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现代能源体系规划</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进一步要求推动虚拟电厂参与系统调节。</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2024</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年</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7</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月国家三部委发布</a:t>
            </a:r>
            <a:r>
              <a:rPr kumimoji="0" lang="en-US" altLang="zh-CN"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加快构建新型电力系统行动方案（</a:t>
            </a:r>
            <a:r>
              <a:rPr kumimoji="0" lang="en-US" altLang="zh-CN"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2024—2027</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年）</a:t>
            </a:r>
            <a:r>
              <a:rPr kumimoji="0" lang="en-US" altLang="zh-CN"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，要求加快</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建设一批虚拟电厂作为需求侧协同提升能力行动</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的重要举措。</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2025</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年</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3</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月，发改委和能源局发布</a:t>
            </a:r>
            <a:r>
              <a:rPr kumimoji="0" lang="en-US" altLang="zh-CN"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《关于加快推进虚拟电厂发展的指导意见》</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要求到</a:t>
            </a:r>
            <a:r>
              <a:rPr kumimoji="0" lang="en-US" altLang="zh-CN" sz="1600" b="1" kern="1200" cap="none" spc="0" normalizeH="0" baseline="0" noProof="0" dirty="0">
                <a:latin typeface="微软雅黑" panose="020B0503020204020204" pitchFamily="34" charset="-122"/>
                <a:ea typeface="微软雅黑" panose="020B0503020204020204" pitchFamily="34" charset="-122"/>
                <a:cs typeface="+mn-cs"/>
              </a:rPr>
              <a:t>2027</a:t>
            </a:r>
            <a:r>
              <a:rPr kumimoji="0" lang="zh-CN" altLang="en-US" sz="1600" b="1" kern="1200" cap="none" spc="0" normalizeH="0" baseline="0" noProof="0" dirty="0">
                <a:latin typeface="微软雅黑" panose="020B0503020204020204" pitchFamily="34" charset="-122"/>
                <a:ea typeface="微软雅黑" panose="020B0503020204020204" pitchFamily="34" charset="-122"/>
                <a:cs typeface="+mn-cs"/>
              </a:rPr>
              <a:t>年</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，虚拟电厂建设运行管理机制成熟规范，参与电力市场的机制健全完善，全国虚拟电厂调节能力达到</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2000</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万千瓦以上。到</a:t>
            </a:r>
            <a:r>
              <a:rPr kumimoji="0" lang="en-US" altLang="zh-CN" sz="1600" b="1" kern="1200" cap="none" spc="0" normalizeH="0" baseline="0" noProof="0" dirty="0">
                <a:latin typeface="微软雅黑" panose="020B0503020204020204" pitchFamily="34" charset="-122"/>
                <a:ea typeface="微软雅黑" panose="020B0503020204020204" pitchFamily="34" charset="-122"/>
                <a:cs typeface="+mn-cs"/>
              </a:rPr>
              <a:t>2030</a:t>
            </a:r>
            <a:r>
              <a:rPr kumimoji="0" lang="zh-CN" altLang="en-US" sz="1600" b="1" kern="1200" cap="none" spc="0" normalizeH="0" baseline="0" noProof="0" dirty="0">
                <a:latin typeface="微软雅黑" panose="020B0503020204020204" pitchFamily="34" charset="-122"/>
                <a:ea typeface="微软雅黑" panose="020B0503020204020204" pitchFamily="34" charset="-122"/>
                <a:cs typeface="+mn-cs"/>
              </a:rPr>
              <a:t>年</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，虚拟电厂应用场景进一步拓展，各类商业模式创新发展，全国虚拟电厂调节能力达到</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5000</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万千瓦以上。</a:t>
            </a:r>
            <a:endParaRPr kumimoji="0" lang="zh-CN" altLang="en-US" sz="1600" kern="1200" cap="none" spc="0" normalizeH="0" baseline="0" noProof="0" dirty="0">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Slide Number Placeholder 1"/>
          <p:cNvSpPr txBox="1">
            <a:spLocks noGrp="1"/>
          </p:cNvSpPr>
          <p:nvPr>
            <p:ph type="sldNum" sz="quarter" idx="12"/>
          </p:nvPr>
        </p:nvSpPr>
        <p:spPr>
          <a:xfrm>
            <a:off x="7005638" y="6492875"/>
            <a:ext cx="2133600" cy="365125"/>
          </a:xfrm>
        </p:spPr>
        <p:txBody>
          <a:bodyPr anchor="ctr" anchorCtr="0"/>
          <a:p>
            <a:pPr marL="0" indent="0" algn="r" eaLnBrk="1" hangingPunct="1">
              <a:spcBef>
                <a:spcPct val="0"/>
              </a:spcBef>
              <a:buNone/>
            </a:pPr>
            <a:fld id="{9A0DB2DC-4C9A-4742-B13C-FB6460FD3503}" type="slidenum">
              <a:rPr lang="zh-CN" altLang="en-US" sz="1600" b="1" dirty="0">
                <a:latin typeface="Times New Roman" panose="02020603050405020304" pitchFamily="18" charset="0"/>
                <a:ea typeface="黑体" panose="02010609060101010101" pitchFamily="49" charset="-122"/>
                <a:sym typeface="黑体" panose="02010609060101010101" pitchFamily="49" charset="-122"/>
              </a:rPr>
            </a:fld>
            <a:endParaRPr lang="zh-CN" altLang="en-US" sz="1600" b="1" dirty="0">
              <a:latin typeface="Times New Roman" panose="02020603050405020304" pitchFamily="18" charset="0"/>
              <a:ea typeface="黑体" panose="02010609060101010101" pitchFamily="49" charset="-122"/>
              <a:sym typeface="黑体" panose="02010609060101010101" pitchFamily="49" charset="-122"/>
            </a:endParaRPr>
          </a:p>
        </p:txBody>
      </p:sp>
      <p:sp>
        <p:nvSpPr>
          <p:cNvPr id="37" name="TextBox 36"/>
          <p:cNvSpPr txBox="1"/>
          <p:nvPr/>
        </p:nvSpPr>
        <p:spPr>
          <a:xfrm>
            <a:off x="468630" y="1125855"/>
            <a:ext cx="8280400" cy="5420360"/>
          </a:xfrm>
          <a:prstGeom prst="rect">
            <a:avLst/>
          </a:prstGeom>
          <a:noFill/>
        </p:spPr>
        <p:txBody>
          <a:bodyPr>
            <a:noAutofit/>
          </a:bodyPr>
          <a:lstStyle/>
          <a:p>
            <a:pPr marR="0" defTabSz="914400">
              <a:buClrTx/>
              <a:buSzTx/>
              <a:buFontTx/>
              <a:buNone/>
              <a:defRPr/>
            </a:pPr>
            <a:r>
              <a:rPr kumimoji="0" lang="zh-CN" altLang="en-US" sz="2800" b="1" kern="1200" cap="none" spc="0" normalizeH="0" baseline="0" noProof="0" dirty="0">
                <a:solidFill>
                  <a:srgbClr val="0000FF"/>
                </a:solidFill>
                <a:latin typeface="微软雅黑" panose="020B0503020204020204" pitchFamily="34" charset="-122"/>
                <a:ea typeface="微软雅黑" panose="020B0503020204020204" pitchFamily="34" charset="-122"/>
                <a:cs typeface="+mn-cs"/>
              </a:rPr>
              <a:t>项目背景</a:t>
            </a:r>
            <a:r>
              <a:rPr kumimoji="0" lang="zh-CN" altLang="en-US" sz="2800" b="1" kern="1200" cap="none" spc="0" normalizeH="0" baseline="0" noProof="0" dirty="0">
                <a:solidFill>
                  <a:srgbClr val="0000FF"/>
                </a:solidFill>
                <a:latin typeface="Arial" panose="020B0604020202020204" pitchFamily="34" charset="0"/>
                <a:ea typeface="宋体" panose="02010600030101010101" pitchFamily="2" charset="-122"/>
                <a:cs typeface="+mn-cs"/>
              </a:rPr>
              <a:t>：</a:t>
            </a:r>
            <a:endParaRPr kumimoji="0" lang="en-US" altLang="zh-CN" sz="2800" b="1" kern="1200" cap="none" spc="0" normalizeH="0" baseline="0" noProof="0" dirty="0">
              <a:solidFill>
                <a:srgbClr val="0000FF"/>
              </a:solidFill>
              <a:latin typeface="Arial" panose="020B0604020202020204" pitchFamily="34" charset="0"/>
              <a:ea typeface="宋体" panose="02010600030101010101" pitchFamily="2" charset="-122"/>
              <a:cs typeface="+mn-cs"/>
            </a:endParaRPr>
          </a:p>
          <a:p>
            <a:pPr marL="342900" marR="0" indent="-342900" defTabSz="914400">
              <a:lnSpc>
                <a:spcPct val="150000"/>
              </a:lnSpc>
              <a:buClrTx/>
              <a:buSzTx/>
              <a:buFont typeface="Wingdings" panose="05000000000000000000" pitchFamily="2" charset="2"/>
              <a:buChar char="Ø"/>
              <a:defRPr/>
            </a:pPr>
            <a:endParaRPr kumimoji="0" lang="zh-CN" altLang="en-US" sz="1600" kern="1200" cap="none" spc="0" normalizeH="0" baseline="0" noProof="0" dirty="0">
              <a:latin typeface="微软雅黑" panose="020B0503020204020204" pitchFamily="34" charset="-122"/>
              <a:ea typeface="微软雅黑" panose="020B0503020204020204" pitchFamily="34" charset="-122"/>
              <a:cs typeface="+mn-cs"/>
            </a:endParaRPr>
          </a:p>
          <a:p>
            <a:pPr marL="342900" marR="0" indent="-342900" defTabSz="914400">
              <a:lnSpc>
                <a:spcPct val="150000"/>
              </a:lnSpc>
              <a:buClrTx/>
              <a:buSzTx/>
              <a:buFont typeface="Wingdings" panose="05000000000000000000" pitchFamily="2" charset="2"/>
              <a:buChar char="Ø"/>
              <a:defRPr/>
            </a:pP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华中区域电力市场也在积极推进虚拟电厂参与。</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2024</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年</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7</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月华中能监局发布的</a:t>
            </a:r>
            <a:r>
              <a:rPr kumimoji="0" lang="en-US" altLang="zh-CN"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华中区域省间电力中长期交易规则</a:t>
            </a:r>
            <a:r>
              <a:rPr kumimoji="0" lang="en-US" altLang="zh-CN"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明确</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允许虚拟电厂参与省间交易</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，并对其准入条件做出了规定。然而，</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虚拟电厂作为新型市场主体</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，其参与华中区域电网运行的潜力、调峰调频服务的调控策略、现货交易市场机制、风险评估与管理制度仍有待深入研究。</a:t>
            </a:r>
            <a:endParaRPr kumimoji="0" lang="en-US" altLang="zh-CN" sz="1600" kern="1200" cap="none" spc="0" normalizeH="0" baseline="0" noProof="0" dirty="0">
              <a:latin typeface="微软雅黑" panose="020B0503020204020204" pitchFamily="34" charset="-122"/>
              <a:ea typeface="微软雅黑" panose="020B0503020204020204" pitchFamily="34" charset="-122"/>
              <a:cs typeface="+mn-cs"/>
            </a:endParaRPr>
          </a:p>
          <a:p>
            <a:pPr marL="342900" marR="0" indent="-342900" defTabSz="914400">
              <a:lnSpc>
                <a:spcPct val="150000"/>
              </a:lnSpc>
              <a:buClrTx/>
              <a:buSzTx/>
              <a:buFont typeface="Wingdings" panose="05000000000000000000" pitchFamily="2" charset="2"/>
              <a:buChar char="Ø"/>
              <a:defRPr/>
            </a:pP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华中区域</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负荷尖峰化特征明显</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电力保供压力大</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，同时</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电源侧投资以新能源为主</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，预计</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2025</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年华中区域新能源装机将达到</a:t>
            </a:r>
            <a:r>
              <a:rPr kumimoji="0" lang="en-US" altLang="zh-CN" sz="1600" kern="1200" cap="none" spc="0" normalizeH="0" baseline="0" noProof="0" dirty="0">
                <a:latin typeface="微软雅黑" panose="020B0503020204020204" pitchFamily="34" charset="-122"/>
                <a:ea typeface="微软雅黑" panose="020B0503020204020204" pitchFamily="34" charset="-122"/>
                <a:cs typeface="+mn-cs"/>
              </a:rPr>
              <a:t>2.5</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亿千瓦。</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华中区域电网将面临明显的电力保供和能源结构转型压力</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，必须尽快实现“源随荷动”向“源网荷储协调互动”转变。因此，亟需研究</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虚拟电厂参与华中区域电网运行的经济调控策略与市场协同机制</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，通过</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健全区域市场体系</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，全面发挥虚拟电厂在</a:t>
            </a:r>
            <a:r>
              <a:rPr kumimoji="0" lang="zh-CN" altLang="en-US" sz="16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华中区域电网安全稳定绿色低碳运行</a:t>
            </a:r>
            <a:r>
              <a:rPr kumimoji="0" lang="zh-CN" altLang="en-US" sz="1600" kern="1200" cap="none" spc="0" normalizeH="0" baseline="0" noProof="0" dirty="0">
                <a:latin typeface="微软雅黑" panose="020B0503020204020204" pitchFamily="34" charset="-122"/>
                <a:ea typeface="微软雅黑" panose="020B0503020204020204" pitchFamily="34" charset="-122"/>
                <a:cs typeface="+mn-cs"/>
              </a:rPr>
              <a:t>中的作用。</a:t>
            </a:r>
            <a:endParaRPr kumimoji="0" lang="zh-CN" altLang="zh-CN" sz="1600" kern="1200" cap="none" spc="0" normalizeH="0" baseline="0" noProof="0" dirty="0">
              <a:latin typeface="微软雅黑" panose="020B0503020204020204" pitchFamily="34" charset="-122"/>
              <a:ea typeface="微软雅黑" panose="020B0503020204020204" pitchFamily="34" charset="-122"/>
              <a:cs typeface="+mn-cs"/>
            </a:endParaRPr>
          </a:p>
          <a:p>
            <a:pPr marL="342900" marR="0" indent="-342900" defTabSz="914400">
              <a:lnSpc>
                <a:spcPct val="150000"/>
              </a:lnSpc>
              <a:buClrTx/>
              <a:buSzTx/>
              <a:buFont typeface="Wingdings" panose="05000000000000000000" pitchFamily="2" charset="2"/>
              <a:buChar char="Ø"/>
              <a:defRPr/>
            </a:pPr>
            <a:endParaRPr kumimoji="0" lang="en-US" altLang="zh-CN" sz="2000" kern="1200" cap="none" spc="0" normalizeH="0" baseline="0" noProof="0" dirty="0">
              <a:latin typeface="微软雅黑" panose="020B0503020204020204" pitchFamily="34" charset="-122"/>
              <a:ea typeface="微软雅黑" panose="020B0503020204020204" pitchFamily="34" charset="-122"/>
              <a:cs typeface="+mn-cs"/>
            </a:endParaRPr>
          </a:p>
          <a:p>
            <a:pPr marL="342900" marR="0" indent="-342900" defTabSz="914400">
              <a:lnSpc>
                <a:spcPct val="150000"/>
              </a:lnSpc>
              <a:buClrTx/>
              <a:buSzTx/>
              <a:buFont typeface="Wingdings" panose="05000000000000000000" pitchFamily="2" charset="2"/>
              <a:buChar char="Ø"/>
              <a:defRPr/>
            </a:pPr>
            <a:endParaRPr kumimoji="0" lang="zh-CN" altLang="zh-CN" sz="2000" kern="1200" cap="none" spc="0" normalizeH="0" baseline="0" noProof="0" dirty="0">
              <a:latin typeface="微软雅黑" panose="020B0503020204020204" pitchFamily="34" charset="-122"/>
              <a:ea typeface="微软雅黑" panose="020B0503020204020204" pitchFamily="34" charset="-122"/>
              <a:cs typeface="+mn-cs"/>
            </a:endParaRPr>
          </a:p>
        </p:txBody>
      </p:sp>
      <p:cxnSp>
        <p:nvCxnSpPr>
          <p:cNvPr id="3" name="直接连接符 2"/>
          <p:cNvCxnSpPr/>
          <p:nvPr/>
        </p:nvCxnSpPr>
        <p:spPr bwMode="auto">
          <a:xfrm>
            <a:off x="323850" y="981075"/>
            <a:ext cx="8424863" cy="0"/>
          </a:xfrm>
          <a:prstGeom prst="line">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38100" cap="flat" cmpd="sng" algn="ctr">
            <a:solidFill>
              <a:srgbClr val="0000FF"/>
            </a:solidFill>
            <a:prstDash val="solid"/>
            <a:round/>
            <a:headEnd type="none" w="med" len="med"/>
            <a:tailEnd type="none" w="med" len="med"/>
          </a:ln>
          <a:effectLst/>
        </p:spPr>
      </p:cxnSp>
      <p:sp>
        <p:nvSpPr>
          <p:cNvPr id="6" name="Rectangle 2"/>
          <p:cNvSpPr>
            <a:spLocks noGrp="1" noChangeArrowheads="1"/>
          </p:cNvSpPr>
          <p:nvPr>
            <p:ph type="title"/>
          </p:nvPr>
        </p:nvSpPr>
        <p:spPr>
          <a:xfrm>
            <a:off x="323850" y="115888"/>
            <a:ext cx="7597775" cy="838200"/>
          </a:xfrm>
        </p:spPr>
        <p:txBody>
          <a:bodyPr vert="horz" wrap="square" lIns="91440" tIns="45720" rIns="91440" bIns="45720" numCol="1" anchor="ctr" anchorCtr="0" compatLnSpc="1">
            <a:normAutofit/>
          </a:bodyPr>
          <a:lstStyle/>
          <a:p>
            <a:pPr marL="914400" marR="0" lvl="0" indent="-91440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项目背景及目标</a:t>
            </a:r>
            <a:endParaRPr kumimoji="0" lang="zh-CN" altLang="en-US" sz="4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Slide Number Placeholder 1"/>
          <p:cNvSpPr txBox="1">
            <a:spLocks noGrp="1"/>
          </p:cNvSpPr>
          <p:nvPr>
            <p:ph type="sldNum" sz="quarter" idx="12"/>
          </p:nvPr>
        </p:nvSpPr>
        <p:spPr>
          <a:xfrm>
            <a:off x="7005638" y="6492875"/>
            <a:ext cx="2133600" cy="365125"/>
          </a:xfrm>
        </p:spPr>
        <p:txBody>
          <a:bodyPr anchor="ctr" anchorCtr="0"/>
          <a:p>
            <a:pPr marL="0" indent="0" algn="r" eaLnBrk="1" hangingPunct="1">
              <a:spcBef>
                <a:spcPct val="0"/>
              </a:spcBef>
              <a:buNone/>
            </a:pPr>
            <a:fld id="{9A0DB2DC-4C9A-4742-B13C-FB6460FD3503}" type="slidenum">
              <a:rPr lang="zh-CN" altLang="en-US" sz="1600" b="1" dirty="0">
                <a:latin typeface="Times New Roman" panose="02020603050405020304" pitchFamily="18" charset="0"/>
                <a:ea typeface="黑体" panose="02010609060101010101" pitchFamily="49" charset="-122"/>
                <a:sym typeface="黑体" panose="02010609060101010101" pitchFamily="49" charset="-122"/>
              </a:rPr>
            </a:fld>
            <a:endParaRPr lang="zh-CN" altLang="en-US" sz="1600" b="1" dirty="0">
              <a:latin typeface="Times New Roman" panose="02020603050405020304" pitchFamily="18" charset="0"/>
              <a:ea typeface="黑体" panose="02010609060101010101" pitchFamily="49" charset="-122"/>
              <a:sym typeface="黑体" panose="02010609060101010101" pitchFamily="49" charset="-122"/>
            </a:endParaRPr>
          </a:p>
        </p:txBody>
      </p:sp>
      <p:sp>
        <p:nvSpPr>
          <p:cNvPr id="13315" name="TextBox 36"/>
          <p:cNvSpPr txBox="1"/>
          <p:nvPr/>
        </p:nvSpPr>
        <p:spPr>
          <a:xfrm>
            <a:off x="338138" y="1196975"/>
            <a:ext cx="8137525" cy="476948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2800" b="1" dirty="0">
                <a:solidFill>
                  <a:srgbClr val="0000FF"/>
                </a:solidFill>
                <a:latin typeface="微软雅黑" panose="020B0503020204020204" pitchFamily="34" charset="-122"/>
                <a:ea typeface="微软雅黑" panose="020B0503020204020204" pitchFamily="34" charset="-122"/>
              </a:rPr>
              <a:t>项目目标：</a:t>
            </a:r>
            <a:endParaRPr lang="en-US" altLang="zh-CN" sz="2800" b="1" dirty="0">
              <a:solidFill>
                <a:srgbClr val="0000FF"/>
              </a:solidFill>
              <a:latin typeface="微软雅黑" panose="020B0503020204020204" pitchFamily="34" charset="-122"/>
              <a:ea typeface="微软雅黑" panose="020B0503020204020204" pitchFamily="34" charset="-122"/>
            </a:endParaRPr>
          </a:p>
          <a:p>
            <a:pPr marL="0" lvl="0" indent="0">
              <a:lnSpc>
                <a:spcPct val="150000"/>
              </a:lnSpc>
              <a:spcBef>
                <a:spcPct val="0"/>
              </a:spcBef>
              <a:buFontTx/>
              <a:buNone/>
            </a:pPr>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marL="0" lvl="0" indent="457200">
              <a:lnSpc>
                <a:spcPct val="150000"/>
              </a:lnSpc>
              <a:spcBef>
                <a:spcPct val="0"/>
              </a:spcBef>
              <a:buFontTx/>
              <a:buNone/>
            </a:pPr>
            <a:r>
              <a:rPr lang="zh-CN" altLang="en-US" sz="2000" dirty="0">
                <a:latin typeface="微软雅黑" panose="020B0503020204020204" pitchFamily="34" charset="-122"/>
                <a:ea typeface="微软雅黑" panose="020B0503020204020204" pitchFamily="34" charset="-122"/>
              </a:rPr>
              <a:t>本项目在充分调研</a:t>
            </a:r>
            <a:r>
              <a:rPr lang="zh-CN" altLang="en-US" sz="2000" b="1" dirty="0">
                <a:solidFill>
                  <a:srgbClr val="FF0000"/>
                </a:solidFill>
                <a:latin typeface="微软雅黑" panose="020B0503020204020204" pitchFamily="34" charset="-122"/>
                <a:ea typeface="微软雅黑" panose="020B0503020204020204" pitchFamily="34" charset="-122"/>
              </a:rPr>
              <a:t>华中区域虚拟电厂建设和运营现状</a:t>
            </a:r>
            <a:r>
              <a:rPr lang="zh-CN" altLang="en-US" sz="2000" dirty="0">
                <a:latin typeface="微软雅黑" panose="020B0503020204020204" pitchFamily="34" charset="-122"/>
                <a:ea typeface="微软雅黑" panose="020B0503020204020204" pitchFamily="34" charset="-122"/>
              </a:rPr>
              <a:t>基础上，结合各省</a:t>
            </a:r>
            <a:r>
              <a:rPr lang="zh-CN" altLang="en-US" sz="2000" b="1" dirty="0">
                <a:solidFill>
                  <a:srgbClr val="FF0000"/>
                </a:solidFill>
                <a:latin typeface="微软雅黑" panose="020B0503020204020204" pitchFamily="34" charset="-122"/>
                <a:ea typeface="微软雅黑" panose="020B0503020204020204" pitchFamily="34" charset="-122"/>
              </a:rPr>
              <a:t>负荷特性</a:t>
            </a:r>
            <a:r>
              <a:rPr lang="zh-CN" altLang="en-US" sz="2000"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电源结构</a:t>
            </a:r>
            <a:r>
              <a:rPr lang="zh-CN" altLang="en-US" sz="2000"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输电通道容量</a:t>
            </a:r>
            <a:r>
              <a:rPr lang="zh-CN" altLang="en-US" sz="2000" dirty="0">
                <a:latin typeface="微软雅黑" panose="020B0503020204020204" pitchFamily="34" charset="-122"/>
                <a:ea typeface="微软雅黑" panose="020B0503020204020204" pitchFamily="34" charset="-122"/>
              </a:rPr>
              <a:t>等进行</a:t>
            </a:r>
            <a:r>
              <a:rPr lang="zh-CN" altLang="en-US" sz="2000" b="1" dirty="0">
                <a:solidFill>
                  <a:srgbClr val="FF0000"/>
                </a:solidFill>
                <a:latin typeface="微软雅黑" panose="020B0503020204020204" pitchFamily="34" charset="-122"/>
                <a:ea typeface="微软雅黑" panose="020B0503020204020204" pitchFamily="34" charset="-122"/>
              </a:rPr>
              <a:t>技术可行性分析</a:t>
            </a:r>
            <a:r>
              <a:rPr lang="zh-CN" altLang="en-US" sz="2000" dirty="0">
                <a:latin typeface="微软雅黑" panose="020B0503020204020204" pitchFamily="34" charset="-122"/>
                <a:ea typeface="微软雅黑" panose="020B0503020204020204" pitchFamily="34" charset="-122"/>
              </a:rPr>
              <a:t>和</a:t>
            </a:r>
            <a:r>
              <a:rPr lang="zh-CN" altLang="en-US" sz="2000" b="1" dirty="0">
                <a:solidFill>
                  <a:srgbClr val="FF0000"/>
                </a:solidFill>
                <a:latin typeface="微软雅黑" panose="020B0503020204020204" pitchFamily="34" charset="-122"/>
                <a:ea typeface="微软雅黑" panose="020B0503020204020204" pitchFamily="34" charset="-122"/>
              </a:rPr>
              <a:t>经济潜力分析</a:t>
            </a:r>
            <a:r>
              <a:rPr lang="zh-CN" altLang="en-US" sz="2000" dirty="0">
                <a:latin typeface="微软雅黑" panose="020B0503020204020204" pitchFamily="34" charset="-122"/>
                <a:ea typeface="微软雅黑" panose="020B0503020204020204" pitchFamily="34" charset="-122"/>
              </a:rPr>
              <a:t>，对虚拟电厂参与电力系统</a:t>
            </a:r>
            <a:r>
              <a:rPr lang="zh-CN" altLang="en-US" sz="2000" b="1" dirty="0">
                <a:solidFill>
                  <a:srgbClr val="FF0000"/>
                </a:solidFill>
                <a:latin typeface="微软雅黑" panose="020B0503020204020204" pitchFamily="34" charset="-122"/>
                <a:ea typeface="微软雅黑" panose="020B0503020204020204" pitchFamily="34" charset="-122"/>
              </a:rPr>
              <a:t>调峰调频服务</a:t>
            </a:r>
            <a:r>
              <a:rPr lang="zh-CN" altLang="en-US" sz="2000" dirty="0">
                <a:latin typeface="微软雅黑" panose="020B0503020204020204" pitchFamily="34" charset="-122"/>
                <a:ea typeface="微软雅黑" panose="020B0503020204020204" pitchFamily="34" charset="-122"/>
              </a:rPr>
              <a:t>的各个典型场景进行调控策略及经济性分析，研究虚拟电厂参与</a:t>
            </a:r>
            <a:r>
              <a:rPr lang="zh-CN" altLang="en-US" sz="2000" b="1" dirty="0">
                <a:solidFill>
                  <a:srgbClr val="FF0000"/>
                </a:solidFill>
                <a:latin typeface="微软雅黑" panose="020B0503020204020204" pitchFamily="34" charset="-122"/>
                <a:ea typeface="微软雅黑" panose="020B0503020204020204" pitchFamily="34" charset="-122"/>
              </a:rPr>
              <a:t>省间电力现货市场</a:t>
            </a:r>
            <a:r>
              <a:rPr lang="zh-CN" altLang="en-US" sz="2000" dirty="0">
                <a:latin typeface="微软雅黑" panose="020B0503020204020204" pitchFamily="34" charset="-122"/>
                <a:ea typeface="微软雅黑" panose="020B0503020204020204" pitchFamily="34" charset="-122"/>
              </a:rPr>
              <a:t>的机制，并从</a:t>
            </a:r>
            <a:r>
              <a:rPr lang="zh-CN" altLang="en-US" sz="2000" b="1" dirty="0">
                <a:solidFill>
                  <a:srgbClr val="FF0000"/>
                </a:solidFill>
                <a:latin typeface="微软雅黑" panose="020B0503020204020204" pitchFamily="34" charset="-122"/>
                <a:ea typeface="微软雅黑" panose="020B0503020204020204" pitchFamily="34" charset="-122"/>
              </a:rPr>
              <a:t>电网安全稳定运行</a:t>
            </a:r>
            <a:r>
              <a:rPr lang="zh-CN" altLang="en-US" sz="2000" dirty="0">
                <a:latin typeface="微软雅黑" panose="020B0503020204020204" pitchFamily="34" charset="-122"/>
                <a:ea typeface="微软雅黑" panose="020B0503020204020204" pitchFamily="34" charset="-122"/>
              </a:rPr>
              <a:t>的角度出发，对虚拟电厂规模化运行后给电网运行带来的风险进行评估以及制定应对管理策略，切实发挥</a:t>
            </a:r>
            <a:r>
              <a:rPr lang="zh-CN" altLang="en-US" sz="2000" b="1" dirty="0">
                <a:solidFill>
                  <a:srgbClr val="FF0000"/>
                </a:solidFill>
                <a:latin typeface="微软雅黑" panose="020B0503020204020204" pitchFamily="34" charset="-122"/>
                <a:ea typeface="微软雅黑" panose="020B0503020204020204" pitchFamily="34" charset="-122"/>
              </a:rPr>
              <a:t>虚拟电厂这一新型市场主体</a:t>
            </a:r>
            <a:r>
              <a:rPr lang="zh-CN" altLang="en-US" sz="2000" dirty="0">
                <a:latin typeface="微软雅黑" panose="020B0503020204020204" pitchFamily="34" charset="-122"/>
                <a:ea typeface="微软雅黑" panose="020B0503020204020204" pitchFamily="34" charset="-122"/>
              </a:rPr>
              <a:t>在</a:t>
            </a:r>
            <a:r>
              <a:rPr lang="zh-CN" altLang="en-US" sz="2000" b="1" dirty="0">
                <a:solidFill>
                  <a:srgbClr val="FF0000"/>
                </a:solidFill>
                <a:latin typeface="微软雅黑" panose="020B0503020204020204" pitchFamily="34" charset="-122"/>
                <a:ea typeface="微软雅黑" panose="020B0503020204020204" pitchFamily="34" charset="-122"/>
              </a:rPr>
              <a:t>资源优化配置</a:t>
            </a:r>
            <a:r>
              <a:rPr lang="zh-CN" altLang="en-US" sz="2000"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电力系统灵活调节</a:t>
            </a:r>
            <a:r>
              <a:rPr lang="zh-CN" altLang="en-US" sz="2000" dirty="0">
                <a:latin typeface="微软雅黑" panose="020B0503020204020204" pitchFamily="34" charset="-122"/>
                <a:ea typeface="微软雅黑" panose="020B0503020204020204" pitchFamily="34" charset="-122"/>
              </a:rPr>
              <a:t>以及</a:t>
            </a:r>
            <a:r>
              <a:rPr lang="zh-CN" altLang="en-US" sz="2000" b="1" dirty="0">
                <a:solidFill>
                  <a:srgbClr val="FF0000"/>
                </a:solidFill>
                <a:latin typeface="微软雅黑" panose="020B0503020204020204" pitchFamily="34" charset="-122"/>
                <a:ea typeface="微软雅黑" panose="020B0503020204020204" pitchFamily="34" charset="-122"/>
              </a:rPr>
              <a:t>新型电力系统构建</a:t>
            </a:r>
            <a:r>
              <a:rPr lang="zh-CN" altLang="en-US" sz="2000" dirty="0">
                <a:latin typeface="微软雅黑" panose="020B0503020204020204" pitchFamily="34" charset="-122"/>
                <a:ea typeface="微软雅黑" panose="020B0503020204020204" pitchFamily="34" charset="-122"/>
              </a:rPr>
              <a:t>和</a:t>
            </a:r>
            <a:r>
              <a:rPr lang="zh-CN" altLang="en-US" sz="2000" b="1" dirty="0">
                <a:solidFill>
                  <a:srgbClr val="FF0000"/>
                </a:solidFill>
                <a:latin typeface="微软雅黑" panose="020B0503020204020204" pitchFamily="34" charset="-122"/>
                <a:ea typeface="微软雅黑" panose="020B0503020204020204" pitchFamily="34" charset="-122"/>
              </a:rPr>
              <a:t>能源绿色低碳转型</a:t>
            </a:r>
            <a:r>
              <a:rPr lang="zh-CN" altLang="en-US" sz="2000" dirty="0">
                <a:latin typeface="微软雅黑" panose="020B0503020204020204" pitchFamily="34" charset="-122"/>
                <a:ea typeface="微软雅黑" panose="020B0503020204020204" pitchFamily="34" charset="-122"/>
              </a:rPr>
              <a:t>中的重要作用。</a:t>
            </a:r>
            <a:endParaRPr lang="zh-CN" altLang="en-US" sz="2000" dirty="0">
              <a:latin typeface="微软雅黑" panose="020B0503020204020204" pitchFamily="34" charset="-122"/>
              <a:ea typeface="微软雅黑" panose="020B0503020204020204" pitchFamily="34" charset="-122"/>
            </a:endParaRPr>
          </a:p>
        </p:txBody>
      </p:sp>
      <p:cxnSp>
        <p:nvCxnSpPr>
          <p:cNvPr id="8" name="直接连接符 7"/>
          <p:cNvCxnSpPr/>
          <p:nvPr/>
        </p:nvCxnSpPr>
        <p:spPr bwMode="auto">
          <a:xfrm>
            <a:off x="323850" y="981075"/>
            <a:ext cx="8424863" cy="0"/>
          </a:xfrm>
          <a:prstGeom prst="line">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38100" cap="flat" cmpd="sng" algn="ctr">
            <a:solidFill>
              <a:srgbClr val="0000FF"/>
            </a:solidFill>
            <a:prstDash val="solid"/>
            <a:round/>
            <a:headEnd type="none" w="med" len="med"/>
            <a:tailEnd type="none" w="med" len="med"/>
          </a:ln>
          <a:effectLst/>
        </p:spPr>
      </p:cxnSp>
      <p:sp>
        <p:nvSpPr>
          <p:cNvPr id="9" name="Rectangle 2"/>
          <p:cNvSpPr>
            <a:spLocks noGrp="1" noChangeArrowheads="1"/>
          </p:cNvSpPr>
          <p:nvPr>
            <p:ph type="title"/>
          </p:nvPr>
        </p:nvSpPr>
        <p:spPr>
          <a:xfrm>
            <a:off x="323850" y="115888"/>
            <a:ext cx="7597775" cy="838200"/>
          </a:xfrm>
        </p:spPr>
        <p:txBody>
          <a:bodyPr vert="horz" wrap="square" lIns="91440" tIns="45720" rIns="91440" bIns="45720" numCol="1" anchor="ctr" anchorCtr="0" compatLnSpc="1">
            <a:normAutofit/>
          </a:bodyPr>
          <a:lstStyle/>
          <a:p>
            <a:pPr marL="914400" marR="0" lvl="0" indent="-91440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项目背景及目标</a:t>
            </a:r>
            <a:endParaRPr kumimoji="0" lang="zh-CN" altLang="en-US" sz="4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连接符 3"/>
          <p:cNvCxnSpPr/>
          <p:nvPr/>
        </p:nvCxnSpPr>
        <p:spPr bwMode="auto">
          <a:xfrm>
            <a:off x="323850" y="1125538"/>
            <a:ext cx="8424863" cy="0"/>
          </a:xfrm>
          <a:prstGeom prst="line">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38100" cap="flat" cmpd="sng" algn="ctr">
            <a:solidFill>
              <a:srgbClr val="0000FF"/>
            </a:solidFill>
            <a:prstDash val="solid"/>
            <a:round/>
            <a:headEnd type="none" w="med" len="med"/>
            <a:tailEnd type="none" w="med" len="med"/>
          </a:ln>
          <a:effectLst/>
        </p:spPr>
      </p:cxnSp>
      <p:sp>
        <p:nvSpPr>
          <p:cNvPr id="5" name="Rectangle 2"/>
          <p:cNvSpPr>
            <a:spLocks noGrp="1" noChangeArrowheads="1"/>
          </p:cNvSpPr>
          <p:nvPr>
            <p:ph type="title"/>
          </p:nvPr>
        </p:nvSpPr>
        <p:spPr>
          <a:xfrm>
            <a:off x="323850" y="115888"/>
            <a:ext cx="7597775" cy="838200"/>
          </a:xfrm>
        </p:spPr>
        <p:txBody>
          <a:bodyPr vert="horz" wrap="square" lIns="91440" tIns="45720" rIns="91440" bIns="45720" numCol="1" anchor="ctr" anchorCtr="0" compatLnSpc="1">
            <a:normAutofit/>
          </a:bodyPr>
          <a:lstStyle/>
          <a:p>
            <a:pPr marL="914400" marR="0" lvl="0" indent="-91440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sym typeface="Calibri" panose="020F0502020204030204" pitchFamily="34" charset="0"/>
              </a:rPr>
              <a:t>汇报提纲</a:t>
            </a:r>
            <a:endParaRPr kumimoji="0" lang="zh-CN" altLang="en-US" sz="4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sym typeface="Calibri" panose="020F0502020204030204" pitchFamily="34" charset="0"/>
            </a:endParaRPr>
          </a:p>
        </p:txBody>
      </p:sp>
      <p:sp>
        <p:nvSpPr>
          <p:cNvPr id="15364" name="Slide Number Placeholder 1"/>
          <p:cNvSpPr txBox="1">
            <a:spLocks noGrp="1"/>
          </p:cNvSpPr>
          <p:nvPr>
            <p:ph type="sldNum" sz="quarter" idx="12"/>
          </p:nvPr>
        </p:nvSpPr>
        <p:spPr>
          <a:xfrm>
            <a:off x="7005638" y="6492875"/>
            <a:ext cx="2133600" cy="365125"/>
          </a:xfrm>
        </p:spPr>
        <p:txBody>
          <a:bodyPr anchor="ctr" anchorCtr="0"/>
          <a:p>
            <a:pPr marL="0" indent="0" algn="r" eaLnBrk="1" hangingPunct="1">
              <a:spcBef>
                <a:spcPct val="0"/>
              </a:spcBef>
              <a:buNone/>
            </a:pPr>
            <a:fld id="{9A0DB2DC-4C9A-4742-B13C-FB6460FD3503}" type="slidenum">
              <a:rPr lang="zh-CN" altLang="en-US" sz="1600" b="1" dirty="0">
                <a:latin typeface="Times New Roman" panose="02020603050405020304" pitchFamily="18" charset="0"/>
                <a:ea typeface="黑体" panose="02010609060101010101" pitchFamily="49" charset="-122"/>
                <a:sym typeface="黑体" panose="02010609060101010101" pitchFamily="49" charset="-122"/>
              </a:rPr>
            </a:fld>
            <a:endParaRPr lang="zh-CN" altLang="en-US" sz="1600" b="1" dirty="0">
              <a:latin typeface="Times New Roman" panose="02020603050405020304" pitchFamily="18" charset="0"/>
              <a:ea typeface="黑体" panose="02010609060101010101" pitchFamily="49" charset="-122"/>
              <a:sym typeface="黑体" panose="02010609060101010101" pitchFamily="49" charset="-122"/>
            </a:endParaRPr>
          </a:p>
        </p:txBody>
      </p:sp>
      <p:sp>
        <p:nvSpPr>
          <p:cNvPr id="15365" name="TextBox 19"/>
          <p:cNvSpPr txBox="1"/>
          <p:nvPr/>
        </p:nvSpPr>
        <p:spPr>
          <a:xfrm>
            <a:off x="395288" y="1196975"/>
            <a:ext cx="7777162" cy="501586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项目背景及目标</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FF0000"/>
                </a:solidFill>
                <a:latin typeface="微软雅黑" panose="020B0503020204020204" pitchFamily="34" charset="-122"/>
                <a:ea typeface="微软雅黑" panose="020B0503020204020204" pitchFamily="34" charset="-122"/>
              </a:rPr>
              <a:t> 研究内容</a:t>
            </a:r>
            <a:endParaRPr lang="en-US" altLang="zh-CN" sz="3600" b="1" dirty="0">
              <a:solidFill>
                <a:srgbClr val="FF0000"/>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技术路线及调研工作</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进度安排</a:t>
            </a:r>
            <a:endParaRPr lang="en-US" altLang="zh-CN" sz="3600" b="1" dirty="0">
              <a:solidFill>
                <a:srgbClr val="0000FF"/>
              </a:solidFill>
              <a:latin typeface="Arial" panose="020B0604020202020204" pitchFamily="34" charset="0"/>
            </a:endParaRPr>
          </a:p>
          <a:p>
            <a:pPr marL="0" lvl="0" indent="0">
              <a:spcBef>
                <a:spcPct val="0"/>
              </a:spcBef>
              <a:buFontTx/>
              <a:buNone/>
            </a:pPr>
            <a:endParaRPr lang="en-US" altLang="zh-CN" b="1" dirty="0">
              <a:solidFill>
                <a:srgbClr val="FF0000"/>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17411" name="Text Box 2"/>
          <p:cNvSpPr/>
          <p:nvPr/>
        </p:nvSpPr>
        <p:spPr>
          <a:xfrm>
            <a:off x="287338" y="228600"/>
            <a:ext cx="7813675" cy="7683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400" b="1" dirty="0">
                <a:solidFill>
                  <a:srgbClr val="FF0000"/>
                </a:solidFill>
                <a:latin typeface="黑体" panose="02010609060101010101" pitchFamily="49" charset="-122"/>
                <a:ea typeface="黑体" panose="02010609060101010101" pitchFamily="49" charset="-122"/>
                <a:sym typeface="黑体" panose="02010609060101010101" pitchFamily="49" charset="-122"/>
              </a:rPr>
              <a:t>研究内容</a:t>
            </a:r>
            <a:endParaRPr lang="en-US" altLang="zh-CN" sz="4400" b="1" dirty="0">
              <a:solidFill>
                <a:srgbClr val="0000FF"/>
              </a:solidFill>
            </a:endParaRPr>
          </a:p>
        </p:txBody>
      </p:sp>
      <p:graphicFrame>
        <p:nvGraphicFramePr>
          <p:cNvPr id="8197" name="表格 14"/>
          <p:cNvGraphicFramePr>
            <a:graphicFrameLocks noGrp="1"/>
          </p:cNvGraphicFramePr>
          <p:nvPr>
            <p:custDataLst>
              <p:tags r:id="rId1"/>
            </p:custDataLst>
          </p:nvPr>
        </p:nvGraphicFramePr>
        <p:xfrm>
          <a:off x="251460" y="1341120"/>
          <a:ext cx="8519795" cy="5083810"/>
        </p:xfrm>
        <a:graphic>
          <a:graphicData uri="http://schemas.openxmlformats.org/drawingml/2006/table">
            <a:tbl>
              <a:tblPr firstRow="1" bandRow="1">
                <a:tableStyleId>{4DC18C1D-BDCA-4A22-9011-F874BA03C812}</a:tableStyleId>
              </a:tblPr>
              <a:tblGrid>
                <a:gridCol w="530225"/>
                <a:gridCol w="3584575"/>
                <a:gridCol w="4404995"/>
              </a:tblGrid>
              <a:tr h="472440">
                <a:tc gridSpan="2">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25000"/>
                        </a:lnSpc>
                        <a:spcBef>
                          <a:spcPct val="0"/>
                        </a:spcBef>
                        <a:spcAft>
                          <a:spcPct val="0"/>
                        </a:spcAft>
                        <a:buClrTx/>
                        <a:buSzTx/>
                        <a:buFontTx/>
                        <a:buNone/>
                      </a:pPr>
                      <a:r>
                        <a:rPr kumimoji="0" lang="zh-CN" altLang="en-US" sz="2000" u="none" strike="noStrike" cap="none" normalizeH="0" baseline="0" dirty="0">
                          <a:ln>
                            <a:noFill/>
                          </a:ln>
                          <a:solidFill>
                            <a:schemeClr val="bg1"/>
                          </a:solidFill>
                          <a:effectLst/>
                        </a:rPr>
                        <a:t>研究内容</a:t>
                      </a:r>
                      <a:endParaRPr kumimoji="0" lang="zh-CN" altLang="en-US" sz="2000" u="none" strike="noStrike" cap="none" normalizeH="0" baseline="0" dirty="0">
                        <a:ln>
                          <a:noFill/>
                        </a:ln>
                        <a:solidFill>
                          <a:schemeClr val="bg1"/>
                        </a:solidFill>
                        <a:effectLst/>
                      </a:endParaRPr>
                    </a:p>
                  </a:txBody>
                  <a:tcPr marT="45711" marB="45711" anchor="ctr" horzOverflow="overflow"/>
                </a:tc>
                <a:tc hMerge="1">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25000"/>
                        </a:lnSpc>
                        <a:spcBef>
                          <a:spcPct val="0"/>
                        </a:spcBef>
                        <a:spcAft>
                          <a:spcPct val="0"/>
                        </a:spcAft>
                        <a:buClrTx/>
                        <a:buSzTx/>
                        <a:buFontTx/>
                        <a:buNone/>
                      </a:pPr>
                      <a:r>
                        <a:rPr kumimoji="0" lang="zh-CN" altLang="en-US" sz="2000" u="none" strike="noStrike" cap="none" normalizeH="0" baseline="0">
                          <a:ln>
                            <a:noFill/>
                          </a:ln>
                          <a:solidFill>
                            <a:schemeClr val="bg1"/>
                          </a:solidFill>
                          <a:effectLst/>
                        </a:rPr>
                        <a:t>具体解释</a:t>
                      </a:r>
                      <a:endParaRPr kumimoji="0" lang="zh-CN" altLang="en-US" sz="2000" u="none" strike="noStrike" cap="none" normalizeH="0" baseline="0">
                        <a:ln>
                          <a:noFill/>
                        </a:ln>
                        <a:solidFill>
                          <a:schemeClr val="bg1"/>
                        </a:solidFill>
                        <a:effectLst/>
                      </a:endParaRPr>
                    </a:p>
                  </a:txBody>
                  <a:tcPr marT="45711" marB="45711" anchor="ctr" horzOverflow="overflow"/>
                </a:tc>
              </a:tr>
              <a:tr h="196532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en-US" sz="1800" u="none" strike="noStrike" cap="none" normalizeH="0" baseline="0">
                          <a:ln>
                            <a:noFill/>
                          </a:ln>
                          <a:effectLst/>
                        </a:rPr>
                        <a:t>1</a:t>
                      </a:r>
                      <a:endParaRPr kumimoji="0" lang="en-US" altLang="en-US" sz="1800" u="none" strike="noStrike" cap="none" normalizeH="0" baseline="0">
                        <a:ln>
                          <a:noFill/>
                        </a:ln>
                        <a:effectLst/>
                      </a:endParaRPr>
                    </a:p>
                  </a:txBody>
                  <a:tcPr marT="45711" marB="45711" anchor="ctr" horzOverflow="overflow">
                    <a:solidFill>
                      <a:schemeClr val="accent1">
                        <a:lumMod val="20000"/>
                        <a:lumOff val="80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25000"/>
                        </a:lnSpc>
                        <a:spcBef>
                          <a:spcPct val="0"/>
                        </a:spcBef>
                        <a:spcAft>
                          <a:spcPct val="0"/>
                        </a:spcAft>
                        <a:buClrTx/>
                        <a:buSzTx/>
                        <a:buFont typeface="Arial" panose="020B0604020202020204" pitchFamily="34" charset="0"/>
                        <a:buNone/>
                      </a:pPr>
                      <a:r>
                        <a:rPr kumimoji="0" lang="zh-CN" altLang="en-US" sz="1800" u="none" strike="noStrike" cap="none" normalizeH="0" baseline="0" dirty="0">
                          <a:ln>
                            <a:noFill/>
                          </a:ln>
                          <a:effectLst/>
                        </a:rPr>
                        <a:t>华中区域虚拟电厂发展现状及资源灵活调控潜力分析</a:t>
                      </a:r>
                      <a:endParaRPr kumimoji="0" lang="zh-CN" altLang="en-US" sz="1800" u="none" strike="noStrike" cap="none" normalizeH="0" baseline="0" dirty="0">
                        <a:ln>
                          <a:noFill/>
                        </a:ln>
                        <a:effectLst/>
                      </a:endParaRPr>
                    </a:p>
                  </a:txBody>
                  <a:tcPr marT="45711" marB="45711" anchor="ctr" horzOverflow="overflow"/>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调研华中区域虚拟电厂建设运营情况，包括数量、规模、类型等；</a:t>
                      </a:r>
                      <a:endParaRPr kumimoji="0" lang="en-US" altLang="zh-CN" sz="1600" u="none" strike="noStrike" cap="none" normalizeH="0" baseline="0" dirty="0">
                        <a:ln>
                          <a:noFill/>
                        </a:ln>
                        <a:effectLst/>
                      </a:endParaRPr>
                    </a:p>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分析华中区域虚拟电厂可调节资源特性，如分布式新能源、可控负荷、储能等；</a:t>
                      </a:r>
                      <a:endParaRPr kumimoji="0" lang="en-US" altLang="zh-CN" sz="1600" u="none" strike="noStrike" cap="none" normalizeH="0" baseline="0" dirty="0">
                        <a:ln>
                          <a:noFill/>
                        </a:ln>
                        <a:effectLst/>
                      </a:endParaRPr>
                    </a:p>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评估虚拟电厂参与省间电力市场的技术可行性和经济潜力。</a:t>
                      </a:r>
                      <a:endParaRPr kumimoji="0" lang="zh-CN" altLang="en-US" sz="1600" u="none" strike="noStrike" cap="none" normalizeH="0" baseline="0" dirty="0">
                        <a:ln>
                          <a:noFill/>
                        </a:ln>
                        <a:effectLst/>
                      </a:endParaRPr>
                    </a:p>
                  </a:txBody>
                  <a:tcPr marT="45711" marB="45711" anchor="ctr" horzOverflow="overflow"/>
                </a:tc>
              </a:tr>
              <a:tr h="264604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en-US" sz="1800" u="none" strike="noStrike" cap="none" normalizeH="0" baseline="0" dirty="0">
                          <a:ln>
                            <a:noFill/>
                          </a:ln>
                          <a:effectLst/>
                        </a:rPr>
                        <a:t>2</a:t>
                      </a:r>
                      <a:endParaRPr kumimoji="0" lang="en-US" altLang="en-US" sz="1800" u="none" strike="noStrike" cap="none" normalizeH="0" baseline="0" dirty="0">
                        <a:ln>
                          <a:noFill/>
                        </a:ln>
                        <a:effectLst/>
                      </a:endParaRPr>
                    </a:p>
                  </a:txBody>
                  <a:tcPr marT="45711" marB="45711" anchor="ctr" horzOverflow="overflow">
                    <a:solidFill>
                      <a:schemeClr val="accent1">
                        <a:lumMod val="20000"/>
                        <a:lumOff val="80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25000"/>
                        </a:lnSpc>
                        <a:spcBef>
                          <a:spcPct val="0"/>
                        </a:spcBef>
                        <a:spcAft>
                          <a:spcPct val="0"/>
                        </a:spcAft>
                        <a:buClrTx/>
                        <a:buSzTx/>
                        <a:buFont typeface="Arial" panose="020B0604020202020204" pitchFamily="34" charset="0"/>
                        <a:buNone/>
                      </a:pPr>
                      <a:r>
                        <a:rPr kumimoji="0" lang="zh-CN" altLang="en-US" sz="1800" u="none" strike="noStrike" cap="none" normalizeH="0" baseline="0" dirty="0">
                          <a:ln>
                            <a:noFill/>
                          </a:ln>
                          <a:effectLst/>
                        </a:rPr>
                        <a:t>虚拟电厂参与电力系统调峰调频服务的调控策略及经济性分析</a:t>
                      </a:r>
                      <a:endParaRPr kumimoji="0" lang="zh-CN" altLang="en-US" sz="1800" u="none" strike="noStrike" cap="none" normalizeH="0" baseline="0" dirty="0">
                        <a:ln>
                          <a:noFill/>
                        </a:ln>
                        <a:effectLst/>
                      </a:endParaRPr>
                    </a:p>
                  </a:txBody>
                  <a:tcPr marT="45711" marB="45711" anchor="ctr" horzOverflow="overflow"/>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从电网安全运行、电力平衡、系统调控等维度，选择典型场景研究虚拟电厂参与电力系统调峰调频服务的调控策略，包括设计实时功率分配策略，保证快速响应调频信号；</a:t>
                      </a:r>
                      <a:endParaRPr kumimoji="0" lang="en-US" altLang="zh-CN" sz="1600" u="none" strike="noStrike" cap="none" normalizeH="0" baseline="0" dirty="0">
                        <a:ln>
                          <a:noFill/>
                        </a:ln>
                        <a:effectLst/>
                      </a:endParaRPr>
                    </a:p>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设计实时调峰控制策略，协调虚拟电厂所含各类资源参与正反调峰等。同时从成本、收益两个维度对上述场景中的各种调控策略进行经济性分析。</a:t>
                      </a:r>
                      <a:endParaRPr kumimoji="0" lang="zh-CN" altLang="en-US" sz="1600" u="none" strike="noStrike" cap="none" normalizeH="0" baseline="0" dirty="0">
                        <a:ln>
                          <a:noFill/>
                        </a:ln>
                        <a:effectLst/>
                      </a:endParaRPr>
                    </a:p>
                  </a:txBody>
                  <a:tcPr marT="45711" marB="45711" anchor="ctr" horzOverflow="overflow"/>
                </a:tc>
              </a:tr>
            </a:tbl>
          </a:graphicData>
        </a:graphic>
      </p:graphicFrame>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19459" name="Text Box 2"/>
          <p:cNvSpPr/>
          <p:nvPr/>
        </p:nvSpPr>
        <p:spPr>
          <a:xfrm>
            <a:off x="287338" y="228600"/>
            <a:ext cx="8029575" cy="7683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400" b="1" dirty="0">
                <a:solidFill>
                  <a:srgbClr val="FF0000"/>
                </a:solidFill>
                <a:latin typeface="黑体" panose="02010609060101010101" pitchFamily="49" charset="-122"/>
                <a:ea typeface="黑体" panose="02010609060101010101" pitchFamily="49" charset="-122"/>
                <a:sym typeface="黑体" panose="02010609060101010101" pitchFamily="49" charset="-122"/>
              </a:rPr>
              <a:t>研究内容</a:t>
            </a:r>
            <a:endParaRPr lang="zh-CN" altLang="en-US" sz="44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graphicFrame>
        <p:nvGraphicFramePr>
          <p:cNvPr id="8197" name="表格 14"/>
          <p:cNvGraphicFramePr>
            <a:graphicFrameLocks noGrp="1"/>
          </p:cNvGraphicFramePr>
          <p:nvPr>
            <p:custDataLst>
              <p:tags r:id="rId1"/>
            </p:custDataLst>
          </p:nvPr>
        </p:nvGraphicFramePr>
        <p:xfrm>
          <a:off x="313055" y="1412875"/>
          <a:ext cx="8526780" cy="4890770"/>
        </p:xfrm>
        <a:graphic>
          <a:graphicData uri="http://schemas.openxmlformats.org/drawingml/2006/table">
            <a:tbl>
              <a:tblPr firstRow="1" bandRow="1">
                <a:tableStyleId>{C632A1DA-AC86-4508-A014-749AFEAAB151}</a:tableStyleId>
              </a:tblPr>
              <a:tblGrid>
                <a:gridCol w="569595"/>
                <a:gridCol w="3409950"/>
                <a:gridCol w="4547235"/>
              </a:tblGrid>
              <a:tr h="503555">
                <a:tc gridSpan="2">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25000"/>
                        </a:lnSpc>
                        <a:spcBef>
                          <a:spcPct val="0"/>
                        </a:spcBef>
                        <a:spcAft>
                          <a:spcPct val="0"/>
                        </a:spcAft>
                        <a:buClrTx/>
                        <a:buSzTx/>
                        <a:buFontTx/>
                        <a:buNone/>
                      </a:pPr>
                      <a:r>
                        <a:rPr kumimoji="0" lang="zh-CN" altLang="en-US" sz="2000" u="none" strike="noStrike" cap="none" normalizeH="0" baseline="0" dirty="0">
                          <a:ln>
                            <a:noFill/>
                          </a:ln>
                          <a:solidFill>
                            <a:schemeClr val="bg1"/>
                          </a:solidFill>
                          <a:effectLst/>
                        </a:rPr>
                        <a:t>研究内容</a:t>
                      </a:r>
                      <a:endParaRPr kumimoji="0" lang="zh-CN" altLang="en-US" sz="2000" u="none" strike="noStrike" cap="none" normalizeH="0" baseline="0" dirty="0">
                        <a:ln>
                          <a:noFill/>
                        </a:ln>
                        <a:solidFill>
                          <a:schemeClr val="bg1"/>
                        </a:solidFill>
                        <a:effectLst/>
                      </a:endParaRPr>
                    </a:p>
                  </a:txBody>
                  <a:tcPr marT="45710" marB="45710" anchor="ctr" horzOverflow="overflow"/>
                </a:tc>
                <a:tc hMerge="1">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25000"/>
                        </a:lnSpc>
                        <a:spcBef>
                          <a:spcPct val="0"/>
                        </a:spcBef>
                        <a:spcAft>
                          <a:spcPct val="0"/>
                        </a:spcAft>
                        <a:buClrTx/>
                        <a:buSzTx/>
                        <a:buFontTx/>
                        <a:buNone/>
                      </a:pPr>
                      <a:r>
                        <a:rPr kumimoji="0" lang="zh-CN" altLang="en-US" sz="2000" u="none" strike="noStrike" cap="none" normalizeH="0" baseline="0">
                          <a:ln>
                            <a:noFill/>
                          </a:ln>
                          <a:solidFill>
                            <a:schemeClr val="bg1"/>
                          </a:solidFill>
                          <a:effectLst/>
                        </a:rPr>
                        <a:t>具体解释</a:t>
                      </a:r>
                      <a:endParaRPr kumimoji="0" lang="zh-CN" altLang="en-US" sz="2000" u="none" strike="noStrike" cap="none" normalizeH="0" baseline="0">
                        <a:ln>
                          <a:noFill/>
                        </a:ln>
                        <a:solidFill>
                          <a:schemeClr val="bg1"/>
                        </a:solidFill>
                        <a:effectLst/>
                      </a:endParaRPr>
                    </a:p>
                  </a:txBody>
                  <a:tcPr marT="45710" marB="45710" anchor="ctr" horzOverflow="overflow"/>
                </a:tc>
              </a:tr>
              <a:tr h="237045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800" u="none" strike="noStrike" cap="none" normalizeH="0" baseline="0">
                          <a:ln>
                            <a:noFill/>
                          </a:ln>
                          <a:effectLst/>
                        </a:rPr>
                        <a:t>3</a:t>
                      </a:r>
                      <a:endParaRPr kumimoji="0" lang="en-US" altLang="zh-CN" sz="1800" u="none" strike="noStrike" cap="none" normalizeH="0" baseline="0">
                        <a:ln>
                          <a:noFill/>
                        </a:ln>
                        <a:effectLst/>
                      </a:endParaRPr>
                    </a:p>
                  </a:txBody>
                  <a:tcPr marT="45710" marB="45710" anchor="ctr" horzOverflow="overflow">
                    <a:solidFill>
                      <a:schemeClr val="accent1">
                        <a:lumMod val="20000"/>
                        <a:lumOff val="80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25000"/>
                        </a:lnSpc>
                        <a:spcBef>
                          <a:spcPct val="0"/>
                        </a:spcBef>
                        <a:spcAft>
                          <a:spcPct val="0"/>
                        </a:spcAft>
                        <a:buClrTx/>
                        <a:buSzTx/>
                        <a:buFont typeface="Arial" panose="020B0604020202020204" pitchFamily="34" charset="0"/>
                        <a:buNone/>
                      </a:pPr>
                      <a:r>
                        <a:rPr kumimoji="0" lang="zh-CN" altLang="en-US" sz="1800" u="none" strike="noStrike" cap="none" normalizeH="0" baseline="0" dirty="0">
                          <a:ln>
                            <a:noFill/>
                          </a:ln>
                          <a:effectLst/>
                        </a:rPr>
                        <a:t>虚拟电厂参与省间电力现货市场机制研究</a:t>
                      </a:r>
                      <a:endParaRPr kumimoji="0" lang="zh-CN" altLang="en-US" sz="1800" u="none" strike="noStrike" cap="none" normalizeH="0" baseline="0" dirty="0">
                        <a:ln>
                          <a:noFill/>
                        </a:ln>
                        <a:effectLst/>
                      </a:endParaRPr>
                    </a:p>
                  </a:txBody>
                  <a:tcPr marT="45710" marB="45710" anchor="ctr" horzOverflow="overflow"/>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完善虚拟电厂市场准入和退出机制；</a:t>
                      </a:r>
                      <a:endParaRPr kumimoji="0" lang="en-US" altLang="zh-CN" sz="1600" u="none" strike="noStrike" cap="none" normalizeH="0" baseline="0" dirty="0">
                        <a:ln>
                          <a:noFill/>
                        </a:ln>
                        <a:effectLst/>
                      </a:endParaRPr>
                    </a:p>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优化虚拟电厂参与省间（区域）日前、日内、实时等各时间尺度现货市场的交易规则，包括报价、出清、结算等；</a:t>
                      </a:r>
                      <a:endParaRPr kumimoji="0" lang="en-US" altLang="zh-CN" sz="1600" u="none" strike="noStrike" cap="none" normalizeH="0" baseline="0" dirty="0">
                        <a:ln>
                          <a:noFill/>
                        </a:ln>
                        <a:effectLst/>
                      </a:endParaRPr>
                    </a:p>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建立虚拟电厂提供辅助服务的补偿机制；完善虚拟电厂相关的技术标准和管理规范。</a:t>
                      </a:r>
                      <a:endParaRPr kumimoji="0" lang="zh-CN" altLang="en-US" sz="1600" u="none" strike="noStrike" cap="none" normalizeH="0" baseline="0" dirty="0">
                        <a:ln>
                          <a:noFill/>
                        </a:ln>
                        <a:effectLst/>
                      </a:endParaRPr>
                    </a:p>
                  </a:txBody>
                  <a:tcPr marT="45710" marB="45710" anchor="ctr" horzOverflow="overflow"/>
                </a:tc>
              </a:tr>
              <a:tr h="201676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800" u="none" strike="noStrike" cap="none" normalizeH="0" baseline="0">
                          <a:ln>
                            <a:noFill/>
                          </a:ln>
                          <a:effectLst/>
                        </a:rPr>
                        <a:t>4</a:t>
                      </a:r>
                      <a:endParaRPr kumimoji="0" lang="en-US" altLang="zh-CN" sz="1800" u="none" strike="noStrike" cap="none" normalizeH="0" baseline="0">
                        <a:ln>
                          <a:noFill/>
                        </a:ln>
                        <a:effectLst/>
                      </a:endParaRPr>
                    </a:p>
                  </a:txBody>
                  <a:tcPr marT="45710" marB="45710" anchor="ctr" horzOverflow="overflow">
                    <a:solidFill>
                      <a:schemeClr val="accent1">
                        <a:lumMod val="20000"/>
                        <a:lumOff val="80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ctr" defTabSz="914400" rtl="0" eaLnBrk="1" fontAlgn="base" latinLnBrk="0" hangingPunct="1">
                        <a:lnSpc>
                          <a:spcPct val="125000"/>
                        </a:lnSpc>
                        <a:spcBef>
                          <a:spcPct val="0"/>
                        </a:spcBef>
                        <a:spcAft>
                          <a:spcPct val="0"/>
                        </a:spcAft>
                        <a:buClrTx/>
                        <a:buSzTx/>
                        <a:buFont typeface="Arial" panose="020B0604020202020204" pitchFamily="34" charset="0"/>
                        <a:buNone/>
                      </a:pPr>
                      <a:r>
                        <a:rPr kumimoji="0" lang="zh-CN" altLang="en-US" sz="1800" u="none" strike="noStrike" cap="none" normalizeH="0" baseline="0" dirty="0">
                          <a:ln>
                            <a:noFill/>
                          </a:ln>
                          <a:effectLst/>
                        </a:rPr>
                        <a:t>虚拟电厂对电网运行的风险评估及应对管理策略</a:t>
                      </a:r>
                      <a:endParaRPr kumimoji="0" lang="zh-CN" altLang="en-US" sz="1800" u="none" strike="noStrike" cap="none" normalizeH="0" baseline="0" dirty="0">
                        <a:ln>
                          <a:noFill/>
                        </a:ln>
                        <a:effectLst/>
                      </a:endParaRPr>
                    </a:p>
                  </a:txBody>
                  <a:tcPr marT="45710" marB="45710" anchor="ctr" horzOverflow="overflow"/>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对虚拟电厂成规模后市场力影响进行研究分析，评估对调控运行带来的风险；</a:t>
                      </a:r>
                      <a:endParaRPr kumimoji="0" lang="en-US" altLang="zh-CN" sz="1600" u="none" strike="noStrike" cap="none" normalizeH="0" baseline="0" dirty="0">
                        <a:ln>
                          <a:noFill/>
                        </a:ln>
                        <a:effectLst/>
                      </a:endParaRPr>
                    </a:p>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Char char="•"/>
                      </a:pPr>
                      <a:r>
                        <a:rPr kumimoji="0" lang="zh-CN" altLang="en-US" sz="1600" u="none" strike="noStrike" cap="none" normalizeH="0" baseline="0" dirty="0">
                          <a:ln>
                            <a:noFill/>
                          </a:ln>
                          <a:effectLst/>
                        </a:rPr>
                        <a:t>考虑不确定性的虚拟电厂运行风险应对方法，如预测误差、价格波动等，制定相应控制策略和管理机制。</a:t>
                      </a:r>
                      <a:endParaRPr kumimoji="0" lang="zh-CN" altLang="en-US" sz="1600" u="none" strike="noStrike" cap="none" normalizeH="0" baseline="0" dirty="0">
                        <a:ln>
                          <a:noFill/>
                        </a:ln>
                        <a:effectLst/>
                      </a:endParaRPr>
                    </a:p>
                  </a:txBody>
                  <a:tcPr marT="45710" marB="45710" anchor="ctr" horzOverflow="overflow"/>
                </a:tc>
              </a:tr>
            </a:tbl>
          </a:graphicData>
        </a:graphic>
      </p:graphicFrame>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1507" name="Text Box 2"/>
          <p:cNvSpPr/>
          <p:nvPr/>
        </p:nvSpPr>
        <p:spPr>
          <a:xfrm>
            <a:off x="287338" y="228600"/>
            <a:ext cx="7813675" cy="7683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400" b="1" dirty="0">
                <a:solidFill>
                  <a:srgbClr val="FF0000"/>
                </a:solidFill>
                <a:latin typeface="黑体" panose="02010609060101010101" pitchFamily="49" charset="-122"/>
                <a:ea typeface="黑体" panose="02010609060101010101" pitchFamily="49" charset="-122"/>
                <a:sym typeface="黑体" panose="02010609060101010101" pitchFamily="49" charset="-122"/>
              </a:rPr>
              <a:t>研究内容</a:t>
            </a:r>
            <a:endParaRPr lang="en-US" altLang="en-US" sz="1800" dirty="0">
              <a:latin typeface="Arial" panose="020B0604020202020204" pitchFamily="34" charset="0"/>
            </a:endParaRPr>
          </a:p>
        </p:txBody>
      </p:sp>
      <p:sp>
        <p:nvSpPr>
          <p:cNvPr id="21508" name="TextBox 10"/>
          <p:cNvSpPr/>
          <p:nvPr/>
        </p:nvSpPr>
        <p:spPr>
          <a:xfrm>
            <a:off x="377825" y="1052513"/>
            <a:ext cx="8461375" cy="52927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342900" lvl="0" indent="-342900" algn="just" eaLnBrk="1" hangingPunct="1">
              <a:lnSpc>
                <a:spcPct val="150000"/>
              </a:lnSpc>
              <a:spcBef>
                <a:spcPct val="0"/>
              </a:spcBef>
              <a:buFont typeface="Wingdings" panose="05000000000000000000" pitchFamily="2" charset="2"/>
              <a:buChar char="n"/>
            </a:pPr>
            <a:r>
              <a:rPr lang="zh-CN" altLang="en-US" sz="2400" b="1" dirty="0">
                <a:solidFill>
                  <a:srgbClr val="0000FF"/>
                </a:solidFill>
                <a:latin typeface="Heiti SC Medium" pitchFamily="2" charset="-128"/>
                <a:ea typeface="Heiti SC Medium" pitchFamily="2" charset="-128"/>
                <a:sym typeface="微软雅黑" panose="020B0503020204020204" pitchFamily="34" charset="-122"/>
              </a:rPr>
              <a:t>研究难点</a:t>
            </a:r>
            <a:endParaRPr lang="en-US" altLang="en-US" sz="2400" b="1" dirty="0">
              <a:solidFill>
                <a:srgbClr val="0000FF"/>
              </a:solidFill>
              <a:latin typeface="Heiti SC Medium" pitchFamily="2" charset="-128"/>
              <a:ea typeface="Heiti SC Medium" pitchFamily="2" charset="-128"/>
              <a:sym typeface="微软雅黑" panose="020B0503020204020204" pitchFamily="34" charset="-122"/>
            </a:endParaRPr>
          </a:p>
          <a:p>
            <a:pPr marL="342900" lvl="0" indent="-342900" algn="just" eaLnBrk="1" hangingPunct="1">
              <a:lnSpc>
                <a:spcPct val="114000"/>
              </a:lnSpc>
              <a:spcBef>
                <a:spcPct val="0"/>
              </a:spcBef>
              <a:spcAft>
                <a:spcPts val="600"/>
              </a:spcAft>
              <a:buNone/>
            </a:pPr>
            <a:r>
              <a:rPr lang="en-US" altLang="zh-CN" sz="1800" dirty="0">
                <a:solidFill>
                  <a:srgbClr val="000000"/>
                </a:solidFill>
                <a:latin typeface="Kaiti SC" pitchFamily="2" charset="-122"/>
                <a:ea typeface="Kaiti SC" pitchFamily="2" charset="-122"/>
                <a:sym typeface="微软雅黑" panose="020B0503020204020204" pitchFamily="34" charset="-122"/>
              </a:rPr>
              <a:t>1</a:t>
            </a:r>
            <a:r>
              <a:rPr lang="zh-CN" altLang="en-US" sz="1800" dirty="0">
                <a:solidFill>
                  <a:srgbClr val="000000"/>
                </a:solidFill>
                <a:latin typeface="Kaiti SC" pitchFamily="2" charset="-122"/>
                <a:ea typeface="Kaiti SC" pitchFamily="2" charset="-122"/>
                <a:sym typeface="微软雅黑" panose="020B0503020204020204" pitchFamily="34" charset="-122"/>
              </a:rPr>
              <a:t>）通过现场调研等方式</a:t>
            </a:r>
            <a:r>
              <a:rPr lang="zh-CN" altLang="en-US" sz="1800" b="1" dirty="0">
                <a:solidFill>
                  <a:srgbClr val="FF0000"/>
                </a:solidFill>
                <a:latin typeface="Kaiti SC" pitchFamily="2" charset="-122"/>
                <a:ea typeface="Kaiti SC" pitchFamily="2" charset="-122"/>
                <a:sym typeface="微软雅黑" panose="020B0503020204020204" pitchFamily="34" charset="-122"/>
              </a:rPr>
              <a:t>厘清当前华中电网区域虚拟电厂的规模、类型、能力和利益相关方构成</a:t>
            </a:r>
            <a:r>
              <a:rPr lang="zh-CN" altLang="en-US" sz="1800" dirty="0">
                <a:solidFill>
                  <a:srgbClr val="000000"/>
                </a:solidFill>
                <a:latin typeface="Kaiti SC" pitchFamily="2" charset="-122"/>
                <a:ea typeface="Kaiti SC" pitchFamily="2" charset="-122"/>
                <a:sym typeface="微软雅黑" panose="020B0503020204020204" pitchFamily="34" charset="-122"/>
              </a:rPr>
              <a:t>，基于实际情况</a:t>
            </a:r>
            <a:r>
              <a:rPr lang="zh-CN" altLang="en-US" sz="1800" b="1" dirty="0">
                <a:solidFill>
                  <a:srgbClr val="FF0000"/>
                </a:solidFill>
                <a:latin typeface="Kaiti SC" pitchFamily="2" charset="-122"/>
                <a:ea typeface="Kaiti SC" pitchFamily="2" charset="-122"/>
                <a:sym typeface="微软雅黑" panose="020B0503020204020204" pitchFamily="34" charset="-122"/>
              </a:rPr>
              <a:t>准确分析当前虚拟电厂运行中问题和挑战</a:t>
            </a:r>
            <a:r>
              <a:rPr lang="zh-CN" altLang="en-US" sz="1800" dirty="0">
                <a:solidFill>
                  <a:srgbClr val="000000"/>
                </a:solidFill>
                <a:latin typeface="Kaiti SC" pitchFamily="2" charset="-122"/>
                <a:ea typeface="Kaiti SC" pitchFamily="2" charset="-122"/>
                <a:sym typeface="微软雅黑" panose="020B0503020204020204" pitchFamily="34" charset="-122"/>
              </a:rPr>
              <a:t>，此为</a:t>
            </a:r>
            <a:r>
              <a:rPr lang="zh-CN" altLang="en-US" sz="1800" dirty="0">
                <a:latin typeface="Kaiti SC" pitchFamily="2" charset="-122"/>
                <a:ea typeface="Kaiti SC" pitchFamily="2" charset="-122"/>
                <a:sym typeface="微软雅黑" panose="020B0503020204020204" pitchFamily="34" charset="-122"/>
              </a:rPr>
              <a:t>项目基础</a:t>
            </a:r>
            <a:r>
              <a:rPr lang="zh-CN" altLang="en-US" sz="1800" dirty="0">
                <a:solidFill>
                  <a:srgbClr val="000000"/>
                </a:solidFill>
                <a:latin typeface="Kaiti SC" pitchFamily="2" charset="-122"/>
                <a:ea typeface="Kaiti SC" pitchFamily="2" charset="-122"/>
                <a:sym typeface="微软雅黑" panose="020B0503020204020204" pitchFamily="34" charset="-122"/>
              </a:rPr>
              <a:t>；</a:t>
            </a:r>
            <a:endParaRPr lang="zh-CN" altLang="en-US" sz="1800" dirty="0">
              <a:solidFill>
                <a:srgbClr val="000000"/>
              </a:solidFill>
              <a:latin typeface="Kaiti SC" pitchFamily="2" charset="-122"/>
              <a:ea typeface="Kaiti SC" pitchFamily="2" charset="-122"/>
              <a:sym typeface="微软雅黑" panose="020B0503020204020204" pitchFamily="34" charset="-122"/>
            </a:endParaRPr>
          </a:p>
          <a:p>
            <a:pPr marL="342900" lvl="0" indent="-342900" algn="just" eaLnBrk="1" hangingPunct="1">
              <a:lnSpc>
                <a:spcPct val="114000"/>
              </a:lnSpc>
              <a:spcBef>
                <a:spcPct val="0"/>
              </a:spcBef>
              <a:spcAft>
                <a:spcPts val="600"/>
              </a:spcAft>
              <a:buNone/>
            </a:pPr>
            <a:r>
              <a:rPr lang="en-US" altLang="zh-CN" sz="1800" dirty="0">
                <a:solidFill>
                  <a:srgbClr val="000000"/>
                </a:solidFill>
                <a:latin typeface="Kaiti SC" pitchFamily="2" charset="-122"/>
                <a:ea typeface="Kaiti SC" pitchFamily="2" charset="-122"/>
                <a:sym typeface="微软雅黑" panose="020B0503020204020204" pitchFamily="34" charset="-122"/>
              </a:rPr>
              <a:t>2</a:t>
            </a:r>
            <a:r>
              <a:rPr lang="zh-CN" altLang="en-US" sz="1800" dirty="0">
                <a:solidFill>
                  <a:srgbClr val="000000"/>
                </a:solidFill>
                <a:latin typeface="Kaiti SC" pitchFamily="2" charset="-122"/>
                <a:ea typeface="Kaiti SC" pitchFamily="2" charset="-122"/>
                <a:sym typeface="微软雅黑" panose="020B0503020204020204" pitchFamily="34" charset="-122"/>
              </a:rPr>
              <a:t>）</a:t>
            </a:r>
            <a:r>
              <a:rPr lang="zh-CN" altLang="en-US" sz="1800" b="1" dirty="0">
                <a:solidFill>
                  <a:srgbClr val="FF0000"/>
                </a:solidFill>
                <a:latin typeface="Kaiti SC" pitchFamily="2" charset="-122"/>
                <a:ea typeface="Kaiti SC" pitchFamily="2" charset="-122"/>
                <a:sym typeface="微软雅黑" panose="020B0503020204020204" pitchFamily="34" charset="-122"/>
              </a:rPr>
              <a:t>虚拟电厂参与电力系统调频调峰服务的工作模式和技术</a:t>
            </a:r>
            <a:r>
              <a:rPr lang="zh-CN" altLang="en-US" sz="1800" dirty="0">
                <a:solidFill>
                  <a:srgbClr val="000000"/>
                </a:solidFill>
                <a:latin typeface="Kaiti SC" pitchFamily="2" charset="-122"/>
                <a:ea typeface="Kaiti SC" pitchFamily="2" charset="-122"/>
                <a:sym typeface="微软雅黑" panose="020B0503020204020204" pitchFamily="34" charset="-122"/>
              </a:rPr>
              <a:t>要求复杂，调控策略涉及</a:t>
            </a:r>
            <a:r>
              <a:rPr lang="zh-CN" altLang="en-US" sz="1800" b="1" dirty="0">
                <a:solidFill>
                  <a:srgbClr val="FF0000"/>
                </a:solidFill>
                <a:latin typeface="Kaiti SC" pitchFamily="2" charset="-122"/>
                <a:ea typeface="Kaiti SC" pitchFamily="2" charset="-122"/>
                <a:sym typeface="微软雅黑" panose="020B0503020204020204" pitchFamily="34" charset="-122"/>
              </a:rPr>
              <a:t>虚拟电厂内部多类型资源与外部调度、交易的协同优化</a:t>
            </a:r>
            <a:r>
              <a:rPr lang="zh-CN" altLang="en-US" sz="1800" dirty="0">
                <a:solidFill>
                  <a:srgbClr val="000000"/>
                </a:solidFill>
                <a:latin typeface="Kaiti SC" pitchFamily="2" charset="-122"/>
                <a:ea typeface="Kaiti SC" pitchFamily="2" charset="-122"/>
                <a:sym typeface="微软雅黑" panose="020B0503020204020204" pitchFamily="34" charset="-122"/>
              </a:rPr>
              <a:t>，是典型的复杂多目标决策问题，其决策目标的设定与量化、决策变量的选择、约束条件的现实可信性、求解方法的设计与可规模化，都是重要的技术难点，需要综合考虑和权衡多种策略方案；</a:t>
            </a:r>
            <a:endParaRPr lang="zh-CN" altLang="en-US" sz="1800" dirty="0">
              <a:solidFill>
                <a:srgbClr val="000000"/>
              </a:solidFill>
              <a:latin typeface="Kaiti SC" pitchFamily="2" charset="-122"/>
              <a:ea typeface="Kaiti SC" pitchFamily="2" charset="-122"/>
              <a:sym typeface="微软雅黑" panose="020B0503020204020204" pitchFamily="34" charset="-122"/>
            </a:endParaRPr>
          </a:p>
          <a:p>
            <a:pPr marL="342900" lvl="0" indent="-342900" algn="just" eaLnBrk="1" hangingPunct="1">
              <a:lnSpc>
                <a:spcPct val="114000"/>
              </a:lnSpc>
              <a:spcBef>
                <a:spcPct val="0"/>
              </a:spcBef>
              <a:spcAft>
                <a:spcPts val="600"/>
              </a:spcAft>
              <a:buNone/>
            </a:pPr>
            <a:r>
              <a:rPr lang="en-US" altLang="zh-CN" sz="1800" dirty="0">
                <a:solidFill>
                  <a:srgbClr val="000000"/>
                </a:solidFill>
                <a:latin typeface="Kaiti SC" pitchFamily="2" charset="-122"/>
                <a:ea typeface="Kaiti SC" pitchFamily="2" charset="-122"/>
                <a:sym typeface="微软雅黑" panose="020B0503020204020204" pitchFamily="34" charset="-122"/>
              </a:rPr>
              <a:t>3</a:t>
            </a:r>
            <a:r>
              <a:rPr lang="zh-CN" altLang="en-US" sz="1800" dirty="0">
                <a:solidFill>
                  <a:srgbClr val="000000"/>
                </a:solidFill>
                <a:latin typeface="Kaiti SC" pitchFamily="2" charset="-122"/>
                <a:ea typeface="Kaiti SC" pitchFamily="2" charset="-122"/>
                <a:sym typeface="微软雅黑" panose="020B0503020204020204" pitchFamily="34" charset="-122"/>
              </a:rPr>
              <a:t>）综合考虑虚拟电厂在省间现货电力市场的交易规则所涉及的</a:t>
            </a:r>
            <a:r>
              <a:rPr lang="zh-CN" altLang="en-US" sz="1800" b="1" dirty="0">
                <a:solidFill>
                  <a:srgbClr val="FF0000"/>
                </a:solidFill>
                <a:latin typeface="Kaiti SC" pitchFamily="2" charset="-122"/>
                <a:ea typeface="Kaiti SC" pitchFamily="2" charset="-122"/>
                <a:sym typeface="微软雅黑" panose="020B0503020204020204" pitchFamily="34" charset="-122"/>
              </a:rPr>
              <a:t>现行条块性政策框架、调度与交易时序衔接、出清与结算边界</a:t>
            </a:r>
            <a:r>
              <a:rPr lang="zh-CN" altLang="en-US" sz="1800" dirty="0">
                <a:solidFill>
                  <a:srgbClr val="000000"/>
                </a:solidFill>
                <a:latin typeface="Kaiti SC" pitchFamily="2" charset="-122"/>
                <a:ea typeface="Kaiti SC" pitchFamily="2" charset="-122"/>
                <a:sym typeface="微软雅黑" panose="020B0503020204020204" pitchFamily="34" charset="-122"/>
              </a:rPr>
              <a:t>等需要设计创新性分析框架，推演理论依据，因此具有很高难度，是本项目的关键点和难点； </a:t>
            </a:r>
            <a:endParaRPr lang="zh-CN" altLang="en-US" sz="1800" dirty="0">
              <a:solidFill>
                <a:srgbClr val="000000"/>
              </a:solidFill>
              <a:latin typeface="Kaiti SC" pitchFamily="2" charset="-122"/>
              <a:ea typeface="Kaiti SC" pitchFamily="2" charset="-122"/>
              <a:sym typeface="微软雅黑" panose="020B0503020204020204" pitchFamily="34" charset="-122"/>
            </a:endParaRPr>
          </a:p>
          <a:p>
            <a:pPr marL="342900" lvl="0" indent="-342900" algn="just" eaLnBrk="1" hangingPunct="1">
              <a:lnSpc>
                <a:spcPct val="114000"/>
              </a:lnSpc>
              <a:spcBef>
                <a:spcPct val="0"/>
              </a:spcBef>
              <a:spcAft>
                <a:spcPts val="600"/>
              </a:spcAft>
              <a:buNone/>
            </a:pPr>
            <a:r>
              <a:rPr lang="en-US" altLang="zh-CN" sz="1800" dirty="0">
                <a:solidFill>
                  <a:srgbClr val="000000"/>
                </a:solidFill>
                <a:latin typeface="Kaiti SC" pitchFamily="2" charset="-122"/>
                <a:ea typeface="Kaiti SC" pitchFamily="2" charset="-122"/>
                <a:sym typeface="微软雅黑" panose="020B0503020204020204" pitchFamily="34" charset="-122"/>
              </a:rPr>
              <a:t>4</a:t>
            </a:r>
            <a:r>
              <a:rPr lang="zh-CN" altLang="en-US" sz="1800" dirty="0">
                <a:solidFill>
                  <a:srgbClr val="000000"/>
                </a:solidFill>
                <a:latin typeface="Kaiti SC" pitchFamily="2" charset="-122"/>
                <a:ea typeface="Kaiti SC" pitchFamily="2" charset="-122"/>
                <a:sym typeface="微软雅黑" panose="020B0503020204020204" pitchFamily="34" charset="-122"/>
              </a:rPr>
              <a:t>）虚拟电厂参与市场的管理制度以及对其的风险管理策略，既要</a:t>
            </a:r>
            <a:r>
              <a:rPr lang="zh-CN" altLang="en-US" sz="1800" b="1" dirty="0">
                <a:solidFill>
                  <a:srgbClr val="FF0000"/>
                </a:solidFill>
                <a:latin typeface="Kaiti SC" pitchFamily="2" charset="-122"/>
                <a:ea typeface="Kaiti SC" pitchFamily="2" charset="-122"/>
                <a:sym typeface="微软雅黑" panose="020B0503020204020204" pitchFamily="34" charset="-122"/>
              </a:rPr>
              <a:t>对现行政策规定进行针对性解构分析</a:t>
            </a:r>
            <a:r>
              <a:rPr lang="zh-CN" altLang="en-US" sz="1800" dirty="0">
                <a:solidFill>
                  <a:srgbClr val="000000"/>
                </a:solidFill>
                <a:latin typeface="Kaiti SC" pitchFamily="2" charset="-122"/>
                <a:ea typeface="Kaiti SC" pitchFamily="2" charset="-122"/>
                <a:sym typeface="微软雅黑" panose="020B0503020204020204" pitchFamily="34" charset="-122"/>
              </a:rPr>
              <a:t>，又需要</a:t>
            </a:r>
            <a:r>
              <a:rPr lang="zh-CN" altLang="en-US" sz="1800" b="1" dirty="0">
                <a:solidFill>
                  <a:srgbClr val="FF0000"/>
                </a:solidFill>
                <a:latin typeface="Kaiti SC" pitchFamily="2" charset="-122"/>
                <a:ea typeface="Kaiti SC" pitchFamily="2" charset="-122"/>
                <a:sym typeface="微软雅黑" panose="020B0503020204020204" pitchFamily="34" charset="-122"/>
              </a:rPr>
              <a:t>创新性地提出管理规则与工作策略</a:t>
            </a:r>
            <a:r>
              <a:rPr lang="zh-CN" altLang="en-US" sz="1800" dirty="0">
                <a:solidFill>
                  <a:srgbClr val="000000"/>
                </a:solidFill>
                <a:latin typeface="Kaiti SC" pitchFamily="2" charset="-122"/>
                <a:ea typeface="Kaiti SC" pitchFamily="2" charset="-122"/>
                <a:sym typeface="微软雅黑" panose="020B0503020204020204" pitchFamily="34" charset="-122"/>
              </a:rPr>
              <a:t>，将考验项目研究的系统性思维。</a:t>
            </a:r>
            <a:endParaRPr lang="zh-CN" altLang="en-US" sz="1800" dirty="0">
              <a:solidFill>
                <a:srgbClr val="000000"/>
              </a:solidFill>
              <a:latin typeface="Kaiti SC" pitchFamily="2" charset="-122"/>
              <a:ea typeface="Kaiti SC" pitchFamily="2" charset="-122"/>
              <a:sym typeface="微软雅黑" panose="020B0503020204020204" pitchFamily="34"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2531" name="Text Box 2"/>
          <p:cNvSpPr/>
          <p:nvPr/>
        </p:nvSpPr>
        <p:spPr>
          <a:xfrm>
            <a:off x="287338" y="228600"/>
            <a:ext cx="7813675" cy="7683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400" b="1" dirty="0">
                <a:solidFill>
                  <a:srgbClr val="FF0000"/>
                </a:solidFill>
                <a:latin typeface="黑体" panose="02010609060101010101" pitchFamily="49" charset="-122"/>
                <a:ea typeface="黑体" panose="02010609060101010101" pitchFamily="49" charset="-122"/>
                <a:sym typeface="黑体" panose="02010609060101010101" pitchFamily="49" charset="-122"/>
              </a:rPr>
              <a:t>研究内容</a:t>
            </a:r>
            <a:endParaRPr lang="en-US" altLang="en-US" sz="1800" dirty="0">
              <a:latin typeface="Arial" panose="020B0604020202020204" pitchFamily="34" charset="0"/>
            </a:endParaRPr>
          </a:p>
        </p:txBody>
      </p:sp>
      <p:sp>
        <p:nvSpPr>
          <p:cNvPr id="21508" name="TextBox 10"/>
          <p:cNvSpPr>
            <a:spLocks noChangeArrowheads="1"/>
          </p:cNvSpPr>
          <p:nvPr/>
        </p:nvSpPr>
        <p:spPr bwMode="auto">
          <a:xfrm>
            <a:off x="377825" y="1052513"/>
            <a:ext cx="8461375" cy="3484245"/>
          </a:xfrm>
          <a:prstGeom prst="rect">
            <a:avLst/>
          </a:prstGeom>
          <a:noFill/>
          <a:ln>
            <a:noFill/>
          </a:ln>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n"/>
              <a:defRPr/>
            </a:pPr>
            <a:r>
              <a:rPr kumimoji="0" lang="zh-CN" altLang="en-US" sz="2400" b="1" i="0" u="none" strike="noStrike" kern="1200" cap="none" spc="0" normalizeH="0" baseline="0" noProof="0" dirty="0">
                <a:ln>
                  <a:noFill/>
                </a:ln>
                <a:solidFill>
                  <a:srgbClr val="0000FF"/>
                </a:solidFill>
                <a:effectLst/>
                <a:uLnTx/>
                <a:uFillTx/>
                <a:latin typeface="Heiti SC Medium" pitchFamily="2" charset="-128"/>
                <a:ea typeface="Heiti SC Medium" pitchFamily="2" charset="-128"/>
                <a:cs typeface="+mn-cs"/>
                <a:sym typeface="微软雅黑" panose="020B0503020204020204" pitchFamily="34" charset="-122"/>
              </a:rPr>
              <a:t>研究特色和创新点</a:t>
            </a:r>
            <a:endParaRPr kumimoji="0" lang="en-US" altLang="en-US" sz="2400" b="1" i="0" u="none" strike="noStrike" kern="1200" cap="none" spc="0" normalizeH="0" baseline="0" noProof="0" dirty="0">
              <a:ln>
                <a:noFill/>
              </a:ln>
              <a:solidFill>
                <a:srgbClr val="0000FF"/>
              </a:solidFill>
              <a:effectLst/>
              <a:uLnTx/>
              <a:uFillTx/>
              <a:latin typeface="Heiti SC Medium" pitchFamily="2" charset="-128"/>
              <a:ea typeface="Heiti SC Medium" pitchFamily="2" charset="-128"/>
              <a:cs typeface="+mn-cs"/>
              <a:sym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defRPr/>
            </a:pPr>
            <a:r>
              <a:rPr kumimoji="0" lang="en-US" altLang="zh-CN" sz="23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本项目在</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电力市场理论、管理科学、电力系统工程</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等既有规范理论体系之上，</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创新地结合虚拟电厂实践工作</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，通过理论分析、循证研究丰富和具体化了既有理论在实践中的创新应用，</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拓展了既有电力市场理论与方法和虚拟电厂管理运行的新应用领域</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，既验证了经典理论，又提出了应用导向的理论体系与可操作的工作策略，具有鲜明的</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理论创新意义</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和</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现实借鉴价值</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连接符 3"/>
          <p:cNvCxnSpPr/>
          <p:nvPr/>
        </p:nvCxnSpPr>
        <p:spPr bwMode="auto">
          <a:xfrm>
            <a:off x="323850" y="1125538"/>
            <a:ext cx="8424863" cy="0"/>
          </a:xfrm>
          <a:prstGeom prst="line">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38100" cap="flat" cmpd="sng" algn="ctr">
            <a:solidFill>
              <a:srgbClr val="0000FF"/>
            </a:solidFill>
            <a:prstDash val="solid"/>
            <a:round/>
            <a:headEnd type="none" w="med" len="med"/>
            <a:tailEnd type="none" w="med" len="med"/>
          </a:ln>
          <a:effectLst/>
        </p:spPr>
      </p:cxnSp>
      <p:sp>
        <p:nvSpPr>
          <p:cNvPr id="5" name="Rectangle 2"/>
          <p:cNvSpPr>
            <a:spLocks noGrp="1" noChangeArrowheads="1"/>
          </p:cNvSpPr>
          <p:nvPr>
            <p:ph type="title"/>
          </p:nvPr>
        </p:nvSpPr>
        <p:spPr>
          <a:xfrm>
            <a:off x="323850" y="115888"/>
            <a:ext cx="7597775" cy="838200"/>
          </a:xfrm>
        </p:spPr>
        <p:txBody>
          <a:bodyPr vert="horz" wrap="square" lIns="91440" tIns="45720" rIns="91440" bIns="45720" numCol="1" anchor="ctr" anchorCtr="0" compatLnSpc="1">
            <a:normAutofit/>
          </a:bodyPr>
          <a:lstStyle/>
          <a:p>
            <a:pPr marL="914400" marR="0" lvl="0" indent="-91440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sym typeface="Calibri" panose="020F0502020204030204" pitchFamily="34" charset="0"/>
              </a:rPr>
              <a:t>汇报提纲</a:t>
            </a:r>
            <a:endParaRPr kumimoji="0" lang="zh-CN" altLang="en-US" sz="4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sym typeface="Calibri" panose="020F0502020204030204" pitchFamily="34" charset="0"/>
            </a:endParaRPr>
          </a:p>
        </p:txBody>
      </p:sp>
      <p:sp>
        <p:nvSpPr>
          <p:cNvPr id="23556" name="Slide Number Placeholder 1"/>
          <p:cNvSpPr txBox="1">
            <a:spLocks noGrp="1"/>
          </p:cNvSpPr>
          <p:nvPr>
            <p:ph type="sldNum" sz="quarter" idx="12"/>
          </p:nvPr>
        </p:nvSpPr>
        <p:spPr>
          <a:xfrm>
            <a:off x="7005638" y="6492875"/>
            <a:ext cx="2133600" cy="365125"/>
          </a:xfrm>
        </p:spPr>
        <p:txBody>
          <a:bodyPr anchor="ctr" anchorCtr="0"/>
          <a:p>
            <a:pPr marL="0" indent="0" algn="r" eaLnBrk="1" hangingPunct="1">
              <a:spcBef>
                <a:spcPct val="0"/>
              </a:spcBef>
              <a:buNone/>
            </a:pPr>
            <a:fld id="{9A0DB2DC-4C9A-4742-B13C-FB6460FD3503}" type="slidenum">
              <a:rPr lang="zh-CN" altLang="en-US" sz="1600" b="1" dirty="0">
                <a:latin typeface="Times New Roman" panose="02020603050405020304" pitchFamily="18" charset="0"/>
                <a:ea typeface="黑体" panose="02010609060101010101" pitchFamily="49" charset="-122"/>
                <a:sym typeface="黑体" panose="02010609060101010101" pitchFamily="49" charset="-122"/>
              </a:rPr>
            </a:fld>
            <a:endParaRPr lang="zh-CN" altLang="en-US" sz="1600" b="1" dirty="0">
              <a:latin typeface="Times New Roman" panose="02020603050405020304" pitchFamily="18" charset="0"/>
              <a:ea typeface="黑体" panose="02010609060101010101" pitchFamily="49" charset="-122"/>
              <a:sym typeface="黑体" panose="02010609060101010101" pitchFamily="49" charset="-122"/>
            </a:endParaRPr>
          </a:p>
        </p:txBody>
      </p:sp>
      <p:sp>
        <p:nvSpPr>
          <p:cNvPr id="23557" name="TextBox 19"/>
          <p:cNvSpPr txBox="1"/>
          <p:nvPr/>
        </p:nvSpPr>
        <p:spPr>
          <a:xfrm>
            <a:off x="395288" y="1196975"/>
            <a:ext cx="7777162" cy="501586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项目背景及目标</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研究内容</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FF0000"/>
                </a:solidFill>
                <a:latin typeface="微软雅黑" panose="020B0503020204020204" pitchFamily="34" charset="-122"/>
                <a:ea typeface="微软雅黑" panose="020B0503020204020204" pitchFamily="34" charset="-122"/>
              </a:rPr>
              <a:t> 技术路线及调研工作</a:t>
            </a:r>
            <a:endParaRPr lang="en-US" altLang="zh-CN" sz="3600" b="1" dirty="0">
              <a:solidFill>
                <a:srgbClr val="FF0000"/>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进度安排</a:t>
            </a:r>
            <a:endParaRPr lang="en-US" altLang="zh-CN" sz="3600" b="1" dirty="0">
              <a:solidFill>
                <a:srgbClr val="0000FF"/>
              </a:solidFill>
              <a:latin typeface="Arial" panose="020B0604020202020204" pitchFamily="34" charset="0"/>
            </a:endParaRPr>
          </a:p>
          <a:p>
            <a:pPr marL="0" lvl="0" indent="0">
              <a:spcBef>
                <a:spcPct val="0"/>
              </a:spcBef>
              <a:buFontTx/>
              <a:buNone/>
            </a:pPr>
            <a:endParaRPr lang="en-US" altLang="zh-CN" b="1" dirty="0">
              <a:solidFill>
                <a:srgbClr val="FF0000"/>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34819" name="Text Box 2"/>
          <p:cNvSpPr/>
          <p:nvPr/>
        </p:nvSpPr>
        <p:spPr>
          <a:xfrm>
            <a:off x="287338" y="228600"/>
            <a:ext cx="45720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国内情况</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34820" name="文本框 1"/>
          <p:cNvSpPr txBox="1"/>
          <p:nvPr/>
        </p:nvSpPr>
        <p:spPr>
          <a:xfrm>
            <a:off x="323850" y="1127125"/>
            <a:ext cx="8091488" cy="368300"/>
          </a:xfrm>
          <a:prstGeom prst="rect">
            <a:avLst/>
          </a:prstGeom>
          <a:noFill/>
          <a:ln w="9525">
            <a:noFill/>
          </a:ln>
        </p:spPr>
        <p:txBody>
          <a:bodyPr>
            <a:spAutoFit/>
          </a:bodyPr>
          <a:p>
            <a:pPr>
              <a:buNone/>
            </a:pPr>
            <a:r>
              <a:rPr lang="en-US" altLang="zh-CN" b="1" dirty="0">
                <a:solidFill>
                  <a:srgbClr val="FF0000"/>
                </a:solidFill>
                <a:latin typeface="Arial" panose="020B0604020202020204" pitchFamily="34" charset="0"/>
                <a:ea typeface="黑体" panose="02010609060101010101" pitchFamily="49" charset="-122"/>
                <a:sym typeface="Arial" panose="020B0604020202020204" pitchFamily="34" charset="0"/>
              </a:rPr>
              <a:t>1. </a:t>
            </a:r>
            <a:r>
              <a:rPr lang="zh-CN" altLang="en-US" b="1" dirty="0">
                <a:solidFill>
                  <a:srgbClr val="FF0000"/>
                </a:solidFill>
                <a:latin typeface="Arial" panose="020B0604020202020204" pitchFamily="34" charset="0"/>
                <a:ea typeface="黑体" panose="02010609060101010101" pitchFamily="49" charset="-122"/>
                <a:sym typeface="+mn-ea"/>
              </a:rPr>
              <a:t>国家层面政策汇总（</a:t>
            </a:r>
            <a:r>
              <a:rPr lang="zh-CN" altLang="en-US" b="1" dirty="0">
                <a:solidFill>
                  <a:srgbClr val="FF0000"/>
                </a:solidFill>
                <a:latin typeface="Arial" panose="020B0604020202020204" pitchFamily="34" charset="0"/>
                <a:ea typeface="黑体" panose="02010609060101010101" pitchFamily="49" charset="-122"/>
                <a:sym typeface="+mn-ea"/>
              </a:rPr>
              <a:t>部分展示）</a:t>
            </a:r>
            <a:endParaRPr lang="zh-CN" altLang="en-US" b="1" dirty="0">
              <a:solidFill>
                <a:srgbClr val="FF0000"/>
              </a:solidFill>
              <a:latin typeface="Arial" panose="020B0604020202020204" pitchFamily="34" charset="0"/>
              <a:ea typeface="黑体" panose="02010609060101010101" pitchFamily="49" charset="-122"/>
              <a:sym typeface="+mn-ea"/>
            </a:endParaRPr>
          </a:p>
        </p:txBody>
      </p:sp>
      <p:graphicFrame>
        <p:nvGraphicFramePr>
          <p:cNvPr id="3" name="表格 2"/>
          <p:cNvGraphicFramePr/>
          <p:nvPr/>
        </p:nvGraphicFramePr>
        <p:xfrm>
          <a:off x="179388" y="1484948"/>
          <a:ext cx="8877300" cy="5325745"/>
        </p:xfrm>
        <a:graphic>
          <a:graphicData uri="http://schemas.openxmlformats.org/drawingml/2006/table">
            <a:tbl>
              <a:tblPr firstRow="1" bandRow="1"/>
              <a:tblGrid>
                <a:gridCol w="1120775"/>
                <a:gridCol w="2755900"/>
                <a:gridCol w="1259205"/>
                <a:gridCol w="3741420"/>
              </a:tblGrid>
              <a:tr h="325120">
                <a:tc>
                  <a:txBody>
                    <a:bodyPr/>
                    <a:lstStyle/>
                    <a:p>
                      <a:pPr algn="ctr">
                        <a:buNone/>
                      </a:pPr>
                      <a:r>
                        <a:rPr lang="zh-CN" altLang="en-US" sz="1000"/>
                        <a:t>时间</a:t>
                      </a:r>
                      <a:endParaRPr lang="zh-CN" altLang="en-US" sz="1000"/>
                    </a:p>
                  </a:txBody>
                  <a:tcPr/>
                </a:tc>
                <a:tc>
                  <a:txBody>
                    <a:bodyPr/>
                    <a:lstStyle/>
                    <a:p>
                      <a:pPr algn="ctr">
                        <a:buNone/>
                      </a:pPr>
                      <a:r>
                        <a:rPr lang="zh-CN" altLang="en-US" sz="1000"/>
                        <a:t>政策</a:t>
                      </a:r>
                      <a:endParaRPr lang="zh-CN" altLang="en-US" sz="1000"/>
                    </a:p>
                  </a:txBody>
                  <a:tcPr/>
                </a:tc>
                <a:tc>
                  <a:txBody>
                    <a:bodyPr/>
                    <a:lstStyle/>
                    <a:p>
                      <a:pPr algn="ctr">
                        <a:buNone/>
                      </a:pPr>
                      <a:r>
                        <a:rPr lang="zh-CN" altLang="en-US" sz="1000"/>
                        <a:t>发布机构</a:t>
                      </a:r>
                      <a:endParaRPr lang="zh-CN" altLang="en-US" sz="1000"/>
                    </a:p>
                  </a:txBody>
                  <a:tcPr/>
                </a:tc>
                <a:tc>
                  <a:txBody>
                    <a:bodyPr/>
                    <a:lstStyle/>
                    <a:p>
                      <a:pPr algn="ctr">
                        <a:buNone/>
                      </a:pPr>
                      <a:r>
                        <a:rPr lang="zh-CN" altLang="en-US" sz="1000"/>
                        <a:t>关键内容</a:t>
                      </a:r>
                      <a:endParaRPr lang="zh-CN" altLang="en-US" sz="1000"/>
                    </a:p>
                  </a:txBody>
                  <a:tcPr/>
                </a:tc>
              </a:tr>
              <a:tr h="429260">
                <a:tc>
                  <a:txBody>
                    <a:bodyPr/>
                    <a:p>
                      <a:pPr>
                        <a:buNone/>
                      </a:pPr>
                      <a:r>
                        <a:rPr lang="en-US" altLang="zh-CN" sz="1000"/>
                        <a:t>2025</a:t>
                      </a:r>
                      <a:r>
                        <a:rPr lang="zh-CN" altLang="en-US" sz="1000"/>
                        <a:t>年</a:t>
                      </a:r>
                      <a:r>
                        <a:rPr lang="en-US" altLang="zh-CN" sz="1000"/>
                        <a:t>3</a:t>
                      </a:r>
                      <a:r>
                        <a:rPr lang="zh-CN" altLang="en-US" sz="1000"/>
                        <a:t>月</a:t>
                      </a:r>
                      <a:r>
                        <a:rPr lang="en-US" altLang="zh-CN" sz="1000"/>
                        <a:t>25</a:t>
                      </a:r>
                      <a:r>
                        <a:rPr lang="zh-CN" altLang="en-US" sz="1000"/>
                        <a:t>日</a:t>
                      </a:r>
                      <a:endParaRPr lang="zh-CN" altLang="en-US" sz="1000"/>
                    </a:p>
                  </a:txBody>
                  <a:tcPr/>
                </a:tc>
                <a:tc>
                  <a:txBody>
                    <a:bodyPr/>
                    <a:p>
                      <a:pPr>
                        <a:buNone/>
                      </a:pPr>
                      <a:r>
                        <a:rPr lang="zh-CN" altLang="en-US" sz="900"/>
                        <a:t>《关于加快推进虚拟电厂发展的指导意见》</a:t>
                      </a:r>
                      <a:endParaRPr lang="zh-CN" altLang="en-US" sz="900"/>
                    </a:p>
                  </a:txBody>
                  <a:tcPr/>
                </a:tc>
                <a:tc>
                  <a:txBody>
                    <a:bodyPr/>
                    <a:p>
                      <a:pPr>
                        <a:buNone/>
                      </a:pPr>
                      <a:r>
                        <a:rPr lang="zh-CN" altLang="en-US" sz="900"/>
                        <a:t>国家发展改革委</a:t>
                      </a:r>
                      <a:r>
                        <a:rPr lang="en-US" altLang="zh-CN" sz="900"/>
                        <a:t> </a:t>
                      </a:r>
                      <a:r>
                        <a:rPr lang="zh-CN" altLang="en-US" sz="900"/>
                        <a:t>国家能源局</a:t>
                      </a:r>
                      <a:endParaRPr lang="zh-CN" altLang="en-US" sz="900"/>
                    </a:p>
                  </a:txBody>
                  <a:tcPr/>
                </a:tc>
                <a:tc>
                  <a:txBody>
                    <a:bodyPr/>
                    <a:p>
                      <a:pPr>
                        <a:buNone/>
                      </a:pPr>
                      <a:r>
                        <a:rPr lang="zh-CN" altLang="en-US" sz="900"/>
                        <a:t>坚持统一认识，明确虚拟电厂的定义和功能定位。坚持开放包容，健全支持虚拟电厂发展的政策和市场体系。坚持安全可靠，将虚拟电厂纳入电力安全管理体系并明确安全管理要求。坚持多元参与，鼓励民营企业等各类社会资本结合自身优势参与虚拟电厂投资、建设和运营。</a:t>
                      </a:r>
                      <a:endParaRPr lang="zh-CN" altLang="en-US" sz="900"/>
                    </a:p>
                  </a:txBody>
                  <a:tcPr/>
                </a:tc>
              </a:tr>
              <a:tr h="429260">
                <a:tc>
                  <a:txBody>
                    <a:bodyPr/>
                    <a:p>
                      <a:pPr>
                        <a:buNone/>
                      </a:pPr>
                      <a:r>
                        <a:rPr lang="en-US" altLang="zh-CN" sz="1000"/>
                        <a:t>2024</a:t>
                      </a:r>
                      <a:r>
                        <a:rPr lang="zh-CN" altLang="en-US" sz="1000"/>
                        <a:t>年</a:t>
                      </a:r>
                      <a:r>
                        <a:rPr lang="en-US" altLang="zh-CN" sz="1000"/>
                        <a:t>11</a:t>
                      </a:r>
                      <a:r>
                        <a:rPr lang="zh-CN" altLang="en-US" sz="1000"/>
                        <a:t>月</a:t>
                      </a:r>
                      <a:r>
                        <a:rPr lang="en-US" altLang="zh-CN" sz="1000"/>
                        <a:t>28</a:t>
                      </a:r>
                      <a:r>
                        <a:rPr lang="zh-CN" altLang="en-US" sz="1000"/>
                        <a:t>日</a:t>
                      </a:r>
                      <a:endParaRPr lang="zh-CN" altLang="en-US" sz="1000"/>
                    </a:p>
                  </a:txBody>
                  <a:tcPr/>
                </a:tc>
                <a:tc>
                  <a:txBody>
                    <a:bodyPr/>
                    <a:p>
                      <a:pPr>
                        <a:buNone/>
                      </a:pPr>
                      <a:r>
                        <a:rPr lang="zh-CN" altLang="en-US" sz="900"/>
                        <a:t>《关于支持电力领域新型经营主体创新发展的指导意见》（国能发法改〔</a:t>
                      </a:r>
                      <a:r>
                        <a:rPr lang="en-US" altLang="zh-CN" sz="900"/>
                        <a:t>2024</a:t>
                      </a:r>
                      <a:r>
                        <a:rPr lang="zh-CN" altLang="en-US" sz="900"/>
                        <a:t>〕</a:t>
                      </a:r>
                      <a:r>
                        <a:rPr lang="en-US" altLang="zh-CN" sz="900"/>
                        <a:t>93</a:t>
                      </a:r>
                      <a:r>
                        <a:rPr lang="zh-CN" altLang="en-US" sz="900"/>
                        <a:t>号）</a:t>
                      </a:r>
                      <a:endParaRPr lang="zh-CN" altLang="en-US" sz="900"/>
                    </a:p>
                  </a:txBody>
                  <a:tcPr/>
                </a:tc>
                <a:tc>
                  <a:txBody>
                    <a:bodyPr/>
                    <a:p>
                      <a:pPr>
                        <a:buNone/>
                      </a:pPr>
                      <a:r>
                        <a:rPr lang="zh-CN" altLang="en-US" sz="900"/>
                        <a:t>国家能源局</a:t>
                      </a:r>
                      <a:endParaRPr lang="zh-CN" altLang="en-US" sz="900"/>
                    </a:p>
                  </a:txBody>
                  <a:tcPr/>
                </a:tc>
                <a:tc>
                  <a:txBody>
                    <a:bodyPr/>
                    <a:p>
                      <a:pPr>
                        <a:buNone/>
                      </a:pPr>
                      <a:r>
                        <a:rPr lang="zh-CN" altLang="en-US" sz="900"/>
                        <a:t>鼓励虚拟电厂聚合分布式光伏、分散式风电、新型储能、可调节负荷等资源，为电力系统提供灵活调节能力。</a:t>
                      </a:r>
                      <a:endParaRPr lang="zh-CN" altLang="en-US" sz="900"/>
                    </a:p>
                  </a:txBody>
                  <a:tcPr/>
                </a:tc>
              </a:tr>
              <a:tr h="429260">
                <a:tc>
                  <a:txBody>
                    <a:bodyPr/>
                    <a:lstStyle/>
                    <a:p>
                      <a:pPr>
                        <a:buNone/>
                      </a:pPr>
                      <a:r>
                        <a:rPr lang="en-US" altLang="zh-CN" sz="1000"/>
                        <a:t>2024</a:t>
                      </a:r>
                      <a:r>
                        <a:rPr lang="zh-CN" altLang="en-US" sz="1000"/>
                        <a:t>年</a:t>
                      </a:r>
                      <a:r>
                        <a:rPr lang="en-US" altLang="zh-CN" sz="1000"/>
                        <a:t>9</a:t>
                      </a:r>
                      <a:r>
                        <a:rPr lang="zh-CN" altLang="en-US" sz="1000"/>
                        <a:t>月</a:t>
                      </a:r>
                      <a:r>
                        <a:rPr lang="en-US" altLang="zh-CN" sz="1000"/>
                        <a:t>13</a:t>
                      </a:r>
                      <a:r>
                        <a:rPr lang="zh-CN" altLang="en-US" sz="1000"/>
                        <a:t>日</a:t>
                      </a:r>
                      <a:endParaRPr lang="zh-CN" altLang="en-US" sz="1000"/>
                    </a:p>
                  </a:txBody>
                  <a:tcPr/>
                </a:tc>
                <a:tc>
                  <a:txBody>
                    <a:bodyPr/>
                    <a:lstStyle/>
                    <a:p>
                      <a:pPr>
                        <a:buNone/>
                      </a:pPr>
                      <a:r>
                        <a:rPr lang="zh-CN" altLang="en-US" sz="900"/>
                        <a:t>《电力市场注册基本规则》（国能发监管规〔</a:t>
                      </a:r>
                      <a:r>
                        <a:rPr lang="en-US" altLang="zh-CN" sz="900"/>
                        <a:t>2024</a:t>
                      </a:r>
                      <a:r>
                        <a:rPr lang="zh-CN" altLang="en-US" sz="900"/>
                        <a:t>〕</a:t>
                      </a:r>
                      <a:r>
                        <a:rPr lang="en-US" altLang="zh-CN" sz="900"/>
                        <a:t>76</a:t>
                      </a:r>
                      <a:r>
                        <a:rPr lang="zh-CN" altLang="en-US" sz="900"/>
                        <a:t>号）</a:t>
                      </a:r>
                      <a:endParaRPr lang="zh-CN" altLang="en-US" sz="900"/>
                    </a:p>
                  </a:txBody>
                  <a:tcPr/>
                </a:tc>
                <a:tc>
                  <a:txBody>
                    <a:bodyPr/>
                    <a:lstStyle/>
                    <a:p>
                      <a:pPr>
                        <a:buNone/>
                      </a:pPr>
                      <a:r>
                        <a:rPr lang="zh-CN" altLang="en-US" sz="900"/>
                        <a:t>国家能源局</a:t>
                      </a:r>
                      <a:endParaRPr lang="zh-CN" altLang="en-US" sz="900"/>
                    </a:p>
                  </a:txBody>
                  <a:tcPr/>
                </a:tc>
                <a:tc>
                  <a:txBody>
                    <a:bodyPr/>
                    <a:lstStyle/>
                    <a:p>
                      <a:pPr>
                        <a:buNone/>
                      </a:pPr>
                      <a:r>
                        <a:rPr lang="zh-CN" altLang="en-US" sz="900"/>
                        <a:t>第十二条　虚拟电厂（含负荷聚合商）经营主体基本条件</a:t>
                      </a:r>
                      <a:endParaRPr lang="zh-CN" altLang="en-US" sz="900"/>
                    </a:p>
                  </a:txBody>
                  <a:tcPr/>
                </a:tc>
              </a:tr>
              <a:tr h="394335">
                <a:tc>
                  <a:txBody>
                    <a:bodyPr/>
                    <a:lstStyle/>
                    <a:p>
                      <a:pPr>
                        <a:buNone/>
                      </a:pPr>
                      <a:r>
                        <a:rPr lang="en-US" altLang="zh-CN" sz="1000"/>
                        <a:t>2024</a:t>
                      </a:r>
                      <a:r>
                        <a:rPr lang="zh-CN" altLang="en-US" sz="1000"/>
                        <a:t>年</a:t>
                      </a:r>
                      <a:r>
                        <a:rPr lang="en-US" altLang="zh-CN" sz="1000"/>
                        <a:t>7</a:t>
                      </a:r>
                      <a:r>
                        <a:rPr lang="zh-CN" altLang="en-US" sz="1000"/>
                        <a:t>月</a:t>
                      </a:r>
                      <a:r>
                        <a:rPr lang="en-US" altLang="zh-CN" sz="1000"/>
                        <a:t>25</a:t>
                      </a:r>
                      <a:r>
                        <a:rPr lang="zh-CN" altLang="en-US" sz="1000"/>
                        <a:t>日</a:t>
                      </a:r>
                      <a:endParaRPr lang="zh-CN" altLang="en-US" sz="1000"/>
                    </a:p>
                  </a:txBody>
                  <a:tcPr/>
                </a:tc>
                <a:tc>
                  <a:txBody>
                    <a:bodyPr/>
                    <a:lstStyle/>
                    <a:p>
                      <a:pPr>
                        <a:buNone/>
                      </a:pPr>
                      <a:r>
                        <a:rPr lang="zh-CN" altLang="en-US" sz="900"/>
                        <a:t>《加快构建新型电力系统行动方案（</a:t>
                      </a:r>
                      <a:r>
                        <a:rPr lang="en-US" altLang="zh-CN" sz="900"/>
                        <a:t>2024—2027</a:t>
                      </a:r>
                      <a:r>
                        <a:rPr lang="zh-CN" altLang="en-US" sz="900"/>
                        <a:t>年）》（发改能源〔</a:t>
                      </a:r>
                      <a:r>
                        <a:rPr lang="en-US" altLang="zh-CN" sz="900"/>
                        <a:t>2024</a:t>
                      </a:r>
                      <a:r>
                        <a:rPr lang="zh-CN" altLang="en-US" sz="900"/>
                        <a:t>〕</a:t>
                      </a:r>
                      <a:r>
                        <a:rPr lang="en-US" altLang="zh-CN" sz="900"/>
                        <a:t>1128</a:t>
                      </a:r>
                      <a:r>
                        <a:rPr lang="zh-CN" altLang="en-US" sz="900"/>
                        <a:t>号）</a:t>
                      </a:r>
                      <a:endParaRPr lang="zh-CN" altLang="en-US" sz="900"/>
                    </a:p>
                  </a:txBody>
                  <a:tcPr/>
                </a:tc>
                <a:tc>
                  <a:txBody>
                    <a:bodyPr/>
                    <a:lstStyle/>
                    <a:p>
                      <a:pPr>
                        <a:buNone/>
                      </a:pPr>
                      <a:r>
                        <a:rPr lang="zh-CN" altLang="en-US" sz="900"/>
                        <a:t>国家发展改革委</a:t>
                      </a:r>
                      <a:r>
                        <a:rPr lang="en-US" altLang="zh-CN" sz="900"/>
                        <a:t> </a:t>
                      </a:r>
                      <a:r>
                        <a:rPr lang="zh-CN" altLang="en-US" sz="900"/>
                        <a:t>国家能源局</a:t>
                      </a:r>
                      <a:r>
                        <a:rPr lang="en-US" altLang="zh-CN" sz="900"/>
                        <a:t> </a:t>
                      </a:r>
                      <a:r>
                        <a:rPr lang="zh-CN" altLang="en-US" sz="900"/>
                        <a:t>国家数据局</a:t>
                      </a:r>
                      <a:endParaRPr lang="zh-CN" altLang="en-US" sz="900"/>
                    </a:p>
                  </a:txBody>
                  <a:tcPr/>
                </a:tc>
                <a:tc>
                  <a:txBody>
                    <a:bodyPr/>
                    <a:lstStyle/>
                    <a:p>
                      <a:pPr>
                        <a:buNone/>
                      </a:pPr>
                      <a:r>
                        <a:rPr lang="zh-CN" altLang="en-US" sz="900"/>
                        <a:t>建设一批虚拟电厂。结合电力保供、新能源发展等需求，利用当地源荷储资源，建设一批虚拟电厂。</a:t>
                      </a:r>
                      <a:endParaRPr lang="zh-CN" altLang="en-US" sz="900"/>
                    </a:p>
                  </a:txBody>
                  <a:tcPr/>
                </a:tc>
              </a:tr>
              <a:tr h="394970">
                <a:tc>
                  <a:txBody>
                    <a:bodyPr/>
                    <a:p>
                      <a:pPr>
                        <a:buNone/>
                      </a:pPr>
                      <a:r>
                        <a:rPr lang="en-US" altLang="zh-CN" sz="1000"/>
                        <a:t>2024</a:t>
                      </a:r>
                      <a:r>
                        <a:rPr lang="zh-CN" altLang="en-US" sz="1000"/>
                        <a:t>年</a:t>
                      </a:r>
                      <a:r>
                        <a:rPr lang="en-US" altLang="zh-CN" sz="1000"/>
                        <a:t>7</a:t>
                      </a:r>
                      <a:r>
                        <a:rPr lang="zh-CN" altLang="en-US" sz="1000"/>
                        <a:t>月</a:t>
                      </a:r>
                      <a:r>
                        <a:rPr lang="en-US" altLang="zh-CN" sz="1000"/>
                        <a:t>24</a:t>
                      </a:r>
                      <a:r>
                        <a:rPr lang="zh-CN" altLang="en-US" sz="1000"/>
                        <a:t>日</a:t>
                      </a:r>
                      <a:endParaRPr lang="zh-CN" altLang="en-US" sz="1000"/>
                    </a:p>
                  </a:txBody>
                  <a:tcPr/>
                </a:tc>
                <a:tc>
                  <a:txBody>
                    <a:bodyPr/>
                    <a:p>
                      <a:pPr>
                        <a:buNone/>
                      </a:pPr>
                      <a:r>
                        <a:rPr lang="zh-CN" altLang="en-US" sz="900"/>
                        <a:t>《虚拟电厂管理规范》《虚拟电厂资源配置与评估技术规范》</a:t>
                      </a:r>
                      <a:endParaRPr lang="zh-CN" altLang="en-US" sz="900"/>
                    </a:p>
                  </a:txBody>
                  <a:tcPr/>
                </a:tc>
                <a:tc>
                  <a:txBody>
                    <a:bodyPr/>
                    <a:p>
                      <a:pPr>
                        <a:buNone/>
                      </a:pPr>
                      <a:r>
                        <a:rPr lang="en-US" altLang="zh-CN" sz="900"/>
                        <a:t>——</a:t>
                      </a:r>
                      <a:endParaRPr lang="en-US" altLang="zh-CN" sz="900"/>
                    </a:p>
                  </a:txBody>
                  <a:tcPr/>
                </a:tc>
                <a:tc>
                  <a:txBody>
                    <a:bodyPr/>
                    <a:p>
                      <a:pPr>
                        <a:buNone/>
                      </a:pPr>
                      <a:r>
                        <a:rPr lang="zh-CN" altLang="en-US" sz="900"/>
                        <a:t>我国虚拟电厂领域的首批国家标准</a:t>
                      </a:r>
                      <a:endParaRPr lang="zh-CN" altLang="en-US" sz="900"/>
                    </a:p>
                  </a:txBody>
                  <a:tcPr/>
                </a:tc>
              </a:tr>
              <a:tr h="394970">
                <a:tc>
                  <a:txBody>
                    <a:bodyPr/>
                    <a:lstStyle/>
                    <a:p>
                      <a:pPr>
                        <a:buNone/>
                      </a:pPr>
                      <a:r>
                        <a:rPr lang="en-US" altLang="zh-CN" sz="1000"/>
                        <a:t>2024</a:t>
                      </a:r>
                      <a:r>
                        <a:rPr lang="zh-CN" altLang="en-US" sz="1000"/>
                        <a:t>年</a:t>
                      </a:r>
                      <a:r>
                        <a:rPr lang="en-US" altLang="zh-CN" sz="1000"/>
                        <a:t>6</a:t>
                      </a:r>
                      <a:r>
                        <a:rPr lang="zh-CN" altLang="en-US" sz="1000"/>
                        <a:t>月</a:t>
                      </a:r>
                      <a:r>
                        <a:rPr lang="en-US" altLang="zh-CN" sz="1000"/>
                        <a:t>1</a:t>
                      </a:r>
                      <a:r>
                        <a:rPr lang="zh-CN" altLang="en-US" sz="1000"/>
                        <a:t>日</a:t>
                      </a:r>
                      <a:endParaRPr lang="zh-CN" altLang="en-US" sz="1000"/>
                    </a:p>
                  </a:txBody>
                  <a:tcPr/>
                </a:tc>
                <a:tc>
                  <a:txBody>
                    <a:bodyPr/>
                    <a:lstStyle/>
                    <a:p>
                      <a:pPr>
                        <a:buNone/>
                      </a:pPr>
                      <a:r>
                        <a:rPr lang="zh-CN" altLang="en-US" sz="900"/>
                        <a:t>《电力市场监管办法》（中华人民共和国国家发展和改革委员会令</a:t>
                      </a:r>
                      <a:r>
                        <a:rPr lang="en-US" altLang="zh-CN" sz="900"/>
                        <a:t>18</a:t>
                      </a:r>
                      <a:r>
                        <a:rPr lang="zh-CN" altLang="en-US" sz="900"/>
                        <a:t>号）</a:t>
                      </a:r>
                      <a:endParaRPr lang="zh-CN" altLang="en-US" sz="900"/>
                    </a:p>
                  </a:txBody>
                  <a:tcPr/>
                </a:tc>
                <a:tc>
                  <a:txBody>
                    <a:bodyPr/>
                    <a:lstStyle/>
                    <a:p>
                      <a:pPr>
                        <a:buNone/>
                      </a:pPr>
                      <a:r>
                        <a:rPr lang="zh-CN" altLang="en-US" sz="900"/>
                        <a:t>国家发展改革委</a:t>
                      </a:r>
                      <a:endParaRPr lang="zh-CN" altLang="en-US" sz="900"/>
                    </a:p>
                  </a:txBody>
                  <a:tcPr/>
                </a:tc>
                <a:tc>
                  <a:txBody>
                    <a:bodyPr/>
                    <a:lstStyle/>
                    <a:p>
                      <a:pPr>
                        <a:buNone/>
                      </a:pPr>
                      <a:r>
                        <a:rPr lang="en-US" altLang="zh-CN" sz="900"/>
                        <a:t>"</a:t>
                      </a:r>
                      <a:r>
                        <a:rPr lang="zh-CN" altLang="en-US" sz="900"/>
                        <a:t>明确新增虚拟电厂作为电力交易主体，这将为可控负荷、新型储能、分布式新能源等灵活性资源提供进入市场的机会。</a:t>
                      </a:r>
                      <a:endParaRPr lang="zh-CN" altLang="en-US" sz="900"/>
                    </a:p>
                  </a:txBody>
                  <a:tcPr/>
                </a:tc>
              </a:tr>
              <a:tr h="394970">
                <a:tc>
                  <a:txBody>
                    <a:bodyPr/>
                    <a:lstStyle/>
                    <a:p>
                      <a:pPr>
                        <a:buNone/>
                      </a:pPr>
                      <a:r>
                        <a:rPr lang="en-US" altLang="zh-CN" sz="1000"/>
                        <a:t>2024</a:t>
                      </a:r>
                      <a:r>
                        <a:rPr lang="zh-CN" altLang="en-US" sz="1000"/>
                        <a:t>年</a:t>
                      </a:r>
                      <a:r>
                        <a:rPr lang="en-US" altLang="zh-CN" sz="1000"/>
                        <a:t>3</a:t>
                      </a:r>
                      <a:r>
                        <a:rPr lang="zh-CN" altLang="en-US" sz="1000"/>
                        <a:t>月</a:t>
                      </a:r>
                      <a:r>
                        <a:rPr lang="en-US" altLang="zh-CN" sz="1000"/>
                        <a:t>18</a:t>
                      </a:r>
                      <a:r>
                        <a:rPr lang="zh-CN" altLang="en-US" sz="1000"/>
                        <a:t>日</a:t>
                      </a:r>
                      <a:endParaRPr lang="zh-CN" altLang="en-US" sz="1000"/>
                    </a:p>
                  </a:txBody>
                  <a:tcPr/>
                </a:tc>
                <a:tc>
                  <a:txBody>
                    <a:bodyPr/>
                    <a:lstStyle/>
                    <a:p>
                      <a:pPr>
                        <a:buNone/>
                      </a:pPr>
                      <a:r>
                        <a:rPr lang="zh-CN" altLang="en-US" sz="900"/>
                        <a:t>《</a:t>
                      </a:r>
                      <a:r>
                        <a:rPr lang="en-US" altLang="zh-CN" sz="900"/>
                        <a:t>2024</a:t>
                      </a:r>
                      <a:r>
                        <a:rPr lang="zh-CN" altLang="en-US" sz="900"/>
                        <a:t>年能源工作指导意见》（国能发规划〔</a:t>
                      </a:r>
                      <a:r>
                        <a:rPr lang="en-US" altLang="zh-CN" sz="900"/>
                        <a:t>2024</a:t>
                      </a:r>
                      <a:r>
                        <a:rPr lang="zh-CN" altLang="en-US" sz="900"/>
                        <a:t>〕</a:t>
                      </a:r>
                      <a:r>
                        <a:rPr lang="en-US" altLang="zh-CN" sz="900"/>
                        <a:t>22</a:t>
                      </a:r>
                      <a:r>
                        <a:rPr lang="zh-CN" altLang="en-US" sz="900"/>
                        <a:t>号）</a:t>
                      </a:r>
                      <a:endParaRPr lang="zh-CN" altLang="en-US" sz="900"/>
                    </a:p>
                  </a:txBody>
                  <a:tcPr/>
                </a:tc>
                <a:tc>
                  <a:txBody>
                    <a:bodyPr/>
                    <a:lstStyle/>
                    <a:p>
                      <a:pPr>
                        <a:buNone/>
                      </a:pPr>
                      <a:r>
                        <a:rPr lang="zh-CN" altLang="en-US" sz="900"/>
                        <a:t>国家能源局</a:t>
                      </a:r>
                      <a:endParaRPr lang="zh-CN" altLang="en-US" sz="900"/>
                    </a:p>
                  </a:txBody>
                  <a:tcPr/>
                </a:tc>
                <a:tc>
                  <a:txBody>
                    <a:bodyPr/>
                    <a:lstStyle/>
                    <a:p>
                      <a:pPr>
                        <a:buNone/>
                      </a:pPr>
                      <a:r>
                        <a:rPr lang="zh-CN" altLang="en-US" sz="900"/>
                        <a:t>探索推广虚拟电厂等新技术，推动能源新技术应用示范，加强能源数字化智能化核心技术攻关和应用示范。</a:t>
                      </a:r>
                      <a:endParaRPr lang="zh-CN" altLang="en-US" sz="900"/>
                    </a:p>
                  </a:txBody>
                  <a:tcPr/>
                </a:tc>
              </a:tr>
              <a:tr h="394970">
                <a:tc>
                  <a:txBody>
                    <a:bodyPr/>
                    <a:lstStyle/>
                    <a:p>
                      <a:pPr>
                        <a:buNone/>
                      </a:pPr>
                      <a:r>
                        <a:rPr lang="en-US" altLang="zh-CN" sz="1000"/>
                        <a:t>2024</a:t>
                      </a:r>
                      <a:r>
                        <a:rPr lang="zh-CN" altLang="en-US" sz="1000"/>
                        <a:t>年</a:t>
                      </a:r>
                      <a:r>
                        <a:rPr lang="en-US" altLang="zh-CN" sz="1000"/>
                        <a:t>1</a:t>
                      </a:r>
                      <a:r>
                        <a:rPr lang="zh-CN" altLang="en-US" sz="1000"/>
                        <a:t>月</a:t>
                      </a:r>
                      <a:r>
                        <a:rPr lang="en-US" altLang="zh-CN" sz="1000"/>
                        <a:t>27</a:t>
                      </a:r>
                      <a:r>
                        <a:rPr lang="zh-CN" altLang="en-US" sz="1000"/>
                        <a:t>日</a:t>
                      </a:r>
                      <a:endParaRPr lang="zh-CN" altLang="en-US" sz="1000"/>
                    </a:p>
                  </a:txBody>
                  <a:tcPr/>
                </a:tc>
                <a:tc>
                  <a:txBody>
                    <a:bodyPr/>
                    <a:lstStyle/>
                    <a:p>
                      <a:pPr>
                        <a:buNone/>
                      </a:pPr>
                      <a:r>
                        <a:rPr lang="zh-CN" altLang="en-US" sz="900"/>
                        <a:t>《关于加强电网调峰储能和智能化调度能力建设的指导意见》</a:t>
                      </a:r>
                      <a:endParaRPr lang="zh-CN" altLang="en-US" sz="900"/>
                    </a:p>
                  </a:txBody>
                  <a:tcPr/>
                </a:tc>
                <a:tc>
                  <a:txBody>
                    <a:bodyPr/>
                    <a:lstStyle/>
                    <a:p>
                      <a:pPr>
                        <a:buNone/>
                      </a:pPr>
                      <a:r>
                        <a:rPr lang="zh-CN" altLang="en-US" sz="900"/>
                        <a:t>国家发展改革委、国家能源局</a:t>
                      </a:r>
                      <a:endParaRPr lang="zh-CN" altLang="en-US" sz="900"/>
                    </a:p>
                  </a:txBody>
                  <a:tcPr/>
                </a:tc>
                <a:tc>
                  <a:txBody>
                    <a:bodyPr/>
                    <a:lstStyle/>
                    <a:p>
                      <a:pPr>
                        <a:buNone/>
                      </a:pPr>
                      <a:r>
                        <a:rPr lang="zh-CN" altLang="en-US" sz="900"/>
                        <a:t>明确源网荷各侧调节资源和风光储联合单元、负荷聚合商、虚拟电厂等主体的独立市场地位。</a:t>
                      </a:r>
                      <a:r>
                        <a:rPr lang="en-US" altLang="zh-CN" sz="900"/>
                        <a:t>……</a:t>
                      </a:r>
                      <a:r>
                        <a:rPr lang="zh-CN" altLang="en-US" sz="900"/>
                        <a:t>建立虚拟电厂等主体涉网及运行调度技术标准。</a:t>
                      </a:r>
                      <a:endParaRPr lang="zh-CN" altLang="en-US" sz="900"/>
                    </a:p>
                  </a:txBody>
                  <a:tcPr/>
                </a:tc>
              </a:tr>
              <a:tr h="394970">
                <a:tc>
                  <a:txBody>
                    <a:bodyPr/>
                    <a:lstStyle/>
                    <a:p>
                      <a:pPr>
                        <a:buNone/>
                      </a:pPr>
                      <a:r>
                        <a:rPr lang="en-US" altLang="zh-CN" sz="1000"/>
                        <a:t>2024</a:t>
                      </a:r>
                      <a:r>
                        <a:rPr lang="zh-CN" altLang="en-US" sz="1000"/>
                        <a:t>年</a:t>
                      </a:r>
                      <a:r>
                        <a:rPr lang="en-US" altLang="zh-CN" sz="1000"/>
                        <a:t>1</a:t>
                      </a:r>
                      <a:r>
                        <a:rPr lang="zh-CN" altLang="en-US" sz="1000"/>
                        <a:t>月</a:t>
                      </a:r>
                      <a:r>
                        <a:rPr lang="en-US" altLang="zh-CN" sz="1000"/>
                        <a:t>9</a:t>
                      </a:r>
                      <a:r>
                        <a:rPr lang="zh-CN" altLang="en-US" sz="1000"/>
                        <a:t>日</a:t>
                      </a:r>
                      <a:endParaRPr lang="zh-CN" altLang="en-US" sz="1000"/>
                    </a:p>
                  </a:txBody>
                  <a:tcPr/>
                </a:tc>
                <a:tc>
                  <a:txBody>
                    <a:bodyPr/>
                    <a:lstStyle/>
                    <a:p>
                      <a:pPr>
                        <a:buNone/>
                      </a:pPr>
                      <a:r>
                        <a:rPr lang="zh-CN" altLang="en-US" sz="900"/>
                        <a:t>《</a:t>
                      </a:r>
                      <a:r>
                        <a:rPr lang="en-US" altLang="zh-CN" sz="900"/>
                        <a:t>2024</a:t>
                      </a:r>
                      <a:r>
                        <a:rPr lang="zh-CN" altLang="en-US" sz="900"/>
                        <a:t>年能源监管工作要点》（国能发监管〔</a:t>
                      </a:r>
                      <a:r>
                        <a:rPr lang="en-US" altLang="zh-CN" sz="900"/>
                        <a:t>2024</a:t>
                      </a:r>
                      <a:r>
                        <a:rPr lang="zh-CN" altLang="en-US" sz="900"/>
                        <a:t>〕</a:t>
                      </a:r>
                      <a:r>
                        <a:rPr lang="en-US" altLang="zh-CN" sz="900"/>
                        <a:t>4</a:t>
                      </a:r>
                      <a:r>
                        <a:rPr lang="zh-CN" altLang="en-US" sz="900"/>
                        <a:t>号）</a:t>
                      </a:r>
                      <a:endParaRPr lang="zh-CN" altLang="en-US" sz="900"/>
                    </a:p>
                  </a:txBody>
                  <a:tcPr/>
                </a:tc>
                <a:tc>
                  <a:txBody>
                    <a:bodyPr/>
                    <a:lstStyle/>
                    <a:p>
                      <a:pPr>
                        <a:buNone/>
                      </a:pPr>
                      <a:r>
                        <a:rPr lang="zh-CN" altLang="en-US" sz="900"/>
                        <a:t>国家能源局</a:t>
                      </a:r>
                      <a:endParaRPr lang="zh-CN" altLang="en-US" sz="900"/>
                    </a:p>
                  </a:txBody>
                  <a:tcPr/>
                </a:tc>
                <a:tc>
                  <a:txBody>
                    <a:bodyPr/>
                    <a:lstStyle/>
                    <a:p>
                      <a:pPr>
                        <a:buNone/>
                      </a:pPr>
                      <a:r>
                        <a:rPr lang="zh-CN" altLang="en-US" sz="900"/>
                        <a:t>将虚拟电厂、负荷聚合商等新型主体引入电力市场，引导虚拟电厂等新型主体参与系统调节。</a:t>
                      </a:r>
                      <a:endParaRPr lang="zh-CN" altLang="en-US" sz="900"/>
                    </a:p>
                  </a:txBody>
                  <a:tcPr/>
                </a:tc>
              </a:tr>
              <a:tr h="394970">
                <a:tc>
                  <a:txBody>
                    <a:bodyPr/>
                    <a:lstStyle/>
                    <a:p>
                      <a:pPr>
                        <a:buNone/>
                      </a:pPr>
                      <a:r>
                        <a:rPr lang="en-US" altLang="zh-CN" sz="1000"/>
                        <a:t>2023</a:t>
                      </a:r>
                      <a:r>
                        <a:rPr lang="zh-CN" altLang="en-US" sz="1000"/>
                        <a:t>年</a:t>
                      </a:r>
                      <a:r>
                        <a:rPr lang="en-US" altLang="zh-CN" sz="1000"/>
                        <a:t>9</a:t>
                      </a:r>
                      <a:r>
                        <a:rPr lang="zh-CN" altLang="en-US" sz="1000"/>
                        <a:t>月</a:t>
                      </a:r>
                      <a:r>
                        <a:rPr lang="en-US" altLang="zh-CN" sz="1000"/>
                        <a:t>7</a:t>
                      </a:r>
                      <a:r>
                        <a:rPr lang="zh-CN" altLang="en-US" sz="1000"/>
                        <a:t>日</a:t>
                      </a:r>
                      <a:endParaRPr lang="zh-CN" altLang="en-US" sz="1000"/>
                    </a:p>
                  </a:txBody>
                  <a:tcPr/>
                </a:tc>
                <a:tc>
                  <a:txBody>
                    <a:bodyPr/>
                    <a:lstStyle/>
                    <a:p>
                      <a:pPr>
                        <a:buNone/>
                      </a:pPr>
                      <a:r>
                        <a:rPr lang="zh-CN" altLang="en-US" sz="900"/>
                        <a:t>《电力现货市场基本规则（试行）》（发改能源规〔</a:t>
                      </a:r>
                      <a:r>
                        <a:rPr lang="en-US" altLang="zh-CN" sz="900"/>
                        <a:t>2023</a:t>
                      </a:r>
                      <a:r>
                        <a:rPr lang="zh-CN" altLang="en-US" sz="900"/>
                        <a:t>〕</a:t>
                      </a:r>
                      <a:r>
                        <a:rPr lang="en-US" altLang="zh-CN" sz="900"/>
                        <a:t>1217</a:t>
                      </a:r>
                      <a:r>
                        <a:rPr lang="zh-CN" altLang="en-US" sz="900"/>
                        <a:t>号）</a:t>
                      </a:r>
                      <a:endParaRPr lang="zh-CN" altLang="en-US" sz="900"/>
                    </a:p>
                  </a:txBody>
                  <a:tcPr/>
                </a:tc>
                <a:tc>
                  <a:txBody>
                    <a:bodyPr/>
                    <a:lstStyle/>
                    <a:p>
                      <a:pPr>
                        <a:buNone/>
                      </a:pPr>
                      <a:r>
                        <a:rPr lang="zh-CN" altLang="en-US" sz="900"/>
                        <a:t>国家能源局</a:t>
                      </a:r>
                      <a:endParaRPr lang="zh-CN" altLang="en-US" sz="900"/>
                    </a:p>
                  </a:txBody>
                  <a:tcPr/>
                </a:tc>
                <a:tc>
                  <a:txBody>
                    <a:bodyPr/>
                    <a:lstStyle/>
                    <a:p>
                      <a:pPr>
                        <a:buNone/>
                      </a:pPr>
                      <a:r>
                        <a:rPr lang="zh-CN" altLang="en-US" sz="900"/>
                        <a:t>推动分布式发电、负荷聚合商、储能和虚拟电厂等新型经营主体参与交易。</a:t>
                      </a:r>
                      <a:endParaRPr lang="zh-CN" altLang="en-US" sz="900"/>
                    </a:p>
                  </a:txBody>
                  <a:tcPr/>
                </a:tc>
              </a:tr>
              <a:tr h="142240">
                <a:tc gridSpan="4">
                  <a:txBody>
                    <a:bodyPr/>
                    <a:lstStyle/>
                    <a:p>
                      <a:pPr algn="ctr">
                        <a:buNone/>
                      </a:pPr>
                      <a:r>
                        <a:rPr lang="en-US" altLang="zh-CN" sz="1000"/>
                        <a:t>...</a:t>
                      </a:r>
                      <a:endParaRPr lang="en-US" altLang="zh-CN" sz="1000"/>
                    </a:p>
                  </a:txBody>
                  <a:tcPr/>
                </a:tc>
                <a:tc hMerge="1">
                  <a:tcPr/>
                </a:tc>
                <a:tc hMerge="1">
                  <a:tcPr/>
                </a:tc>
                <a:tc hMerge="1">
                  <a:tcPr/>
                </a:tc>
              </a:tr>
              <a:tr h="386080">
                <a:tc>
                  <a:txBody>
                    <a:bodyPr/>
                    <a:lstStyle/>
                    <a:p>
                      <a:pPr>
                        <a:buNone/>
                      </a:pPr>
                      <a:r>
                        <a:rPr lang="en-US" altLang="zh-CN" sz="1000"/>
                        <a:t>2015</a:t>
                      </a:r>
                      <a:r>
                        <a:rPr lang="zh-CN" altLang="en-US" sz="1000"/>
                        <a:t>年</a:t>
                      </a:r>
                      <a:r>
                        <a:rPr lang="en-US" altLang="zh-CN" sz="1000"/>
                        <a:t>7</a:t>
                      </a:r>
                      <a:r>
                        <a:rPr lang="zh-CN" altLang="en-US" sz="1000"/>
                        <a:t>月</a:t>
                      </a:r>
                      <a:r>
                        <a:rPr lang="en-US" altLang="zh-CN" sz="1000"/>
                        <a:t>6</a:t>
                      </a:r>
                      <a:r>
                        <a:rPr lang="zh-CN" altLang="en-US" sz="1000"/>
                        <a:t>日</a:t>
                      </a:r>
                      <a:endParaRPr lang="zh-CN" altLang="en-US" sz="1000"/>
                    </a:p>
                  </a:txBody>
                  <a:tcPr/>
                </a:tc>
                <a:tc>
                  <a:txBody>
                    <a:bodyPr/>
                    <a:lstStyle/>
                    <a:p>
                      <a:pPr>
                        <a:buNone/>
                      </a:pPr>
                      <a:r>
                        <a:rPr lang="zh-CN" altLang="en-US" sz="900"/>
                        <a:t>《关于促进智能电网发展的指导意见》（发改运行〔</a:t>
                      </a:r>
                      <a:r>
                        <a:rPr lang="en-US" altLang="zh-CN" sz="900"/>
                        <a:t>2015</a:t>
                      </a:r>
                      <a:r>
                        <a:rPr lang="zh-CN" altLang="en-US" sz="900"/>
                        <a:t>〕</a:t>
                      </a:r>
                      <a:r>
                        <a:rPr lang="en-US" altLang="zh-CN" sz="900"/>
                        <a:t>1518</a:t>
                      </a:r>
                      <a:r>
                        <a:rPr lang="zh-CN" altLang="en-US" sz="900"/>
                        <a:t>号）</a:t>
                      </a:r>
                      <a:endParaRPr lang="zh-CN" altLang="en-US" sz="900"/>
                    </a:p>
                  </a:txBody>
                  <a:tcPr/>
                </a:tc>
                <a:tc>
                  <a:txBody>
                    <a:bodyPr/>
                    <a:lstStyle/>
                    <a:p>
                      <a:pPr>
                        <a:buNone/>
                      </a:pPr>
                      <a:r>
                        <a:rPr lang="zh-CN" altLang="en-US" sz="900"/>
                        <a:t>发展改革委能源局　</a:t>
                      </a:r>
                      <a:endParaRPr lang="zh-CN" altLang="en-US" sz="900"/>
                    </a:p>
                  </a:txBody>
                  <a:tcPr/>
                </a:tc>
                <a:tc>
                  <a:txBody>
                    <a:bodyPr/>
                    <a:lstStyle/>
                    <a:p>
                      <a:pPr>
                        <a:buNone/>
                      </a:pPr>
                      <a:r>
                        <a:rPr lang="zh-CN" altLang="en-US" sz="900"/>
                        <a:t>依托虚拟电厂等重点领域的商业模式创新</a:t>
                      </a:r>
                      <a:endParaRPr lang="zh-CN" altLang="en-US" sz="900"/>
                    </a:p>
                  </a:txBody>
                  <a:tcPr/>
                </a:tc>
              </a:tr>
            </a:tbl>
          </a:graphicData>
        </a:graphic>
      </p:graphicFrame>
      <p:sp>
        <p:nvSpPr>
          <p:cNvPr id="34883" name="文本框 3"/>
          <p:cNvSpPr txBox="1"/>
          <p:nvPr/>
        </p:nvSpPr>
        <p:spPr>
          <a:xfrm>
            <a:off x="251460" y="6055360"/>
            <a:ext cx="8961438" cy="414020"/>
          </a:xfrm>
          <a:prstGeom prst="rect">
            <a:avLst/>
          </a:prstGeom>
          <a:noFill/>
          <a:ln w="9525">
            <a:noFill/>
          </a:ln>
        </p:spPr>
        <p:txBody>
          <a:bodyPr>
            <a:spAutoFit/>
          </a:bodyPr>
          <a:p>
            <a:pPr>
              <a:lnSpc>
                <a:spcPct val="150000"/>
              </a:lnSpc>
              <a:buNone/>
            </a:pPr>
            <a:r>
              <a:rPr lang="zh-CN" altLang="en-US" sz="1400" b="1" dirty="0">
                <a:solidFill>
                  <a:srgbClr val="FF0000"/>
                </a:solidFill>
                <a:latin typeface="Arial" panose="020B0604020202020204" pitchFamily="34" charset="0"/>
              </a:rPr>
              <a:t>政策支持</a:t>
            </a:r>
            <a:r>
              <a:rPr lang="en-US" altLang="zh-CN" sz="1400" b="1" dirty="0">
                <a:solidFill>
                  <a:srgbClr val="FF0000"/>
                </a:solidFill>
                <a:latin typeface="Arial" panose="020B0604020202020204" pitchFamily="34" charset="0"/>
              </a:rPr>
              <a:t>——</a:t>
            </a:r>
            <a:r>
              <a:rPr lang="zh-CN" altLang="en-US" sz="1400" b="1" dirty="0">
                <a:solidFill>
                  <a:srgbClr val="FF0000"/>
                </a:solidFill>
                <a:latin typeface="Arial" panose="020B0604020202020204" pitchFamily="34" charset="0"/>
              </a:rPr>
              <a:t>国家有关部门高度重视，出台多项政策，</a:t>
            </a:r>
            <a:r>
              <a:rPr lang="en-US" altLang="zh-CN" sz="1400" b="1" dirty="0">
                <a:solidFill>
                  <a:srgbClr val="FF0000"/>
                </a:solidFill>
                <a:latin typeface="Arial" panose="020B0604020202020204" pitchFamily="34" charset="0"/>
              </a:rPr>
              <a:t>VPP</a:t>
            </a:r>
            <a:r>
              <a:rPr lang="zh-CN" altLang="en-US" sz="1400" b="1" dirty="0">
                <a:solidFill>
                  <a:srgbClr val="FF0000"/>
                </a:solidFill>
                <a:latin typeface="Arial" panose="020B0604020202020204" pitchFamily="34" charset="0"/>
              </a:rPr>
              <a:t>作为能源管理的先进技术具有良好的发展前景。</a:t>
            </a:r>
            <a:endParaRPr lang="zh-CN" altLang="en-US" sz="1400" b="1" dirty="0">
              <a:solidFill>
                <a:srgbClr val="FF0000"/>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34819" name="Text Box 2"/>
          <p:cNvSpPr/>
          <p:nvPr/>
        </p:nvSpPr>
        <p:spPr>
          <a:xfrm>
            <a:off x="287338" y="228600"/>
            <a:ext cx="45720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国内情况</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34820" name="文本框 1"/>
          <p:cNvSpPr txBox="1"/>
          <p:nvPr/>
        </p:nvSpPr>
        <p:spPr>
          <a:xfrm>
            <a:off x="323850" y="1127125"/>
            <a:ext cx="8091488" cy="368300"/>
          </a:xfrm>
          <a:prstGeom prst="rect">
            <a:avLst/>
          </a:prstGeom>
          <a:noFill/>
          <a:ln w="9525">
            <a:noFill/>
          </a:ln>
        </p:spPr>
        <p:txBody>
          <a:bodyPr>
            <a:spAutoFit/>
          </a:bodyPr>
          <a:p>
            <a:pPr>
              <a:buNone/>
            </a:pPr>
            <a:r>
              <a:rPr lang="en-US" altLang="zh-CN" b="1" dirty="0">
                <a:solidFill>
                  <a:srgbClr val="FF0000"/>
                </a:solidFill>
                <a:latin typeface="Arial" panose="020B0604020202020204" pitchFamily="34" charset="0"/>
                <a:ea typeface="黑体" panose="02010609060101010101" pitchFamily="49" charset="-122"/>
                <a:sym typeface="Arial" panose="020B0604020202020204" pitchFamily="34" charset="0"/>
              </a:rPr>
              <a:t>1. </a:t>
            </a:r>
            <a:r>
              <a:rPr lang="zh-CN" altLang="en-US" b="1" dirty="0">
                <a:solidFill>
                  <a:srgbClr val="FF0000"/>
                </a:solidFill>
                <a:latin typeface="Arial" panose="020B0604020202020204" pitchFamily="34" charset="0"/>
                <a:ea typeface="黑体" panose="02010609060101010101" pitchFamily="49" charset="-122"/>
                <a:sym typeface="Arial" panose="020B0604020202020204" pitchFamily="34" charset="0"/>
              </a:rPr>
              <a:t>地方</a:t>
            </a:r>
            <a:r>
              <a:rPr lang="zh-CN" altLang="en-US" b="1" dirty="0">
                <a:solidFill>
                  <a:srgbClr val="FF0000"/>
                </a:solidFill>
                <a:latin typeface="Arial" panose="020B0604020202020204" pitchFamily="34" charset="0"/>
                <a:ea typeface="黑体" panose="02010609060101010101" pitchFamily="49" charset="-122"/>
                <a:sym typeface="+mn-ea"/>
              </a:rPr>
              <a:t>层面</a:t>
            </a:r>
            <a:r>
              <a:rPr lang="en-US" altLang="zh-CN" b="1" dirty="0">
                <a:solidFill>
                  <a:srgbClr val="FF0000"/>
                </a:solidFill>
                <a:latin typeface="Arial" panose="020B0604020202020204" pitchFamily="34" charset="0"/>
                <a:ea typeface="黑体" panose="02010609060101010101" pitchFamily="49" charset="-122"/>
                <a:sym typeface="+mn-ea"/>
              </a:rPr>
              <a:t>2024</a:t>
            </a:r>
            <a:r>
              <a:rPr lang="zh-CN" altLang="en-US" b="1" dirty="0">
                <a:solidFill>
                  <a:srgbClr val="FF0000"/>
                </a:solidFill>
                <a:latin typeface="Arial" panose="020B0604020202020204" pitchFamily="34" charset="0"/>
                <a:ea typeface="黑体" panose="02010609060101010101" pitchFamily="49" charset="-122"/>
                <a:sym typeface="+mn-ea"/>
              </a:rPr>
              <a:t>年政策汇总</a:t>
            </a:r>
            <a:endParaRPr lang="zh-CN" altLang="en-US" b="1" dirty="0">
              <a:solidFill>
                <a:srgbClr val="FF0000"/>
              </a:solidFill>
              <a:latin typeface="Arial" panose="020B0604020202020204" pitchFamily="34" charset="0"/>
              <a:ea typeface="黑体" panose="02010609060101010101" pitchFamily="49" charset="-122"/>
              <a:sym typeface="+mn-ea"/>
            </a:endParaRPr>
          </a:p>
        </p:txBody>
      </p:sp>
      <p:pic>
        <p:nvPicPr>
          <p:cNvPr id="2" name="图片 1"/>
          <p:cNvPicPr/>
          <p:nvPr/>
        </p:nvPicPr>
        <p:blipFill>
          <a:blip r:embed="rId1"/>
          <a:stretch>
            <a:fillRect/>
          </a:stretch>
        </p:blipFill>
        <p:spPr>
          <a:xfrm>
            <a:off x="2267585" y="2543810"/>
            <a:ext cx="4549140" cy="3082290"/>
          </a:xfrm>
          <a:prstGeom prst="rect">
            <a:avLst/>
          </a:prstGeom>
        </p:spPr>
      </p:pic>
      <p:sp>
        <p:nvSpPr>
          <p:cNvPr id="4" name="文本框 3"/>
          <p:cNvSpPr txBox="1"/>
          <p:nvPr/>
        </p:nvSpPr>
        <p:spPr>
          <a:xfrm>
            <a:off x="151765" y="1628775"/>
            <a:ext cx="2023110" cy="354330"/>
          </a:xfrm>
          <a:prstGeom prst="rect">
            <a:avLst/>
          </a:prstGeom>
          <a:noFill/>
        </p:spPr>
        <p:txBody>
          <a:bodyPr wrap="square" lIns="0" rIns="0" rtlCol="0">
            <a:noAutofit/>
          </a:bodyPr>
          <a:p>
            <a:r>
              <a:rPr lang="zh-CN" altLang="en-US" sz="900" b="1"/>
              <a:t>新疆</a:t>
            </a:r>
            <a:r>
              <a:rPr lang="zh-CN" altLang="en-US" sz="800"/>
              <a:t>：《新疆电力市场监管实施办法（征求意见稿）》</a:t>
            </a:r>
            <a:endParaRPr lang="zh-CN" altLang="en-US" sz="800"/>
          </a:p>
        </p:txBody>
      </p:sp>
      <p:sp>
        <p:nvSpPr>
          <p:cNvPr id="6" name="文本框 5"/>
          <p:cNvSpPr txBox="1"/>
          <p:nvPr/>
        </p:nvSpPr>
        <p:spPr>
          <a:xfrm>
            <a:off x="150495" y="1973580"/>
            <a:ext cx="2021840" cy="598805"/>
          </a:xfrm>
          <a:prstGeom prst="rect">
            <a:avLst/>
          </a:prstGeom>
          <a:noFill/>
        </p:spPr>
        <p:txBody>
          <a:bodyPr wrap="square" lIns="0" rIns="0" rtlCol="0">
            <a:spAutoFit/>
          </a:bodyPr>
          <a:p>
            <a:r>
              <a:rPr lang="zh-CN" altLang="en-US" sz="900" b="1"/>
              <a:t>甘肃</a:t>
            </a:r>
            <a:r>
              <a:rPr lang="zh-CN" altLang="en-US" sz="800" b="1"/>
              <a:t>：</a:t>
            </a:r>
            <a:r>
              <a:rPr lang="zh-CN" altLang="en-US" sz="800"/>
              <a:t>《甘肃省电力零售市场交易规则（试行）》、《甘肃省虚拟电厂建设与运营管理实施方案（试行）》、《甘肃电力现货市场规则（征求意见稿）》</a:t>
            </a:r>
            <a:endParaRPr lang="zh-CN" altLang="en-US" sz="800"/>
          </a:p>
        </p:txBody>
      </p:sp>
      <p:sp>
        <p:nvSpPr>
          <p:cNvPr id="8" name="文本框 7"/>
          <p:cNvSpPr txBox="1"/>
          <p:nvPr/>
        </p:nvSpPr>
        <p:spPr>
          <a:xfrm>
            <a:off x="149225" y="2564765"/>
            <a:ext cx="2023110" cy="475615"/>
          </a:xfrm>
          <a:prstGeom prst="rect">
            <a:avLst/>
          </a:prstGeom>
          <a:noFill/>
        </p:spPr>
        <p:txBody>
          <a:bodyPr wrap="square" lIns="0" rIns="0" rtlCol="0">
            <a:spAutoFit/>
          </a:bodyPr>
          <a:p>
            <a:r>
              <a:rPr lang="zh-CN" altLang="en-US" sz="900" b="1"/>
              <a:t>宁夏</a:t>
            </a:r>
            <a:r>
              <a:rPr lang="zh-CN" altLang="en-US" sz="800" b="1"/>
              <a:t>：</a:t>
            </a:r>
            <a:r>
              <a:rPr lang="zh-CN" altLang="en-US" sz="800"/>
              <a:t>《自治区发展改革委关于做好</a:t>
            </a:r>
            <a:r>
              <a:rPr lang="en-US" altLang="zh-CN" sz="800"/>
              <a:t>2025</a:t>
            </a:r>
            <a:r>
              <a:rPr lang="zh-CN" altLang="en-US" sz="800"/>
              <a:t>年电力中长期交易有关事项的通知》、《宁夏回族自治区电力负荷管理</a:t>
            </a:r>
            <a:r>
              <a:rPr lang="zh-CN" altLang="en-US" sz="800"/>
              <a:t>实施细则》</a:t>
            </a:r>
            <a:endParaRPr lang="zh-CN" altLang="en-US" sz="800"/>
          </a:p>
        </p:txBody>
      </p:sp>
      <p:sp>
        <p:nvSpPr>
          <p:cNvPr id="10" name="文本框 9"/>
          <p:cNvSpPr txBox="1"/>
          <p:nvPr/>
        </p:nvSpPr>
        <p:spPr>
          <a:xfrm>
            <a:off x="150495" y="3035300"/>
            <a:ext cx="2023110" cy="598805"/>
          </a:xfrm>
          <a:prstGeom prst="rect">
            <a:avLst/>
          </a:prstGeom>
          <a:noFill/>
        </p:spPr>
        <p:txBody>
          <a:bodyPr wrap="square" lIns="0" rIns="0" rtlCol="0">
            <a:spAutoFit/>
          </a:bodyPr>
          <a:p>
            <a:r>
              <a:rPr lang="zh-CN" altLang="en-US" sz="900" b="1"/>
              <a:t>四川</a:t>
            </a:r>
            <a:r>
              <a:rPr lang="zh-CN" altLang="en-US" sz="800" b="1"/>
              <a:t>：</a:t>
            </a:r>
            <a:r>
              <a:rPr lang="zh-CN" altLang="en-US" sz="800"/>
              <a:t>《四川电力中长期交易规则（</a:t>
            </a:r>
            <a:r>
              <a:rPr lang="en-US" altLang="zh-CN" sz="800"/>
              <a:t>2024</a:t>
            </a:r>
            <a:r>
              <a:rPr lang="zh-CN" altLang="en-US" sz="800"/>
              <a:t>年修订版征求意见稿）》、《四川省电力需求侧市场化响应实施方案》、《四川省电力辅助服务</a:t>
            </a:r>
            <a:r>
              <a:rPr lang="zh-CN" altLang="en-US" sz="800"/>
              <a:t>管理实施细则》</a:t>
            </a:r>
            <a:endParaRPr lang="zh-CN" altLang="en-US" sz="800"/>
          </a:p>
        </p:txBody>
      </p:sp>
      <p:sp>
        <p:nvSpPr>
          <p:cNvPr id="12" name="文本框 11"/>
          <p:cNvSpPr txBox="1"/>
          <p:nvPr/>
        </p:nvSpPr>
        <p:spPr>
          <a:xfrm>
            <a:off x="149225" y="4077335"/>
            <a:ext cx="2022475" cy="845185"/>
          </a:xfrm>
          <a:prstGeom prst="rect">
            <a:avLst/>
          </a:prstGeom>
          <a:noFill/>
        </p:spPr>
        <p:txBody>
          <a:bodyPr wrap="square" lIns="0" rIns="0" rtlCol="0">
            <a:spAutoFit/>
          </a:bodyPr>
          <a:p>
            <a:r>
              <a:rPr lang="zh-CN" altLang="en-US" sz="900" b="1"/>
              <a:t>重庆</a:t>
            </a:r>
            <a:r>
              <a:rPr lang="zh-CN" altLang="en-US" sz="800" b="1"/>
              <a:t>：</a:t>
            </a:r>
            <a:r>
              <a:rPr lang="zh-CN" altLang="en-US" sz="800"/>
              <a:t>《重庆电力现货市场整月结算试运行工作方案》、《</a:t>
            </a:r>
            <a:r>
              <a:rPr lang="en-US" altLang="zh-CN" sz="800"/>
              <a:t>2024</a:t>
            </a:r>
            <a:r>
              <a:rPr lang="zh-CN" altLang="en-US" sz="800"/>
              <a:t>年重庆市电力需求响应实施方案（征求意见稿）》、《重庆市虚拟电厂建设管理实施方案（征求意见稿）》、《重庆市数字能源低碳城市发展行动方案（</a:t>
            </a:r>
            <a:r>
              <a:rPr lang="en-US" altLang="zh-CN" sz="800"/>
              <a:t>2024-2026</a:t>
            </a:r>
            <a:r>
              <a:rPr lang="zh-CN" altLang="en-US" sz="800"/>
              <a:t>年）（</a:t>
            </a:r>
            <a:r>
              <a:rPr lang="zh-CN" altLang="en-US" sz="800"/>
              <a:t>征求意见稿）》</a:t>
            </a:r>
            <a:endParaRPr lang="zh-CN" altLang="en-US" sz="800"/>
          </a:p>
        </p:txBody>
      </p:sp>
      <p:sp>
        <p:nvSpPr>
          <p:cNvPr id="13" name="文本框 12"/>
          <p:cNvSpPr txBox="1"/>
          <p:nvPr/>
        </p:nvSpPr>
        <p:spPr>
          <a:xfrm>
            <a:off x="160020" y="4907280"/>
            <a:ext cx="2025650" cy="598805"/>
          </a:xfrm>
          <a:prstGeom prst="rect">
            <a:avLst/>
          </a:prstGeom>
          <a:noFill/>
        </p:spPr>
        <p:txBody>
          <a:bodyPr wrap="square" lIns="0" rIns="0" rtlCol="0">
            <a:spAutoFit/>
          </a:bodyPr>
          <a:p>
            <a:r>
              <a:rPr lang="zh-CN" altLang="en-US" sz="900" b="1"/>
              <a:t>湖北</a:t>
            </a:r>
            <a:r>
              <a:rPr lang="zh-CN" altLang="en-US" sz="800" b="1"/>
              <a:t>：</a:t>
            </a:r>
            <a:r>
              <a:rPr lang="zh-CN" altLang="en-US" sz="800"/>
              <a:t>《湖北省电力现货市场交易实施细则（</a:t>
            </a:r>
            <a:r>
              <a:rPr lang="en-US" altLang="zh-CN" sz="800"/>
              <a:t>V3.0</a:t>
            </a:r>
            <a:r>
              <a:rPr lang="zh-CN" altLang="en-US" sz="800"/>
              <a:t>）》、《湖北省电力现货市场结算实施细则（</a:t>
            </a:r>
            <a:r>
              <a:rPr lang="en-US" altLang="zh-CN" sz="800"/>
              <a:t>V3.0</a:t>
            </a:r>
            <a:r>
              <a:rPr lang="zh-CN" altLang="en-US" sz="800"/>
              <a:t>）》、《湖北省电力现货市场试运行</a:t>
            </a:r>
            <a:r>
              <a:rPr lang="zh-CN" altLang="en-US" sz="800"/>
              <a:t>相关规则》</a:t>
            </a:r>
            <a:endParaRPr lang="zh-CN" altLang="en-US" sz="800"/>
          </a:p>
        </p:txBody>
      </p:sp>
      <p:sp>
        <p:nvSpPr>
          <p:cNvPr id="14" name="文本框 13"/>
          <p:cNvSpPr txBox="1"/>
          <p:nvPr/>
        </p:nvSpPr>
        <p:spPr>
          <a:xfrm>
            <a:off x="149225" y="5509260"/>
            <a:ext cx="2021840" cy="845185"/>
          </a:xfrm>
          <a:prstGeom prst="rect">
            <a:avLst/>
          </a:prstGeom>
          <a:noFill/>
        </p:spPr>
        <p:txBody>
          <a:bodyPr wrap="square" lIns="0" rIns="0" rtlCol="0">
            <a:spAutoFit/>
          </a:bodyPr>
          <a:p>
            <a:r>
              <a:rPr lang="zh-CN" altLang="en-US" sz="900" b="1"/>
              <a:t>湖南</a:t>
            </a:r>
            <a:r>
              <a:rPr lang="zh-CN" altLang="en-US" sz="800" b="1"/>
              <a:t>：</a:t>
            </a:r>
            <a:r>
              <a:rPr lang="zh-CN" altLang="en-US" sz="800"/>
              <a:t>《湖南工商业分布式光伏参与市场交易实施细则（运行）》、《湖南省电力中长期交易规则补充规定（暂行）（征求意见稿）》、《湖南电力辅助服务管理实施细则》、《虚拟电厂参与湖南电力市场交易实施细则（</a:t>
            </a:r>
            <a:r>
              <a:rPr lang="zh-CN" altLang="en-US" sz="800"/>
              <a:t>试行）》</a:t>
            </a:r>
            <a:endParaRPr lang="en-US" altLang="zh-CN" sz="800"/>
          </a:p>
        </p:txBody>
      </p:sp>
      <p:sp>
        <p:nvSpPr>
          <p:cNvPr id="15" name="文本框 14"/>
          <p:cNvSpPr txBox="1"/>
          <p:nvPr/>
        </p:nvSpPr>
        <p:spPr>
          <a:xfrm>
            <a:off x="149225" y="6309995"/>
            <a:ext cx="2036445" cy="475615"/>
          </a:xfrm>
          <a:prstGeom prst="rect">
            <a:avLst/>
          </a:prstGeom>
          <a:noFill/>
        </p:spPr>
        <p:txBody>
          <a:bodyPr wrap="square" lIns="0" rIns="0" rtlCol="0">
            <a:spAutoFit/>
          </a:bodyPr>
          <a:p>
            <a:r>
              <a:rPr lang="zh-CN" altLang="en-US" sz="900" b="1"/>
              <a:t>云南</a:t>
            </a:r>
            <a:r>
              <a:rPr lang="zh-CN" altLang="en-US" sz="800" b="1"/>
              <a:t>：</a:t>
            </a:r>
            <a:r>
              <a:rPr lang="zh-CN" altLang="en-US" sz="800"/>
              <a:t>《</a:t>
            </a:r>
            <a:r>
              <a:rPr lang="en-US" altLang="zh-CN" sz="800"/>
              <a:t>2025</a:t>
            </a:r>
            <a:r>
              <a:rPr lang="zh-CN" altLang="en-US" sz="800"/>
              <a:t>年电力需求响应方案》、《云南电力中长期交易实施细则（征求意见稿）》、《云南电力市场监管实施</a:t>
            </a:r>
            <a:r>
              <a:rPr lang="zh-CN" altLang="en-US" sz="800"/>
              <a:t>办法》</a:t>
            </a:r>
            <a:endParaRPr lang="en-US" altLang="zh-CN" sz="800"/>
          </a:p>
        </p:txBody>
      </p:sp>
      <p:sp>
        <p:nvSpPr>
          <p:cNvPr id="17" name="文本框 16"/>
          <p:cNvSpPr txBox="1"/>
          <p:nvPr/>
        </p:nvSpPr>
        <p:spPr>
          <a:xfrm>
            <a:off x="2646680" y="1618615"/>
            <a:ext cx="2073275" cy="354330"/>
          </a:xfrm>
          <a:prstGeom prst="rect">
            <a:avLst/>
          </a:prstGeom>
          <a:noFill/>
        </p:spPr>
        <p:txBody>
          <a:bodyPr wrap="square" lIns="0" rIns="0" rtlCol="0">
            <a:noAutofit/>
          </a:bodyPr>
          <a:p>
            <a:r>
              <a:rPr lang="zh-CN" altLang="en-US" sz="900" b="1"/>
              <a:t>山西</a:t>
            </a:r>
            <a:r>
              <a:rPr lang="zh-CN" altLang="en-US" sz="800"/>
              <a:t>：《关于</a:t>
            </a:r>
            <a:r>
              <a:rPr lang="en-US" altLang="zh-CN" sz="800"/>
              <a:t>2025</a:t>
            </a:r>
            <a:r>
              <a:rPr lang="zh-CN" altLang="en-US" sz="800"/>
              <a:t>年电力零售交易有关事项的通知》、《山西削峰填谷市场交易实施细则（</a:t>
            </a:r>
            <a:r>
              <a:rPr lang="zh-CN" altLang="en-US" sz="800"/>
              <a:t>征求意见稿）》</a:t>
            </a:r>
            <a:endParaRPr lang="zh-CN" altLang="en-US" sz="800"/>
          </a:p>
        </p:txBody>
      </p:sp>
      <p:sp>
        <p:nvSpPr>
          <p:cNvPr id="18" name="文本框 17"/>
          <p:cNvSpPr txBox="1"/>
          <p:nvPr/>
        </p:nvSpPr>
        <p:spPr>
          <a:xfrm>
            <a:off x="2646680" y="2096135"/>
            <a:ext cx="2080260" cy="847090"/>
          </a:xfrm>
          <a:prstGeom prst="rect">
            <a:avLst/>
          </a:prstGeom>
          <a:noFill/>
        </p:spPr>
        <p:txBody>
          <a:bodyPr wrap="square" lIns="0" rIns="0" rtlCol="0">
            <a:noAutofit/>
          </a:bodyPr>
          <a:p>
            <a:r>
              <a:rPr lang="zh-CN" altLang="en-US" sz="900" b="1"/>
              <a:t>陕西</a:t>
            </a:r>
            <a:r>
              <a:rPr lang="zh-CN" altLang="en-US" sz="800"/>
              <a:t>：《关于开展陕西电力现货市场连续结算试运行工作的通知》、《关于</a:t>
            </a:r>
            <a:r>
              <a:rPr lang="en-US" altLang="zh-CN" sz="800"/>
              <a:t>2025</a:t>
            </a:r>
            <a:r>
              <a:rPr lang="zh-CN" altLang="en-US" sz="800"/>
              <a:t>年电力市场化交易有关事项的通知》、《陕西省电力零售市场交易细则（</a:t>
            </a:r>
            <a:r>
              <a:rPr lang="en-US" altLang="zh-CN" sz="800"/>
              <a:t>2024</a:t>
            </a:r>
            <a:r>
              <a:rPr lang="zh-CN" altLang="en-US" sz="800"/>
              <a:t>年</a:t>
            </a:r>
            <a:r>
              <a:rPr lang="en-US" altLang="zh-CN" sz="800"/>
              <a:t>10</a:t>
            </a:r>
            <a:r>
              <a:rPr lang="zh-CN" altLang="en-US" sz="800"/>
              <a:t>月修订版）》、《陕西电力市场中长期分时段交易实施续则》、《关于推动数字经济高质量发展的</a:t>
            </a:r>
            <a:r>
              <a:rPr lang="zh-CN" altLang="en-US" sz="800"/>
              <a:t>政策措施》</a:t>
            </a:r>
            <a:endParaRPr lang="zh-CN" altLang="en-US" sz="800"/>
          </a:p>
        </p:txBody>
      </p:sp>
      <p:sp>
        <p:nvSpPr>
          <p:cNvPr id="19" name="文本框 18"/>
          <p:cNvSpPr txBox="1"/>
          <p:nvPr/>
        </p:nvSpPr>
        <p:spPr>
          <a:xfrm>
            <a:off x="5147945" y="1557020"/>
            <a:ext cx="1668780" cy="824230"/>
          </a:xfrm>
          <a:prstGeom prst="rect">
            <a:avLst/>
          </a:prstGeom>
          <a:noFill/>
        </p:spPr>
        <p:txBody>
          <a:bodyPr wrap="square" lIns="0" rIns="0" rtlCol="0">
            <a:noAutofit/>
          </a:bodyPr>
          <a:p>
            <a:r>
              <a:rPr lang="zh-CN" altLang="en-US" sz="900" b="1"/>
              <a:t>内蒙古</a:t>
            </a:r>
            <a:r>
              <a:rPr lang="zh-CN" altLang="en-US" sz="800"/>
              <a:t>：《内蒙古电力多变交易市场规则体系》、《支持</a:t>
            </a:r>
            <a:r>
              <a:rPr lang="en-US" altLang="zh-CN" sz="800"/>
              <a:t>“</a:t>
            </a:r>
            <a:r>
              <a:rPr lang="zh-CN" altLang="en-US" sz="800"/>
              <a:t>光储充</a:t>
            </a:r>
            <a:r>
              <a:rPr lang="en-US" altLang="zh-CN" sz="800"/>
              <a:t>”</a:t>
            </a:r>
            <a:r>
              <a:rPr lang="zh-CN" altLang="en-US" sz="800"/>
              <a:t>一体化项目建设助力绿色交通发展进一步促进新能源消纳的七条政策措施（征求意见稿）》、《内蒙古自治区建筑光伏</a:t>
            </a:r>
            <a:r>
              <a:rPr lang="zh-CN" altLang="en-US" sz="800"/>
              <a:t>推广应用实施方案》</a:t>
            </a:r>
            <a:endParaRPr lang="zh-CN" altLang="en-US" sz="800"/>
          </a:p>
        </p:txBody>
      </p:sp>
      <p:sp>
        <p:nvSpPr>
          <p:cNvPr id="20" name="文本框 19"/>
          <p:cNvSpPr txBox="1"/>
          <p:nvPr/>
        </p:nvSpPr>
        <p:spPr>
          <a:xfrm>
            <a:off x="7092315" y="1628775"/>
            <a:ext cx="2023110" cy="354330"/>
          </a:xfrm>
          <a:prstGeom prst="rect">
            <a:avLst/>
          </a:prstGeom>
          <a:noFill/>
        </p:spPr>
        <p:txBody>
          <a:bodyPr wrap="square" lIns="0" rIns="0" rtlCol="0">
            <a:noAutofit/>
          </a:bodyPr>
          <a:p>
            <a:r>
              <a:rPr lang="zh-CN" altLang="en-US" sz="900" b="1"/>
              <a:t>黑龙江</a:t>
            </a:r>
            <a:r>
              <a:rPr lang="zh-CN" altLang="en-US" sz="800"/>
              <a:t>：《黑龙江省电力市场运营规则及配套实施细则（试行</a:t>
            </a:r>
            <a:r>
              <a:rPr lang="en-US" altLang="zh-CN" sz="800"/>
              <a:t>2.0</a:t>
            </a:r>
            <a:r>
              <a:rPr lang="zh-CN" altLang="en-US" sz="800"/>
              <a:t>版）》</a:t>
            </a:r>
            <a:endParaRPr lang="zh-CN" altLang="en-US" sz="800"/>
          </a:p>
        </p:txBody>
      </p:sp>
      <p:sp>
        <p:nvSpPr>
          <p:cNvPr id="21" name="文本框 20"/>
          <p:cNvSpPr txBox="1"/>
          <p:nvPr/>
        </p:nvSpPr>
        <p:spPr>
          <a:xfrm>
            <a:off x="7092315" y="1917065"/>
            <a:ext cx="2023110" cy="354330"/>
          </a:xfrm>
          <a:prstGeom prst="rect">
            <a:avLst/>
          </a:prstGeom>
          <a:noFill/>
        </p:spPr>
        <p:txBody>
          <a:bodyPr wrap="square" lIns="0" rIns="0" rtlCol="0">
            <a:noAutofit/>
          </a:bodyPr>
          <a:p>
            <a:r>
              <a:rPr lang="zh-CN" altLang="en-US" sz="900" b="1"/>
              <a:t>吉林</a:t>
            </a:r>
            <a:r>
              <a:rPr lang="zh-CN" altLang="en-US" sz="800"/>
              <a:t>：《吉林省电力市场运营规则及配套实施细则（试行</a:t>
            </a:r>
            <a:r>
              <a:rPr lang="en-US" altLang="zh-CN" sz="800"/>
              <a:t>2.0</a:t>
            </a:r>
            <a:r>
              <a:rPr lang="zh-CN" altLang="en-US" sz="800"/>
              <a:t>版征求意见稿）》</a:t>
            </a:r>
            <a:endParaRPr lang="zh-CN" altLang="en-US" sz="800"/>
          </a:p>
        </p:txBody>
      </p:sp>
      <p:sp>
        <p:nvSpPr>
          <p:cNvPr id="22" name="文本框 21"/>
          <p:cNvSpPr txBox="1"/>
          <p:nvPr/>
        </p:nvSpPr>
        <p:spPr>
          <a:xfrm>
            <a:off x="7092315" y="2249170"/>
            <a:ext cx="2023110" cy="354330"/>
          </a:xfrm>
          <a:prstGeom prst="rect">
            <a:avLst/>
          </a:prstGeom>
          <a:noFill/>
        </p:spPr>
        <p:txBody>
          <a:bodyPr wrap="square" lIns="0" rIns="0" rtlCol="0">
            <a:noAutofit/>
          </a:bodyPr>
          <a:p>
            <a:r>
              <a:rPr lang="zh-CN" altLang="en-US" sz="900" b="1"/>
              <a:t>辽宁</a:t>
            </a:r>
            <a:r>
              <a:rPr lang="zh-CN" altLang="en-US" sz="800"/>
              <a:t>：《辽宁省电力市场运营规则及配套实施细则（试行</a:t>
            </a:r>
            <a:r>
              <a:rPr lang="en-US" altLang="zh-CN" sz="800"/>
              <a:t>3.1</a:t>
            </a:r>
            <a:r>
              <a:rPr lang="zh-CN" altLang="en-US" sz="800"/>
              <a:t>版）》</a:t>
            </a:r>
            <a:endParaRPr lang="zh-CN" altLang="en-US" sz="800"/>
          </a:p>
        </p:txBody>
      </p:sp>
      <p:sp>
        <p:nvSpPr>
          <p:cNvPr id="23" name="文本框 22"/>
          <p:cNvSpPr txBox="1"/>
          <p:nvPr/>
        </p:nvSpPr>
        <p:spPr>
          <a:xfrm>
            <a:off x="7092315" y="2583180"/>
            <a:ext cx="2023110" cy="354330"/>
          </a:xfrm>
          <a:prstGeom prst="rect">
            <a:avLst/>
          </a:prstGeom>
          <a:noFill/>
        </p:spPr>
        <p:txBody>
          <a:bodyPr wrap="square" lIns="0" rIns="0" rtlCol="0">
            <a:noAutofit/>
          </a:bodyPr>
          <a:p>
            <a:r>
              <a:rPr lang="zh-CN" altLang="en-US" sz="900" b="1"/>
              <a:t>北京</a:t>
            </a:r>
            <a:r>
              <a:rPr lang="zh-CN" altLang="en-US" sz="800"/>
              <a:t>：《北京市可再生能源利用条例》（草案</a:t>
            </a:r>
            <a:r>
              <a:rPr lang="zh-CN" altLang="en-US" sz="800"/>
              <a:t>征求意见稿）</a:t>
            </a:r>
            <a:endParaRPr lang="zh-CN" altLang="en-US" sz="800"/>
          </a:p>
        </p:txBody>
      </p:sp>
      <p:sp>
        <p:nvSpPr>
          <p:cNvPr id="24" name="文本框 23"/>
          <p:cNvSpPr txBox="1"/>
          <p:nvPr/>
        </p:nvSpPr>
        <p:spPr>
          <a:xfrm>
            <a:off x="7092315" y="2920365"/>
            <a:ext cx="2023110" cy="354330"/>
          </a:xfrm>
          <a:prstGeom prst="rect">
            <a:avLst/>
          </a:prstGeom>
          <a:noFill/>
        </p:spPr>
        <p:txBody>
          <a:bodyPr wrap="square" lIns="0" rIns="0" rtlCol="0">
            <a:noAutofit/>
          </a:bodyPr>
          <a:p>
            <a:r>
              <a:rPr lang="zh-CN" altLang="en-US" sz="900" b="1"/>
              <a:t>天津</a:t>
            </a:r>
            <a:r>
              <a:rPr lang="zh-CN" altLang="en-US" sz="800"/>
              <a:t>：《天津市电力负荷管理办法实施细则</a:t>
            </a:r>
            <a:r>
              <a:rPr lang="zh-CN" altLang="en-US" sz="800">
                <a:sym typeface="+mn-ea"/>
              </a:rPr>
              <a:t>（征求意见稿）</a:t>
            </a:r>
            <a:r>
              <a:rPr lang="zh-CN" altLang="en-US" sz="800"/>
              <a:t>》</a:t>
            </a:r>
            <a:endParaRPr lang="zh-CN" altLang="en-US" sz="800"/>
          </a:p>
        </p:txBody>
      </p:sp>
      <p:sp>
        <p:nvSpPr>
          <p:cNvPr id="25" name="文本框 24"/>
          <p:cNvSpPr txBox="1"/>
          <p:nvPr/>
        </p:nvSpPr>
        <p:spPr>
          <a:xfrm>
            <a:off x="7092315" y="3213100"/>
            <a:ext cx="2023110" cy="447040"/>
          </a:xfrm>
          <a:prstGeom prst="rect">
            <a:avLst/>
          </a:prstGeom>
          <a:noFill/>
        </p:spPr>
        <p:txBody>
          <a:bodyPr wrap="square" lIns="0" rIns="0" rtlCol="0">
            <a:noAutofit/>
          </a:bodyPr>
          <a:p>
            <a:r>
              <a:rPr lang="zh-CN" altLang="en-US" sz="900" b="1"/>
              <a:t>河北</a:t>
            </a:r>
            <a:r>
              <a:rPr lang="zh-CN" altLang="en-US" sz="800"/>
              <a:t>：《河北南部电网</a:t>
            </a:r>
            <a:r>
              <a:rPr lang="en-US" altLang="zh-CN" sz="800"/>
              <a:t>2025</a:t>
            </a:r>
            <a:r>
              <a:rPr lang="zh-CN" altLang="en-US" sz="800"/>
              <a:t>年电力中长期交易工作方案》、《河北南网电力现货市场系列规则</a:t>
            </a:r>
            <a:r>
              <a:rPr lang="en-US" altLang="zh-CN" sz="800"/>
              <a:t>V2.1</a:t>
            </a:r>
            <a:r>
              <a:rPr lang="zh-CN" altLang="en-US" sz="800"/>
              <a:t>版》</a:t>
            </a:r>
            <a:endParaRPr lang="zh-CN" altLang="en-US" sz="800"/>
          </a:p>
        </p:txBody>
      </p:sp>
      <p:sp>
        <p:nvSpPr>
          <p:cNvPr id="26" name="文本框 25"/>
          <p:cNvSpPr txBox="1"/>
          <p:nvPr/>
        </p:nvSpPr>
        <p:spPr>
          <a:xfrm>
            <a:off x="7092315" y="3659505"/>
            <a:ext cx="2023110" cy="533400"/>
          </a:xfrm>
          <a:prstGeom prst="rect">
            <a:avLst/>
          </a:prstGeom>
          <a:noFill/>
        </p:spPr>
        <p:txBody>
          <a:bodyPr wrap="square" lIns="0" rIns="0" rtlCol="0">
            <a:noAutofit/>
          </a:bodyPr>
          <a:p>
            <a:r>
              <a:rPr lang="zh-CN" altLang="en-US" sz="900" b="1"/>
              <a:t>山东</a:t>
            </a:r>
            <a:r>
              <a:rPr lang="zh-CN" altLang="en-US" sz="800"/>
              <a:t>：《关于促进实体经济和数字经济深度结合培育发展新质生产力的实施方案》、《关于健全完善新能源消纳体系机制促进能源高质量发展的若干</a:t>
            </a:r>
            <a:r>
              <a:rPr lang="zh-CN" altLang="en-US" sz="800"/>
              <a:t>潜措》</a:t>
            </a:r>
            <a:endParaRPr lang="zh-CN" altLang="en-US" sz="800"/>
          </a:p>
        </p:txBody>
      </p:sp>
      <p:sp>
        <p:nvSpPr>
          <p:cNvPr id="28" name="文本框 27"/>
          <p:cNvSpPr txBox="1"/>
          <p:nvPr/>
        </p:nvSpPr>
        <p:spPr>
          <a:xfrm>
            <a:off x="7092315" y="4220845"/>
            <a:ext cx="2023110" cy="447040"/>
          </a:xfrm>
          <a:prstGeom prst="rect">
            <a:avLst/>
          </a:prstGeom>
          <a:noFill/>
        </p:spPr>
        <p:txBody>
          <a:bodyPr wrap="square" lIns="0" rIns="0" rtlCol="0">
            <a:noAutofit/>
          </a:bodyPr>
          <a:p>
            <a:r>
              <a:rPr lang="zh-CN" altLang="en-US" sz="900" b="1"/>
              <a:t>河南</a:t>
            </a:r>
            <a:r>
              <a:rPr lang="zh-CN" altLang="en-US" sz="800"/>
              <a:t>：《河南电力辅助服务市场交易细则（征求意见稿）》、《河南省</a:t>
            </a:r>
            <a:r>
              <a:rPr lang="en-US" altLang="zh-CN" sz="800"/>
              <a:t>2025</a:t>
            </a:r>
            <a:r>
              <a:rPr lang="zh-CN" altLang="en-US" sz="800"/>
              <a:t>年电力中长期</a:t>
            </a:r>
            <a:r>
              <a:rPr lang="zh-CN" altLang="en-US" sz="800"/>
              <a:t>交易有关事项》</a:t>
            </a:r>
            <a:endParaRPr lang="zh-CN" altLang="en-US" sz="800"/>
          </a:p>
        </p:txBody>
      </p:sp>
      <p:sp>
        <p:nvSpPr>
          <p:cNvPr id="29" name="文本框 28"/>
          <p:cNvSpPr txBox="1"/>
          <p:nvPr/>
        </p:nvSpPr>
        <p:spPr>
          <a:xfrm>
            <a:off x="7092315" y="4653280"/>
            <a:ext cx="2023110" cy="233045"/>
          </a:xfrm>
          <a:prstGeom prst="rect">
            <a:avLst/>
          </a:prstGeom>
          <a:noFill/>
        </p:spPr>
        <p:txBody>
          <a:bodyPr wrap="square" lIns="0" rIns="0" rtlCol="0">
            <a:noAutofit/>
          </a:bodyPr>
          <a:p>
            <a:r>
              <a:rPr lang="zh-CN" altLang="en-US" sz="900" b="1"/>
              <a:t>江苏</a:t>
            </a:r>
            <a:r>
              <a:rPr lang="zh-CN" altLang="en-US" sz="800"/>
              <a:t>：《</a:t>
            </a:r>
            <a:r>
              <a:rPr lang="zh-CN" altLang="en-US" sz="800"/>
              <a:t>江苏省电力需求响应实施细则》</a:t>
            </a:r>
            <a:endParaRPr lang="zh-CN" altLang="en-US" sz="800"/>
          </a:p>
        </p:txBody>
      </p:sp>
      <p:sp>
        <p:nvSpPr>
          <p:cNvPr id="30" name="文本框 29"/>
          <p:cNvSpPr txBox="1"/>
          <p:nvPr/>
        </p:nvSpPr>
        <p:spPr>
          <a:xfrm>
            <a:off x="7092315" y="4869180"/>
            <a:ext cx="2023110" cy="685800"/>
          </a:xfrm>
          <a:prstGeom prst="rect">
            <a:avLst/>
          </a:prstGeom>
          <a:noFill/>
        </p:spPr>
        <p:txBody>
          <a:bodyPr wrap="square" lIns="0" rIns="0" rtlCol="0">
            <a:noAutofit/>
          </a:bodyPr>
          <a:p>
            <a:r>
              <a:rPr lang="zh-CN" altLang="en-US" sz="900" b="1"/>
              <a:t>安徽</a:t>
            </a:r>
            <a:r>
              <a:rPr lang="zh-CN" altLang="en-US" sz="800"/>
              <a:t>：《</a:t>
            </a:r>
            <a:r>
              <a:rPr lang="en-US" altLang="zh-CN" sz="800"/>
              <a:t>2025</a:t>
            </a:r>
            <a:r>
              <a:rPr lang="zh-CN" altLang="en-US" sz="800"/>
              <a:t>年安徽省绿色电力交易实施细则》、《</a:t>
            </a:r>
            <a:r>
              <a:rPr lang="en-US" altLang="zh-CN" sz="800"/>
              <a:t>2025</a:t>
            </a:r>
            <a:r>
              <a:rPr lang="zh-CN" altLang="en-US" sz="800"/>
              <a:t>年安徽电力中长期市场交易细则》、《安徽电力市场结算实施细则（</a:t>
            </a:r>
            <a:r>
              <a:rPr lang="en-US" altLang="zh-CN" sz="800"/>
              <a:t>2025</a:t>
            </a:r>
            <a:r>
              <a:rPr lang="zh-CN" altLang="en-US" sz="800"/>
              <a:t>年版）》、《安徽省零碳产业园区建设方案（</a:t>
            </a:r>
            <a:r>
              <a:rPr lang="zh-CN" altLang="en-US" sz="800"/>
              <a:t>试行）》</a:t>
            </a:r>
            <a:endParaRPr lang="zh-CN" altLang="en-US" sz="800"/>
          </a:p>
        </p:txBody>
      </p:sp>
      <p:sp>
        <p:nvSpPr>
          <p:cNvPr id="31" name="文本框 30"/>
          <p:cNvSpPr txBox="1"/>
          <p:nvPr/>
        </p:nvSpPr>
        <p:spPr>
          <a:xfrm>
            <a:off x="7092315" y="5523865"/>
            <a:ext cx="2023110" cy="832485"/>
          </a:xfrm>
          <a:prstGeom prst="rect">
            <a:avLst/>
          </a:prstGeom>
          <a:noFill/>
        </p:spPr>
        <p:txBody>
          <a:bodyPr wrap="square" lIns="0" rIns="0" rtlCol="0">
            <a:noAutofit/>
          </a:bodyPr>
          <a:p>
            <a:r>
              <a:rPr lang="zh-CN" altLang="en-US" sz="900" b="1"/>
              <a:t>上海</a:t>
            </a:r>
            <a:r>
              <a:rPr lang="zh-CN" altLang="en-US" sz="800"/>
              <a:t>：《上海市虚拟电厂运营管理规范（试行）》、《上海市加快推进绿色低碳转型行动方案（</a:t>
            </a:r>
            <a:r>
              <a:rPr lang="en-US" altLang="zh-CN" sz="800"/>
              <a:t>2024-2027</a:t>
            </a:r>
            <a:r>
              <a:rPr lang="zh-CN" altLang="en-US" sz="800"/>
              <a:t>年）》、《上海市虚拟电厂注册指引（试行）》、《上海电力现货市场实施细则（结算试运行</a:t>
            </a:r>
            <a:r>
              <a:rPr lang="en-US" altLang="zh-CN" sz="800"/>
              <a:t>2024</a:t>
            </a:r>
            <a:r>
              <a:rPr lang="zh-CN" altLang="en-US" sz="800"/>
              <a:t>年修订版</a:t>
            </a:r>
            <a:r>
              <a:rPr lang="zh-CN" altLang="en-US" sz="800"/>
              <a:t>征求意见稿）》</a:t>
            </a:r>
            <a:endParaRPr lang="zh-CN" altLang="en-US" sz="800"/>
          </a:p>
        </p:txBody>
      </p:sp>
      <p:sp>
        <p:nvSpPr>
          <p:cNvPr id="32" name="文本框 31"/>
          <p:cNvSpPr txBox="1"/>
          <p:nvPr/>
        </p:nvSpPr>
        <p:spPr>
          <a:xfrm>
            <a:off x="7092315" y="6356985"/>
            <a:ext cx="2052320" cy="449580"/>
          </a:xfrm>
          <a:prstGeom prst="rect">
            <a:avLst/>
          </a:prstGeom>
          <a:noFill/>
        </p:spPr>
        <p:txBody>
          <a:bodyPr wrap="square" lIns="0" rIns="0" rtlCol="0">
            <a:noAutofit/>
          </a:bodyPr>
          <a:p>
            <a:r>
              <a:rPr lang="zh-CN" altLang="en-US" sz="900" b="1"/>
              <a:t>浙江</a:t>
            </a:r>
            <a:r>
              <a:rPr lang="zh-CN" altLang="en-US" sz="800"/>
              <a:t>：《浙江电力现货市场运行方案》、《浙江省绿色低碳转型促进条例》、《虚拟电厂参与浙江电力辅助服务市场</a:t>
            </a:r>
            <a:r>
              <a:rPr lang="zh-CN" altLang="en-US" sz="800"/>
              <a:t>试点工作方案》</a:t>
            </a:r>
            <a:endParaRPr lang="zh-CN" altLang="en-US" sz="800"/>
          </a:p>
        </p:txBody>
      </p:sp>
      <p:sp>
        <p:nvSpPr>
          <p:cNvPr id="33" name="文本框 32"/>
          <p:cNvSpPr txBox="1"/>
          <p:nvPr/>
        </p:nvSpPr>
        <p:spPr>
          <a:xfrm>
            <a:off x="2703830" y="5321935"/>
            <a:ext cx="1614170" cy="233045"/>
          </a:xfrm>
          <a:prstGeom prst="rect">
            <a:avLst/>
          </a:prstGeom>
          <a:noFill/>
        </p:spPr>
        <p:txBody>
          <a:bodyPr wrap="square" lIns="0" rIns="0" rtlCol="0">
            <a:noAutofit/>
          </a:bodyPr>
          <a:p>
            <a:r>
              <a:rPr lang="zh-CN" altLang="en-US" sz="900" b="1"/>
              <a:t>广西</a:t>
            </a:r>
            <a:r>
              <a:rPr lang="zh-CN" altLang="en-US" sz="800"/>
              <a:t>：《电力负荷</a:t>
            </a:r>
            <a:r>
              <a:rPr lang="zh-CN" altLang="en-US" sz="800"/>
              <a:t>管理实施细则》</a:t>
            </a:r>
            <a:endParaRPr lang="zh-CN" altLang="en-US" sz="800"/>
          </a:p>
        </p:txBody>
      </p:sp>
      <p:sp>
        <p:nvSpPr>
          <p:cNvPr id="34" name="文本框 33"/>
          <p:cNvSpPr txBox="1"/>
          <p:nvPr/>
        </p:nvSpPr>
        <p:spPr>
          <a:xfrm>
            <a:off x="2703830" y="5523865"/>
            <a:ext cx="1762125" cy="484505"/>
          </a:xfrm>
          <a:prstGeom prst="rect">
            <a:avLst/>
          </a:prstGeom>
          <a:noFill/>
        </p:spPr>
        <p:txBody>
          <a:bodyPr wrap="square" lIns="0" rIns="0" rtlCol="0">
            <a:noAutofit/>
          </a:bodyPr>
          <a:p>
            <a:r>
              <a:rPr lang="zh-CN" altLang="en-US" sz="900" b="1"/>
              <a:t>广东</a:t>
            </a:r>
            <a:r>
              <a:rPr lang="zh-CN" altLang="en-US" sz="800"/>
              <a:t>：《关于</a:t>
            </a:r>
            <a:r>
              <a:rPr lang="en-US" altLang="zh-CN" sz="800"/>
              <a:t>2025</a:t>
            </a:r>
            <a:r>
              <a:rPr lang="zh-CN" altLang="en-US" sz="800"/>
              <a:t>年电力市场交易有关事项的通知》、《广东省虚拟电厂参与电力市场交易实施方案》、《广东省新型储能电站建设运营管理办法（征求意见稿）》、《广东省培育发展未来绿色低碳产业</a:t>
            </a:r>
            <a:r>
              <a:rPr lang="zh-CN" altLang="en-US" sz="800"/>
              <a:t>集群行动计划》</a:t>
            </a:r>
            <a:endParaRPr lang="zh-CN" altLang="en-US" sz="800"/>
          </a:p>
        </p:txBody>
      </p:sp>
      <p:sp>
        <p:nvSpPr>
          <p:cNvPr id="3" name="文本框 2"/>
          <p:cNvSpPr txBox="1"/>
          <p:nvPr/>
        </p:nvSpPr>
        <p:spPr>
          <a:xfrm>
            <a:off x="2696845" y="6301105"/>
            <a:ext cx="1768475" cy="484505"/>
          </a:xfrm>
          <a:prstGeom prst="rect">
            <a:avLst/>
          </a:prstGeom>
          <a:noFill/>
        </p:spPr>
        <p:txBody>
          <a:bodyPr wrap="square" lIns="0" rIns="0" rtlCol="0">
            <a:noAutofit/>
          </a:bodyPr>
          <a:p>
            <a:r>
              <a:rPr lang="zh-CN" altLang="en-US" sz="900" b="1"/>
              <a:t>深圳</a:t>
            </a:r>
            <a:r>
              <a:rPr lang="zh-CN" altLang="en-US" sz="800"/>
              <a:t>：《国家碳达峰试点（深圳）实施方案》、《深圳市支持虚拟电厂加快发展的</a:t>
            </a:r>
            <a:r>
              <a:rPr lang="zh-CN" altLang="en-US" sz="800"/>
              <a:t>若干措施》</a:t>
            </a:r>
            <a:endParaRPr lang="zh-CN" altLang="en-US" sz="800"/>
          </a:p>
        </p:txBody>
      </p:sp>
      <p:sp>
        <p:nvSpPr>
          <p:cNvPr id="5" name="文本框 4"/>
          <p:cNvSpPr txBox="1"/>
          <p:nvPr/>
        </p:nvSpPr>
        <p:spPr>
          <a:xfrm>
            <a:off x="4932045" y="5661025"/>
            <a:ext cx="1768475" cy="830580"/>
          </a:xfrm>
          <a:prstGeom prst="rect">
            <a:avLst/>
          </a:prstGeom>
          <a:noFill/>
        </p:spPr>
        <p:txBody>
          <a:bodyPr wrap="square" lIns="0" rIns="0" rtlCol="0">
            <a:noAutofit/>
          </a:bodyPr>
          <a:p>
            <a:r>
              <a:rPr lang="zh-CN" altLang="en-US" sz="900" b="1"/>
              <a:t>福建</a:t>
            </a:r>
            <a:r>
              <a:rPr lang="zh-CN" altLang="en-US" sz="800"/>
              <a:t>：《福建电力市场中长期交易实施细则（</a:t>
            </a:r>
            <a:r>
              <a:rPr lang="en-US" altLang="zh-CN" sz="800"/>
              <a:t>2024</a:t>
            </a:r>
            <a:r>
              <a:rPr lang="zh-CN" altLang="en-US" sz="800"/>
              <a:t>年第二次修订版）》、《福建省电力零售市场运营工作方案》、《福建省电力需求响应实施方案》、《福建省进一步深化双边电力现货市场建设方案（</a:t>
            </a:r>
            <a:r>
              <a:rPr lang="zh-CN" altLang="en-US" sz="800"/>
              <a:t>试行）》</a:t>
            </a:r>
            <a:endParaRPr lang="zh-CN" altLang="en-US" sz="800"/>
          </a:p>
        </p:txBody>
      </p:sp>
      <p:sp>
        <p:nvSpPr>
          <p:cNvPr id="7" name="文本框 6"/>
          <p:cNvSpPr txBox="1"/>
          <p:nvPr/>
        </p:nvSpPr>
        <p:spPr>
          <a:xfrm>
            <a:off x="4932045" y="6436360"/>
            <a:ext cx="1765300" cy="349250"/>
          </a:xfrm>
          <a:prstGeom prst="rect">
            <a:avLst/>
          </a:prstGeom>
          <a:noFill/>
        </p:spPr>
        <p:txBody>
          <a:bodyPr wrap="square" lIns="0" rIns="0" rtlCol="0">
            <a:noAutofit/>
          </a:bodyPr>
          <a:p>
            <a:r>
              <a:rPr lang="zh-CN" altLang="en-US" sz="900" b="1"/>
              <a:t>江西</a:t>
            </a:r>
            <a:r>
              <a:rPr lang="zh-CN" altLang="en-US" sz="800"/>
              <a:t>：《江西省新型储能发展规划（</a:t>
            </a:r>
            <a:r>
              <a:rPr lang="en-US" altLang="zh-CN" sz="800"/>
              <a:t>2024-2030</a:t>
            </a:r>
            <a:r>
              <a:rPr lang="zh-CN" altLang="en-US" sz="800"/>
              <a:t>）》</a:t>
            </a:r>
            <a:endParaRPr lang="zh-CN" altLang="en-US" sz="800"/>
          </a:p>
        </p:txBody>
      </p:sp>
      <p:cxnSp>
        <p:nvCxnSpPr>
          <p:cNvPr id="11" name="肘形连接符 10"/>
          <p:cNvCxnSpPr>
            <a:stCxn id="6" idx="0"/>
          </p:cNvCxnSpPr>
          <p:nvPr/>
        </p:nvCxnSpPr>
        <p:spPr>
          <a:xfrm rot="16200000" flipH="1">
            <a:off x="1454785" y="1679575"/>
            <a:ext cx="1527175" cy="2114550"/>
          </a:xfrm>
          <a:prstGeom prst="bentConnector4">
            <a:avLst>
              <a:gd name="adj1" fmla="val 145"/>
              <a:gd name="adj2" fmla="val 67582"/>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16" name="肘形连接符 15"/>
          <p:cNvCxnSpPr>
            <a:stCxn id="6" idx="3"/>
          </p:cNvCxnSpPr>
          <p:nvPr/>
        </p:nvCxnSpPr>
        <p:spPr>
          <a:xfrm>
            <a:off x="2172335" y="2273300"/>
            <a:ext cx="1823720" cy="1443990"/>
          </a:xfrm>
          <a:prstGeom prst="bentConnector3">
            <a:avLst>
              <a:gd name="adj1" fmla="val 19533"/>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27" name="肘形连接符 26"/>
          <p:cNvCxnSpPr>
            <a:stCxn id="8" idx="3"/>
          </p:cNvCxnSpPr>
          <p:nvPr/>
        </p:nvCxnSpPr>
        <p:spPr>
          <a:xfrm>
            <a:off x="2172335" y="2802890"/>
            <a:ext cx="2399665" cy="1202055"/>
          </a:xfrm>
          <a:prstGeom prst="bentConnector3">
            <a:avLst>
              <a:gd name="adj1" fmla="val 11696"/>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35" name="肘形连接符 34"/>
          <p:cNvCxnSpPr>
            <a:stCxn id="10" idx="3"/>
          </p:cNvCxnSpPr>
          <p:nvPr/>
        </p:nvCxnSpPr>
        <p:spPr>
          <a:xfrm>
            <a:off x="2173605" y="3335020"/>
            <a:ext cx="1966595" cy="1102360"/>
          </a:xfrm>
          <a:prstGeom prst="bentConnector3">
            <a:avLst>
              <a:gd name="adj1" fmla="val 11527"/>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36" name="肘形连接符 35"/>
          <p:cNvCxnSpPr>
            <a:stCxn id="12" idx="3"/>
          </p:cNvCxnSpPr>
          <p:nvPr/>
        </p:nvCxnSpPr>
        <p:spPr>
          <a:xfrm>
            <a:off x="2171700" y="4500245"/>
            <a:ext cx="2616200" cy="8890"/>
          </a:xfrm>
          <a:prstGeom prst="bentConnector3">
            <a:avLst>
              <a:gd name="adj1" fmla="val 50000"/>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37" name="肘形连接符 36"/>
          <p:cNvCxnSpPr>
            <a:stCxn id="13" idx="3"/>
          </p:cNvCxnSpPr>
          <p:nvPr/>
        </p:nvCxnSpPr>
        <p:spPr>
          <a:xfrm flipV="1">
            <a:off x="2185670" y="4580890"/>
            <a:ext cx="2890520" cy="626110"/>
          </a:xfrm>
          <a:prstGeom prst="bentConnector3">
            <a:avLst>
              <a:gd name="adj1" fmla="val 8260"/>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38" name="肘形连接符 37"/>
          <p:cNvCxnSpPr/>
          <p:nvPr/>
        </p:nvCxnSpPr>
        <p:spPr>
          <a:xfrm flipV="1">
            <a:off x="2171065" y="4797425"/>
            <a:ext cx="2760980" cy="1134745"/>
          </a:xfrm>
          <a:prstGeom prst="bentConnector3">
            <a:avLst>
              <a:gd name="adj1" fmla="val 12879"/>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39" name="肘形连接符 38"/>
          <p:cNvCxnSpPr>
            <a:stCxn id="15" idx="3"/>
          </p:cNvCxnSpPr>
          <p:nvPr/>
        </p:nvCxnSpPr>
        <p:spPr>
          <a:xfrm flipV="1">
            <a:off x="2185670" y="5085080"/>
            <a:ext cx="1882775" cy="1463040"/>
          </a:xfrm>
          <a:prstGeom prst="bentConnector3">
            <a:avLst>
              <a:gd name="adj1" fmla="val 22529"/>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40" name="肘形连接符 39"/>
          <p:cNvCxnSpPr>
            <a:stCxn id="33" idx="0"/>
          </p:cNvCxnSpPr>
          <p:nvPr/>
        </p:nvCxnSpPr>
        <p:spPr>
          <a:xfrm rot="16200000">
            <a:off x="3994785" y="4672965"/>
            <a:ext cx="165100" cy="1133475"/>
          </a:xfrm>
          <a:prstGeom prst="bentConnector2">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41" name="肘形连接符 40"/>
          <p:cNvCxnSpPr>
            <a:stCxn id="34" idx="3"/>
          </p:cNvCxnSpPr>
          <p:nvPr/>
        </p:nvCxnSpPr>
        <p:spPr>
          <a:xfrm flipV="1">
            <a:off x="4465955" y="5156835"/>
            <a:ext cx="681990" cy="609600"/>
          </a:xfrm>
          <a:prstGeom prst="bentConnector3">
            <a:avLst>
              <a:gd name="adj1" fmla="val 41527"/>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42" name="肘形连接符 41"/>
          <p:cNvCxnSpPr>
            <a:stCxn id="3" idx="2"/>
          </p:cNvCxnSpPr>
          <p:nvPr/>
        </p:nvCxnSpPr>
        <p:spPr>
          <a:xfrm rot="5400000" flipH="1" flipV="1">
            <a:off x="3622040" y="5259705"/>
            <a:ext cx="1484630" cy="1566545"/>
          </a:xfrm>
          <a:prstGeom prst="bentConnector4">
            <a:avLst>
              <a:gd name="adj1" fmla="val -577"/>
              <a:gd name="adj2" fmla="val 78212"/>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43" name="肘形连接符 42"/>
          <p:cNvCxnSpPr>
            <a:endCxn id="5" idx="0"/>
          </p:cNvCxnSpPr>
          <p:nvPr/>
        </p:nvCxnSpPr>
        <p:spPr>
          <a:xfrm rot="5400000" flipV="1">
            <a:off x="5278120" y="5122545"/>
            <a:ext cx="709930" cy="366395"/>
          </a:xfrm>
          <a:prstGeom prst="bentConnector3">
            <a:avLst>
              <a:gd name="adj1" fmla="val 50045"/>
            </a:avLst>
          </a:prstGeom>
          <a:solidFill>
            <a:schemeClr val="accent1"/>
          </a:solidFill>
          <a:ln w="6350" cap="flat" cmpd="sng" algn="ctr">
            <a:solidFill>
              <a:schemeClr val="accent1">
                <a:lumMod val="75000"/>
              </a:schemeClr>
            </a:solidFill>
            <a:prstDash val="solid"/>
            <a:round/>
            <a:headEnd type="oval" w="med" len="med"/>
            <a:tailEnd type="none" w="med" len="med"/>
          </a:ln>
        </p:spPr>
      </p:cxnSp>
      <p:cxnSp>
        <p:nvCxnSpPr>
          <p:cNvPr id="44" name="肘形连接符 43"/>
          <p:cNvCxnSpPr>
            <a:endCxn id="7" idx="1"/>
          </p:cNvCxnSpPr>
          <p:nvPr/>
        </p:nvCxnSpPr>
        <p:spPr>
          <a:xfrm rot="5400000">
            <a:off x="4197985" y="5519420"/>
            <a:ext cx="1825625" cy="356870"/>
          </a:xfrm>
          <a:prstGeom prst="bentConnector4">
            <a:avLst>
              <a:gd name="adj1" fmla="val 45235"/>
              <a:gd name="adj2" fmla="val 105071"/>
            </a:avLst>
          </a:prstGeom>
          <a:solidFill>
            <a:schemeClr val="accent1"/>
          </a:solidFill>
          <a:ln w="6350" cap="flat" cmpd="sng" algn="ctr">
            <a:solidFill>
              <a:schemeClr val="accent1">
                <a:lumMod val="75000"/>
              </a:schemeClr>
            </a:solidFill>
            <a:prstDash val="solid"/>
            <a:round/>
            <a:headEnd type="oval" w="med" len="med"/>
            <a:tailEnd type="none" w="med" len="med"/>
          </a:ln>
        </p:spPr>
      </p:cxnSp>
      <p:cxnSp>
        <p:nvCxnSpPr>
          <p:cNvPr id="45" name="肘形连接符 44"/>
          <p:cNvCxnSpPr>
            <a:stCxn id="17" idx="3"/>
          </p:cNvCxnSpPr>
          <p:nvPr/>
        </p:nvCxnSpPr>
        <p:spPr>
          <a:xfrm>
            <a:off x="4719955" y="1795780"/>
            <a:ext cx="283845" cy="2209165"/>
          </a:xfrm>
          <a:prstGeom prst="bentConnector2">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46" name="肘形连接符 45"/>
          <p:cNvCxnSpPr>
            <a:stCxn id="18" idx="2"/>
          </p:cNvCxnSpPr>
          <p:nvPr/>
        </p:nvCxnSpPr>
        <p:spPr>
          <a:xfrm rot="5400000" flipV="1">
            <a:off x="3670300" y="2959735"/>
            <a:ext cx="1134110" cy="1101090"/>
          </a:xfrm>
          <a:prstGeom prst="bentConnector3">
            <a:avLst>
              <a:gd name="adj1" fmla="val 17805"/>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47" name="肘形连接符 46"/>
          <p:cNvCxnSpPr>
            <a:stCxn id="19" idx="2"/>
          </p:cNvCxnSpPr>
          <p:nvPr/>
        </p:nvCxnSpPr>
        <p:spPr>
          <a:xfrm rot="5400000">
            <a:off x="5175885" y="2496820"/>
            <a:ext cx="922020" cy="690245"/>
          </a:xfrm>
          <a:prstGeom prst="bentConnector3">
            <a:avLst>
              <a:gd name="adj1" fmla="val 15668"/>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48" name="肘形连接符 47"/>
          <p:cNvCxnSpPr>
            <a:stCxn id="20" idx="1"/>
          </p:cNvCxnSpPr>
          <p:nvPr/>
        </p:nvCxnSpPr>
        <p:spPr>
          <a:xfrm rot="10800000" flipV="1">
            <a:off x="5868035" y="1805940"/>
            <a:ext cx="1224280" cy="1118870"/>
          </a:xfrm>
          <a:prstGeom prst="bentConnector3">
            <a:avLst>
              <a:gd name="adj1" fmla="val 20954"/>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49" name="肘形连接符 48"/>
          <p:cNvCxnSpPr>
            <a:endCxn id="22" idx="0"/>
          </p:cNvCxnSpPr>
          <p:nvPr/>
        </p:nvCxnSpPr>
        <p:spPr>
          <a:xfrm flipV="1">
            <a:off x="5940425" y="2249170"/>
            <a:ext cx="2163445" cy="1179830"/>
          </a:xfrm>
          <a:prstGeom prst="bentConnector4">
            <a:avLst>
              <a:gd name="adj1" fmla="val 26651"/>
              <a:gd name="adj2" fmla="val 94940"/>
            </a:avLst>
          </a:prstGeom>
          <a:solidFill>
            <a:schemeClr val="accent1"/>
          </a:solidFill>
          <a:ln w="6350" cap="flat" cmpd="sng" algn="ctr">
            <a:solidFill>
              <a:schemeClr val="accent1">
                <a:lumMod val="75000"/>
              </a:schemeClr>
            </a:solidFill>
            <a:prstDash val="solid"/>
            <a:round/>
            <a:headEnd type="oval" w="med" len="med"/>
            <a:tailEnd type="none" w="med" len="med"/>
          </a:ln>
        </p:spPr>
      </p:cxnSp>
      <p:cxnSp>
        <p:nvCxnSpPr>
          <p:cNvPr id="50" name="肘形连接符 49"/>
          <p:cNvCxnSpPr>
            <a:stCxn id="22" idx="1"/>
          </p:cNvCxnSpPr>
          <p:nvPr/>
        </p:nvCxnSpPr>
        <p:spPr>
          <a:xfrm rot="10800000" flipV="1">
            <a:off x="5723255" y="2426335"/>
            <a:ext cx="1368425" cy="1146810"/>
          </a:xfrm>
          <a:prstGeom prst="bentConnector3">
            <a:avLst>
              <a:gd name="adj1" fmla="val 32436"/>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51" name="肘形连接符 50"/>
          <p:cNvCxnSpPr>
            <a:stCxn id="23" idx="1"/>
          </p:cNvCxnSpPr>
          <p:nvPr/>
        </p:nvCxnSpPr>
        <p:spPr>
          <a:xfrm rot="10800000" flipV="1">
            <a:off x="5291455" y="2759710"/>
            <a:ext cx="1800225" cy="956945"/>
          </a:xfrm>
          <a:prstGeom prst="bentConnector3">
            <a:avLst>
              <a:gd name="adj1" fmla="val 9453"/>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52" name="肘形连接符 51"/>
          <p:cNvCxnSpPr/>
          <p:nvPr/>
        </p:nvCxnSpPr>
        <p:spPr>
          <a:xfrm rot="10800000" flipV="1">
            <a:off x="5363845" y="3096895"/>
            <a:ext cx="1728470" cy="691515"/>
          </a:xfrm>
          <a:prstGeom prst="bentConnector3">
            <a:avLst>
              <a:gd name="adj1" fmla="val 19397"/>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53" name="肘形连接符 52"/>
          <p:cNvCxnSpPr>
            <a:stCxn id="25" idx="1"/>
          </p:cNvCxnSpPr>
          <p:nvPr/>
        </p:nvCxnSpPr>
        <p:spPr>
          <a:xfrm rot="10800000" flipV="1">
            <a:off x="5220335" y="3436620"/>
            <a:ext cx="1871980" cy="496570"/>
          </a:xfrm>
          <a:prstGeom prst="bentConnector3">
            <a:avLst>
              <a:gd name="adj1" fmla="val 14552"/>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54" name="肘形连接符 53"/>
          <p:cNvCxnSpPr/>
          <p:nvPr/>
        </p:nvCxnSpPr>
        <p:spPr>
          <a:xfrm rot="10800000" flipV="1">
            <a:off x="5363845" y="3926205"/>
            <a:ext cx="1728470" cy="151130"/>
          </a:xfrm>
          <a:prstGeom prst="bentConnector3">
            <a:avLst>
              <a:gd name="adj1" fmla="val 10506"/>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55" name="肘形连接符 54"/>
          <p:cNvCxnSpPr>
            <a:stCxn id="28" idx="1"/>
          </p:cNvCxnSpPr>
          <p:nvPr/>
        </p:nvCxnSpPr>
        <p:spPr>
          <a:xfrm rot="10800000">
            <a:off x="5075555" y="4293235"/>
            <a:ext cx="2016125" cy="151130"/>
          </a:xfrm>
          <a:prstGeom prst="bentConnector3">
            <a:avLst>
              <a:gd name="adj1" fmla="val 40472"/>
            </a:avLst>
          </a:prstGeom>
          <a:solidFill>
            <a:schemeClr val="accent1"/>
          </a:solidFill>
          <a:ln w="6350" cap="flat" cmpd="sng" algn="ctr">
            <a:solidFill>
              <a:schemeClr val="accent1">
                <a:lumMod val="75000"/>
              </a:schemeClr>
            </a:solidFill>
            <a:prstDash val="solid"/>
            <a:round/>
            <a:headEnd type="none" w="med" len="med"/>
            <a:tailEnd type="oval" w="med" len="med"/>
          </a:ln>
        </p:spPr>
      </p:cxnSp>
      <p:cxnSp>
        <p:nvCxnSpPr>
          <p:cNvPr id="56" name="肘形连接符 55"/>
          <p:cNvCxnSpPr>
            <a:endCxn id="29" idx="1"/>
          </p:cNvCxnSpPr>
          <p:nvPr/>
        </p:nvCxnSpPr>
        <p:spPr>
          <a:xfrm>
            <a:off x="5606415" y="4369435"/>
            <a:ext cx="1485900" cy="400685"/>
          </a:xfrm>
          <a:prstGeom prst="bentConnector3">
            <a:avLst>
              <a:gd name="adj1" fmla="val 26153"/>
            </a:avLst>
          </a:prstGeom>
          <a:solidFill>
            <a:schemeClr val="accent1"/>
          </a:solidFill>
          <a:ln w="6350" cap="flat" cmpd="sng" algn="ctr">
            <a:solidFill>
              <a:schemeClr val="accent1">
                <a:lumMod val="75000"/>
              </a:schemeClr>
            </a:solidFill>
            <a:prstDash val="solid"/>
            <a:round/>
            <a:headEnd type="oval" w="med" len="med"/>
            <a:tailEnd type="none" w="med" len="med"/>
          </a:ln>
        </p:spPr>
      </p:cxnSp>
      <p:cxnSp>
        <p:nvCxnSpPr>
          <p:cNvPr id="57" name="肘形连接符 56"/>
          <p:cNvCxnSpPr>
            <a:endCxn id="30" idx="1"/>
          </p:cNvCxnSpPr>
          <p:nvPr/>
        </p:nvCxnSpPr>
        <p:spPr>
          <a:xfrm>
            <a:off x="5356860" y="4407535"/>
            <a:ext cx="1735455" cy="804545"/>
          </a:xfrm>
          <a:prstGeom prst="bentConnector3">
            <a:avLst>
              <a:gd name="adj1" fmla="val 31759"/>
            </a:avLst>
          </a:prstGeom>
          <a:solidFill>
            <a:schemeClr val="accent1"/>
          </a:solidFill>
          <a:ln w="6350" cap="flat" cmpd="sng" algn="ctr">
            <a:solidFill>
              <a:schemeClr val="accent1">
                <a:lumMod val="75000"/>
              </a:schemeClr>
            </a:solidFill>
            <a:prstDash val="solid"/>
            <a:round/>
            <a:headEnd type="oval" w="med" len="med"/>
            <a:tailEnd type="none" w="med" len="med"/>
          </a:ln>
        </p:spPr>
      </p:cxnSp>
      <p:cxnSp>
        <p:nvCxnSpPr>
          <p:cNvPr id="58" name="肘形连接符 57"/>
          <p:cNvCxnSpPr/>
          <p:nvPr/>
        </p:nvCxnSpPr>
        <p:spPr>
          <a:xfrm>
            <a:off x="5702300" y="4483735"/>
            <a:ext cx="2470150" cy="1825625"/>
          </a:xfrm>
          <a:prstGeom prst="bentConnector3">
            <a:avLst>
              <a:gd name="adj1" fmla="val 53136"/>
            </a:avLst>
          </a:prstGeom>
          <a:solidFill>
            <a:schemeClr val="accent1"/>
          </a:solidFill>
          <a:ln w="6350" cap="flat" cmpd="sng" algn="ctr">
            <a:solidFill>
              <a:schemeClr val="accent1">
                <a:lumMod val="75000"/>
              </a:schemeClr>
            </a:solidFill>
            <a:prstDash val="solid"/>
            <a:round/>
            <a:headEnd type="oval" w="med" len="med"/>
            <a:tailEnd type="none" w="med" len="med"/>
          </a:ln>
        </p:spPr>
      </p:cxnSp>
      <p:cxnSp>
        <p:nvCxnSpPr>
          <p:cNvPr id="59" name="肘形连接符 58"/>
          <p:cNvCxnSpPr>
            <a:endCxn id="32" idx="2"/>
          </p:cNvCxnSpPr>
          <p:nvPr/>
        </p:nvCxnSpPr>
        <p:spPr>
          <a:xfrm>
            <a:off x="5596890" y="4637405"/>
            <a:ext cx="2521585" cy="2169160"/>
          </a:xfrm>
          <a:prstGeom prst="bentConnector4">
            <a:avLst>
              <a:gd name="adj1" fmla="val 52505"/>
              <a:gd name="adj2" fmla="val 99912"/>
            </a:avLst>
          </a:prstGeom>
          <a:solidFill>
            <a:schemeClr val="accent1"/>
          </a:solidFill>
          <a:ln w="6350" cap="flat" cmpd="sng" algn="ctr">
            <a:solidFill>
              <a:schemeClr val="accent1">
                <a:lumMod val="75000"/>
              </a:schemeClr>
            </a:solidFill>
            <a:prstDash val="solid"/>
            <a:round/>
            <a:headEnd type="none" w="med" len="med"/>
            <a:tailEnd type="oval"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35843" name="Text Box 2"/>
          <p:cNvSpPr/>
          <p:nvPr/>
        </p:nvSpPr>
        <p:spPr>
          <a:xfrm>
            <a:off x="287338" y="228600"/>
            <a:ext cx="45720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国内情况</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35844" name="文本框 1"/>
          <p:cNvSpPr txBox="1"/>
          <p:nvPr/>
        </p:nvSpPr>
        <p:spPr>
          <a:xfrm>
            <a:off x="306388" y="1211263"/>
            <a:ext cx="8091487" cy="368300"/>
          </a:xfrm>
          <a:prstGeom prst="rect">
            <a:avLst/>
          </a:prstGeom>
          <a:noFill/>
          <a:ln w="9525">
            <a:noFill/>
          </a:ln>
        </p:spPr>
        <p:txBody>
          <a:bodyPr>
            <a:spAutoFit/>
          </a:bodyPr>
          <a:p>
            <a:pPr>
              <a:buNone/>
            </a:pPr>
            <a:r>
              <a:rPr lang="en-US" altLang="zh-CN" b="1" dirty="0">
                <a:solidFill>
                  <a:srgbClr val="FF0000"/>
                </a:solidFill>
                <a:latin typeface="Arial" panose="020B0604020202020204" pitchFamily="34" charset="0"/>
                <a:ea typeface="黑体" panose="02010609060101010101" pitchFamily="49" charset="-122"/>
                <a:sym typeface="Arial" panose="020B0604020202020204" pitchFamily="34" charset="0"/>
              </a:rPr>
              <a:t>2. </a:t>
            </a:r>
            <a:r>
              <a:rPr lang="zh-CN" altLang="en-US" b="1" dirty="0">
                <a:solidFill>
                  <a:srgbClr val="FF0000"/>
                </a:solidFill>
                <a:latin typeface="Arial" panose="020B0604020202020204" pitchFamily="34" charset="0"/>
                <a:ea typeface="黑体" panose="02010609060101010101" pitchFamily="49" charset="-122"/>
                <a:sym typeface="+mn-ea"/>
              </a:rPr>
              <a:t>国内虚拟电厂发展现状</a:t>
            </a:r>
            <a:endParaRPr lang="zh-CN" altLang="en-US" b="1" dirty="0">
              <a:solidFill>
                <a:srgbClr val="FF0000"/>
              </a:solidFill>
              <a:latin typeface="Arial" panose="020B0604020202020204" pitchFamily="34" charset="0"/>
              <a:ea typeface="黑体" panose="02010609060101010101" pitchFamily="49" charset="-122"/>
              <a:sym typeface="+mn-ea"/>
            </a:endParaRPr>
          </a:p>
        </p:txBody>
      </p:sp>
      <p:cxnSp>
        <p:nvCxnSpPr>
          <p:cNvPr id="8" name="直接连接符 7"/>
          <p:cNvCxnSpPr/>
          <p:nvPr/>
        </p:nvCxnSpPr>
        <p:spPr>
          <a:xfrm>
            <a:off x="409575" y="1571625"/>
            <a:ext cx="7745413" cy="15875"/>
          </a:xfrm>
          <a:prstGeom prst="line">
            <a:avLst/>
          </a:prstGeom>
          <a:ln>
            <a:solidFill>
              <a:srgbClr val="112F70"/>
            </a:solidFill>
          </a:ln>
        </p:spPr>
        <p:style>
          <a:lnRef idx="2">
            <a:schemeClr val="accent1"/>
          </a:lnRef>
          <a:fillRef idx="0">
            <a:schemeClr val="accent1"/>
          </a:fillRef>
          <a:effectRef idx="1">
            <a:schemeClr val="accent1"/>
          </a:effectRef>
          <a:fontRef idx="minor">
            <a:schemeClr val="tx1"/>
          </a:fontRef>
        </p:style>
      </p:cxnSp>
      <p:graphicFrame>
        <p:nvGraphicFramePr>
          <p:cNvPr id="10" name="表格 9"/>
          <p:cNvGraphicFramePr>
            <a:graphicFrameLocks noGrp="1"/>
          </p:cNvGraphicFramePr>
          <p:nvPr/>
        </p:nvGraphicFramePr>
        <p:xfrm>
          <a:off x="4294188" y="3996055"/>
          <a:ext cx="4714875" cy="2273300"/>
        </p:xfrm>
        <a:graphic>
          <a:graphicData uri="http://schemas.openxmlformats.org/drawingml/2006/table">
            <a:tbl>
              <a:tblPr firstRow="1" firstCol="1" bandRow="1">
                <a:tableStyleId>{3B4B98B0-60AC-42C2-AFA5-B58CD77FA1E5}</a:tableStyleId>
              </a:tblPr>
              <a:tblGrid>
                <a:gridCol w="396875"/>
                <a:gridCol w="878840"/>
                <a:gridCol w="642620"/>
                <a:gridCol w="642620"/>
                <a:gridCol w="718820"/>
                <a:gridCol w="372745"/>
                <a:gridCol w="1062355"/>
              </a:tblGrid>
              <a:tr h="248429">
                <a:tc gridSpan="7">
                  <a:txBody>
                    <a:bodyPr/>
                    <a:lstStyle/>
                    <a:p>
                      <a:pPr algn="ctr">
                        <a:spcAft>
                          <a:spcPts val="0"/>
                        </a:spcAft>
                      </a:pPr>
                      <a:r>
                        <a:rPr lang="zh-CN" altLang="en-US" sz="800" kern="100" dirty="0">
                          <a:effectLst/>
                          <a:latin typeface="Times New Roman" panose="02020603050405020304" pitchFamily="18" charset="0"/>
                          <a:ea typeface="微软雅黑" panose="020B0503020204020204" pitchFamily="34" charset="-122"/>
                          <a:cs typeface="Times New Roman" panose="02020603050405020304" pitchFamily="18" charset="0"/>
                        </a:rPr>
                        <a:t>中国</a:t>
                      </a:r>
                      <a:r>
                        <a:rPr lang="zh-CN" altLang="en-US" sz="800" kern="100" dirty="0">
                          <a:effectLst/>
                          <a:latin typeface="Times New Roman" panose="02020603050405020304" pitchFamily="18" charset="0"/>
                          <a:ea typeface="微软雅黑" panose="020B0503020204020204" pitchFamily="34" charset="-122"/>
                          <a:cs typeface="Times New Roman" panose="02020603050405020304" pitchFamily="18" charset="0"/>
                        </a:rPr>
                        <a:t>部分虚拟电厂试点项目开展情况</a:t>
                      </a:r>
                      <a:endParaRPr lang="zh-CN" sz="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hMerge="1">
                  <a:tcPr marL="48537" marR="48537" marT="0" marB="0" anchor="ctr"/>
                </a:tc>
                <a:tc hMerge="1">
                  <a:tcPr marL="48537" marR="48537" marT="0" marB="0" anchor="ctr"/>
                </a:tc>
                <a:tc hMerge="1">
                  <a:tcPr marL="48537" marR="48537" marT="0" marB="0" anchor="ctr"/>
                </a:tc>
                <a:tc hMerge="1">
                  <a:tcPr marL="48537" marR="48537" marT="0" marB="0" anchor="ctr"/>
                </a:tc>
                <a:tc hMerge="1">
                  <a:tcPr marL="48537" marR="48537" marT="0" marB="0" anchor="ctr"/>
                </a:tc>
                <a:tc hMerge="1">
                  <a:tcPr marL="48537" marR="48537" marT="0" marB="0" anchor="ctr"/>
                </a:tc>
              </a:tr>
              <a:tr h="199891">
                <a:tc>
                  <a:txBody>
                    <a:bodyPr/>
                    <a:lstStyle/>
                    <a:p>
                      <a:pPr algn="just">
                        <a:spcAft>
                          <a:spcPts val="0"/>
                        </a:spcAft>
                      </a:pPr>
                      <a:r>
                        <a:rPr lang="zh-CN" sz="700" b="1" kern="100" dirty="0">
                          <a:effectLst/>
                          <a:ea typeface="微软雅黑" panose="020B0503020204020204" pitchFamily="34" charset="-122"/>
                        </a:rPr>
                        <a:t>省份</a:t>
                      </a:r>
                      <a:endParaRPr lang="zh-CN" sz="8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700" b="1" kern="100" dirty="0">
                          <a:effectLst/>
                          <a:ea typeface="微软雅黑" panose="020B0503020204020204" pitchFamily="34" charset="-122"/>
                        </a:rPr>
                        <a:t>项目名称</a:t>
                      </a:r>
                      <a:endParaRPr lang="zh-CN" sz="8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700" b="1" kern="100" dirty="0">
                          <a:effectLst/>
                          <a:ea typeface="微软雅黑" panose="020B0503020204020204" pitchFamily="34" charset="-122"/>
                        </a:rPr>
                        <a:t>运行时间</a:t>
                      </a:r>
                      <a:endParaRPr lang="zh-CN" sz="8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700" b="1" kern="100">
                          <a:effectLst/>
                          <a:ea typeface="微软雅黑" panose="020B0503020204020204" pitchFamily="34" charset="-122"/>
                        </a:rPr>
                        <a:t>公司</a:t>
                      </a:r>
                      <a:r>
                        <a:rPr lang="en-US" sz="700" b="1" kern="100">
                          <a:effectLst/>
                          <a:ea typeface="微软雅黑" panose="020B0503020204020204" pitchFamily="34" charset="-122"/>
                        </a:rPr>
                        <a:t>/</a:t>
                      </a:r>
                      <a:r>
                        <a:rPr lang="zh-CN" sz="700" b="1" kern="100">
                          <a:effectLst/>
                          <a:ea typeface="微软雅黑" panose="020B0503020204020204" pitchFamily="34" charset="-122"/>
                        </a:rPr>
                        <a:t>机构</a:t>
                      </a:r>
                      <a:endParaRPr lang="zh-CN" sz="8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700" b="1" kern="100">
                          <a:effectLst/>
                          <a:ea typeface="微软雅黑" panose="020B0503020204020204" pitchFamily="34" charset="-122"/>
                        </a:rPr>
                        <a:t>应用场景</a:t>
                      </a:r>
                      <a:endParaRPr lang="zh-CN" sz="8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700" b="1" kern="100" dirty="0">
                          <a:effectLst/>
                          <a:ea typeface="微软雅黑" panose="020B0503020204020204" pitchFamily="34" charset="-122"/>
                        </a:rPr>
                        <a:t>类型</a:t>
                      </a:r>
                      <a:endParaRPr lang="zh-CN" sz="8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700" b="1" kern="100" dirty="0">
                          <a:effectLst/>
                          <a:ea typeface="微软雅黑" panose="020B0503020204020204" pitchFamily="34" charset="-122"/>
                        </a:rPr>
                        <a:t>聚合资源类型</a:t>
                      </a:r>
                      <a:endParaRPr lang="zh-CN" sz="8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r>
              <a:tr h="246175">
                <a:tc>
                  <a:txBody>
                    <a:bodyPr/>
                    <a:lstStyle/>
                    <a:p>
                      <a:pPr algn="just">
                        <a:spcAft>
                          <a:spcPts val="0"/>
                        </a:spcAft>
                      </a:pPr>
                      <a:r>
                        <a:rPr lang="zh-CN" sz="600" kern="100">
                          <a:effectLst/>
                          <a:ea typeface="微软雅黑" panose="020B0503020204020204" pitchFamily="34" charset="-122"/>
                        </a:rPr>
                        <a:t>河北</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国网冀北泛在电力物联网虚拟电厂示范工程</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en-US" sz="600" kern="100">
                          <a:effectLst/>
                          <a:ea typeface="微软雅黑" panose="020B0503020204020204" pitchFamily="34" charset="-122"/>
                        </a:rPr>
                        <a:t>2019/12/11</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国网冀北电力</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需求响应；削峰填谷</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综合型</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智能楼宇、储能、电动汽车充电站、分布式光伏等</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r>
              <a:tr h="230071">
                <a:tc>
                  <a:txBody>
                    <a:bodyPr/>
                    <a:lstStyle/>
                    <a:p>
                      <a:pPr algn="just">
                        <a:spcAft>
                          <a:spcPts val="0"/>
                        </a:spcAft>
                      </a:pPr>
                      <a:r>
                        <a:rPr lang="zh-CN" sz="600" kern="100">
                          <a:effectLst/>
                          <a:ea typeface="微软雅黑" panose="020B0503020204020204" pitchFamily="34" charset="-122"/>
                        </a:rPr>
                        <a:t>广东</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深圳自动化虚拟电厂</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en-US" sz="600" kern="100">
                          <a:effectLst/>
                          <a:ea typeface="微软雅黑" panose="020B0503020204020204" pitchFamily="34" charset="-122"/>
                        </a:rPr>
                        <a:t>2020/10/26</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深圳供电局</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需求响应</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负荷型</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分布式储能、数据中心、充电站、地铁等</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r>
              <a:tr h="164117">
                <a:tc>
                  <a:txBody>
                    <a:bodyPr/>
                    <a:lstStyle/>
                    <a:p>
                      <a:pPr algn="just">
                        <a:spcAft>
                          <a:spcPts val="0"/>
                        </a:spcAft>
                      </a:pPr>
                      <a:r>
                        <a:rPr lang="zh-CN" sz="600" kern="100">
                          <a:effectLst/>
                          <a:ea typeface="微软雅黑" panose="020B0503020204020204" pitchFamily="34" charset="-122"/>
                        </a:rPr>
                        <a:t>浙江</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丽水绿色能源“虚拟电厂”</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en-US" sz="600" kern="100">
                          <a:effectLst/>
                          <a:ea typeface="微软雅黑" panose="020B0503020204020204" pitchFamily="34" charset="-122"/>
                        </a:rPr>
                        <a:t>2021/3</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浙江电网</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辅助电网调峰</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电源型</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全市境内</a:t>
                      </a:r>
                      <a:r>
                        <a:rPr lang="en-US" sz="600" kern="100" dirty="0">
                          <a:effectLst/>
                          <a:ea typeface="微软雅黑" panose="020B0503020204020204" pitchFamily="34" charset="-122"/>
                        </a:rPr>
                        <a:t>800</a:t>
                      </a:r>
                      <a:r>
                        <a:rPr lang="zh-CN" sz="600" kern="100" dirty="0">
                          <a:effectLst/>
                          <a:ea typeface="微软雅黑" panose="020B0503020204020204" pitchFamily="34" charset="-122"/>
                        </a:rPr>
                        <a:t>多座水电站组成</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r>
              <a:tr h="306761">
                <a:tc>
                  <a:txBody>
                    <a:bodyPr/>
                    <a:lstStyle/>
                    <a:p>
                      <a:pPr algn="just">
                        <a:spcAft>
                          <a:spcPts val="0"/>
                        </a:spcAft>
                      </a:pPr>
                      <a:r>
                        <a:rPr lang="zh-CN" sz="600" kern="100">
                          <a:effectLst/>
                          <a:ea typeface="微软雅黑" panose="020B0503020204020204" pitchFamily="34" charset="-122"/>
                        </a:rPr>
                        <a:t>上海</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上海黄浦区商业建筑虚拟电厂示范项目</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en-US" sz="600" kern="100">
                          <a:effectLst/>
                          <a:ea typeface="微软雅黑" panose="020B0503020204020204" pitchFamily="34" charset="-122"/>
                        </a:rPr>
                        <a:t>2021/5/1</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黄浦区发改委</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需求响应</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负荷型</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商业建筑可调负荷资源，包含冷水机组、风冷热泵、动力照明、充电桩等</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r>
              <a:tr h="230071">
                <a:tc>
                  <a:txBody>
                    <a:bodyPr/>
                    <a:lstStyle/>
                    <a:p>
                      <a:pPr algn="just">
                        <a:spcAft>
                          <a:spcPts val="0"/>
                        </a:spcAft>
                      </a:pPr>
                      <a:r>
                        <a:rPr lang="zh-CN" sz="600" kern="100">
                          <a:effectLst/>
                          <a:ea typeface="微软雅黑" panose="020B0503020204020204" pitchFamily="34" charset="-122"/>
                        </a:rPr>
                        <a:t>山东</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烟台数字化虚拟电厂</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en-US" sz="600" kern="100">
                          <a:effectLst/>
                          <a:ea typeface="微软雅黑" panose="020B0503020204020204" pitchFamily="34" charset="-122"/>
                        </a:rPr>
                        <a:t>2023/11/22</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国网烟台供电公司</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需求响应</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负荷型</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工厂、楼宇、园区内近</a:t>
                      </a:r>
                      <a:r>
                        <a:rPr lang="en-US" sz="600" kern="100" dirty="0">
                          <a:effectLst/>
                          <a:ea typeface="微软雅黑" panose="020B0503020204020204" pitchFamily="34" charset="-122"/>
                        </a:rPr>
                        <a:t>50</a:t>
                      </a:r>
                      <a:r>
                        <a:rPr lang="zh-CN" sz="600" kern="100" dirty="0">
                          <a:effectLst/>
                          <a:ea typeface="微软雅黑" panose="020B0503020204020204" pitchFamily="34" charset="-122"/>
                        </a:rPr>
                        <a:t>万千瓦可调节用电资源</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r>
              <a:tr h="382738">
                <a:tc>
                  <a:txBody>
                    <a:bodyPr/>
                    <a:lstStyle/>
                    <a:p>
                      <a:pPr algn="just">
                        <a:spcAft>
                          <a:spcPts val="0"/>
                        </a:spcAft>
                      </a:pPr>
                      <a:r>
                        <a:rPr lang="zh-CN" sz="600" kern="100">
                          <a:effectLst/>
                          <a:ea typeface="微软雅黑" panose="020B0503020204020204" pitchFamily="34" charset="-122"/>
                        </a:rPr>
                        <a:t>湖北</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黄石磁湖电厂</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en-US" sz="600" kern="100">
                          <a:effectLst/>
                          <a:ea typeface="微软雅黑" panose="020B0503020204020204" pitchFamily="34" charset="-122"/>
                        </a:rPr>
                        <a:t>2024/5/11</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黄石供电公司</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削峰填谷</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综合型</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资源涵盖可中断负荷、充电站、分布式光伏、储能等</a:t>
                      </a:r>
                      <a:r>
                        <a:rPr lang="en-US" sz="600" kern="100" dirty="0">
                          <a:effectLst/>
                          <a:ea typeface="微软雅黑" panose="020B0503020204020204" pitchFamily="34" charset="-122"/>
                        </a:rPr>
                        <a:t>4</a:t>
                      </a:r>
                      <a:r>
                        <a:rPr lang="zh-CN" sz="600" kern="100" dirty="0">
                          <a:effectLst/>
                          <a:ea typeface="微软雅黑" panose="020B0503020204020204" pitchFamily="34" charset="-122"/>
                        </a:rPr>
                        <a:t>类资源，达黄石最大负荷的</a:t>
                      </a:r>
                      <a:r>
                        <a:rPr lang="en-US" sz="600" kern="100" dirty="0">
                          <a:effectLst/>
                          <a:ea typeface="微软雅黑" panose="020B0503020204020204" pitchFamily="34" charset="-122"/>
                        </a:rPr>
                        <a:t>7.5%</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r>
              <a:tr h="246175">
                <a:tc>
                  <a:txBody>
                    <a:bodyPr/>
                    <a:lstStyle/>
                    <a:p>
                      <a:pPr algn="just">
                        <a:spcAft>
                          <a:spcPts val="0"/>
                        </a:spcAft>
                      </a:pPr>
                      <a:r>
                        <a:rPr lang="zh-CN" sz="600" kern="100">
                          <a:effectLst/>
                          <a:ea typeface="微软雅黑" panose="020B0503020204020204" pitchFamily="34" charset="-122"/>
                        </a:rPr>
                        <a:t>山东</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济南市聚合式虚拟电厂建设运营试点示范项目</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在建</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a:effectLst/>
                          <a:ea typeface="微软雅黑" panose="020B0503020204020204" pitchFamily="34" charset="-122"/>
                        </a:rPr>
                        <a:t>济南供电公司</a:t>
                      </a:r>
                      <a:r>
                        <a:rPr lang="en-US" sz="600" kern="100">
                          <a:effectLst/>
                          <a:ea typeface="微软雅黑" panose="020B0503020204020204" pitchFamily="34" charset="-122"/>
                        </a:rPr>
                        <a:t> &amp; </a:t>
                      </a:r>
                      <a:r>
                        <a:rPr lang="zh-CN" sz="600" kern="100">
                          <a:effectLst/>
                          <a:ea typeface="微软雅黑" panose="020B0503020204020204" pitchFamily="34" charset="-122"/>
                        </a:rPr>
                        <a:t>新能源科技公司</a:t>
                      </a:r>
                      <a:endParaRPr lang="zh-CN" sz="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高峰负荷管理、可再生能源消纳</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综合型</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c>
                  <a:txBody>
                    <a:bodyPr/>
                    <a:lstStyle/>
                    <a:p>
                      <a:pPr algn="just">
                        <a:spcAft>
                          <a:spcPts val="0"/>
                        </a:spcAft>
                      </a:pPr>
                      <a:r>
                        <a:rPr lang="zh-CN" sz="600" kern="100" dirty="0">
                          <a:effectLst/>
                          <a:ea typeface="微软雅黑" panose="020B0503020204020204" pitchFamily="34" charset="-122"/>
                        </a:rPr>
                        <a:t>充换电站、分布式光伏、工商业用户等资源</a:t>
                      </a:r>
                      <a:endParaRPr lang="zh-CN" sz="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8537" marR="48537" marT="0" marB="0" anchor="ctr"/>
                </a:tc>
              </a:tr>
            </a:tbl>
          </a:graphicData>
        </a:graphic>
      </p:graphicFrame>
      <p:sp>
        <p:nvSpPr>
          <p:cNvPr id="35907" name="文本框 10"/>
          <p:cNvSpPr txBox="1"/>
          <p:nvPr/>
        </p:nvSpPr>
        <p:spPr>
          <a:xfrm>
            <a:off x="295275" y="1755775"/>
            <a:ext cx="3876675" cy="2758440"/>
          </a:xfrm>
          <a:prstGeom prst="rect">
            <a:avLst/>
          </a:prstGeom>
          <a:noFill/>
          <a:ln w="9525">
            <a:noFill/>
          </a:ln>
        </p:spPr>
        <p:txBody>
          <a:bodyPr>
            <a:spAutoFit/>
          </a:bodyPr>
          <a:p>
            <a:pPr marL="171450" indent="-171450">
              <a:lnSpc>
                <a:spcPts val="1600"/>
              </a:lnSpc>
              <a:buFont typeface="Wingdings" panose="05000000000000000000" pitchFamily="2" charset="2"/>
              <a:buChar char="u"/>
            </a:pPr>
            <a:r>
              <a:rPr lang="zh-CN" altLang="en-US" sz="900" b="1" dirty="0">
                <a:latin typeface="Arial" panose="020B0604020202020204" pitchFamily="34" charset="0"/>
                <a:ea typeface="Kaiti SC" pitchFamily="2" charset="-122"/>
              </a:rPr>
              <a:t>从聚合资源类型来看</a:t>
            </a:r>
            <a:r>
              <a:rPr lang="zh-CN" altLang="en-US" sz="900" dirty="0">
                <a:latin typeface="Arial" panose="020B0604020202020204" pitchFamily="34" charset="0"/>
                <a:ea typeface="Kaiti SC" pitchFamily="2" charset="-122"/>
              </a:rPr>
              <a:t>，我国虚拟电厂呈现“负荷型”和“综合型”两类并存的情况。以广东、上海等代表的经济发达地区（受端电网）负荷端资源丰富，虚拟电厂主要通过聚合充电桩、商业体等负荷侧可调资源为主，侧重削峰需求，而在河北、山东等分布式可再生能源丰富的地区，“综合型”虚拟电厂的发展空间则更为广阔；</a:t>
            </a:r>
            <a:endParaRPr lang="en-US" altLang="zh-CN" sz="900" dirty="0">
              <a:latin typeface="Arial" panose="020B0604020202020204" pitchFamily="34" charset="0"/>
              <a:ea typeface="Kaiti SC" pitchFamily="2" charset="-122"/>
            </a:endParaRPr>
          </a:p>
          <a:p>
            <a:pPr marL="171450" indent="-171450">
              <a:lnSpc>
                <a:spcPts val="1600"/>
              </a:lnSpc>
              <a:buFont typeface="Wingdings" panose="05000000000000000000" pitchFamily="2" charset="2"/>
              <a:buChar char="u"/>
            </a:pPr>
            <a:r>
              <a:rPr lang="zh-CN" altLang="en-US" sz="900" b="1" dirty="0">
                <a:latin typeface="Arial" panose="020B0604020202020204" pitchFamily="34" charset="0"/>
                <a:ea typeface="Kaiti SC" pitchFamily="2" charset="-122"/>
              </a:rPr>
              <a:t>从运营模式看</a:t>
            </a:r>
            <a:r>
              <a:rPr lang="zh-CN" altLang="en-US" sz="900" dirty="0">
                <a:latin typeface="Arial" panose="020B0604020202020204" pitchFamily="34" charset="0"/>
                <a:ea typeface="Kaiti SC" pitchFamily="2" charset="-122"/>
              </a:rPr>
              <a:t>，当前的大多项目均由政府部门、电力机构主导，通过参与需求侧响应获取的削峰填谷补贴，相关开展机制和补贴方式等方面已较为明确；但盈利模式单一、资金来源不稳定等问题（集中发生在迎峰度夏期间，补贴单价高但频率低）；</a:t>
            </a:r>
            <a:endParaRPr lang="en-US" altLang="zh-CN" sz="900" dirty="0">
              <a:latin typeface="Arial" panose="020B0604020202020204" pitchFamily="34" charset="0"/>
              <a:ea typeface="Kaiti SC" pitchFamily="2" charset="-122"/>
            </a:endParaRPr>
          </a:p>
          <a:p>
            <a:pPr marL="171450" indent="-171450">
              <a:lnSpc>
                <a:spcPts val="1600"/>
              </a:lnSpc>
              <a:buFont typeface="Wingdings" panose="05000000000000000000" pitchFamily="2" charset="2"/>
              <a:buChar char="u"/>
            </a:pPr>
            <a:r>
              <a:rPr lang="zh-CN" altLang="en-US" sz="900" b="1" dirty="0">
                <a:latin typeface="Arial" panose="020B0604020202020204" pitchFamily="34" charset="0"/>
                <a:ea typeface="Kaiti SC" pitchFamily="2" charset="-122"/>
              </a:rPr>
              <a:t>从市场发展来看，</a:t>
            </a:r>
            <a:r>
              <a:rPr lang="zh-CN" altLang="en-US" sz="900" dirty="0">
                <a:latin typeface="Arial" panose="020B0604020202020204" pitchFamily="34" charset="0"/>
                <a:ea typeface="Kaiti SC" pitchFamily="2" charset="-122"/>
              </a:rPr>
              <a:t>各地中长期、现货、备用和辅助服务市场正逐步向虚拟电厂放开，为虚拟电厂的发展提供了广阔的市场环境和坚实的政策支持，但同时也对其内部分布式资源的类型、数量和规模以及科学管理能力的更高要求。</a:t>
            </a:r>
            <a:endParaRPr lang="zh-CN" altLang="en-US" sz="900" dirty="0">
              <a:latin typeface="Arial" panose="020B0604020202020204" pitchFamily="34" charset="0"/>
              <a:ea typeface="Kaiti SC" pitchFamily="2" charset="-122"/>
            </a:endParaRPr>
          </a:p>
        </p:txBody>
      </p:sp>
      <p:sp>
        <p:nvSpPr>
          <p:cNvPr id="24" name="箭头: 下 12"/>
          <p:cNvSpPr/>
          <p:nvPr/>
        </p:nvSpPr>
        <p:spPr>
          <a:xfrm>
            <a:off x="2032000" y="4508500"/>
            <a:ext cx="201613"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矩形: 圆角 18"/>
          <p:cNvSpPr/>
          <p:nvPr/>
        </p:nvSpPr>
        <p:spPr>
          <a:xfrm>
            <a:off x="395288" y="5059363"/>
            <a:ext cx="3754438" cy="89693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Kaiti SC" pitchFamily="2" charset="-122"/>
                <a:cs typeface="+mn-cs"/>
              </a:rPr>
              <a:t>亟需对虚拟电厂，特别是含多样化可调资源虚拟电厂的运营管理和模式进行梳理，为虚拟电厂参与电力市场、科学管理分布式资源提供理论方法和技术支撑</a:t>
            </a:r>
            <a:endPar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Kaiti SC" pitchFamily="2" charset="-122"/>
              <a:cs typeface="+mn-cs"/>
            </a:endParaRPr>
          </a:p>
        </p:txBody>
      </p:sp>
      <p:sp>
        <p:nvSpPr>
          <p:cNvPr id="35910" name="文本框 27"/>
          <p:cNvSpPr txBox="1"/>
          <p:nvPr/>
        </p:nvSpPr>
        <p:spPr>
          <a:xfrm>
            <a:off x="373063" y="6045200"/>
            <a:ext cx="2447925" cy="296545"/>
          </a:xfrm>
          <a:prstGeom prst="rect">
            <a:avLst/>
          </a:prstGeom>
          <a:noFill/>
          <a:ln w="9525">
            <a:noFill/>
          </a:ln>
        </p:spPr>
        <p:txBody>
          <a:bodyPr>
            <a:spAutoFit/>
          </a:bodyPr>
          <a:p>
            <a:pPr>
              <a:lnSpc>
                <a:spcPts val="1600"/>
              </a:lnSpc>
              <a:buNone/>
            </a:pPr>
            <a:r>
              <a:rPr lang="zh-CN" altLang="en-US" sz="800" dirty="0">
                <a:latin typeface="Arial" panose="020B0604020202020204" pitchFamily="34" charset="0"/>
              </a:rPr>
              <a:t>资料来源：前瞻产业研究院，各省份官网</a:t>
            </a:r>
            <a:endParaRPr lang="zh-CN" altLang="en-US" sz="800" dirty="0">
              <a:latin typeface="Arial" panose="020B0604020202020204" pitchFamily="34" charset="0"/>
            </a:endParaRPr>
          </a:p>
        </p:txBody>
      </p:sp>
      <p:sp>
        <p:nvSpPr>
          <p:cNvPr id="35911" name="文本框 28"/>
          <p:cNvSpPr txBox="1"/>
          <p:nvPr/>
        </p:nvSpPr>
        <p:spPr>
          <a:xfrm>
            <a:off x="6824663" y="2347913"/>
            <a:ext cx="617537" cy="229870"/>
          </a:xfrm>
          <a:prstGeom prst="rect">
            <a:avLst/>
          </a:prstGeom>
          <a:noFill/>
          <a:ln w="9525">
            <a:noFill/>
          </a:ln>
        </p:spPr>
        <p:txBody>
          <a:bodyPr>
            <a:spAutoFit/>
          </a:bodyPr>
          <a:p>
            <a:pPr algn="ctr">
              <a:buNone/>
            </a:pPr>
            <a:r>
              <a:rPr lang="en-US" altLang="zh-CN" sz="900" b="1" dirty="0">
                <a:latin typeface="Times New Roman" panose="02020603050405020304" pitchFamily="18" charset="0"/>
                <a:ea typeface="微软雅黑" panose="020B0503020204020204" pitchFamily="34" charset="-122"/>
              </a:rPr>
              <a:t>2015</a:t>
            </a:r>
            <a:r>
              <a:rPr lang="zh-CN" altLang="en-US" sz="900" b="1" dirty="0">
                <a:latin typeface="Times New Roman" panose="02020603050405020304" pitchFamily="18" charset="0"/>
                <a:ea typeface="微软雅黑" panose="020B0503020204020204" pitchFamily="34" charset="-122"/>
              </a:rPr>
              <a:t>年</a:t>
            </a:r>
            <a:endParaRPr lang="zh-CN" altLang="en-US" sz="900" b="1" dirty="0">
              <a:latin typeface="Times New Roman" panose="02020603050405020304" pitchFamily="18" charset="0"/>
              <a:ea typeface="微软雅黑" panose="020B0503020204020204" pitchFamily="34" charset="-122"/>
            </a:endParaRPr>
          </a:p>
        </p:txBody>
      </p:sp>
      <p:sp>
        <p:nvSpPr>
          <p:cNvPr id="31" name="文本框 30"/>
          <p:cNvSpPr txBox="1"/>
          <p:nvPr/>
        </p:nvSpPr>
        <p:spPr>
          <a:xfrm>
            <a:off x="6626225" y="1817688"/>
            <a:ext cx="2381250" cy="458808"/>
          </a:xfrm>
          <a:prstGeom prst="wedgeRoundRectCallout">
            <a:avLst>
              <a:gd name="adj1" fmla="val -24834"/>
              <a:gd name="adj2" fmla="val 72860"/>
              <a:gd name="adj3" fmla="val 16667"/>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marR="0" indent="-171450" defTabSz="914400">
              <a:buClrTx/>
              <a:buSzTx/>
              <a:buFont typeface="Wingdings" panose="05000000000000000000" pitchFamily="2" charset="2"/>
              <a:buChar char="ü"/>
              <a:defRPr/>
            </a:pPr>
            <a:r>
              <a:rPr kumimoji="0" lang="zh-CN" altLang="en-US" sz="700" kern="1200" cap="none" spc="0" normalizeH="0" baseline="0" noProof="0" dirty="0">
                <a:latin typeface="Arial" panose="020B0604020202020204" pitchFamily="34" charset="0"/>
                <a:ea typeface="Kaiti SC"/>
                <a:cs typeface="+mn-cs"/>
              </a:rPr>
              <a:t>国家发改委、国家能源局联合发布</a:t>
            </a:r>
            <a:r>
              <a:rPr kumimoji="0" lang="en-US" altLang="zh-CN" sz="700" kern="1200" cap="none" spc="0" normalizeH="0" baseline="0" noProof="0" dirty="0">
                <a:latin typeface="Arial" panose="020B0604020202020204" pitchFamily="34" charset="0"/>
                <a:ea typeface="Kaiti SC"/>
                <a:cs typeface="+mn-cs"/>
              </a:rPr>
              <a:t>《</a:t>
            </a:r>
            <a:r>
              <a:rPr kumimoji="0" lang="zh-CN" altLang="en-US" sz="700" kern="1200" cap="none" spc="0" normalizeH="0" baseline="0" noProof="0" dirty="0">
                <a:latin typeface="Arial" panose="020B0604020202020204" pitchFamily="34" charset="0"/>
                <a:ea typeface="Kaiti SC"/>
                <a:cs typeface="+mn-cs"/>
              </a:rPr>
              <a:t>关于促进智能电网发展的指导意见</a:t>
            </a:r>
            <a:r>
              <a:rPr kumimoji="0" lang="en-US" altLang="zh-CN" sz="700" kern="1200" cap="none" spc="0" normalizeH="0" baseline="0" noProof="0" dirty="0">
                <a:latin typeface="Arial" panose="020B0604020202020204" pitchFamily="34" charset="0"/>
                <a:ea typeface="Kaiti SC"/>
                <a:cs typeface="+mn-cs"/>
              </a:rPr>
              <a:t>》</a:t>
            </a:r>
            <a:r>
              <a:rPr kumimoji="0" lang="zh-CN" altLang="en-US" sz="700" kern="1200" cap="none" spc="0" normalizeH="0" baseline="0" noProof="0" dirty="0">
                <a:latin typeface="Arial" panose="020B0604020202020204" pitchFamily="34" charset="0"/>
                <a:ea typeface="Kaiti SC"/>
                <a:cs typeface="+mn-cs"/>
              </a:rPr>
              <a:t>，鼓励“依托示范工程开展</a:t>
            </a:r>
            <a:r>
              <a:rPr kumimoji="0" lang="zh-CN" altLang="en-US" sz="700" b="1" kern="1200" cap="none" spc="0" normalizeH="0" baseline="0" noProof="0" dirty="0">
                <a:solidFill>
                  <a:srgbClr val="FF0000"/>
                </a:solidFill>
                <a:latin typeface="Arial" panose="020B0604020202020204" pitchFamily="34" charset="0"/>
                <a:ea typeface="Kaiti SC"/>
                <a:cs typeface="+mn-cs"/>
              </a:rPr>
              <a:t>虚拟电厂</a:t>
            </a:r>
            <a:r>
              <a:rPr kumimoji="0" lang="zh-CN" altLang="en-US" sz="700" kern="1200" cap="none" spc="0" normalizeH="0" baseline="0" noProof="0" dirty="0">
                <a:latin typeface="Arial" panose="020B0604020202020204" pitchFamily="34" charset="0"/>
                <a:ea typeface="Kaiti SC"/>
                <a:cs typeface="+mn-cs"/>
              </a:rPr>
              <a:t>等重点领域的商业模式创新”。</a:t>
            </a:r>
            <a:endParaRPr kumimoji="0" lang="zh-CN" altLang="en-US" sz="700" kern="1200" cap="none" spc="0" normalizeH="0" baseline="0" noProof="0" dirty="0">
              <a:latin typeface="Arial" panose="020B0604020202020204" pitchFamily="34" charset="0"/>
              <a:ea typeface="Kaiti SC"/>
              <a:cs typeface="+mn-cs"/>
            </a:endParaRPr>
          </a:p>
        </p:txBody>
      </p:sp>
      <p:sp>
        <p:nvSpPr>
          <p:cNvPr id="32" name="文本框 31"/>
          <p:cNvSpPr txBox="1"/>
          <p:nvPr/>
        </p:nvSpPr>
        <p:spPr>
          <a:xfrm>
            <a:off x="4294188" y="1831975"/>
            <a:ext cx="2219325" cy="458812"/>
          </a:xfrm>
          <a:prstGeom prst="wedgeRoundRectCallout">
            <a:avLst>
              <a:gd name="adj1" fmla="val -19545"/>
              <a:gd name="adj2" fmla="val 70788"/>
              <a:gd name="adj3" fmla="val 16667"/>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marR="0" indent="-171450" defTabSz="914400">
              <a:buClrTx/>
              <a:buSzTx/>
              <a:buFont typeface="Wingdings" panose="05000000000000000000" charset="0"/>
              <a:buChar char="Ø"/>
              <a:defRPr/>
            </a:pPr>
            <a:r>
              <a:rPr kumimoji="0" lang="zh-CN" altLang="en-US" sz="700" kern="1200" cap="none" spc="0" normalizeH="0" baseline="0" noProof="0" dirty="0">
                <a:latin typeface="微软雅黑" panose="020B0503020204020204" pitchFamily="34" charset="-122"/>
                <a:ea typeface="Kaiti SC"/>
                <a:cs typeface="+mn-cs"/>
              </a:rPr>
              <a:t>国家发改委发布</a:t>
            </a:r>
            <a:r>
              <a:rPr kumimoji="0" lang="en-US" altLang="zh-CN" sz="700" kern="1200" cap="none" spc="0" normalizeH="0" baseline="0" noProof="0" dirty="0">
                <a:latin typeface="微软雅黑" panose="020B0503020204020204" pitchFamily="34" charset="-122"/>
                <a:ea typeface="Kaiti SC"/>
                <a:cs typeface="+mn-cs"/>
              </a:rPr>
              <a:t>《</a:t>
            </a:r>
            <a:r>
              <a:rPr kumimoji="0" lang="zh-CN" altLang="en-US" sz="700" kern="1200" cap="none" spc="0" normalizeH="0" baseline="0" noProof="0" dirty="0">
                <a:latin typeface="微软雅黑" panose="020B0503020204020204" pitchFamily="34" charset="-122"/>
                <a:ea typeface="Kaiti SC"/>
                <a:cs typeface="+mn-cs"/>
              </a:rPr>
              <a:t>加快建设全国统一电力市场体系的指导意见</a:t>
            </a:r>
            <a:r>
              <a:rPr kumimoji="0" lang="en-US" altLang="zh-CN" sz="700" kern="1200" cap="none" spc="0" normalizeH="0" baseline="0" noProof="0" dirty="0">
                <a:latin typeface="微软雅黑" panose="020B0503020204020204" pitchFamily="34" charset="-122"/>
                <a:ea typeface="Kaiti SC"/>
                <a:cs typeface="+mn-cs"/>
              </a:rPr>
              <a:t>》</a:t>
            </a:r>
            <a:r>
              <a:rPr kumimoji="0" lang="zh-CN" altLang="en-US" sz="700" kern="1200" cap="none" spc="0" normalizeH="0" baseline="0" noProof="0" dirty="0">
                <a:latin typeface="微软雅黑" panose="020B0503020204020204" pitchFamily="34" charset="-122"/>
                <a:ea typeface="Kaiti SC"/>
                <a:cs typeface="+mn-cs"/>
              </a:rPr>
              <a:t>，鼓励抽水蓄能、储能、</a:t>
            </a:r>
            <a:r>
              <a:rPr kumimoji="0" lang="zh-CN" altLang="en-US" sz="700" b="1" kern="1200" cap="none" spc="0" normalizeH="0" baseline="0" noProof="0" dirty="0">
                <a:solidFill>
                  <a:srgbClr val="FF0000"/>
                </a:solidFill>
                <a:latin typeface="微软雅黑" panose="020B0503020204020204" pitchFamily="34" charset="-122"/>
                <a:ea typeface="Kaiti SC"/>
                <a:cs typeface="+mn-cs"/>
              </a:rPr>
              <a:t>虚拟电厂</a:t>
            </a:r>
            <a:r>
              <a:rPr kumimoji="0" lang="zh-CN" altLang="en-US" sz="700" kern="1200" cap="none" spc="0" normalizeH="0" baseline="0" noProof="0" dirty="0">
                <a:latin typeface="微软雅黑" panose="020B0503020204020204" pitchFamily="34" charset="-122"/>
                <a:ea typeface="Kaiti SC"/>
                <a:cs typeface="+mn-cs"/>
              </a:rPr>
              <a:t>等调节电源的</a:t>
            </a:r>
            <a:r>
              <a:rPr kumimoji="0" lang="zh-CN" altLang="en-US" sz="700" kern="1200" cap="none" spc="0" normalizeH="0" baseline="0" noProof="0" dirty="0">
                <a:latin typeface="微软雅黑" panose="020B0503020204020204" pitchFamily="34" charset="-122"/>
                <a:ea typeface="Kaiti SC"/>
                <a:cs typeface="+mn-cs"/>
              </a:rPr>
              <a:t>投资建设。</a:t>
            </a:r>
            <a:endParaRPr kumimoji="0" lang="zh-CN" altLang="en-US" sz="700" kern="1200" cap="none" spc="0" normalizeH="0" baseline="0" noProof="0" dirty="0">
              <a:latin typeface="微软雅黑" panose="020B0503020204020204" pitchFamily="34" charset="-122"/>
              <a:ea typeface="微软雅黑" panose="020B0503020204020204" pitchFamily="34" charset="-122"/>
              <a:cs typeface="+mn-cs"/>
            </a:endParaRPr>
          </a:p>
        </p:txBody>
      </p:sp>
      <p:sp>
        <p:nvSpPr>
          <p:cNvPr id="33" name="文本框 32"/>
          <p:cNvSpPr txBox="1"/>
          <p:nvPr/>
        </p:nvSpPr>
        <p:spPr>
          <a:xfrm>
            <a:off x="5584825" y="2968625"/>
            <a:ext cx="1964055" cy="895350"/>
          </a:xfrm>
          <a:prstGeom prst="wedgeRoundRectCallout">
            <a:avLst>
              <a:gd name="adj1" fmla="val 18574"/>
              <a:gd name="adj2" fmla="val -58085"/>
              <a:gd name="adj3" fmla="val 16667"/>
            </a:avLst>
          </a:prstGeom>
          <a:gradFill>
            <a:gsLst>
              <a:gs pos="0">
                <a:schemeClr val="accent1">
                  <a:lumMod val="5000"/>
                  <a:lumOff val="95000"/>
                </a:schemeClr>
              </a:gs>
              <a:gs pos="71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noAutofit/>
          </a:bodyPr>
          <a:lstStyle/>
          <a:p>
            <a:pPr marR="0" indent="-171450" defTabSz="914400">
              <a:buClrTx/>
              <a:buSzTx/>
              <a:buFont typeface="Wingdings" panose="05000000000000000000" pitchFamily="2" charset="2"/>
              <a:buChar char="ü"/>
              <a:defRPr/>
            </a:pPr>
            <a:r>
              <a:rPr kumimoji="0" lang="zh-CN" altLang="en-US" sz="700" kern="1200" cap="none" spc="0" normalizeH="0" baseline="0" noProof="0" dirty="0">
                <a:latin typeface="微软雅黑" panose="020B0503020204020204" pitchFamily="34" charset="-122"/>
                <a:ea typeface="Kaiti SC"/>
                <a:cs typeface="+mn-cs"/>
              </a:rPr>
              <a:t>国家发改委发布《关于新形势下配电网高质量发展的指导意见》，鼓励</a:t>
            </a:r>
            <a:r>
              <a:rPr kumimoji="0" lang="zh-CN" altLang="en-US" sz="700" b="1" kern="1200" cap="none" spc="0" normalizeH="0" baseline="0" noProof="0" dirty="0">
                <a:solidFill>
                  <a:srgbClr val="FF0000"/>
                </a:solidFill>
                <a:latin typeface="微软雅黑" panose="020B0503020204020204" pitchFamily="34" charset="-122"/>
                <a:ea typeface="Kaiti SC"/>
                <a:cs typeface="+mn-cs"/>
              </a:rPr>
              <a:t>虚拟电厂</a:t>
            </a:r>
            <a:r>
              <a:rPr kumimoji="0" lang="zh-CN" altLang="en-US" sz="700" kern="1200" cap="none" spc="0" normalizeH="0" baseline="0" noProof="0" dirty="0">
                <a:latin typeface="微软雅黑" panose="020B0503020204020204" pitchFamily="34" charset="-122"/>
                <a:ea typeface="Kaiti SC"/>
                <a:cs typeface="+mn-cs"/>
              </a:rPr>
              <a:t>等新业态创新发展；</a:t>
            </a:r>
            <a:endParaRPr kumimoji="0" lang="en-US" altLang="zh-CN" sz="700" kern="1200" cap="none" spc="0" normalizeH="0" baseline="0" noProof="0" dirty="0">
              <a:latin typeface="微软雅黑" panose="020B0503020204020204" pitchFamily="34" charset="-122"/>
              <a:ea typeface="Kaiti SC"/>
              <a:cs typeface="+mn-cs"/>
            </a:endParaRPr>
          </a:p>
          <a:p>
            <a:pPr marR="0" indent="-171450" defTabSz="914400">
              <a:buClrTx/>
              <a:buSzTx/>
              <a:buFont typeface="Wingdings" panose="05000000000000000000" pitchFamily="2" charset="2"/>
              <a:buChar char="ü"/>
              <a:defRPr/>
            </a:pPr>
            <a:r>
              <a:rPr kumimoji="0" lang="zh-CN" altLang="en-US" sz="700" kern="1200" cap="none" spc="0" normalizeH="0" baseline="0" noProof="0" dirty="0">
                <a:latin typeface="微软雅黑" panose="020B0503020204020204" pitchFamily="34" charset="-122"/>
                <a:ea typeface="Kaiti SC"/>
                <a:cs typeface="+mn-cs"/>
              </a:rPr>
              <a:t>国家能源局发布</a:t>
            </a:r>
            <a:r>
              <a:rPr kumimoji="0" lang="en-US" altLang="zh-CN" sz="700" kern="1200" cap="none" spc="0" normalizeH="0" baseline="0" noProof="0" dirty="0">
                <a:latin typeface="微软雅黑" panose="020B0503020204020204" pitchFamily="34" charset="-122"/>
                <a:ea typeface="Kaiti SC"/>
                <a:cs typeface="+mn-cs"/>
              </a:rPr>
              <a:t>《“</a:t>
            </a:r>
            <a:r>
              <a:rPr kumimoji="0" lang="zh-CN" altLang="en-US" sz="700" kern="1200" cap="none" spc="0" normalizeH="0" baseline="0" noProof="0" dirty="0">
                <a:latin typeface="微软雅黑" panose="020B0503020204020204" pitchFamily="34" charset="-122"/>
                <a:ea typeface="Kaiti SC"/>
                <a:cs typeface="+mn-cs"/>
              </a:rPr>
              <a:t>关于支持电力领域新型经营主体创新发展的指导意见</a:t>
            </a:r>
            <a:r>
              <a:rPr kumimoji="0" lang="en-US" altLang="zh-CN" sz="700" kern="1200" cap="none" spc="0" normalizeH="0" baseline="0" noProof="0" dirty="0">
                <a:latin typeface="微软雅黑" panose="020B0503020204020204" pitchFamily="34" charset="-122"/>
                <a:ea typeface="Kaiti SC"/>
                <a:cs typeface="+mn-cs"/>
              </a:rPr>
              <a:t>》</a:t>
            </a:r>
            <a:r>
              <a:rPr kumimoji="0" lang="zh-CN" altLang="en-US" sz="700" kern="1200" cap="none" spc="0" normalizeH="0" baseline="0" noProof="0" dirty="0">
                <a:latin typeface="微软雅黑" panose="020B0503020204020204" pitchFamily="34" charset="-122"/>
                <a:ea typeface="Kaiti SC"/>
                <a:cs typeface="+mn-cs"/>
              </a:rPr>
              <a:t>鼓励</a:t>
            </a:r>
            <a:r>
              <a:rPr kumimoji="0" lang="zh-CN" altLang="en-US" sz="700" b="1" kern="1200" cap="none" spc="0" normalizeH="0" baseline="0" noProof="0" dirty="0">
                <a:solidFill>
                  <a:srgbClr val="FF0000"/>
                </a:solidFill>
                <a:latin typeface="微软雅黑" panose="020B0503020204020204" pitchFamily="34" charset="-122"/>
                <a:ea typeface="Kaiti SC"/>
                <a:cs typeface="+mn-cs"/>
              </a:rPr>
              <a:t>虚拟电厂</a:t>
            </a:r>
            <a:r>
              <a:rPr kumimoji="0" lang="zh-CN" altLang="en-US" sz="700" kern="1200" cap="none" spc="0" normalizeH="0" baseline="0" noProof="0" dirty="0">
                <a:latin typeface="微软雅黑" panose="020B0503020204020204" pitchFamily="34" charset="-122"/>
                <a:ea typeface="Kaiti SC"/>
                <a:cs typeface="+mn-cs"/>
              </a:rPr>
              <a:t>聚合分布式光伏、分散式风电等资源，为电力系统提供灵活调节能力</a:t>
            </a:r>
            <a:r>
              <a:rPr kumimoji="0" lang="zh-CN" altLang="en-US" sz="700" kern="1200" cap="none" spc="0" normalizeH="0" baseline="0" noProof="0" dirty="0">
                <a:latin typeface="微软雅黑" panose="020B0503020204020204" pitchFamily="34" charset="-122"/>
                <a:ea typeface="微软雅黑" panose="020B0503020204020204" pitchFamily="34" charset="-122"/>
                <a:cs typeface="+mn-cs"/>
              </a:rPr>
              <a:t>。</a:t>
            </a:r>
            <a:endParaRPr kumimoji="0" lang="zh-CN" altLang="en-US" sz="700" kern="1200" cap="none" spc="0" normalizeH="0" baseline="0" noProof="0" dirty="0">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4356100" y="3007360"/>
            <a:ext cx="1108710" cy="812165"/>
          </a:xfrm>
          <a:prstGeom prst="wedgeRoundRectCallout">
            <a:avLst>
              <a:gd name="adj1" fmla="val 45131"/>
              <a:gd name="adj2" fmla="val -74105"/>
              <a:gd name="adj3" fmla="val 16667"/>
            </a:avLst>
          </a:prstGeom>
          <a:gradFill>
            <a:gsLst>
              <a:gs pos="0">
                <a:schemeClr val="accent1">
                  <a:lumMod val="5000"/>
                  <a:lumOff val="95000"/>
                </a:schemeClr>
              </a:gs>
              <a:gs pos="71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noAutofit/>
          </a:bodyPr>
          <a:lstStyle/>
          <a:p>
            <a:pPr marR="0" indent="-171450" defTabSz="914400">
              <a:buClrTx/>
              <a:buSzTx/>
              <a:buFont typeface="Wingdings" panose="05000000000000000000" pitchFamily="2" charset="2"/>
              <a:buChar char="ü"/>
              <a:defRPr/>
            </a:pPr>
            <a:r>
              <a:rPr kumimoji="0" lang="zh-CN" altLang="en-US" sz="700" kern="1200" cap="none" spc="0" normalizeH="0" baseline="0" noProof="0" dirty="0">
                <a:latin typeface="微软雅黑" panose="020B0503020204020204" pitchFamily="34" charset="-122"/>
                <a:ea typeface="Kaiti SC"/>
                <a:cs typeface="+mn-cs"/>
              </a:rPr>
              <a:t>国家发改委发布</a:t>
            </a:r>
            <a:r>
              <a:rPr kumimoji="0" lang="en-US" altLang="zh-CN" sz="700" kern="1200" cap="none" spc="0" normalizeH="0" baseline="0" noProof="0" dirty="0">
                <a:latin typeface="微软雅黑" panose="020B0503020204020204" pitchFamily="34" charset="-122"/>
                <a:ea typeface="Kaiti SC"/>
                <a:cs typeface="+mn-cs"/>
              </a:rPr>
              <a:t>《</a:t>
            </a:r>
            <a:r>
              <a:rPr kumimoji="0" lang="zh-CN" altLang="en-US" sz="700" kern="1200" cap="none" spc="0" normalizeH="0" baseline="0" noProof="0" dirty="0">
                <a:latin typeface="微软雅黑" panose="020B0503020204020204" pitchFamily="34" charset="-122"/>
                <a:ea typeface="Kaiti SC"/>
                <a:cs typeface="+mn-cs"/>
              </a:rPr>
              <a:t>电力需求侧管理办法 </a:t>
            </a:r>
            <a:r>
              <a:rPr kumimoji="0" lang="en-US" altLang="zh-CN" sz="700" kern="1200" cap="none" spc="0" normalizeH="0" baseline="0" noProof="0" dirty="0">
                <a:latin typeface="微软雅黑" panose="020B0503020204020204" pitchFamily="34" charset="-122"/>
                <a:ea typeface="Kaiti SC"/>
                <a:cs typeface="+mn-cs"/>
              </a:rPr>
              <a:t>》</a:t>
            </a:r>
            <a:r>
              <a:rPr kumimoji="0" lang="zh-CN" altLang="en-US" sz="700" kern="1200" cap="none" spc="0" normalizeH="0" baseline="0" noProof="0" dirty="0">
                <a:latin typeface="微软雅黑" panose="020B0503020204020204" pitchFamily="34" charset="-122"/>
                <a:cs typeface="+mn-cs"/>
              </a:rPr>
              <a:t>，</a:t>
            </a:r>
            <a:r>
              <a:rPr kumimoji="0" lang="zh-CN" altLang="en-US" sz="700" kern="1200" cap="none" spc="0" normalizeH="0" baseline="0" noProof="0" dirty="0">
                <a:latin typeface="微软雅黑" panose="020B0503020204020204" pitchFamily="34" charset="-122"/>
                <a:ea typeface="Kaiti SC"/>
                <a:cs typeface="+mn-cs"/>
              </a:rPr>
              <a:t>逐步将需求侧资源以</a:t>
            </a:r>
            <a:r>
              <a:rPr kumimoji="0" lang="zh-CN" altLang="en-US" sz="700" b="1" kern="1200" cap="none" spc="0" normalizeH="0" baseline="0" noProof="0" dirty="0">
                <a:solidFill>
                  <a:srgbClr val="FF0000"/>
                </a:solidFill>
                <a:latin typeface="微软雅黑" panose="020B0503020204020204" pitchFamily="34" charset="-122"/>
                <a:ea typeface="Kaiti SC"/>
                <a:cs typeface="+mn-cs"/>
              </a:rPr>
              <a:t>虚拟电厂</a:t>
            </a:r>
            <a:r>
              <a:rPr kumimoji="0" lang="zh-CN" altLang="en-US" sz="700" kern="1200" cap="none" spc="0" normalizeH="0" baseline="0" noProof="0" dirty="0">
                <a:latin typeface="微软雅黑" panose="020B0503020204020204" pitchFamily="34" charset="-122"/>
                <a:ea typeface="Kaiti SC"/>
                <a:cs typeface="+mn-cs"/>
              </a:rPr>
              <a:t>等方式纳入</a:t>
            </a:r>
            <a:r>
              <a:rPr kumimoji="0" lang="zh-CN" altLang="en-US" sz="700" kern="1200" cap="none" spc="0" normalizeH="0" baseline="0" noProof="0" dirty="0">
                <a:latin typeface="微软雅黑" panose="020B0503020204020204" pitchFamily="34" charset="-122"/>
                <a:ea typeface="Kaiti SC"/>
                <a:cs typeface="+mn-cs"/>
              </a:rPr>
              <a:t>电力平衡</a:t>
            </a:r>
            <a:endParaRPr kumimoji="0" lang="zh-CN" altLang="en-US" sz="700" kern="1200" cap="none" spc="0" normalizeH="0" baseline="0" noProof="0" dirty="0">
              <a:latin typeface="微软雅黑" panose="020B0503020204020204" pitchFamily="34" charset="-122"/>
              <a:ea typeface="Kaiti SC"/>
              <a:cs typeface="+mn-cs"/>
            </a:endParaRPr>
          </a:p>
        </p:txBody>
      </p:sp>
      <p:sp>
        <p:nvSpPr>
          <p:cNvPr id="35916" name="文本框 34"/>
          <p:cNvSpPr txBox="1"/>
          <p:nvPr/>
        </p:nvSpPr>
        <p:spPr>
          <a:xfrm>
            <a:off x="6626225" y="2697163"/>
            <a:ext cx="619125" cy="229870"/>
          </a:xfrm>
          <a:prstGeom prst="rect">
            <a:avLst/>
          </a:prstGeom>
          <a:noFill/>
          <a:ln w="9525">
            <a:noFill/>
          </a:ln>
        </p:spPr>
        <p:txBody>
          <a:bodyPr>
            <a:spAutoFit/>
          </a:bodyPr>
          <a:p>
            <a:pPr algn="ctr">
              <a:buNone/>
            </a:pPr>
            <a:r>
              <a:rPr lang="en-US" altLang="zh-CN" sz="900" b="1" dirty="0">
                <a:latin typeface="Times New Roman" panose="02020603050405020304" pitchFamily="18" charset="0"/>
                <a:ea typeface="微软雅黑" panose="020B0503020204020204" pitchFamily="34" charset="-122"/>
              </a:rPr>
              <a:t>2024</a:t>
            </a:r>
            <a:r>
              <a:rPr lang="zh-CN" altLang="en-US" sz="900" b="1" dirty="0">
                <a:latin typeface="Times New Roman" panose="02020603050405020304" pitchFamily="18" charset="0"/>
                <a:ea typeface="微软雅黑" panose="020B0503020204020204" pitchFamily="34" charset="-122"/>
              </a:rPr>
              <a:t>年</a:t>
            </a:r>
            <a:endParaRPr lang="zh-CN" altLang="en-US" sz="900" b="1" dirty="0">
              <a:latin typeface="Times New Roman" panose="02020603050405020304" pitchFamily="18" charset="0"/>
              <a:ea typeface="微软雅黑" panose="020B0503020204020204" pitchFamily="34" charset="-122"/>
            </a:endParaRPr>
          </a:p>
        </p:txBody>
      </p:sp>
      <p:sp>
        <p:nvSpPr>
          <p:cNvPr id="35917" name="文本框 35"/>
          <p:cNvSpPr txBox="1"/>
          <p:nvPr/>
        </p:nvSpPr>
        <p:spPr>
          <a:xfrm>
            <a:off x="4675188" y="2346325"/>
            <a:ext cx="617537" cy="229870"/>
          </a:xfrm>
          <a:prstGeom prst="rect">
            <a:avLst/>
          </a:prstGeom>
          <a:noFill/>
          <a:ln w="9525">
            <a:noFill/>
          </a:ln>
        </p:spPr>
        <p:txBody>
          <a:bodyPr>
            <a:spAutoFit/>
          </a:bodyPr>
          <a:p>
            <a:pPr algn="ctr">
              <a:buNone/>
            </a:pPr>
            <a:r>
              <a:rPr lang="en-US" altLang="zh-CN" sz="900" b="1" dirty="0">
                <a:latin typeface="Times New Roman" panose="02020603050405020304" pitchFamily="18" charset="0"/>
                <a:ea typeface="微软雅黑" panose="020B0503020204020204" pitchFamily="34" charset="-122"/>
              </a:rPr>
              <a:t>2022</a:t>
            </a:r>
            <a:r>
              <a:rPr lang="zh-CN" altLang="en-US" sz="900" b="1" dirty="0">
                <a:latin typeface="Times New Roman" panose="02020603050405020304" pitchFamily="18" charset="0"/>
                <a:ea typeface="微软雅黑" panose="020B0503020204020204" pitchFamily="34" charset="-122"/>
              </a:rPr>
              <a:t>年</a:t>
            </a:r>
            <a:endParaRPr lang="zh-CN" altLang="en-US" sz="900" b="1" dirty="0">
              <a:latin typeface="Times New Roman" panose="02020603050405020304" pitchFamily="18" charset="0"/>
              <a:ea typeface="微软雅黑" panose="020B0503020204020204" pitchFamily="34" charset="-122"/>
            </a:endParaRPr>
          </a:p>
        </p:txBody>
      </p:sp>
      <p:sp>
        <p:nvSpPr>
          <p:cNvPr id="37" name="矩形 36"/>
          <p:cNvSpPr/>
          <p:nvPr/>
        </p:nvSpPr>
        <p:spPr>
          <a:xfrm>
            <a:off x="5763260" y="2527300"/>
            <a:ext cx="1325880" cy="229870"/>
          </a:xfrm>
          <a:prstGeom prst="rect">
            <a:avLst/>
          </a:prstGeom>
        </p:spPr>
        <p:txBody>
          <a:bodyPr wrap="none">
            <a:spAutoFit/>
          </a:bodyPr>
          <a:lstStyle/>
          <a:p>
            <a:pPr marL="0" marR="0" lvl="0" indent="0" algn="ctr" defTabSz="914400" rtl="0" eaLnBrk="0" fontAlgn="base" latinLnBrk="0" hangingPunct="0">
              <a:lnSpc>
                <a:spcPct val="100000"/>
              </a:lnSpc>
              <a:spcBef>
                <a:spcPct val="0"/>
              </a:spcBef>
              <a:spcAft>
                <a:spcPts val="0"/>
              </a:spcAft>
              <a:buClrTx/>
              <a:buSzTx/>
              <a:buFontTx/>
              <a:buNone/>
              <a:defRPr/>
            </a:pPr>
            <a:r>
              <a:rPr kumimoji="0" lang="zh-CN" altLang="zh-CN" sz="9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虚拟电厂</a:t>
            </a:r>
            <a:r>
              <a:rPr kumimoji="0" lang="zh-CN" altLang="en-US" sz="9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行业政策发展</a:t>
            </a:r>
            <a:endParaRPr kumimoji="0" lang="zh-CN" altLang="zh-CN" sz="9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8" name="连接符: 肘形 24"/>
          <p:cNvCxnSpPr>
            <a:stCxn id="35911" idx="1"/>
            <a:endCxn id="35917" idx="3"/>
          </p:cNvCxnSpPr>
          <p:nvPr/>
        </p:nvCxnSpPr>
        <p:spPr>
          <a:xfrm rot="10800000">
            <a:off x="5292725" y="2461260"/>
            <a:ext cx="1532255" cy="1905"/>
          </a:xfrm>
          <a:prstGeom prst="bentConnector3">
            <a:avLst>
              <a:gd name="adj1" fmla="val 499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连接符: 曲线 29"/>
          <p:cNvCxnSpPr>
            <a:stCxn id="35917" idx="1"/>
            <a:endCxn id="35924" idx="1"/>
          </p:cNvCxnSpPr>
          <p:nvPr/>
        </p:nvCxnSpPr>
        <p:spPr>
          <a:xfrm rot="10800000" flipH="1" flipV="1">
            <a:off x="4675505" y="2461260"/>
            <a:ext cx="584200" cy="311150"/>
          </a:xfrm>
          <a:prstGeom prst="curvedConnector3">
            <a:avLst>
              <a:gd name="adj1" fmla="val -4076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35911" idx="3"/>
          </p:cNvCxnSpPr>
          <p:nvPr/>
        </p:nvCxnSpPr>
        <p:spPr>
          <a:xfrm flipH="1">
            <a:off x="7442200" y="2461578"/>
            <a:ext cx="66675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35916" idx="3"/>
          </p:cNvCxnSpPr>
          <p:nvPr/>
        </p:nvCxnSpPr>
        <p:spPr>
          <a:xfrm>
            <a:off x="7245350" y="2812415"/>
            <a:ext cx="5349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35924" idx="3"/>
          </p:cNvCxnSpPr>
          <p:nvPr/>
        </p:nvCxnSpPr>
        <p:spPr>
          <a:xfrm>
            <a:off x="5876925" y="2772093"/>
            <a:ext cx="711200" cy="8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924" name="文本框 44"/>
          <p:cNvSpPr txBox="1"/>
          <p:nvPr/>
        </p:nvSpPr>
        <p:spPr>
          <a:xfrm>
            <a:off x="5259388" y="2657475"/>
            <a:ext cx="617537" cy="229870"/>
          </a:xfrm>
          <a:prstGeom prst="rect">
            <a:avLst/>
          </a:prstGeom>
          <a:noFill/>
          <a:ln w="9525">
            <a:noFill/>
          </a:ln>
        </p:spPr>
        <p:txBody>
          <a:bodyPr>
            <a:spAutoFit/>
          </a:bodyPr>
          <a:p>
            <a:pPr algn="ctr">
              <a:buNone/>
            </a:pPr>
            <a:r>
              <a:rPr lang="en-US" altLang="zh-CN" sz="900" b="1" dirty="0">
                <a:latin typeface="Times New Roman" panose="02020603050405020304" pitchFamily="18" charset="0"/>
                <a:ea typeface="微软雅黑" panose="020B0503020204020204" pitchFamily="34" charset="-122"/>
              </a:rPr>
              <a:t>2023</a:t>
            </a:r>
            <a:r>
              <a:rPr lang="zh-CN" altLang="en-US" sz="900" b="1" dirty="0">
                <a:latin typeface="Times New Roman" panose="02020603050405020304" pitchFamily="18" charset="0"/>
                <a:ea typeface="微软雅黑" panose="020B0503020204020204" pitchFamily="34" charset="-122"/>
              </a:rPr>
              <a:t>年</a:t>
            </a:r>
            <a:endParaRPr lang="zh-CN" altLang="en-US" sz="900" b="1" dirty="0">
              <a:latin typeface="Times New Roman" panose="02020603050405020304" pitchFamily="18" charset="0"/>
              <a:ea typeface="微软雅黑" panose="020B0503020204020204" pitchFamily="34" charset="-122"/>
            </a:endParaRPr>
          </a:p>
        </p:txBody>
      </p:sp>
      <p:sp>
        <p:nvSpPr>
          <p:cNvPr id="2" name="文本框 34"/>
          <p:cNvSpPr txBox="1"/>
          <p:nvPr/>
        </p:nvSpPr>
        <p:spPr>
          <a:xfrm>
            <a:off x="7812405" y="2697163"/>
            <a:ext cx="619125" cy="229870"/>
          </a:xfrm>
          <a:prstGeom prst="rect">
            <a:avLst/>
          </a:prstGeom>
          <a:noFill/>
          <a:ln w="9525">
            <a:noFill/>
          </a:ln>
        </p:spPr>
        <p:txBody>
          <a:bodyPr>
            <a:spAutoFit/>
          </a:bodyPr>
          <a:p>
            <a:pPr algn="ctr">
              <a:buNone/>
            </a:pPr>
            <a:r>
              <a:rPr lang="en-US" altLang="zh-CN" sz="900" b="1" dirty="0">
                <a:latin typeface="Times New Roman" panose="02020603050405020304" pitchFamily="18" charset="0"/>
                <a:ea typeface="微软雅黑" panose="020B0503020204020204" pitchFamily="34" charset="-122"/>
              </a:rPr>
              <a:t>2025</a:t>
            </a:r>
            <a:r>
              <a:rPr lang="zh-CN" altLang="en-US" sz="900" b="1" dirty="0">
                <a:latin typeface="Times New Roman" panose="02020603050405020304" pitchFamily="18" charset="0"/>
                <a:ea typeface="微软雅黑" panose="020B0503020204020204" pitchFamily="34" charset="-122"/>
              </a:rPr>
              <a:t>年</a:t>
            </a:r>
            <a:endParaRPr lang="zh-CN" altLang="en-US" sz="900" b="1" dirty="0">
              <a:latin typeface="Times New Roman" panose="02020603050405020304" pitchFamily="18" charset="0"/>
              <a:ea typeface="微软雅黑" panose="020B0503020204020204" pitchFamily="34" charset="-122"/>
            </a:endParaRPr>
          </a:p>
        </p:txBody>
      </p:sp>
      <p:sp>
        <p:nvSpPr>
          <p:cNvPr id="3" name="文本框 2"/>
          <p:cNvSpPr txBox="1"/>
          <p:nvPr/>
        </p:nvSpPr>
        <p:spPr>
          <a:xfrm>
            <a:off x="7668260" y="3027680"/>
            <a:ext cx="1307465" cy="799465"/>
          </a:xfrm>
          <a:prstGeom prst="wedgeRoundRectCallout">
            <a:avLst>
              <a:gd name="adj1" fmla="val 5625"/>
              <a:gd name="adj2" fmla="val -72424"/>
              <a:gd name="adj3" fmla="val 16667"/>
            </a:avLst>
          </a:prstGeom>
          <a:gradFill>
            <a:gsLst>
              <a:gs pos="0">
                <a:schemeClr val="accent1">
                  <a:lumMod val="5000"/>
                  <a:lumOff val="95000"/>
                </a:schemeClr>
              </a:gs>
              <a:gs pos="71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noAutofit/>
          </a:bodyPr>
          <a:p>
            <a:pPr marR="0" indent="-171450" defTabSz="914400">
              <a:buClrTx/>
              <a:buSzTx/>
              <a:buFont typeface="Wingdings" panose="05000000000000000000" pitchFamily="2" charset="2"/>
              <a:buChar char="ü"/>
              <a:defRPr/>
            </a:pPr>
            <a:r>
              <a:rPr kumimoji="0" lang="zh-CN" altLang="en-US" sz="700" kern="1200" cap="none" spc="0" normalizeH="0" baseline="0" noProof="0" dirty="0">
                <a:latin typeface="微软雅黑" panose="020B0503020204020204" pitchFamily="34" charset="-122"/>
                <a:ea typeface="Kaiti SC"/>
                <a:cs typeface="+mn-cs"/>
              </a:rPr>
              <a:t>国家发改委、国家能源局发布</a:t>
            </a:r>
            <a:r>
              <a:rPr kumimoji="0" lang="en-US" altLang="zh-CN" sz="700" kern="1200" cap="none" spc="0" normalizeH="0" baseline="0" noProof="0" dirty="0">
                <a:latin typeface="微软雅黑" panose="020B0503020204020204" pitchFamily="34" charset="-122"/>
                <a:ea typeface="Kaiti SC"/>
                <a:cs typeface="+mn-cs"/>
              </a:rPr>
              <a:t>《</a:t>
            </a:r>
            <a:r>
              <a:rPr kumimoji="0" lang="zh-CN" altLang="en-US" sz="700" kern="1200" cap="none" spc="0" normalizeH="0" baseline="0" noProof="0" dirty="0">
                <a:latin typeface="微软雅黑" panose="020B0503020204020204" pitchFamily="34" charset="-122"/>
                <a:ea typeface="Kaiti SC"/>
                <a:cs typeface="+mn-cs"/>
              </a:rPr>
              <a:t>关于加快推进虚拟电厂高质量发展的指导意见</a:t>
            </a:r>
            <a:r>
              <a:rPr kumimoji="0" lang="en-US" altLang="zh-CN" sz="700" kern="1200" cap="none" spc="0" normalizeH="0" baseline="0" noProof="0" dirty="0">
                <a:latin typeface="微软雅黑" panose="020B0503020204020204" pitchFamily="34" charset="-122"/>
                <a:ea typeface="Kaiti SC"/>
                <a:cs typeface="+mn-cs"/>
              </a:rPr>
              <a:t>》</a:t>
            </a:r>
            <a:r>
              <a:rPr kumimoji="0" lang="zh-CN" altLang="en-US" sz="700" kern="1200" cap="none" spc="0" normalizeH="0" baseline="0" noProof="0" dirty="0">
                <a:latin typeface="微软雅黑" panose="020B0503020204020204" pitchFamily="34" charset="-122"/>
                <a:cs typeface="+mn-cs"/>
              </a:rPr>
              <a:t>，</a:t>
            </a:r>
            <a:r>
              <a:rPr kumimoji="0" lang="zh-CN" altLang="en-US" sz="700" b="1" kern="1200" cap="none" spc="0" normalizeH="0" baseline="0" noProof="0" dirty="0">
                <a:solidFill>
                  <a:srgbClr val="FF0000"/>
                </a:solidFill>
                <a:latin typeface="微软雅黑" panose="020B0503020204020204" pitchFamily="34" charset="-122"/>
                <a:ea typeface="Kaiti SC"/>
                <a:cs typeface="+mn-cs"/>
              </a:rPr>
              <a:t>首份虚拟电厂国家级专项指导意见</a:t>
            </a:r>
            <a:endParaRPr kumimoji="0" lang="zh-CN" altLang="en-US" sz="700" b="1" kern="1200" cap="none" spc="0" normalizeH="0" baseline="0" noProof="0" dirty="0">
              <a:solidFill>
                <a:srgbClr val="FF0000"/>
              </a:solidFill>
              <a:latin typeface="微软雅黑" panose="020B0503020204020204" pitchFamily="34" charset="-122"/>
              <a:ea typeface="Kaiti SC"/>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descr="中华人民共和国"/>
          <p:cNvPicPr>
            <a:picLocks noChangeAspect="1"/>
          </p:cNvPicPr>
          <p:nvPr/>
        </p:nvPicPr>
        <p:blipFill>
          <a:blip r:embed="rId1"/>
          <a:stretch>
            <a:fillRect/>
          </a:stretch>
        </p:blipFill>
        <p:spPr>
          <a:xfrm>
            <a:off x="-7884795" y="-3628072"/>
            <a:ext cx="24815800" cy="15627350"/>
          </a:xfrm>
          <a:prstGeom prst="rect">
            <a:avLst/>
          </a:prstGeom>
        </p:spPr>
      </p:pic>
      <p:sp>
        <p:nvSpPr>
          <p:cNvPr id="36867" name="Line 8"/>
          <p:cNvSpPr/>
          <p:nvPr/>
        </p:nvSpPr>
        <p:spPr>
          <a:xfrm>
            <a:off x="84138" y="981075"/>
            <a:ext cx="8610600" cy="0"/>
          </a:xfrm>
          <a:prstGeom prst="line">
            <a:avLst/>
          </a:prstGeom>
          <a:ln w="57150" cap="flat" cmpd="sng">
            <a:solidFill>
              <a:srgbClr val="0033CC"/>
            </a:solidFill>
            <a:prstDash val="solid"/>
            <a:bevel/>
            <a:headEnd type="none" w="med" len="med"/>
            <a:tailEnd type="none" w="med" len="med"/>
          </a:ln>
        </p:spPr>
      </p:sp>
      <p:sp>
        <p:nvSpPr>
          <p:cNvPr id="36868" name="Text Box 2"/>
          <p:cNvSpPr/>
          <p:nvPr/>
        </p:nvSpPr>
        <p:spPr>
          <a:xfrm>
            <a:off x="142875" y="142875"/>
            <a:ext cx="9180513"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Kaiti SC" pitchFamily="2" charset="-122"/>
                <a:ea typeface="黑体" panose="02010609060101010101" pitchFamily="49" charset="-122"/>
                <a:sym typeface="黑体" panose="02010609060101010101" pitchFamily="49" charset="-122"/>
              </a:rPr>
              <a:t>国内情况</a:t>
            </a:r>
            <a:endParaRPr lang="zh-CN" altLang="en-US" sz="4000" b="1" dirty="0">
              <a:solidFill>
                <a:srgbClr val="FF0000"/>
              </a:solidFill>
              <a:latin typeface="Kaiti SC" pitchFamily="2" charset="-122"/>
              <a:ea typeface="黑体" panose="02010609060101010101" pitchFamily="49" charset="-122"/>
              <a:sym typeface="黑体" panose="02010609060101010101" pitchFamily="49" charset="-122"/>
            </a:endParaRPr>
          </a:p>
        </p:txBody>
      </p:sp>
      <p:sp>
        <p:nvSpPr>
          <p:cNvPr id="36869" name="矩形 1"/>
          <p:cNvSpPr/>
          <p:nvPr/>
        </p:nvSpPr>
        <p:spPr>
          <a:xfrm>
            <a:off x="142875" y="1069975"/>
            <a:ext cx="77406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eaLnBrk="1" hangingPunct="1">
              <a:spcBef>
                <a:spcPct val="0"/>
              </a:spcBef>
              <a:buNone/>
            </a:pPr>
            <a:r>
              <a:rPr lang="en-US" altLang="zh-CN" sz="1800" b="1" dirty="0">
                <a:solidFill>
                  <a:srgbClr val="FF0000"/>
                </a:solidFill>
                <a:latin typeface="Arial" panose="020B0604020202020204" pitchFamily="34" charset="0"/>
                <a:ea typeface="黑体" panose="02010609060101010101" pitchFamily="49" charset="-122"/>
              </a:rPr>
              <a:t>3.国内虚拟电厂工程与商业模式</a:t>
            </a:r>
            <a:endParaRPr lang="en-US" altLang="zh-CN" sz="1800" b="1" dirty="0">
              <a:solidFill>
                <a:srgbClr val="FF0000"/>
              </a:solidFill>
              <a:latin typeface="Arial" panose="020B0604020202020204" pitchFamily="34" charset="0"/>
              <a:ea typeface="黑体" panose="02010609060101010101" pitchFamily="49" charset="-122"/>
            </a:endParaRPr>
          </a:p>
        </p:txBody>
      </p:sp>
      <p:cxnSp>
        <p:nvCxnSpPr>
          <p:cNvPr id="4" name="直接连接符 3"/>
          <p:cNvCxnSpPr>
            <a:endCxn id="36872" idx="2"/>
          </p:cNvCxnSpPr>
          <p:nvPr>
            <p:custDataLst>
              <p:tags r:id="rId2"/>
            </p:custDataLst>
          </p:nvPr>
        </p:nvCxnSpPr>
        <p:spPr>
          <a:xfrm flipH="1" flipV="1">
            <a:off x="4623753" y="2538095"/>
            <a:ext cx="633730" cy="1345565"/>
          </a:xfrm>
          <a:prstGeom prst="line">
            <a:avLst/>
          </a:prstGeom>
          <a:ln w="635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sp>
        <p:nvSpPr>
          <p:cNvPr id="5" name="椭圆 4"/>
          <p:cNvSpPr/>
          <p:nvPr>
            <p:custDataLst>
              <p:tags r:id="rId3"/>
            </p:custDataLst>
          </p:nvPr>
        </p:nvSpPr>
        <p:spPr>
          <a:xfrm>
            <a:off x="4568825" y="2341563"/>
            <a:ext cx="49213" cy="49213"/>
          </a:xfrm>
          <a:prstGeom prst="ellipse">
            <a:avLst/>
          </a:prstGeom>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Kaiti SC"/>
              <a:ea typeface="+mn-ea"/>
              <a:cs typeface="+mn-cs"/>
            </a:endParaRPr>
          </a:p>
        </p:txBody>
      </p:sp>
      <p:sp>
        <p:nvSpPr>
          <p:cNvPr id="36872" name="矩形 7"/>
          <p:cNvSpPr/>
          <p:nvPr>
            <p:custDataLst>
              <p:tags r:id="rId4"/>
            </p:custDataLst>
          </p:nvPr>
        </p:nvSpPr>
        <p:spPr>
          <a:xfrm>
            <a:off x="3033395" y="1412558"/>
            <a:ext cx="3181350" cy="1125537"/>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zh-CN" altLang="en-US" sz="900" b="1" dirty="0">
                <a:solidFill>
                  <a:srgbClr val="FF0000"/>
                </a:solidFill>
                <a:latin typeface="Kaiti SC" pitchFamily="2" charset="-122"/>
                <a:ea typeface="Kaiti SC" pitchFamily="2" charset="-122"/>
                <a:sym typeface="+mn-ea"/>
              </a:rPr>
              <a:t>山西：试点参与现货市场</a:t>
            </a:r>
            <a:endParaRPr lang="zh-CN" altLang="en-US" sz="900" b="1" dirty="0">
              <a:solidFill>
                <a:srgbClr val="FF0000"/>
              </a:solidFill>
              <a:latin typeface="Kaiti SC" pitchFamily="2" charset="-122"/>
              <a:ea typeface="Kaiti SC" pitchFamily="2" charset="-122"/>
              <a:sym typeface="+mn-ea"/>
            </a:endParaRPr>
          </a:p>
          <a:p>
            <a:pPr>
              <a:lnSpc>
                <a:spcPct val="150000"/>
              </a:lnSpc>
              <a:buNone/>
            </a:pPr>
            <a:r>
              <a:rPr lang="zh-CN" altLang="en-US" sz="900" b="1" dirty="0">
                <a:latin typeface="Kaiti SC" pitchFamily="2" charset="-122"/>
                <a:ea typeface="Kaiti SC" pitchFamily="2" charset="-122"/>
                <a:sym typeface="+mn-ea"/>
              </a:rPr>
              <a:t>山西风行测控、山西电动汽车、华能山西能源</a:t>
            </a:r>
            <a:r>
              <a:rPr lang="zh-CN" altLang="en-US" sz="900" dirty="0">
                <a:latin typeface="Kaiti SC" pitchFamily="2" charset="-122"/>
                <a:ea typeface="Kaiti SC" pitchFamily="2" charset="-122"/>
                <a:sym typeface="+mn-ea"/>
              </a:rPr>
              <a:t>3个虚拟电厂进入现货正式运行共接入用户22户，接入容量20万千瓦。参与市场以来，共交易电量2965万千瓦时，结算电量2911万千瓦时，结算金额583.33万元，总红利46.2万元。</a:t>
            </a:r>
            <a:endParaRPr lang="zh-CN" altLang="en-US" sz="900" dirty="0">
              <a:latin typeface="Kaiti SC" pitchFamily="2" charset="-122"/>
              <a:ea typeface="Kaiti SC" pitchFamily="2" charset="-122"/>
              <a:sym typeface="+mn-ea"/>
            </a:endParaRPr>
          </a:p>
        </p:txBody>
      </p:sp>
      <p:cxnSp>
        <p:nvCxnSpPr>
          <p:cNvPr id="6" name="直接连接符 5"/>
          <p:cNvCxnSpPr>
            <a:endCxn id="36878" idx="3"/>
          </p:cNvCxnSpPr>
          <p:nvPr>
            <p:custDataLst>
              <p:tags r:id="rId5"/>
            </p:custDataLst>
          </p:nvPr>
        </p:nvCxnSpPr>
        <p:spPr>
          <a:xfrm flipH="1">
            <a:off x="2869883" y="5156835"/>
            <a:ext cx="2350135" cy="462280"/>
          </a:xfrm>
          <a:prstGeom prst="line">
            <a:avLst/>
          </a:prstGeom>
          <a:ln w="635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cxnSp>
        <p:nvCxnSpPr>
          <p:cNvPr id="7" name="直接连接符 6"/>
          <p:cNvCxnSpPr>
            <a:endCxn id="36877" idx="3"/>
          </p:cNvCxnSpPr>
          <p:nvPr>
            <p:custDataLst>
              <p:tags r:id="rId6"/>
            </p:custDataLst>
          </p:nvPr>
        </p:nvCxnSpPr>
        <p:spPr>
          <a:xfrm flipH="1" flipV="1">
            <a:off x="2460626" y="2715578"/>
            <a:ext cx="2255520" cy="1217295"/>
          </a:xfrm>
          <a:prstGeom prst="line">
            <a:avLst/>
          </a:prstGeom>
          <a:ln w="635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cxnSp>
        <p:nvCxnSpPr>
          <p:cNvPr id="9" name="直接连接符 8"/>
          <p:cNvCxnSpPr>
            <a:stCxn id="36879" idx="1"/>
          </p:cNvCxnSpPr>
          <p:nvPr>
            <p:custDataLst>
              <p:tags r:id="rId7"/>
            </p:custDataLst>
          </p:nvPr>
        </p:nvCxnSpPr>
        <p:spPr>
          <a:xfrm flipH="1" flipV="1">
            <a:off x="5724525" y="4436745"/>
            <a:ext cx="1111250" cy="560070"/>
          </a:xfrm>
          <a:prstGeom prst="line">
            <a:avLst/>
          </a:prstGeom>
          <a:ln w="635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0" name="直接连接符 9"/>
          <p:cNvCxnSpPr>
            <a:stCxn id="36880" idx="1"/>
          </p:cNvCxnSpPr>
          <p:nvPr>
            <p:custDataLst>
              <p:tags r:id="rId8"/>
            </p:custDataLst>
          </p:nvPr>
        </p:nvCxnSpPr>
        <p:spPr>
          <a:xfrm flipH="1">
            <a:off x="5724526" y="2323465"/>
            <a:ext cx="1223645" cy="817245"/>
          </a:xfrm>
          <a:prstGeom prst="line">
            <a:avLst/>
          </a:prstGeom>
          <a:ln w="635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sp>
        <p:nvSpPr>
          <p:cNvPr id="36877" name="矩形 10"/>
          <p:cNvSpPr/>
          <p:nvPr>
            <p:custDataLst>
              <p:tags r:id="rId9"/>
            </p:custDataLst>
          </p:nvPr>
        </p:nvSpPr>
        <p:spPr>
          <a:xfrm>
            <a:off x="84138" y="1704975"/>
            <a:ext cx="2376487" cy="2020888"/>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zh-CN" altLang="en-US" sz="900" b="1" dirty="0">
                <a:solidFill>
                  <a:srgbClr val="FF0000"/>
                </a:solidFill>
                <a:latin typeface="Kaiti SC" pitchFamily="2" charset="-122"/>
                <a:ea typeface="Kaiti SC" pitchFamily="2" charset="-122"/>
                <a:sym typeface="+mn-ea"/>
              </a:rPr>
              <a:t>宁夏：试点参与调峰辅助服务</a:t>
            </a:r>
            <a:endParaRPr lang="zh-CN" altLang="en-US" sz="900" b="1" dirty="0">
              <a:solidFill>
                <a:srgbClr val="FF0000"/>
              </a:solidFill>
              <a:latin typeface="Kaiti SC" pitchFamily="2" charset="-122"/>
              <a:ea typeface="Kaiti SC" pitchFamily="2" charset="-122"/>
              <a:sym typeface="+mn-ea"/>
            </a:endParaRPr>
          </a:p>
          <a:p>
            <a:pPr>
              <a:lnSpc>
                <a:spcPct val="150000"/>
              </a:lnSpc>
              <a:buNone/>
            </a:pPr>
            <a:r>
              <a:rPr lang="zh-CN" altLang="en-US" sz="900" b="1" dirty="0">
                <a:latin typeface="Kaiti SC" pitchFamily="2" charset="-122"/>
                <a:ea typeface="Kaiti SC" pitchFamily="2" charset="-122"/>
                <a:sym typeface="+mn-ea"/>
              </a:rPr>
              <a:t>典型实践-宁夏综合能源服务有限公司虚拟电厂：</a:t>
            </a:r>
            <a:r>
              <a:rPr lang="zh-CN" altLang="en-US" sz="900" dirty="0">
                <a:latin typeface="Kaiti SC" pitchFamily="2" charset="-122"/>
                <a:ea typeface="Kaiti SC" pitchFamily="2" charset="-122"/>
                <a:sym typeface="+mn-ea"/>
              </a:rPr>
              <a:t>涵盖电采暖、数据基站、材料生产及制造等12个行业,试点参与辅助服务市场（以调峰服务为主）。自2023年10月28日启动虚拟电厂辅助服务以来，试点项目已开展14次调峰服务，累计申报容量51.27万千瓦，累计计划响应电量262.95万千瓦时。</a:t>
            </a:r>
            <a:endParaRPr lang="zh-CN" altLang="en-US" sz="900" dirty="0">
              <a:latin typeface="Kaiti SC" pitchFamily="2" charset="-122"/>
              <a:ea typeface="Kaiti SC" pitchFamily="2" charset="-122"/>
              <a:sym typeface="+mn-ea"/>
            </a:endParaRPr>
          </a:p>
        </p:txBody>
      </p:sp>
      <p:sp>
        <p:nvSpPr>
          <p:cNvPr id="36878" name="矩形 11"/>
          <p:cNvSpPr/>
          <p:nvPr>
            <p:custDataLst>
              <p:tags r:id="rId10"/>
            </p:custDataLst>
          </p:nvPr>
        </p:nvSpPr>
        <p:spPr>
          <a:xfrm>
            <a:off x="107633" y="4652963"/>
            <a:ext cx="2762250" cy="1931987"/>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zh-CN" altLang="en-US" sz="900" b="1" dirty="0">
                <a:solidFill>
                  <a:srgbClr val="FF0000"/>
                </a:solidFill>
                <a:latin typeface="Kaiti SC" pitchFamily="2" charset="-122"/>
                <a:ea typeface="Kaiti SC" pitchFamily="2" charset="-122"/>
                <a:sym typeface="+mn-ea"/>
              </a:rPr>
              <a:t>深圳：全方位快速推进</a:t>
            </a:r>
            <a:endParaRPr lang="zh-CN" altLang="en-US" sz="900" b="1" dirty="0">
              <a:solidFill>
                <a:srgbClr val="FF0000"/>
              </a:solidFill>
              <a:latin typeface="Kaiti SC" pitchFamily="2" charset="-122"/>
              <a:ea typeface="Kaiti SC" pitchFamily="2" charset="-122"/>
              <a:sym typeface="+mn-ea"/>
            </a:endParaRPr>
          </a:p>
          <a:p>
            <a:pPr>
              <a:lnSpc>
                <a:spcPct val="150000"/>
              </a:lnSpc>
              <a:buNone/>
            </a:pPr>
            <a:r>
              <a:rPr lang="zh-CN" altLang="en-US" sz="900" b="1" dirty="0">
                <a:latin typeface="Kaiti SC" pitchFamily="2" charset="-122"/>
                <a:ea typeface="Kaiti SC" pitchFamily="2" charset="-122"/>
                <a:sym typeface="+mn-ea"/>
              </a:rPr>
              <a:t>典型实践-深圳虚拟电厂：</a:t>
            </a:r>
            <a:r>
              <a:rPr lang="zh-CN" altLang="en-US" sz="900" dirty="0">
                <a:latin typeface="Kaiti SC" pitchFamily="2" charset="-122"/>
                <a:ea typeface="Kaiti SC" pitchFamily="2" charset="-122"/>
                <a:sym typeface="+mn-ea"/>
              </a:rPr>
              <a:t>平台接入分布式资源涵盖5G基站、数据中心等信息通信基础设施、充换电场站、建筑楼宇、工业园区、储能系统等资源。接入资源数超过3万个，规模超过265万千瓦，预计实时最大可调节负荷能力约56万千瓦，是国内数据采集密度、接入负荷类型、直控资源、应用场景走在前列的虚拟电厂调控管理平台。</a:t>
            </a:r>
            <a:endParaRPr lang="zh-CN" altLang="en-US" sz="900" dirty="0">
              <a:latin typeface="Kaiti SC" pitchFamily="2" charset="-122"/>
              <a:ea typeface="Kaiti SC" pitchFamily="2" charset="-122"/>
              <a:sym typeface="+mn-ea"/>
            </a:endParaRPr>
          </a:p>
        </p:txBody>
      </p:sp>
      <p:sp>
        <p:nvSpPr>
          <p:cNvPr id="36879" name="矩形 12"/>
          <p:cNvSpPr/>
          <p:nvPr>
            <p:custDataLst>
              <p:tags r:id="rId11"/>
            </p:custDataLst>
          </p:nvPr>
        </p:nvSpPr>
        <p:spPr>
          <a:xfrm>
            <a:off x="6835775" y="3936365"/>
            <a:ext cx="2173288" cy="2120900"/>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zh-CN" altLang="en-US" sz="900" b="1" dirty="0">
                <a:solidFill>
                  <a:srgbClr val="FF0000"/>
                </a:solidFill>
                <a:latin typeface="Kaiti SC" pitchFamily="2" charset="-122"/>
                <a:ea typeface="Kaiti SC" pitchFamily="2" charset="-122"/>
                <a:sym typeface="+mn-ea"/>
              </a:rPr>
              <a:t>上海：常态化参与市场化需求响应</a:t>
            </a:r>
            <a:endParaRPr lang="zh-CN" altLang="en-US" sz="900" b="1" dirty="0">
              <a:solidFill>
                <a:srgbClr val="FF0000"/>
              </a:solidFill>
              <a:latin typeface="Kaiti SC" pitchFamily="2" charset="-122"/>
              <a:ea typeface="Kaiti SC" pitchFamily="2" charset="-122"/>
              <a:sym typeface="+mn-ea"/>
            </a:endParaRPr>
          </a:p>
          <a:p>
            <a:pPr>
              <a:lnSpc>
                <a:spcPct val="150000"/>
              </a:lnSpc>
              <a:buNone/>
            </a:pPr>
            <a:r>
              <a:rPr lang="zh-CN" altLang="en-US" sz="900" b="1" dirty="0">
                <a:latin typeface="Kaiti SC" pitchFamily="2" charset="-122"/>
                <a:ea typeface="Kaiti SC" pitchFamily="2" charset="-122"/>
                <a:sym typeface="+mn-ea"/>
              </a:rPr>
              <a:t>典型实践-上海黄浦区商业建筑虚拟电厂：</a:t>
            </a:r>
            <a:r>
              <a:rPr lang="zh-CN" altLang="en-US" sz="900" dirty="0">
                <a:latin typeface="Kaiti SC" pitchFamily="2" charset="-122"/>
                <a:ea typeface="Kaiti SC" pitchFamily="2" charset="-122"/>
                <a:sym typeface="+mn-ea"/>
              </a:rPr>
              <a:t>依托政府支持资金常态化自主开展空调调控管理,常态化参与需求响应实践。截止2024年3月底，已接入主体101户，接入资源类型规模达25219千瓦，累计响应电量17245千瓦时,最大响应负荷9800千瓦，累计额产生的虚拟电厂激励费用6.2万元</a:t>
            </a:r>
            <a:r>
              <a:rPr lang="zh-CN" altLang="en-US" sz="1200" dirty="0">
                <a:latin typeface="Kaiti SC" pitchFamily="2" charset="-122"/>
                <a:ea typeface="Kaiti SC" pitchFamily="2" charset="-122"/>
                <a:sym typeface="+mn-ea"/>
              </a:rPr>
              <a:t>。</a:t>
            </a:r>
            <a:endParaRPr lang="zh-CN" altLang="en-US" sz="1200" dirty="0">
              <a:latin typeface="Kaiti SC" pitchFamily="2" charset="-122"/>
              <a:ea typeface="Kaiti SC" pitchFamily="2" charset="-122"/>
              <a:sym typeface="+mn-ea"/>
            </a:endParaRPr>
          </a:p>
        </p:txBody>
      </p:sp>
      <p:sp>
        <p:nvSpPr>
          <p:cNvPr id="36880" name="矩形 13"/>
          <p:cNvSpPr/>
          <p:nvPr>
            <p:custDataLst>
              <p:tags r:id="rId12"/>
            </p:custDataLst>
          </p:nvPr>
        </p:nvSpPr>
        <p:spPr>
          <a:xfrm>
            <a:off x="6947853" y="1590040"/>
            <a:ext cx="2152650" cy="1466850"/>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zh-CN" altLang="en-US" sz="900" b="1" dirty="0">
                <a:solidFill>
                  <a:srgbClr val="FF0000"/>
                </a:solidFill>
                <a:latin typeface="Kaiti SC" pitchFamily="2" charset="-122"/>
                <a:ea typeface="Kaiti SC" pitchFamily="2" charset="-122"/>
                <a:sym typeface="+mn-ea"/>
              </a:rPr>
              <a:t>冀北：常态化参与华北辅助服务市场</a:t>
            </a:r>
            <a:endParaRPr lang="zh-CN" altLang="en-US" sz="900" b="1" dirty="0">
              <a:solidFill>
                <a:srgbClr val="FF0000"/>
              </a:solidFill>
              <a:latin typeface="Kaiti SC" pitchFamily="2" charset="-122"/>
              <a:ea typeface="Kaiti SC" pitchFamily="2" charset="-122"/>
              <a:sym typeface="+mn-ea"/>
            </a:endParaRPr>
          </a:p>
          <a:p>
            <a:pPr>
              <a:lnSpc>
                <a:spcPct val="150000"/>
              </a:lnSpc>
              <a:buNone/>
            </a:pPr>
            <a:r>
              <a:rPr lang="zh-CN" altLang="en-US" sz="900" b="1" dirty="0">
                <a:latin typeface="Kaiti SC" pitchFamily="2" charset="-122"/>
                <a:ea typeface="Kaiti SC" pitchFamily="2" charset="-122"/>
                <a:sym typeface="+mn-ea"/>
              </a:rPr>
              <a:t>典型实践-冀北综能虚拟电厂：</a:t>
            </a:r>
            <a:r>
              <a:rPr lang="zh-CN" altLang="en-US" sz="900" dirty="0">
                <a:latin typeface="Kaiti SC" pitchFamily="2" charset="-122"/>
                <a:ea typeface="Kaiti SC" pitchFamily="2" charset="-122"/>
                <a:sym typeface="+mn-ea"/>
              </a:rPr>
              <a:t>已连续运行4个采暖季，接入22个电采暖及大工业用户，累计聚合容量174.3万千瓦，理论调峰能力61万千瓦，累计填谷响应电量1.86亿千瓦时，为用户和聚合商创造服务收益3311万元</a:t>
            </a:r>
            <a:r>
              <a:rPr lang="zh-CN" altLang="en-US" sz="1200" dirty="0">
                <a:latin typeface="Kaiti SC" pitchFamily="2" charset="-122"/>
                <a:ea typeface="Kaiti SC" pitchFamily="2" charset="-122"/>
                <a:sym typeface="+mn-ea"/>
              </a:rPr>
              <a:t>。</a:t>
            </a:r>
            <a:endParaRPr lang="zh-CN" altLang="en-US" sz="1200" dirty="0">
              <a:latin typeface="Kaiti SC" pitchFamily="2" charset="-122"/>
              <a:ea typeface="Kaiti SC" pitchFamily="2"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Line 8"/>
          <p:cNvSpPr/>
          <p:nvPr/>
        </p:nvSpPr>
        <p:spPr>
          <a:xfrm>
            <a:off x="11113" y="869950"/>
            <a:ext cx="8737600" cy="14288"/>
          </a:xfrm>
          <a:prstGeom prst="line">
            <a:avLst/>
          </a:prstGeom>
          <a:ln w="57150" cap="flat" cmpd="sng">
            <a:solidFill>
              <a:srgbClr val="0033CC"/>
            </a:solidFill>
            <a:prstDash val="solid"/>
            <a:bevel/>
            <a:headEnd type="none" w="med" len="med"/>
            <a:tailEnd type="none" w="med" len="med"/>
          </a:ln>
        </p:spPr>
      </p:sp>
      <p:sp>
        <p:nvSpPr>
          <p:cNvPr id="37891" name="Text Box 2"/>
          <p:cNvSpPr/>
          <p:nvPr/>
        </p:nvSpPr>
        <p:spPr>
          <a:xfrm>
            <a:off x="182563" y="114300"/>
            <a:ext cx="45720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国内情况</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37892" name="矩形 7"/>
          <p:cNvSpPr/>
          <p:nvPr>
            <p:custDataLst>
              <p:tags r:id="rId1"/>
            </p:custDataLst>
          </p:nvPr>
        </p:nvSpPr>
        <p:spPr>
          <a:xfrm>
            <a:off x="101600" y="1349375"/>
            <a:ext cx="8737600" cy="1450975"/>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en-US" altLang="zh-CN" sz="1600" b="1" dirty="0">
                <a:latin typeface="Arial" panose="020B0604020202020204" pitchFamily="34" charset="0"/>
                <a:sym typeface="+mn-ea"/>
              </a:rPr>
              <a:t>        </a:t>
            </a:r>
            <a:r>
              <a:rPr lang="zh-CN" altLang="en-US" sz="1600" dirty="0">
                <a:latin typeface="Arial" panose="020B0604020202020204" pitchFamily="34" charset="0"/>
                <a:ea typeface="Kaiti SC" pitchFamily="2" charset="-122"/>
                <a:sym typeface="+mn-ea"/>
              </a:rPr>
              <a:t>我国电力市场建设仍在加速推进，虚拟电厂这类第三方主体参与市场交易仍在逐步探索，因此目前虚拟电厂可通过</a:t>
            </a:r>
            <a:r>
              <a:rPr lang="zh-CN" altLang="en-US" sz="1600" dirty="0">
                <a:solidFill>
                  <a:srgbClr val="FF0000"/>
                </a:solidFill>
                <a:latin typeface="Arial" panose="020B0604020202020204" pitchFamily="34" charset="0"/>
                <a:ea typeface="Kaiti SC" pitchFamily="2" charset="-122"/>
                <a:sym typeface="+mn-ea"/>
              </a:rPr>
              <a:t>参与电力市场交易</a:t>
            </a:r>
            <a:r>
              <a:rPr lang="zh-CN" altLang="en-US" sz="1600" dirty="0">
                <a:latin typeface="Arial" panose="020B0604020202020204" pitchFamily="34" charset="0"/>
                <a:ea typeface="Kaiti SC" pitchFamily="2" charset="-122"/>
                <a:sym typeface="+mn-ea"/>
              </a:rPr>
              <a:t>（目前仅调峰辅助服务市场、部分试点现货市场）或者政策性需求响应</a:t>
            </a:r>
            <a:r>
              <a:rPr lang="zh-CN" altLang="en-US" sz="1600" dirty="0">
                <a:solidFill>
                  <a:srgbClr val="FF0000"/>
                </a:solidFill>
                <a:latin typeface="Arial" panose="020B0604020202020204" pitchFamily="34" charset="0"/>
                <a:ea typeface="Kaiti SC" pitchFamily="2" charset="-122"/>
                <a:sym typeface="+mn-ea"/>
              </a:rPr>
              <a:t>两个渠道</a:t>
            </a:r>
            <a:r>
              <a:rPr lang="zh-CN" altLang="en-US" sz="1600" dirty="0">
                <a:latin typeface="Arial" panose="020B0604020202020204" pitchFamily="34" charset="0"/>
                <a:ea typeface="Kaiti SC" pitchFamily="2" charset="-122"/>
                <a:sym typeface="+mn-ea"/>
              </a:rPr>
              <a:t>获取收益，市场主体主要是</a:t>
            </a:r>
            <a:r>
              <a:rPr lang="zh-CN" altLang="en-US" sz="1600" dirty="0">
                <a:solidFill>
                  <a:srgbClr val="FF0000"/>
                </a:solidFill>
                <a:latin typeface="Arial" panose="020B0604020202020204" pitchFamily="34" charset="0"/>
                <a:ea typeface="Kaiti SC" pitchFamily="2" charset="-122"/>
                <a:sym typeface="+mn-ea"/>
              </a:rPr>
              <a:t>虚拟电厂</a:t>
            </a:r>
            <a:r>
              <a:rPr lang="zh-CN" altLang="en-US" sz="1600" dirty="0">
                <a:latin typeface="Arial" panose="020B0604020202020204" pitchFamily="34" charset="0"/>
                <a:ea typeface="Kaiti SC" pitchFamily="2" charset="-122"/>
                <a:sym typeface="+mn-ea"/>
              </a:rPr>
              <a:t>运营商、电网公司、用户等，主要采用折扣电价、利润分成、附加服务的形式吸引用户。</a:t>
            </a:r>
            <a:endParaRPr lang="zh-CN" altLang="en-US" sz="1600" dirty="0">
              <a:latin typeface="Arial" panose="020B0604020202020204" pitchFamily="34" charset="0"/>
              <a:ea typeface="Kaiti SC" pitchFamily="2" charset="-122"/>
              <a:sym typeface="+mn-ea"/>
            </a:endParaRPr>
          </a:p>
        </p:txBody>
      </p:sp>
      <p:graphicFrame>
        <p:nvGraphicFramePr>
          <p:cNvPr id="18" name="表格 17"/>
          <p:cNvGraphicFramePr/>
          <p:nvPr/>
        </p:nvGraphicFramePr>
        <p:xfrm>
          <a:off x="101600" y="2951163"/>
          <a:ext cx="8839200" cy="3718560"/>
        </p:xfrm>
        <a:graphic>
          <a:graphicData uri="http://schemas.openxmlformats.org/drawingml/2006/table">
            <a:tbl>
              <a:tblPr firstRow="1" bandRow="1">
                <a:tableStyleId>{5C22544A-7EE6-4342-B048-85BDC9FD1C3A}</a:tableStyleId>
              </a:tblPr>
              <a:tblGrid>
                <a:gridCol w="1617980"/>
                <a:gridCol w="1691005"/>
                <a:gridCol w="1110615"/>
                <a:gridCol w="1604645"/>
                <a:gridCol w="1633855"/>
                <a:gridCol w="1181100"/>
              </a:tblGrid>
              <a:tr h="335280">
                <a:tc>
                  <a:txBody>
                    <a:bodyPr/>
                    <a:lstStyle/>
                    <a:p>
                      <a:pPr algn="ctr">
                        <a:buNone/>
                      </a:pPr>
                      <a:r>
                        <a:rPr lang="zh-CN" altLang="en-US" sz="1600" dirty="0">
                          <a:ea typeface="Kaiti SC"/>
                        </a:rPr>
                        <a:t>收益渠道</a:t>
                      </a:r>
                      <a:endParaRPr lang="zh-CN" altLang="en-US" sz="1600" dirty="0">
                        <a:ea typeface="Kaiti SC"/>
                      </a:endParaRPr>
                    </a:p>
                  </a:txBody>
                  <a:tcPr anchor="ctr">
                    <a:solidFill>
                      <a:schemeClr val="tx2"/>
                    </a:solidFill>
                  </a:tcPr>
                </a:tc>
                <a:tc>
                  <a:txBody>
                    <a:bodyPr/>
                    <a:lstStyle/>
                    <a:p>
                      <a:pPr algn="ctr">
                        <a:buNone/>
                      </a:pPr>
                      <a:r>
                        <a:rPr lang="zh-CN" altLang="en-US" sz="1600" dirty="0">
                          <a:ea typeface="Kaiti SC"/>
                        </a:rPr>
                        <a:t>实施主体</a:t>
                      </a:r>
                      <a:endParaRPr lang="zh-CN" altLang="en-US" sz="1600" dirty="0">
                        <a:ea typeface="Kaiti SC"/>
                      </a:endParaRPr>
                    </a:p>
                  </a:txBody>
                  <a:tcPr anchor="ctr">
                    <a:solidFill>
                      <a:schemeClr val="tx2"/>
                    </a:solidFill>
                  </a:tcPr>
                </a:tc>
                <a:tc>
                  <a:txBody>
                    <a:bodyPr/>
                    <a:lstStyle/>
                    <a:p>
                      <a:pPr algn="ctr">
                        <a:buNone/>
                      </a:pPr>
                      <a:r>
                        <a:rPr lang="zh-CN" altLang="en-US" sz="1600" dirty="0">
                          <a:ea typeface="Kaiti SC"/>
                        </a:rPr>
                        <a:t>市场主体</a:t>
                      </a:r>
                      <a:endParaRPr lang="zh-CN" altLang="en-US" sz="1600" dirty="0">
                        <a:ea typeface="Kaiti SC"/>
                      </a:endParaRPr>
                    </a:p>
                  </a:txBody>
                  <a:tcPr anchor="ctr">
                    <a:solidFill>
                      <a:schemeClr val="tx2"/>
                    </a:solidFill>
                  </a:tcPr>
                </a:tc>
                <a:tc>
                  <a:txBody>
                    <a:bodyPr/>
                    <a:lstStyle/>
                    <a:p>
                      <a:pPr algn="ctr">
                        <a:buNone/>
                      </a:pPr>
                      <a:r>
                        <a:rPr lang="zh-CN" altLang="en-US" sz="1600" dirty="0">
                          <a:ea typeface="Kaiti SC"/>
                        </a:rPr>
                        <a:t>参与途径</a:t>
                      </a:r>
                      <a:endParaRPr lang="zh-CN" altLang="en-US" sz="1600" dirty="0">
                        <a:ea typeface="Kaiti SC"/>
                      </a:endParaRPr>
                    </a:p>
                  </a:txBody>
                  <a:tcPr anchor="ctr">
                    <a:solidFill>
                      <a:schemeClr val="tx2"/>
                    </a:solidFill>
                  </a:tcPr>
                </a:tc>
                <a:tc>
                  <a:txBody>
                    <a:bodyPr/>
                    <a:lstStyle/>
                    <a:p>
                      <a:pPr algn="ctr">
                        <a:buNone/>
                      </a:pPr>
                      <a:r>
                        <a:rPr lang="zh-CN" altLang="en-US" sz="1600" dirty="0">
                          <a:ea typeface="Kaiti SC"/>
                        </a:rPr>
                        <a:t>提供服务</a:t>
                      </a:r>
                      <a:endParaRPr lang="zh-CN" altLang="en-US" sz="1600" dirty="0">
                        <a:ea typeface="Kaiti SC"/>
                      </a:endParaRPr>
                    </a:p>
                  </a:txBody>
                  <a:tcPr anchor="ctr">
                    <a:solidFill>
                      <a:schemeClr val="tx2"/>
                    </a:solidFill>
                  </a:tcPr>
                </a:tc>
                <a:tc>
                  <a:txBody>
                    <a:bodyPr/>
                    <a:lstStyle/>
                    <a:p>
                      <a:pPr algn="ctr">
                        <a:buNone/>
                      </a:pPr>
                      <a:r>
                        <a:rPr lang="zh-CN" altLang="en-US" sz="1600" dirty="0">
                          <a:ea typeface="Kaiti SC"/>
                        </a:rPr>
                        <a:t>利益分配</a:t>
                      </a:r>
                      <a:endParaRPr lang="zh-CN" altLang="en-US" sz="1600" dirty="0">
                        <a:ea typeface="Kaiti SC"/>
                      </a:endParaRPr>
                    </a:p>
                  </a:txBody>
                  <a:tcPr anchor="ctr">
                    <a:solidFill>
                      <a:schemeClr val="tx2"/>
                    </a:solidFill>
                  </a:tcPr>
                </a:tc>
              </a:tr>
              <a:tr h="2011680">
                <a:tc>
                  <a:txBody>
                    <a:bodyPr/>
                    <a:lstStyle/>
                    <a:p>
                      <a:pPr algn="ctr">
                        <a:buClrTx/>
                        <a:buSzTx/>
                        <a:buFontTx/>
                        <a:buNone/>
                      </a:pPr>
                      <a:r>
                        <a:rPr lang="zh-CN" altLang="en-US" sz="1600" b="1" dirty="0">
                          <a:solidFill>
                            <a:schemeClr val="lt1"/>
                          </a:solidFill>
                          <a:ea typeface="Kaiti SC"/>
                        </a:rPr>
                        <a:t>参与电力市场获益</a:t>
                      </a:r>
                      <a:endParaRPr lang="zh-CN" altLang="en-US" sz="1600" b="1" dirty="0">
                        <a:solidFill>
                          <a:schemeClr val="lt1"/>
                        </a:solidFill>
                        <a:ea typeface="Kaiti SC"/>
                      </a:endParaRPr>
                    </a:p>
                    <a:p>
                      <a:pPr algn="ctr">
                        <a:buClrTx/>
                        <a:buSzTx/>
                        <a:buFontTx/>
                        <a:buNone/>
                      </a:pPr>
                      <a:r>
                        <a:rPr lang="en-US" altLang="zh-CN" sz="1600" b="1" dirty="0">
                          <a:solidFill>
                            <a:schemeClr val="lt1"/>
                          </a:solidFill>
                          <a:ea typeface="Kaiti SC"/>
                        </a:rPr>
                        <a:t>(</a:t>
                      </a:r>
                      <a:r>
                        <a:rPr lang="zh-CN" altLang="en-US" sz="1600" b="1" dirty="0">
                          <a:solidFill>
                            <a:schemeClr val="lt1"/>
                          </a:solidFill>
                          <a:ea typeface="Kaiti SC"/>
                        </a:rPr>
                        <a:t>市场渠道）</a:t>
                      </a:r>
                      <a:endParaRPr lang="zh-CN" altLang="en-US" sz="1600" b="1" dirty="0">
                        <a:solidFill>
                          <a:schemeClr val="lt1"/>
                        </a:solidFill>
                        <a:ea typeface="Kaiti SC"/>
                      </a:endParaRPr>
                    </a:p>
                  </a:txBody>
                  <a:tcPr anchor="ctr">
                    <a:solidFill>
                      <a:schemeClr val="tx2"/>
                    </a:solidFill>
                  </a:tcPr>
                </a:tc>
                <a:tc>
                  <a:txBody>
                    <a:bodyPr/>
                    <a:lstStyle/>
                    <a:p>
                      <a:pPr marL="171450" indent="-171450" algn="l">
                        <a:buClrTx/>
                        <a:buSzTx/>
                        <a:buFont typeface="Wingdings" panose="05000000000000000000" charset="0"/>
                        <a:buChar char="l"/>
                      </a:pPr>
                      <a:r>
                        <a:rPr lang="zh-CN" altLang="en-US" sz="1400" dirty="0">
                          <a:ea typeface="Kaiti SC"/>
                        </a:rPr>
                        <a:t>第三方运营商（</a:t>
                      </a:r>
                      <a:r>
                        <a:rPr lang="zh-CN" altLang="en-US" sz="1400" dirty="0">
                          <a:solidFill>
                            <a:schemeClr val="tx1"/>
                          </a:solidFill>
                          <a:ea typeface="Kaiti SC"/>
                          <a:sym typeface="+mn-ea"/>
                        </a:rPr>
                        <a:t>以调峰服务为主</a:t>
                      </a:r>
                      <a:r>
                        <a:rPr lang="zh-CN" altLang="en-US" sz="1400" dirty="0">
                          <a:ea typeface="Kaiti SC"/>
                        </a:rPr>
                        <a:t>）</a:t>
                      </a:r>
                      <a:endParaRPr lang="zh-CN" altLang="en-US" sz="1400" dirty="0">
                        <a:ea typeface="Kaiti SC"/>
                      </a:endParaRPr>
                    </a:p>
                    <a:p>
                      <a:pPr marL="171450" indent="-171450" algn="l">
                        <a:buClrTx/>
                        <a:buSzTx/>
                        <a:buFont typeface="Wingdings" panose="05000000000000000000" charset="0"/>
                        <a:buChar char="l"/>
                      </a:pPr>
                      <a:endParaRPr lang="zh-CN" altLang="en-US" sz="1400" dirty="0">
                        <a:ea typeface="Kaiti SC"/>
                      </a:endParaRPr>
                    </a:p>
                    <a:p>
                      <a:pPr marL="171450" indent="-171450" algn="l">
                        <a:buClrTx/>
                        <a:buSzTx/>
                        <a:buFont typeface="Wingdings" panose="05000000000000000000" charset="0"/>
                        <a:buChar char="l"/>
                      </a:pPr>
                      <a:r>
                        <a:rPr lang="zh-CN" altLang="en-US" sz="1400" dirty="0">
                          <a:ea typeface="Kaiti SC"/>
                        </a:rPr>
                        <a:t>发电企业（如浙江华能虚拟电厂)</a:t>
                      </a:r>
                      <a:endParaRPr lang="zh-CN" altLang="en-US" sz="1400" dirty="0">
                        <a:ea typeface="Kaiti SC"/>
                      </a:endParaRPr>
                    </a:p>
                    <a:p>
                      <a:pPr marL="171450" indent="-171450" algn="l">
                        <a:buClrTx/>
                        <a:buSzTx/>
                        <a:buFont typeface="Wingdings" panose="05000000000000000000" charset="0"/>
                        <a:buChar char="l"/>
                      </a:pPr>
                      <a:endParaRPr lang="zh-CN" altLang="en-US" sz="1400" dirty="0">
                        <a:ea typeface="Kaiti SC"/>
                      </a:endParaRPr>
                    </a:p>
                    <a:p>
                      <a:pPr marL="171450" indent="-171450" algn="l">
                        <a:buClrTx/>
                        <a:buSzTx/>
                        <a:buFont typeface="Wingdings" panose="05000000000000000000" charset="0"/>
                        <a:buChar char="l"/>
                      </a:pPr>
                      <a:r>
                        <a:rPr lang="zh-CN" altLang="en-US" sz="1400" dirty="0">
                          <a:ea typeface="Kaiti SC"/>
                        </a:rPr>
                        <a:t>电网公司的示范项目</a:t>
                      </a:r>
                      <a:endParaRPr lang="zh-CN" altLang="en-US" sz="1400" dirty="0">
                        <a:ea typeface="Kaiti SC"/>
                      </a:endParaRPr>
                    </a:p>
                  </a:txBody>
                  <a:tcPr anchor="ctr">
                    <a:solidFill>
                      <a:schemeClr val="tx1">
                        <a:lumMod val="10000"/>
                        <a:lumOff val="90000"/>
                      </a:schemeClr>
                    </a:solidFill>
                  </a:tcPr>
                </a:tc>
                <a:tc>
                  <a:txBody>
                    <a:bodyPr/>
                    <a:lstStyle/>
                    <a:p>
                      <a:pPr marL="171450" indent="-171450" algn="l">
                        <a:buClrTx/>
                        <a:buSzTx/>
                        <a:buFont typeface="Wingdings" panose="05000000000000000000" charset="0"/>
                        <a:buChar char="l"/>
                      </a:pPr>
                      <a:r>
                        <a:rPr lang="zh-CN" altLang="en-US" sz="1400" dirty="0">
                          <a:solidFill>
                            <a:srgbClr val="FF0000"/>
                          </a:solidFill>
                          <a:ea typeface="Kaiti SC"/>
                        </a:rPr>
                        <a:t>虚拟电厂</a:t>
                      </a:r>
                      <a:endParaRPr lang="zh-CN" altLang="en-US" sz="1400" dirty="0">
                        <a:ea typeface="Kaiti SC"/>
                      </a:endParaRPr>
                    </a:p>
                    <a:p>
                      <a:pPr marL="171450" indent="-171450" algn="l">
                        <a:buClrTx/>
                        <a:buSzTx/>
                        <a:buFont typeface="Wingdings" panose="05000000000000000000" charset="0"/>
                        <a:buChar char="l"/>
                      </a:pPr>
                      <a:endParaRPr lang="zh-CN" altLang="en-US" sz="1400" dirty="0">
                        <a:ea typeface="Kaiti SC"/>
                      </a:endParaRPr>
                    </a:p>
                    <a:p>
                      <a:pPr marL="171450" indent="-171450" algn="l">
                        <a:buClrTx/>
                        <a:buSzTx/>
                        <a:buFont typeface="Wingdings" panose="05000000000000000000" charset="0"/>
                        <a:buChar char="l"/>
                      </a:pPr>
                      <a:r>
                        <a:rPr lang="zh-CN" altLang="en-US" sz="1400" dirty="0">
                          <a:ea typeface="Kaiti SC"/>
                        </a:rPr>
                        <a:t>电网公司</a:t>
                      </a:r>
                      <a:endParaRPr lang="zh-CN" altLang="en-US" sz="1400" dirty="0">
                        <a:ea typeface="Kaiti SC"/>
                      </a:endParaRPr>
                    </a:p>
                  </a:txBody>
                  <a:tcPr anchor="ctr">
                    <a:solidFill>
                      <a:schemeClr val="tx1">
                        <a:lumMod val="10000"/>
                        <a:lumOff val="90000"/>
                      </a:schemeClr>
                    </a:solidFill>
                  </a:tcPr>
                </a:tc>
                <a:tc>
                  <a:txBody>
                    <a:bodyPr/>
                    <a:lstStyle/>
                    <a:p>
                      <a:pPr marL="171450" indent="-171450" algn="l">
                        <a:buClrTx/>
                        <a:buSzTx/>
                        <a:buFont typeface="Wingdings" panose="05000000000000000000" charset="0"/>
                        <a:buChar char="l"/>
                      </a:pPr>
                      <a:r>
                        <a:rPr lang="zh-CN" altLang="en-US" sz="1400" dirty="0">
                          <a:ea typeface="Kaiti SC"/>
                        </a:rPr>
                        <a:t>辅助服务市场（主流）</a:t>
                      </a:r>
                      <a:endParaRPr lang="zh-CN" altLang="en-US" sz="1400" dirty="0">
                        <a:ea typeface="Kaiti SC"/>
                      </a:endParaRPr>
                    </a:p>
                    <a:p>
                      <a:pPr marL="171450" indent="-171450" algn="l">
                        <a:buClrTx/>
                        <a:buSzTx/>
                        <a:buFont typeface="Wingdings" panose="05000000000000000000" charset="0"/>
                        <a:buChar char="l"/>
                      </a:pPr>
                      <a:r>
                        <a:rPr lang="zh-CN" altLang="en-US" sz="1400" dirty="0">
                          <a:ea typeface="Kaiti SC"/>
                        </a:rPr>
                        <a:t>现货（很少）</a:t>
                      </a:r>
                      <a:endParaRPr lang="zh-CN" altLang="en-US" sz="1400" dirty="0">
                        <a:ea typeface="Kaiti SC"/>
                      </a:endParaRPr>
                    </a:p>
                  </a:txBody>
                  <a:tcPr anchor="ctr">
                    <a:solidFill>
                      <a:schemeClr val="tx1">
                        <a:lumMod val="10000"/>
                        <a:lumOff val="90000"/>
                      </a:schemeClr>
                    </a:solidFill>
                  </a:tcPr>
                </a:tc>
                <a:tc>
                  <a:txBody>
                    <a:bodyPr/>
                    <a:lstStyle/>
                    <a:p>
                      <a:pPr marL="171450" indent="-171450" algn="l">
                        <a:buClrTx/>
                        <a:buSzTx/>
                        <a:buFont typeface="Wingdings" panose="05000000000000000000" charset="0"/>
                        <a:buChar char="l"/>
                      </a:pPr>
                      <a:r>
                        <a:rPr lang="zh-CN" altLang="en-US" sz="1400" dirty="0">
                          <a:ea typeface="Kaiti SC"/>
                        </a:rPr>
                        <a:t>电能量交易</a:t>
                      </a:r>
                      <a:endParaRPr lang="zh-CN" altLang="en-US" sz="1400" dirty="0">
                        <a:ea typeface="Kaiti SC"/>
                      </a:endParaRPr>
                    </a:p>
                    <a:p>
                      <a:pPr marL="171450" indent="-171450" algn="l">
                        <a:buClrTx/>
                        <a:buSzTx/>
                        <a:buFont typeface="Wingdings" panose="05000000000000000000" charset="0"/>
                        <a:buChar char="l"/>
                      </a:pPr>
                      <a:endParaRPr lang="zh-CN" altLang="en-US" sz="1400" dirty="0">
                        <a:ea typeface="Kaiti SC"/>
                      </a:endParaRPr>
                    </a:p>
                    <a:p>
                      <a:pPr marL="171450" indent="-171450" algn="l">
                        <a:buClrTx/>
                        <a:buSzTx/>
                        <a:buFont typeface="Wingdings" panose="05000000000000000000" charset="0"/>
                        <a:buChar char="l"/>
                      </a:pPr>
                      <a:r>
                        <a:rPr lang="zh-CN" altLang="en-US" sz="1400" dirty="0">
                          <a:ea typeface="Kaiti SC"/>
                        </a:rPr>
                        <a:t>调峰调频辅助服务（降低系统峰值、提高低谷新能源消纳、提供系统调节能力）</a:t>
                      </a:r>
                      <a:endParaRPr lang="zh-CN" altLang="en-US" sz="1400" dirty="0">
                        <a:ea typeface="Kaiti SC"/>
                      </a:endParaRPr>
                    </a:p>
                  </a:txBody>
                  <a:tcPr anchor="ctr">
                    <a:solidFill>
                      <a:schemeClr val="tx1">
                        <a:lumMod val="10000"/>
                        <a:lumOff val="90000"/>
                      </a:schemeClr>
                    </a:solidFill>
                  </a:tcPr>
                </a:tc>
                <a:tc rowSpan="2">
                  <a:txBody>
                    <a:bodyPr/>
                    <a:lstStyle/>
                    <a:p>
                      <a:pPr algn="ctr">
                        <a:buClrTx/>
                        <a:buSzTx/>
                        <a:buFontTx/>
                        <a:buNone/>
                      </a:pPr>
                      <a:r>
                        <a:rPr lang="zh-CN" altLang="en-US" sz="1400" dirty="0">
                          <a:ea typeface="Kaiti SC"/>
                        </a:rPr>
                        <a:t>折扣电价、利润分成、</a:t>
                      </a:r>
                      <a:r>
                        <a:rPr lang="zh-CN" altLang="en-US" sz="1400" dirty="0">
                          <a:solidFill>
                            <a:srgbClr val="FF0000"/>
                          </a:solidFill>
                          <a:ea typeface="Kaiti SC"/>
                        </a:rPr>
                        <a:t>附加服务</a:t>
                      </a:r>
                      <a:endParaRPr lang="zh-CN" altLang="en-US" sz="1400" dirty="0">
                        <a:solidFill>
                          <a:srgbClr val="FF0000"/>
                        </a:solidFill>
                        <a:ea typeface="Kaiti SC"/>
                      </a:endParaRPr>
                    </a:p>
                  </a:txBody>
                  <a:tcPr anchor="ctr">
                    <a:solidFill>
                      <a:schemeClr val="tx1">
                        <a:lumMod val="10000"/>
                        <a:lumOff val="90000"/>
                      </a:schemeClr>
                    </a:solidFill>
                  </a:tcPr>
                </a:tc>
              </a:tr>
              <a:tr h="1371600">
                <a:tc>
                  <a:txBody>
                    <a:bodyPr/>
                    <a:lstStyle/>
                    <a:p>
                      <a:pPr algn="ctr">
                        <a:buClrTx/>
                        <a:buSzTx/>
                        <a:buFontTx/>
                        <a:buNone/>
                      </a:pPr>
                      <a:r>
                        <a:rPr lang="zh-CN" altLang="en-US" sz="1600" b="1" dirty="0">
                          <a:solidFill>
                            <a:schemeClr val="lt1"/>
                          </a:solidFill>
                          <a:ea typeface="Kaiti SC"/>
                        </a:rPr>
                        <a:t>参与需求响应交易</a:t>
                      </a:r>
                      <a:endParaRPr lang="zh-CN" altLang="en-US" sz="1600" b="1" dirty="0">
                        <a:solidFill>
                          <a:schemeClr val="lt1"/>
                        </a:solidFill>
                        <a:ea typeface="Kaiti SC"/>
                      </a:endParaRPr>
                    </a:p>
                    <a:p>
                      <a:pPr algn="ctr">
                        <a:buClrTx/>
                        <a:buSzTx/>
                        <a:buFontTx/>
                        <a:buNone/>
                      </a:pPr>
                      <a:r>
                        <a:rPr lang="zh-CN" altLang="en-US" sz="1600" b="1" dirty="0">
                          <a:solidFill>
                            <a:schemeClr val="lt1"/>
                          </a:solidFill>
                          <a:ea typeface="Kaiti SC"/>
                        </a:rPr>
                        <a:t>（政策补贴）</a:t>
                      </a:r>
                      <a:endParaRPr lang="zh-CN" altLang="en-US" sz="1600" b="1" dirty="0">
                        <a:solidFill>
                          <a:schemeClr val="lt1"/>
                        </a:solidFill>
                        <a:ea typeface="Kaiti SC"/>
                      </a:endParaRPr>
                    </a:p>
                  </a:txBody>
                  <a:tcPr anchor="ctr">
                    <a:solidFill>
                      <a:schemeClr val="tx2"/>
                    </a:solidFill>
                  </a:tcPr>
                </a:tc>
                <a:tc>
                  <a:txBody>
                    <a:bodyPr/>
                    <a:lstStyle/>
                    <a:p>
                      <a:pPr marL="171450" indent="-171450" algn="l">
                        <a:buClrTx/>
                        <a:buSzTx/>
                        <a:buFont typeface="Wingdings" panose="05000000000000000000" charset="0"/>
                        <a:buChar char="l"/>
                      </a:pPr>
                      <a:r>
                        <a:rPr lang="zh-CN" altLang="en-US" sz="1400" dirty="0">
                          <a:ea typeface="Kaiti SC"/>
                          <a:sym typeface="+mn-ea"/>
                        </a:rPr>
                        <a:t>第三方运营商（技术、平台提供商）</a:t>
                      </a:r>
                      <a:endParaRPr lang="zh-CN" altLang="en-US" sz="1400" dirty="0">
                        <a:ea typeface="Kaiti SC"/>
                      </a:endParaRPr>
                    </a:p>
                    <a:p>
                      <a:pPr marL="171450" indent="-171450" algn="l">
                        <a:buClrTx/>
                        <a:buSzTx/>
                        <a:buFont typeface="Wingdings" panose="05000000000000000000" charset="0"/>
                        <a:buChar char="l"/>
                      </a:pPr>
                      <a:endParaRPr lang="zh-CN" altLang="en-US" sz="1400" dirty="0">
                        <a:ea typeface="Kaiti SC"/>
                      </a:endParaRPr>
                    </a:p>
                    <a:p>
                      <a:pPr marL="171450" indent="-171450" algn="l">
                        <a:buClrTx/>
                        <a:buSzTx/>
                        <a:buFont typeface="Wingdings" panose="05000000000000000000" charset="0"/>
                        <a:buChar char="l"/>
                      </a:pPr>
                      <a:r>
                        <a:rPr lang="zh-CN" altLang="en-US" sz="1400" dirty="0">
                          <a:ea typeface="Kaiti SC"/>
                          <a:sym typeface="+mn-ea"/>
                        </a:rPr>
                        <a:t>电网公司的示范项目</a:t>
                      </a:r>
                      <a:endParaRPr lang="zh-CN" altLang="en-US" sz="1400" dirty="0">
                        <a:ea typeface="Kaiti SC"/>
                      </a:endParaRPr>
                    </a:p>
                  </a:txBody>
                  <a:tcPr anchor="ctr">
                    <a:solidFill>
                      <a:schemeClr val="bg1">
                        <a:lumMod val="95000"/>
                      </a:schemeClr>
                    </a:solidFill>
                  </a:tcPr>
                </a:tc>
                <a:tc>
                  <a:txBody>
                    <a:bodyPr/>
                    <a:lstStyle/>
                    <a:p>
                      <a:pPr marL="171450" indent="-171450" algn="l">
                        <a:buClrTx/>
                        <a:buSzTx/>
                        <a:buFont typeface="Wingdings" panose="05000000000000000000" charset="0"/>
                        <a:buChar char="l"/>
                      </a:pPr>
                      <a:r>
                        <a:rPr lang="zh-CN" altLang="en-US" sz="1400" dirty="0">
                          <a:solidFill>
                            <a:srgbClr val="FF0000"/>
                          </a:solidFill>
                          <a:ea typeface="Kaiti SC"/>
                        </a:rPr>
                        <a:t>虚拟电厂</a:t>
                      </a:r>
                      <a:endParaRPr lang="zh-CN" altLang="en-US" sz="1400" dirty="0">
                        <a:ea typeface="Kaiti SC"/>
                      </a:endParaRPr>
                    </a:p>
                    <a:p>
                      <a:pPr marL="171450" indent="-171450" algn="l">
                        <a:buClrTx/>
                        <a:buSzTx/>
                        <a:buFont typeface="Wingdings" panose="05000000000000000000" charset="0"/>
                        <a:buChar char="l"/>
                      </a:pPr>
                      <a:endParaRPr lang="zh-CN" altLang="en-US" sz="1400" dirty="0">
                        <a:ea typeface="Kaiti SC"/>
                      </a:endParaRPr>
                    </a:p>
                    <a:p>
                      <a:pPr marL="171450" indent="-171450" algn="l">
                        <a:buClrTx/>
                        <a:buSzTx/>
                        <a:buFont typeface="Wingdings" panose="05000000000000000000" charset="0"/>
                        <a:buChar char="l"/>
                      </a:pPr>
                      <a:r>
                        <a:rPr lang="zh-CN" altLang="en-US" sz="1400" dirty="0">
                          <a:ea typeface="Kaiti SC"/>
                        </a:rPr>
                        <a:t>电网公司</a:t>
                      </a:r>
                      <a:endParaRPr lang="zh-CN" altLang="en-US" sz="1400" dirty="0">
                        <a:ea typeface="Kaiti SC"/>
                      </a:endParaRPr>
                    </a:p>
                  </a:txBody>
                  <a:tcPr anchor="ctr">
                    <a:solidFill>
                      <a:schemeClr val="bg1">
                        <a:lumMod val="95000"/>
                      </a:schemeClr>
                    </a:solidFill>
                  </a:tcPr>
                </a:tc>
                <a:tc>
                  <a:txBody>
                    <a:bodyPr/>
                    <a:lstStyle/>
                    <a:p>
                      <a:pPr marL="171450" indent="-171450" algn="l">
                        <a:buClrTx/>
                        <a:buSzTx/>
                        <a:buFont typeface="Wingdings" panose="05000000000000000000" charset="0"/>
                        <a:buChar char="l"/>
                      </a:pPr>
                      <a:r>
                        <a:rPr lang="zh-CN" altLang="en-US" sz="1400" dirty="0">
                          <a:ea typeface="Kaiti SC"/>
                          <a:sym typeface="+mn-ea"/>
                        </a:rPr>
                        <a:t>电网公司组织的需求侧响应交易</a:t>
                      </a:r>
                      <a:endParaRPr lang="zh-CN" altLang="en-US" sz="1400" dirty="0">
                        <a:ea typeface="Kaiti SC"/>
                      </a:endParaRPr>
                    </a:p>
                  </a:txBody>
                  <a:tcPr anchor="ctr">
                    <a:solidFill>
                      <a:schemeClr val="bg1">
                        <a:lumMod val="95000"/>
                      </a:schemeClr>
                    </a:solidFill>
                  </a:tcPr>
                </a:tc>
                <a:tc>
                  <a:txBody>
                    <a:bodyPr/>
                    <a:lstStyle/>
                    <a:p>
                      <a:pPr marL="171450" indent="-171450" algn="l">
                        <a:buClrTx/>
                        <a:buSzTx/>
                        <a:buFont typeface="Wingdings" panose="05000000000000000000" charset="0"/>
                        <a:buChar char="l"/>
                      </a:pPr>
                      <a:r>
                        <a:rPr lang="zh-CN" altLang="en-US" sz="1400" dirty="0">
                          <a:ea typeface="Kaiti SC"/>
                          <a:sym typeface="+mn-ea"/>
                        </a:rPr>
                        <a:t>填谷、削峰需求效应（削峰为主)</a:t>
                      </a:r>
                      <a:endParaRPr lang="zh-CN" altLang="en-US" sz="1400" dirty="0">
                        <a:ea typeface="Kaiti SC"/>
                      </a:endParaRPr>
                    </a:p>
                  </a:txBody>
                  <a:tcPr anchor="ctr">
                    <a:solidFill>
                      <a:schemeClr val="bg1">
                        <a:lumMod val="95000"/>
                      </a:schemeClr>
                    </a:solidFill>
                  </a:tcPr>
                </a:tc>
                <a:tc vMerge="1">
                  <a:tcPr>
                    <a:solidFill>
                      <a:schemeClr val="bg1">
                        <a:lumMod val="95000"/>
                      </a:schemeClr>
                    </a:solidFill>
                  </a:tcPr>
                </a:tc>
              </a:tr>
            </a:tbl>
          </a:graphicData>
        </a:graphic>
      </p:graphicFrame>
      <p:sp>
        <p:nvSpPr>
          <p:cNvPr id="37922" name="矩形 1"/>
          <p:cNvSpPr/>
          <p:nvPr/>
        </p:nvSpPr>
        <p:spPr>
          <a:xfrm>
            <a:off x="101600" y="917575"/>
            <a:ext cx="77406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eaLnBrk="1" hangingPunct="1">
              <a:spcBef>
                <a:spcPct val="0"/>
              </a:spcBef>
              <a:buNone/>
            </a:pPr>
            <a:r>
              <a:rPr lang="en-US" altLang="zh-CN" sz="1800" b="1" dirty="0">
                <a:solidFill>
                  <a:srgbClr val="FF0000"/>
                </a:solidFill>
                <a:latin typeface="Arial" panose="020B0604020202020204" pitchFamily="34" charset="0"/>
                <a:ea typeface="黑体" panose="02010609060101010101" pitchFamily="49" charset="-122"/>
              </a:rPr>
              <a:t>3. 国内虚拟电厂工程与商业模式</a:t>
            </a:r>
            <a:endParaRPr lang="en-US" altLang="zh-CN" sz="1800" b="1" dirty="0">
              <a:solidFill>
                <a:srgbClr val="FF0000"/>
              </a:solidFill>
              <a:latin typeface="Arial" panose="020B0604020202020204" pitchFamily="34" charset="0"/>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38915" name="Text Box 2"/>
          <p:cNvSpPr/>
          <p:nvPr/>
        </p:nvSpPr>
        <p:spPr>
          <a:xfrm>
            <a:off x="287338" y="228600"/>
            <a:ext cx="4932362"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国外情况</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grpSp>
        <p:nvGrpSpPr>
          <p:cNvPr id="38916" name="组合 2"/>
          <p:cNvGrpSpPr/>
          <p:nvPr/>
        </p:nvGrpSpPr>
        <p:grpSpPr>
          <a:xfrm>
            <a:off x="1331913" y="4233863"/>
            <a:ext cx="6224587" cy="2516187"/>
            <a:chOff x="755576" y="2655249"/>
            <a:chExt cx="7745949" cy="3265382"/>
          </a:xfrm>
        </p:grpSpPr>
        <p:pic>
          <p:nvPicPr>
            <p:cNvPr id="38919" name="图片 1"/>
            <p:cNvPicPr>
              <a:picLocks noChangeAspect="1"/>
            </p:cNvPicPr>
            <p:nvPr/>
          </p:nvPicPr>
          <p:blipFill>
            <a:blip r:embed="rId1"/>
            <a:srcRect r="632" b="67654"/>
            <a:stretch>
              <a:fillRect/>
            </a:stretch>
          </p:blipFill>
          <p:spPr>
            <a:xfrm>
              <a:off x="755576" y="2655249"/>
              <a:ext cx="7696473" cy="1212646"/>
            </a:xfrm>
            <a:prstGeom prst="rect">
              <a:avLst/>
            </a:prstGeom>
            <a:noFill/>
            <a:ln w="9525">
              <a:noFill/>
            </a:ln>
          </p:spPr>
        </p:pic>
        <p:pic>
          <p:nvPicPr>
            <p:cNvPr id="38920" name="图片 9"/>
            <p:cNvPicPr>
              <a:picLocks noChangeAspect="1"/>
            </p:cNvPicPr>
            <p:nvPr/>
          </p:nvPicPr>
          <p:blipFill>
            <a:blip r:embed="rId1"/>
            <a:srcRect t="62308" r="632"/>
            <a:stretch>
              <a:fillRect/>
            </a:stretch>
          </p:blipFill>
          <p:spPr>
            <a:xfrm>
              <a:off x="755576" y="4507534"/>
              <a:ext cx="7696472" cy="1413097"/>
            </a:xfrm>
            <a:prstGeom prst="rect">
              <a:avLst/>
            </a:prstGeom>
            <a:noFill/>
            <a:ln w="9525">
              <a:noFill/>
            </a:ln>
          </p:spPr>
        </p:pic>
        <p:pic>
          <p:nvPicPr>
            <p:cNvPr id="38921" name="图片 5"/>
            <p:cNvPicPr>
              <a:picLocks noChangeAspect="1"/>
            </p:cNvPicPr>
            <p:nvPr/>
          </p:nvPicPr>
          <p:blipFill>
            <a:blip r:embed="rId1"/>
            <a:srcRect l="-2" t="34042" r="-6" b="48895"/>
            <a:stretch>
              <a:fillRect/>
            </a:stretch>
          </p:blipFill>
          <p:spPr>
            <a:xfrm>
              <a:off x="755576" y="3867895"/>
              <a:ext cx="7745949" cy="639639"/>
            </a:xfrm>
            <a:prstGeom prst="rect">
              <a:avLst/>
            </a:prstGeom>
            <a:noFill/>
            <a:ln w="9525">
              <a:noFill/>
            </a:ln>
          </p:spPr>
        </p:pic>
      </p:grpSp>
      <p:sp>
        <p:nvSpPr>
          <p:cNvPr id="38917" name="文本框 6"/>
          <p:cNvSpPr txBox="1"/>
          <p:nvPr/>
        </p:nvSpPr>
        <p:spPr>
          <a:xfrm>
            <a:off x="323850" y="1562100"/>
            <a:ext cx="8283575" cy="2963545"/>
          </a:xfrm>
          <a:prstGeom prst="rect">
            <a:avLst/>
          </a:prstGeom>
          <a:noFill/>
          <a:ln w="9525">
            <a:noFill/>
          </a:ln>
        </p:spPr>
        <p:txBody>
          <a:bodyPr>
            <a:spAutoFit/>
          </a:bodyPr>
          <a:p>
            <a:pPr marL="171450" indent="-171450">
              <a:lnSpc>
                <a:spcPts val="1600"/>
              </a:lnSpc>
              <a:buFont typeface="Wingdings" panose="05000000000000000000" pitchFamily="2" charset="2"/>
              <a:buChar char="u"/>
            </a:pPr>
            <a:r>
              <a:rPr lang="zh-CN" altLang="en-US" sz="1200" dirty="0">
                <a:latin typeface="Arial" panose="020B0604020202020204" pitchFamily="34" charset="0"/>
                <a:sym typeface="+mn-ea"/>
              </a:rPr>
              <a:t>虚拟电厂建设在国外开展较早，目前，美国、日本和以德国为代表的欧盟等国家均已实施了虚拟电厂相关项目，并形成相对完整的商业模式与产业链。</a:t>
            </a:r>
            <a:endParaRPr lang="en-US" altLang="zh-CN" sz="1200" dirty="0">
              <a:latin typeface="Arial" panose="020B0604020202020204" pitchFamily="34" charset="0"/>
            </a:endParaRPr>
          </a:p>
          <a:p>
            <a:pPr marL="171450" indent="-171450">
              <a:lnSpc>
                <a:spcPts val="1600"/>
              </a:lnSpc>
              <a:buFont typeface="Wingdings" panose="05000000000000000000" pitchFamily="2" charset="2"/>
              <a:buChar char="u"/>
            </a:pPr>
            <a:r>
              <a:rPr lang="zh-CN" altLang="en-US" sz="1200" b="1" dirty="0">
                <a:latin typeface="Arial" panose="020B0604020202020204" pitchFamily="34" charset="0"/>
                <a:sym typeface="+mn-ea"/>
              </a:rPr>
              <a:t>欧洲的虚拟电厂起步于电力供给侧。</a:t>
            </a:r>
            <a:r>
              <a:rPr lang="zh-CN" altLang="en-US" sz="1200" dirty="0">
                <a:latin typeface="Arial" panose="020B0604020202020204" pitchFamily="34" charset="0"/>
                <a:sym typeface="+mn-ea"/>
              </a:rPr>
              <a:t>早期主要从安全调度的角度出发，通过聚合分布式可调电源（如自用型热电机组等），以实现区域协调优化、降本增效为主要目标，随着分布式可再生能源在配电网中的逐步渗透，</a:t>
            </a:r>
            <a:r>
              <a:rPr lang="zh-CN" altLang="zh-CN" sz="1200" dirty="0">
                <a:latin typeface="Arial" panose="020B0604020202020204" pitchFamily="34" charset="0"/>
                <a:sym typeface="+mn-ea"/>
              </a:rPr>
              <a:t>欧洲的虚拟电力运作模式更为灵活多变，规模越来越大</a:t>
            </a:r>
            <a:r>
              <a:rPr lang="zh-CN" altLang="en-US" sz="1200" dirty="0">
                <a:latin typeface="Arial" panose="020B0604020202020204" pitchFamily="34" charset="0"/>
                <a:sym typeface="+mn-ea"/>
              </a:rPr>
              <a:t>。</a:t>
            </a:r>
            <a:r>
              <a:rPr lang="zh-CN" altLang="zh-CN" sz="1200" dirty="0">
                <a:latin typeface="Arial" panose="020B0604020202020204" pitchFamily="34" charset="0"/>
                <a:sym typeface="+mn-ea"/>
              </a:rPr>
              <a:t>以</a:t>
            </a:r>
            <a:r>
              <a:rPr lang="en-US" altLang="zh-CN" sz="1200" dirty="0">
                <a:latin typeface="Arial" panose="020B0604020202020204" pitchFamily="34" charset="0"/>
                <a:sym typeface="+mn-ea"/>
              </a:rPr>
              <a:t>Next-Kraftwerke</a:t>
            </a:r>
            <a:r>
              <a:rPr lang="zh-CN" altLang="zh-CN" sz="1200" dirty="0">
                <a:latin typeface="Arial" panose="020B0604020202020204" pitchFamily="34" charset="0"/>
                <a:sym typeface="+mn-ea"/>
              </a:rPr>
              <a:t>公司为例，</a:t>
            </a:r>
            <a:r>
              <a:rPr lang="en-US" altLang="zh-CN" sz="1200" dirty="0">
                <a:latin typeface="Arial" panose="020B0604020202020204" pitchFamily="34" charset="0"/>
                <a:sym typeface="+mn-ea"/>
              </a:rPr>
              <a:t>Next-Kraftwerke</a:t>
            </a:r>
            <a:r>
              <a:rPr lang="zh-CN" altLang="zh-CN" sz="1200" dirty="0">
                <a:latin typeface="Arial" panose="020B0604020202020204" pitchFamily="34" charset="0"/>
                <a:sym typeface="+mn-ea"/>
              </a:rPr>
              <a:t>公司聚合了</a:t>
            </a:r>
            <a:r>
              <a:rPr lang="en-US" altLang="zh-CN" sz="1200" dirty="0">
                <a:latin typeface="Arial" panose="020B0604020202020204" pitchFamily="34" charset="0"/>
                <a:sym typeface="+mn-ea"/>
              </a:rPr>
              <a:t>13930</a:t>
            </a:r>
            <a:r>
              <a:rPr lang="zh-CN" altLang="zh-CN" sz="1200" dirty="0">
                <a:latin typeface="Arial" panose="020B0604020202020204" pitchFamily="34" charset="0"/>
                <a:sym typeface="+mn-ea"/>
              </a:rPr>
              <a:t>个分布式能源单元，不仅向输电网运营商提供来自发电侧的调峰、调频服务（二次调频和三次调频），还为可再生能源发电企业提供电价监测服务，协助发电商优化电力产品结构。</a:t>
            </a:r>
            <a:endParaRPr lang="en-US" altLang="zh-CN" sz="1200" dirty="0">
              <a:latin typeface="Arial" panose="020B0604020202020204" pitchFamily="34" charset="0"/>
            </a:endParaRPr>
          </a:p>
          <a:p>
            <a:pPr marL="171450" indent="-171450">
              <a:lnSpc>
                <a:spcPts val="1600"/>
              </a:lnSpc>
              <a:buFont typeface="Wingdings" panose="05000000000000000000" pitchFamily="2" charset="2"/>
              <a:buChar char="u"/>
            </a:pPr>
            <a:r>
              <a:rPr lang="zh-CN" altLang="en-US" sz="1200" b="1" dirty="0">
                <a:latin typeface="Arial" panose="020B0604020202020204" pitchFamily="34" charset="0"/>
                <a:sym typeface="+mn-ea"/>
              </a:rPr>
              <a:t>美国的虚拟电厂则起步于电力需求侧</a:t>
            </a:r>
            <a:r>
              <a:rPr lang="zh-CN" altLang="en-US" sz="1200" dirty="0">
                <a:latin typeface="Arial" panose="020B0604020202020204" pitchFamily="34" charset="0"/>
                <a:sym typeface="+mn-ea"/>
              </a:rPr>
              <a:t>。与欧洲电力市场不同，在美国的电力市场中，发电企业和电力用户的双边合同仅用于结算，并不要求在机组组合和发电计划安排中予以执行，实际的执行计划由</a:t>
            </a:r>
            <a:r>
              <a:rPr lang="en-US" altLang="zh-CN" sz="1200" dirty="0">
                <a:latin typeface="Arial" panose="020B0604020202020204" pitchFamily="34" charset="0"/>
                <a:sym typeface="+mn-ea"/>
              </a:rPr>
              <a:t>ISO</a:t>
            </a:r>
            <a:r>
              <a:rPr lang="zh-CN" altLang="en-US" sz="1200" dirty="0">
                <a:latin typeface="Arial" panose="020B0604020202020204" pitchFamily="34" charset="0"/>
                <a:sym typeface="+mn-ea"/>
              </a:rPr>
              <a:t>决定。因而，为更好地为区域内用户提供电力服务，除发用电主体外，也允许各独立储电主体、需求响应主体等参与到与输配电网的交易中，以降低系统运营成本。为此，</a:t>
            </a:r>
            <a:r>
              <a:rPr lang="zh-CN" altLang="zh-CN" sz="1200" dirty="0">
                <a:latin typeface="Arial" panose="020B0604020202020204" pitchFamily="34" charset="0"/>
                <a:sym typeface="+mn-ea"/>
              </a:rPr>
              <a:t>以聚合可控负荷、分布式储能设备参与需求响应市场为主要目标的虚拟电厂应运而生。</a:t>
            </a:r>
            <a:r>
              <a:rPr lang="en-US" altLang="zh-CN" sz="1200" dirty="0">
                <a:latin typeface="Arial" panose="020B0604020202020204" pitchFamily="34" charset="0"/>
                <a:sym typeface="+mn-ea"/>
              </a:rPr>
              <a:t>2021</a:t>
            </a:r>
            <a:r>
              <a:rPr lang="zh-CN" altLang="en-US" sz="1200" dirty="0">
                <a:latin typeface="Arial" panose="020B0604020202020204" pitchFamily="34" charset="0"/>
                <a:sym typeface="+mn-ea"/>
              </a:rPr>
              <a:t>年，</a:t>
            </a:r>
            <a:r>
              <a:rPr lang="en-US" altLang="zh-CN" sz="1200" dirty="0">
                <a:latin typeface="Arial" panose="020B0604020202020204" pitchFamily="34" charset="0"/>
                <a:sym typeface="+mn-ea"/>
              </a:rPr>
              <a:t>Tesla</a:t>
            </a:r>
            <a:r>
              <a:rPr lang="zh-CN" altLang="en-US" sz="1200" dirty="0">
                <a:latin typeface="Arial" panose="020B0604020202020204" pitchFamily="34" charset="0"/>
                <a:sym typeface="+mn-ea"/>
              </a:rPr>
              <a:t>公司与加州公共事业公司联合推出虚拟电厂项目，项目参与者在电网面临需求压力时，可通过</a:t>
            </a:r>
            <a:r>
              <a:rPr lang="en-US" altLang="zh-CN" sz="1200" dirty="0">
                <a:latin typeface="Arial" panose="020B0604020202020204" pitchFamily="34" charset="0"/>
                <a:sym typeface="+mn-ea"/>
              </a:rPr>
              <a:t>Powerwall</a:t>
            </a:r>
            <a:r>
              <a:rPr lang="zh-CN" altLang="en-US" sz="1200" dirty="0">
                <a:latin typeface="Arial" panose="020B0604020202020204" pitchFamily="34" charset="0"/>
                <a:sym typeface="+mn-ea"/>
              </a:rPr>
              <a:t>（家用储能电池）以每千瓦时</a:t>
            </a:r>
            <a:r>
              <a:rPr lang="en-US" altLang="zh-CN" sz="1200" dirty="0">
                <a:latin typeface="Arial" panose="020B0604020202020204" pitchFamily="34" charset="0"/>
                <a:sym typeface="+mn-ea"/>
              </a:rPr>
              <a:t>2</a:t>
            </a:r>
            <a:r>
              <a:rPr lang="zh-CN" altLang="en-US" sz="1200" dirty="0">
                <a:latin typeface="Arial" panose="020B0604020202020204" pitchFamily="34" charset="0"/>
                <a:sym typeface="+mn-ea"/>
              </a:rPr>
              <a:t>美元的价格向电网供电（远超过当地</a:t>
            </a:r>
            <a:r>
              <a:rPr lang="en-US" altLang="zh-CN" sz="1200" dirty="0">
                <a:latin typeface="Arial" panose="020B0604020202020204" pitchFamily="34" charset="0"/>
                <a:sym typeface="+mn-ea"/>
              </a:rPr>
              <a:t>25</a:t>
            </a:r>
            <a:r>
              <a:rPr lang="zh-CN" altLang="en-US" sz="1200" dirty="0">
                <a:latin typeface="Arial" panose="020B0604020202020204" pitchFamily="34" charset="0"/>
                <a:sym typeface="+mn-ea"/>
              </a:rPr>
              <a:t>美分</a:t>
            </a:r>
            <a:r>
              <a:rPr lang="en-US" altLang="zh-CN" sz="1200" dirty="0">
                <a:latin typeface="Arial" panose="020B0604020202020204" pitchFamily="34" charset="0"/>
                <a:sym typeface="+mn-ea"/>
              </a:rPr>
              <a:t>/</a:t>
            </a:r>
            <a:r>
              <a:rPr lang="zh-CN" altLang="en-US" sz="1200" dirty="0">
                <a:latin typeface="Arial" panose="020B0604020202020204" pitchFamily="34" charset="0"/>
                <a:sym typeface="+mn-ea"/>
              </a:rPr>
              <a:t>千瓦时的电价），以解决加州夏季电力供应紧张的情况。</a:t>
            </a:r>
            <a:endParaRPr lang="zh-CN" altLang="en-US" sz="1200" dirty="0">
              <a:latin typeface="Arial" panose="020B0604020202020204" pitchFamily="34" charset="0"/>
              <a:sym typeface="+mn-ea"/>
            </a:endParaRPr>
          </a:p>
        </p:txBody>
      </p:sp>
      <p:sp>
        <p:nvSpPr>
          <p:cNvPr id="38918" name="文本框 8"/>
          <p:cNvSpPr txBox="1"/>
          <p:nvPr/>
        </p:nvSpPr>
        <p:spPr>
          <a:xfrm>
            <a:off x="395288" y="1206500"/>
            <a:ext cx="3757612" cy="368300"/>
          </a:xfrm>
          <a:prstGeom prst="rect">
            <a:avLst/>
          </a:prstGeom>
          <a:noFill/>
          <a:ln w="9525">
            <a:noFill/>
          </a:ln>
        </p:spPr>
        <p:txBody>
          <a:bodyPr>
            <a:spAutoFit/>
          </a:bodyPr>
          <a:p>
            <a:pPr eaLnBrk="1" hangingPunct="1">
              <a:buNone/>
            </a:pPr>
            <a:r>
              <a:rPr lang="en-US" altLang="zh-CN" b="1" dirty="0">
                <a:solidFill>
                  <a:srgbClr val="FF0000"/>
                </a:solidFill>
                <a:latin typeface="Arial" panose="020B0604020202020204" pitchFamily="34" charset="0"/>
                <a:ea typeface="黑体" panose="02010609060101010101" pitchFamily="49" charset="-122"/>
              </a:rPr>
              <a:t>1. 国外虚拟电厂发展与建设现状</a:t>
            </a:r>
            <a:endParaRPr lang="en-US" altLang="zh-CN" b="1" dirty="0">
              <a:solidFill>
                <a:srgbClr val="FF0000"/>
              </a:solidFill>
              <a:latin typeface="Arial" panose="020B0604020202020204" pitchFamily="34" charset="0"/>
              <a:ea typeface="黑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39939" name="Text Box 2"/>
          <p:cNvSpPr/>
          <p:nvPr/>
        </p:nvSpPr>
        <p:spPr>
          <a:xfrm>
            <a:off x="287338" y="228600"/>
            <a:ext cx="4932362"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国外情况</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pic>
        <p:nvPicPr>
          <p:cNvPr id="39940" name="图片 99"/>
          <p:cNvPicPr>
            <a:picLocks noChangeAspect="1"/>
          </p:cNvPicPr>
          <p:nvPr>
            <p:custDataLst>
              <p:tags r:id="rId1"/>
            </p:custDataLst>
          </p:nvPr>
        </p:nvPicPr>
        <p:blipFill>
          <a:blip r:embed="rId2">
            <a:clrChange>
              <a:clrFrom>
                <a:srgbClr val="F6F6F6"/>
              </a:clrFrom>
              <a:clrTo>
                <a:srgbClr val="F6F6F6">
                  <a:alpha val="0"/>
                </a:srgbClr>
              </a:clrTo>
            </a:clrChange>
          </a:blip>
          <a:stretch>
            <a:fillRect/>
          </a:stretch>
        </p:blipFill>
        <p:spPr>
          <a:xfrm>
            <a:off x="3170238" y="2924175"/>
            <a:ext cx="3546475" cy="2211388"/>
          </a:xfrm>
          <a:prstGeom prst="rect">
            <a:avLst/>
          </a:prstGeom>
          <a:noFill/>
          <a:ln w="9525">
            <a:noFill/>
          </a:ln>
        </p:spPr>
      </p:pic>
      <p:cxnSp>
        <p:nvCxnSpPr>
          <p:cNvPr id="4" name="直接连接符 3"/>
          <p:cNvCxnSpPr/>
          <p:nvPr>
            <p:custDataLst>
              <p:tags r:id="rId3"/>
            </p:custDataLst>
          </p:nvPr>
        </p:nvCxnSpPr>
        <p:spPr>
          <a:xfrm flipH="1" flipV="1">
            <a:off x="3060700" y="3462338"/>
            <a:ext cx="790575" cy="327025"/>
          </a:xfrm>
          <a:prstGeom prst="line">
            <a:avLst/>
          </a:prstGeom>
          <a:ln w="635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sp>
        <p:nvSpPr>
          <p:cNvPr id="5" name="椭圆 4"/>
          <p:cNvSpPr/>
          <p:nvPr>
            <p:custDataLst>
              <p:tags r:id="rId4"/>
            </p:custDataLst>
          </p:nvPr>
        </p:nvSpPr>
        <p:spPr>
          <a:xfrm>
            <a:off x="3032125" y="3440113"/>
            <a:ext cx="50800" cy="49213"/>
          </a:xfrm>
          <a:prstGeom prst="ellipse">
            <a:avLst/>
          </a:prstGeom>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custDataLst>
              <p:tags r:id="rId5"/>
            </p:custDataLst>
          </p:nvPr>
        </p:nvSpPr>
        <p:spPr>
          <a:xfrm>
            <a:off x="107950" y="2492375"/>
            <a:ext cx="2950210" cy="2717165"/>
          </a:xfrm>
          <a:prstGeom prst="rect">
            <a:avLst/>
          </a:prstGeom>
          <a:noFill/>
          <a:ln w="12700">
            <a:solidFill>
              <a:schemeClr val="tx1"/>
            </a:solidFill>
            <a:prstDash val="dash"/>
          </a:ln>
        </p:spPr>
        <p:txBody>
          <a:bodyPr wrap="square" anchor="ctr" anchorCtr="0">
            <a:no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mn-ea"/>
              </a:rPr>
              <a:t>美国：聚焦负荷资源聚合调配，</a:t>
            </a:r>
            <a:r>
              <a:rPr lang="zh-CN" altLang="en-US" sz="1200" b="1" noProof="0" dirty="0">
                <a:ln>
                  <a:noFill/>
                </a:ln>
                <a:solidFill>
                  <a:srgbClr val="FF0000"/>
                </a:solidFill>
                <a:effectLst/>
                <a:uLnTx/>
                <a:uFillTx/>
                <a:sym typeface="+mn-ea"/>
              </a:rPr>
              <a:t>通过参与电能量、辅助服务市场获取收益，</a:t>
            </a:r>
            <a:r>
              <a:rPr kumimoji="0" lang="zh-CN" altLang="en-US" sz="12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mn-ea"/>
              </a:rPr>
              <a:t>推动小规模分布式电源参与电力市场</a:t>
            </a:r>
            <a:endParaRPr kumimoji="0" lang="zh-CN" altLang="en-US" sz="12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ea"/>
                <a:sym typeface="+mn-lt"/>
              </a:rPr>
              <a:t>典型实践—</a:t>
            </a:r>
            <a:r>
              <a:rPr kumimoji="0" lang="en-US" altLang="zh-CN" sz="1200" b="1"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ea"/>
                <a:sym typeface="+mn-lt"/>
              </a:rPr>
              <a:t>美国Tesla虚拟电厂</a:t>
            </a:r>
            <a:r>
              <a:rPr kumimoji="0" lang="zh-CN" altLang="en-US" sz="12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ea"/>
                <a:sym typeface="+mn-lt"/>
              </a:rPr>
              <a:t>：</a:t>
            </a: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ea"/>
                <a:sym typeface="+mn-lt"/>
              </a:rPr>
              <a:t>2022年Tesla与美国加州公共事业公司PG&amp;E合作，向符合条件的Powerwall用户提供2美元/千瓦时的报酬激励，在电网紧急状况时向电网输送电力，有5万个Powerwall用户符合补贴条件，累容量计达到50万千瓦时。</a:t>
            </a:r>
            <a:endPar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ea"/>
              <a:sym typeface="+mn-lt"/>
            </a:endParaRPr>
          </a:p>
        </p:txBody>
      </p:sp>
      <p:cxnSp>
        <p:nvCxnSpPr>
          <p:cNvPr id="12" name="直接连接符 11"/>
          <p:cNvCxnSpPr>
            <a:stCxn id="39946" idx="2"/>
          </p:cNvCxnSpPr>
          <p:nvPr>
            <p:custDataLst>
              <p:tags r:id="rId6"/>
            </p:custDataLst>
          </p:nvPr>
        </p:nvCxnSpPr>
        <p:spPr>
          <a:xfrm flipH="1">
            <a:off x="5075238" y="3103563"/>
            <a:ext cx="1838325" cy="612775"/>
          </a:xfrm>
          <a:prstGeom prst="line">
            <a:avLst/>
          </a:prstGeom>
          <a:ln w="635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sp>
        <p:nvSpPr>
          <p:cNvPr id="13" name="椭圆 12"/>
          <p:cNvSpPr/>
          <p:nvPr>
            <p:custDataLst>
              <p:tags r:id="rId7"/>
            </p:custDataLst>
          </p:nvPr>
        </p:nvSpPr>
        <p:spPr>
          <a:xfrm>
            <a:off x="6804025" y="3103563"/>
            <a:ext cx="49213" cy="49213"/>
          </a:xfrm>
          <a:prstGeom prst="ellipse">
            <a:avLst/>
          </a:prstGeom>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9946" name="矩形 13"/>
          <p:cNvSpPr/>
          <p:nvPr>
            <p:custDataLst>
              <p:tags r:id="rId8"/>
            </p:custDataLst>
          </p:nvPr>
        </p:nvSpPr>
        <p:spPr>
          <a:xfrm>
            <a:off x="4787900" y="1196975"/>
            <a:ext cx="4251325" cy="1906588"/>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zh-CN" altLang="en-US" sz="1200" b="1" dirty="0">
                <a:solidFill>
                  <a:srgbClr val="FF0000"/>
                </a:solidFill>
                <a:latin typeface="Arial" panose="020B0604020202020204" pitchFamily="34" charset="0"/>
                <a:sym typeface="+mn-ea"/>
              </a:rPr>
              <a:t>欧洲：以分布式电源、储能资源为主，主要针对实现分布式电源可靠并网和电力市场运营</a:t>
            </a:r>
            <a:endParaRPr lang="zh-CN" altLang="en-US" sz="1200" b="1" dirty="0">
              <a:solidFill>
                <a:srgbClr val="FF0000"/>
              </a:solidFill>
              <a:latin typeface="Arial" panose="020B0604020202020204" pitchFamily="34" charset="0"/>
              <a:sym typeface="+mn-ea"/>
            </a:endParaRPr>
          </a:p>
          <a:p>
            <a:pPr>
              <a:lnSpc>
                <a:spcPct val="150000"/>
              </a:lnSpc>
              <a:buNone/>
            </a:pPr>
            <a:r>
              <a:rPr lang="zh-CN" altLang="en-US" sz="1200" b="1" dirty="0">
                <a:latin typeface="Arial" panose="020B0604020202020204" pitchFamily="34" charset="0"/>
                <a:sym typeface="+mn-ea"/>
              </a:rPr>
              <a:t>典型实践—德国Next Kraftwerke欧洲最大虚拟电厂：</a:t>
            </a:r>
            <a:r>
              <a:rPr lang="zh-CN" altLang="en-US" sz="1200" dirty="0">
                <a:latin typeface="Arial" panose="020B0604020202020204" pitchFamily="34" charset="0"/>
                <a:sym typeface="+mn-ea"/>
              </a:rPr>
              <a:t>聚合资源包括沼气电厂、热电联产厂、水电、光伏、电池储能、电动汽车、工业负荷等。截至2022年底，聚合规模约为1230万千瓦，聚合单元超过15000个，通过调控各类分布式电源、用户和储能系统，参与电力市场交易为电网提供平衡服务。</a:t>
            </a:r>
            <a:endParaRPr lang="zh-CN" altLang="en-US" sz="1200" dirty="0">
              <a:latin typeface="Arial" panose="020B0604020202020204" pitchFamily="34" charset="0"/>
              <a:sym typeface="+mn-ea"/>
            </a:endParaRPr>
          </a:p>
        </p:txBody>
      </p:sp>
      <p:cxnSp>
        <p:nvCxnSpPr>
          <p:cNvPr id="15" name="直接连接符 14"/>
          <p:cNvCxnSpPr>
            <a:stCxn id="16" idx="1"/>
          </p:cNvCxnSpPr>
          <p:nvPr>
            <p:custDataLst>
              <p:tags r:id="rId9"/>
            </p:custDataLst>
          </p:nvPr>
        </p:nvCxnSpPr>
        <p:spPr>
          <a:xfrm flipH="1" flipV="1">
            <a:off x="6083300" y="4652963"/>
            <a:ext cx="942975" cy="350838"/>
          </a:xfrm>
          <a:prstGeom prst="line">
            <a:avLst/>
          </a:prstGeom>
          <a:ln w="6350" cap="flat" cmpd="sng" algn="ctr">
            <a:solidFill>
              <a:schemeClr val="tx2"/>
            </a:solidFill>
            <a:prstDash val="dash"/>
            <a:miter lim="800000"/>
          </a:ln>
        </p:spPr>
        <p:style>
          <a:lnRef idx="0">
            <a:schemeClr val="accent1"/>
          </a:lnRef>
          <a:fillRef idx="0">
            <a:srgbClr val="FFFFFF"/>
          </a:fillRef>
          <a:effectRef idx="0">
            <a:srgbClr val="FFFFFF"/>
          </a:effectRef>
          <a:fontRef idx="minor">
            <a:schemeClr val="tx1"/>
          </a:fontRef>
        </p:style>
      </p:cxnSp>
      <p:sp>
        <p:nvSpPr>
          <p:cNvPr id="16" name="椭圆 15"/>
          <p:cNvSpPr/>
          <p:nvPr>
            <p:custDataLst>
              <p:tags r:id="rId10"/>
            </p:custDataLst>
          </p:nvPr>
        </p:nvSpPr>
        <p:spPr>
          <a:xfrm>
            <a:off x="7019925" y="4997450"/>
            <a:ext cx="49213" cy="49213"/>
          </a:xfrm>
          <a:prstGeom prst="ellipse">
            <a:avLst/>
          </a:prstGeom>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9949" name="矩形 16"/>
          <p:cNvSpPr/>
          <p:nvPr>
            <p:custDataLst>
              <p:tags r:id="rId11"/>
            </p:custDataLst>
          </p:nvPr>
        </p:nvSpPr>
        <p:spPr>
          <a:xfrm>
            <a:off x="4932363" y="5046663"/>
            <a:ext cx="4027487" cy="1711325"/>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zh-CN" altLang="en-US" sz="1200" b="1" dirty="0">
                <a:solidFill>
                  <a:srgbClr val="FF0000"/>
                </a:solidFill>
                <a:latin typeface="Arial" panose="020B0604020202020204" pitchFamily="34" charset="0"/>
                <a:sym typeface="+mn-ea"/>
              </a:rPr>
              <a:t>澳大利亚：以用户侧储能为主，提供频率控制辅助服务</a:t>
            </a:r>
            <a:endParaRPr lang="zh-CN" altLang="en-US" sz="1200" b="1" dirty="0">
              <a:solidFill>
                <a:srgbClr val="FF0000"/>
              </a:solidFill>
              <a:latin typeface="Arial" panose="020B0604020202020204" pitchFamily="34" charset="0"/>
              <a:sym typeface="+mn-ea"/>
            </a:endParaRPr>
          </a:p>
          <a:p>
            <a:pPr>
              <a:lnSpc>
                <a:spcPct val="150000"/>
              </a:lnSpc>
              <a:buNone/>
            </a:pPr>
            <a:r>
              <a:rPr lang="zh-CN" altLang="en-US" sz="1200" b="1" dirty="0">
                <a:latin typeface="Arial" panose="020B0604020202020204" pitchFamily="34" charset="0"/>
                <a:sym typeface="+mn-ea"/>
              </a:rPr>
              <a:t>典型实践—澳大利亚能源市场运营商(AEMO)：</a:t>
            </a:r>
            <a:r>
              <a:rPr lang="zh-CN" altLang="en-US" sz="1200" dirty="0">
                <a:latin typeface="Arial" panose="020B0604020202020204" pitchFamily="34" charset="0"/>
                <a:sym typeface="+mn-ea"/>
              </a:rPr>
              <a:t>约有7150个签约用户，规模总计3.1万千瓦，聚合资源以用户侧储能为主，可以参与紧急调频辅助服务市场和电能量市场。2020年2月，南澳电网发生孤岛运行事件，VPP参与紧急频率控制，辅助服务市场收益高达117万澳元以上。</a:t>
            </a:r>
            <a:endParaRPr lang="zh-CN" altLang="en-US" sz="1200" dirty="0">
              <a:latin typeface="Arial" panose="020B0604020202020204" pitchFamily="34" charset="0"/>
              <a:sym typeface="+mn-ea"/>
            </a:endParaRPr>
          </a:p>
        </p:txBody>
      </p:sp>
      <p:sp>
        <p:nvSpPr>
          <p:cNvPr id="39950" name="文本框 8"/>
          <p:cNvSpPr txBox="1"/>
          <p:nvPr/>
        </p:nvSpPr>
        <p:spPr>
          <a:xfrm>
            <a:off x="395288" y="1206500"/>
            <a:ext cx="3757612" cy="368300"/>
          </a:xfrm>
          <a:prstGeom prst="rect">
            <a:avLst/>
          </a:prstGeom>
          <a:noFill/>
          <a:ln w="9525">
            <a:noFill/>
          </a:ln>
        </p:spPr>
        <p:txBody>
          <a:bodyPr>
            <a:spAutoFit/>
          </a:bodyPr>
          <a:p>
            <a:pPr eaLnBrk="1" hangingPunct="1">
              <a:buNone/>
            </a:pPr>
            <a:r>
              <a:rPr lang="en-US" altLang="zh-CN" b="1" dirty="0">
                <a:solidFill>
                  <a:srgbClr val="FF0000"/>
                </a:solidFill>
                <a:latin typeface="Arial" panose="020B0604020202020204" pitchFamily="34" charset="0"/>
                <a:ea typeface="黑体" panose="02010609060101010101" pitchFamily="49" charset="-122"/>
              </a:rPr>
              <a:t>2. 国外虚拟电厂</a:t>
            </a:r>
            <a:r>
              <a:rPr lang="zh-CN" altLang="en-US" b="1" dirty="0">
                <a:solidFill>
                  <a:srgbClr val="FF0000"/>
                </a:solidFill>
                <a:latin typeface="Arial" panose="020B0604020202020204" pitchFamily="34" charset="0"/>
                <a:ea typeface="黑体" panose="02010609060101010101" pitchFamily="49" charset="-122"/>
              </a:rPr>
              <a:t>工程与商业模式</a:t>
            </a:r>
            <a:endParaRPr lang="zh-CN" altLang="en-US" b="1" dirty="0">
              <a:solidFill>
                <a:srgbClr val="FF0000"/>
              </a:solidFill>
              <a:latin typeface="Arial" panose="020B0604020202020204" pitchFamily="34" charset="0"/>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40963" name="Text Box 2"/>
          <p:cNvSpPr/>
          <p:nvPr/>
        </p:nvSpPr>
        <p:spPr>
          <a:xfrm>
            <a:off x="287338" y="228600"/>
            <a:ext cx="4932362"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国外情况</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40964" name="文本框 8"/>
          <p:cNvSpPr txBox="1"/>
          <p:nvPr/>
        </p:nvSpPr>
        <p:spPr>
          <a:xfrm>
            <a:off x="395288" y="1206500"/>
            <a:ext cx="3757612" cy="368300"/>
          </a:xfrm>
          <a:prstGeom prst="rect">
            <a:avLst/>
          </a:prstGeom>
          <a:noFill/>
          <a:ln w="9525">
            <a:noFill/>
          </a:ln>
        </p:spPr>
        <p:txBody>
          <a:bodyPr>
            <a:spAutoFit/>
          </a:bodyPr>
          <a:p>
            <a:pPr eaLnBrk="1" hangingPunct="1">
              <a:buNone/>
            </a:pPr>
            <a:r>
              <a:rPr lang="en-US" altLang="zh-CN" b="1" dirty="0">
                <a:solidFill>
                  <a:srgbClr val="FF0000"/>
                </a:solidFill>
                <a:latin typeface="Arial" panose="020B0604020202020204" pitchFamily="34" charset="0"/>
                <a:ea typeface="黑体" panose="02010609060101010101" pitchFamily="49" charset="-122"/>
              </a:rPr>
              <a:t>2. 国外虚拟电厂</a:t>
            </a:r>
            <a:r>
              <a:rPr lang="zh-CN" altLang="en-US" b="1" dirty="0">
                <a:solidFill>
                  <a:srgbClr val="FF0000"/>
                </a:solidFill>
                <a:latin typeface="Arial" panose="020B0604020202020204" pitchFamily="34" charset="0"/>
                <a:ea typeface="黑体" panose="02010609060101010101" pitchFamily="49" charset="-122"/>
              </a:rPr>
              <a:t>工程与商业模式</a:t>
            </a:r>
            <a:endParaRPr lang="zh-CN" altLang="en-US" b="1" dirty="0">
              <a:solidFill>
                <a:srgbClr val="FF0000"/>
              </a:solidFill>
              <a:latin typeface="Arial" panose="020B0604020202020204" pitchFamily="34" charset="0"/>
              <a:ea typeface="黑体" panose="02010609060101010101" pitchFamily="49" charset="-122"/>
            </a:endParaRPr>
          </a:p>
        </p:txBody>
      </p:sp>
      <p:sp>
        <p:nvSpPr>
          <p:cNvPr id="40965" name="矩形 1"/>
          <p:cNvSpPr/>
          <p:nvPr>
            <p:custDataLst>
              <p:tags r:id="rId1"/>
            </p:custDataLst>
          </p:nvPr>
        </p:nvSpPr>
        <p:spPr>
          <a:xfrm>
            <a:off x="466725" y="1533525"/>
            <a:ext cx="8020050" cy="1406525"/>
          </a:xfrm>
          <a:prstGeom prst="rect">
            <a:avLst/>
          </a:prstGeom>
          <a:noFill/>
          <a:ln w="12700" cap="flat" cmpd="sng">
            <a:solidFill>
              <a:schemeClr val="tx1"/>
            </a:solidFill>
            <a:prstDash val="dash"/>
            <a:miter/>
            <a:headEnd type="none" w="med" len="med"/>
            <a:tailEnd type="none" w="med" len="med"/>
          </a:ln>
        </p:spPr>
        <p:txBody>
          <a:bodyPr anchor="ctr" anchorCtr="0"/>
          <a:p>
            <a:pPr>
              <a:lnSpc>
                <a:spcPct val="150000"/>
              </a:lnSpc>
              <a:buNone/>
            </a:pPr>
            <a:r>
              <a:rPr lang="en-US" altLang="zh-CN" sz="1200" b="1" dirty="0">
                <a:latin typeface="Arial" panose="020B0604020202020204" pitchFamily="34" charset="0"/>
                <a:sym typeface="+mn-ea"/>
              </a:rPr>
              <a:t>      </a:t>
            </a:r>
            <a:r>
              <a:rPr lang="zh-CN" altLang="en-US" sz="1200" dirty="0">
                <a:latin typeface="Arial" panose="020B0604020202020204" pitchFamily="34" charset="0"/>
                <a:sym typeface="+mn-ea"/>
              </a:rPr>
              <a:t>目前国外如NextKraftwerke、Tesla、Sonnen等厂商已进入商业化运营的快车道，其商业模式可以下述维度分析：</a:t>
            </a:r>
            <a:r>
              <a:rPr lang="zh-CN" altLang="en-US" sz="1200" b="1" dirty="0">
                <a:solidFill>
                  <a:srgbClr val="FF0000"/>
                </a:solidFill>
                <a:latin typeface="Arial" panose="020B0604020202020204" pitchFamily="34" charset="0"/>
                <a:sym typeface="+mn-ea"/>
              </a:rPr>
              <a:t>从盈利模式来看</a:t>
            </a:r>
            <a:r>
              <a:rPr lang="zh-CN" altLang="en-US" sz="1200" dirty="0">
                <a:latin typeface="Arial" panose="020B0604020202020204" pitchFamily="34" charset="0"/>
                <a:sym typeface="+mn-ea"/>
              </a:rPr>
              <a:t>，虚拟电厂可通过提供灵活性服务、电价套利，降低调峰成本、负荷平衡成本等运行成本，优化基础设施投资等方式获利。</a:t>
            </a:r>
            <a:r>
              <a:rPr lang="zh-CN" altLang="en-US" sz="1200" b="1" dirty="0">
                <a:solidFill>
                  <a:srgbClr val="FF0000"/>
                </a:solidFill>
                <a:latin typeface="Arial" panose="020B0604020202020204" pitchFamily="34" charset="0"/>
                <a:sym typeface="+mn-ea"/>
              </a:rPr>
              <a:t>从组织实施来看</a:t>
            </a:r>
            <a:r>
              <a:rPr lang="zh-CN" altLang="en-US" sz="1200" dirty="0">
                <a:latin typeface="Arial" panose="020B0604020202020204" pitchFamily="34" charset="0"/>
                <a:sym typeface="+mn-ea"/>
              </a:rPr>
              <a:t>，电网公司、售电企业、发电企业、专业运营商都可以主导运营虚拟电厂。</a:t>
            </a:r>
            <a:r>
              <a:rPr lang="zh-CN" altLang="en-US" sz="1200" b="1" dirty="0">
                <a:solidFill>
                  <a:srgbClr val="FF0000"/>
                </a:solidFill>
                <a:latin typeface="Arial" panose="020B0604020202020204" pitchFamily="34" charset="0"/>
                <a:sym typeface="+mn-ea"/>
              </a:rPr>
              <a:t>从激励模式来看</a:t>
            </a:r>
            <a:r>
              <a:rPr lang="zh-CN" altLang="en-US" sz="1200" dirty="0">
                <a:latin typeface="Arial" panose="020B0604020202020204" pitchFamily="34" charset="0"/>
                <a:sym typeface="+mn-ea"/>
              </a:rPr>
              <a:t>，虚拟电厂运营商为吸引用户接入主要采取包括电价优惠、固定费用、利润分成三种方式。</a:t>
            </a:r>
            <a:r>
              <a:rPr lang="zh-CN" altLang="en-US" sz="1200" b="1" dirty="0">
                <a:solidFill>
                  <a:srgbClr val="FF0000"/>
                </a:solidFill>
                <a:latin typeface="Arial" panose="020B0604020202020204" pitchFamily="34" charset="0"/>
                <a:sym typeface="+mn-ea"/>
              </a:rPr>
              <a:t>从政府监管来看</a:t>
            </a:r>
            <a:r>
              <a:rPr lang="zh-CN" altLang="en-US" sz="1200" dirty="0">
                <a:latin typeface="Arial" panose="020B0604020202020204" pitchFamily="34" charset="0"/>
                <a:sym typeface="+mn-ea"/>
              </a:rPr>
              <a:t>，通过完善的法律条款和清晰的市场规则奠定虚拟电厂运营基础。</a:t>
            </a:r>
            <a:endParaRPr lang="zh-CN" altLang="en-US" sz="1200" dirty="0">
              <a:latin typeface="Arial" panose="020B0604020202020204" pitchFamily="34" charset="0"/>
              <a:sym typeface="+mn-ea"/>
            </a:endParaRPr>
          </a:p>
        </p:txBody>
      </p:sp>
      <p:graphicFrame>
        <p:nvGraphicFramePr>
          <p:cNvPr id="18" name="表格 17"/>
          <p:cNvGraphicFramePr/>
          <p:nvPr/>
        </p:nvGraphicFramePr>
        <p:xfrm>
          <a:off x="3052763" y="2957513"/>
          <a:ext cx="5875020" cy="3857625"/>
        </p:xfrm>
        <a:graphic>
          <a:graphicData uri="http://schemas.openxmlformats.org/drawingml/2006/table">
            <a:tbl>
              <a:tblPr firstRow="1" bandRow="1">
                <a:tableStyleId>{5C22544A-7EE6-4342-B048-85BDC9FD1C3A}</a:tableStyleId>
              </a:tblPr>
              <a:tblGrid>
                <a:gridCol w="1364615"/>
                <a:gridCol w="1492250"/>
                <a:gridCol w="1549400"/>
                <a:gridCol w="1468755"/>
              </a:tblGrid>
              <a:tr h="382905">
                <a:tc>
                  <a:txBody>
                    <a:bodyPr/>
                    <a:lstStyle/>
                    <a:p>
                      <a:pPr algn="ctr">
                        <a:buNone/>
                      </a:pPr>
                      <a:r>
                        <a:rPr lang="zh-CN" altLang="en-US" sz="1400" dirty="0"/>
                        <a:t>激励模式</a:t>
                      </a:r>
                      <a:endParaRPr lang="zh-CN" altLang="en-US" sz="1400" dirty="0"/>
                    </a:p>
                  </a:txBody>
                  <a:tcPr anchor="ctr">
                    <a:solidFill>
                      <a:schemeClr val="tx2"/>
                    </a:solidFill>
                  </a:tcPr>
                </a:tc>
                <a:tc>
                  <a:txBody>
                    <a:bodyPr/>
                    <a:lstStyle/>
                    <a:p>
                      <a:pPr algn="ctr">
                        <a:buNone/>
                      </a:pPr>
                      <a:r>
                        <a:rPr lang="zh-CN" altLang="en-US" sz="1400"/>
                        <a:t>优惠电价模式</a:t>
                      </a:r>
                      <a:endParaRPr lang="zh-CN" altLang="en-US" sz="1400"/>
                    </a:p>
                  </a:txBody>
                  <a:tcPr anchor="ctr">
                    <a:solidFill>
                      <a:schemeClr val="tx2"/>
                    </a:solidFill>
                  </a:tcPr>
                </a:tc>
                <a:tc>
                  <a:txBody>
                    <a:bodyPr/>
                    <a:lstStyle/>
                    <a:p>
                      <a:pPr algn="ctr">
                        <a:buNone/>
                      </a:pPr>
                      <a:r>
                        <a:rPr lang="zh-CN" altLang="en-US" sz="1400" dirty="0"/>
                        <a:t>固定费模式</a:t>
                      </a:r>
                      <a:endParaRPr lang="zh-CN" altLang="en-US" sz="1400" dirty="0"/>
                    </a:p>
                  </a:txBody>
                  <a:tcPr anchor="ctr">
                    <a:solidFill>
                      <a:schemeClr val="tx2"/>
                    </a:solidFill>
                  </a:tcPr>
                </a:tc>
                <a:tc>
                  <a:txBody>
                    <a:bodyPr/>
                    <a:lstStyle/>
                    <a:p>
                      <a:pPr algn="ctr">
                        <a:buNone/>
                      </a:pPr>
                      <a:r>
                        <a:rPr lang="zh-CN" altLang="en-US" sz="1400" dirty="0"/>
                        <a:t>利润分成模式</a:t>
                      </a:r>
                      <a:endParaRPr lang="zh-CN" altLang="en-US" sz="1400" dirty="0"/>
                    </a:p>
                  </a:txBody>
                  <a:tcPr anchor="ctr">
                    <a:solidFill>
                      <a:schemeClr val="tx2"/>
                    </a:solidFill>
                  </a:tcPr>
                </a:tc>
              </a:tr>
              <a:tr h="860425">
                <a:tc>
                  <a:txBody>
                    <a:bodyPr/>
                    <a:lstStyle/>
                    <a:p>
                      <a:pPr algn="ctr">
                        <a:buClrTx/>
                        <a:buSzTx/>
                        <a:buFontTx/>
                        <a:buNone/>
                      </a:pPr>
                      <a:r>
                        <a:rPr lang="zh-CN" altLang="en-US" sz="1400" b="1">
                          <a:solidFill>
                            <a:schemeClr val="lt1"/>
                          </a:solidFill>
                        </a:rPr>
                        <a:t>简介</a:t>
                      </a:r>
                      <a:endParaRPr lang="zh-CN" altLang="en-US" sz="1400" b="1">
                        <a:solidFill>
                          <a:schemeClr val="lt1"/>
                        </a:solidFill>
                      </a:endParaRPr>
                    </a:p>
                  </a:txBody>
                  <a:tcPr anchor="ctr">
                    <a:solidFill>
                      <a:schemeClr val="tx2"/>
                    </a:solidFill>
                  </a:tcPr>
                </a:tc>
                <a:tc>
                  <a:txBody>
                    <a:bodyPr/>
                    <a:lstStyle/>
                    <a:p>
                      <a:pPr algn="l">
                        <a:buClrTx/>
                        <a:buSzTx/>
                        <a:buFontTx/>
                        <a:buNone/>
                      </a:pPr>
                      <a:r>
                        <a:rPr lang="zh-CN" altLang="en-US" sz="1000"/>
                        <a:t>给予用户电费账单打折或者为分布式电源提供较高的固定上网电价，以换取用户设备的控制使用权</a:t>
                      </a:r>
                      <a:endParaRPr lang="zh-CN" altLang="en-US" sz="1000"/>
                    </a:p>
                  </a:txBody>
                  <a:tcPr anchor="ctr">
                    <a:solidFill>
                      <a:schemeClr val="tx1">
                        <a:lumMod val="10000"/>
                        <a:lumOff val="90000"/>
                      </a:schemeClr>
                    </a:solidFill>
                  </a:tcPr>
                </a:tc>
                <a:tc>
                  <a:txBody>
                    <a:bodyPr/>
                    <a:lstStyle/>
                    <a:p>
                      <a:pPr algn="l">
                        <a:buClrTx/>
                        <a:buSzTx/>
                        <a:buFontTx/>
                        <a:buNone/>
                      </a:pPr>
                      <a:r>
                        <a:rPr lang="zh-CN" altLang="en-US" sz="1000"/>
                        <a:t>即类似于固定月租形式对参与虚拟电厂的用户予以补贴来换取用户设备的介入权</a:t>
                      </a:r>
                      <a:endParaRPr lang="zh-CN" altLang="en-US" sz="1000"/>
                    </a:p>
                  </a:txBody>
                  <a:tcPr anchor="ctr">
                    <a:solidFill>
                      <a:schemeClr val="tx1">
                        <a:lumMod val="10000"/>
                        <a:lumOff val="90000"/>
                      </a:schemeClr>
                    </a:solidFill>
                  </a:tcPr>
                </a:tc>
                <a:tc>
                  <a:txBody>
                    <a:bodyPr/>
                    <a:lstStyle/>
                    <a:p>
                      <a:pPr algn="l">
                        <a:buClrTx/>
                        <a:buSzTx/>
                        <a:buFontTx/>
                        <a:buNone/>
                      </a:pPr>
                      <a:r>
                        <a:rPr lang="zh-CN" altLang="en-US" sz="1000" dirty="0"/>
                        <a:t>运营商与用户按照约定比例共享虚拟电厂参与电力系统运行调节的总利润</a:t>
                      </a:r>
                      <a:endParaRPr lang="zh-CN" altLang="en-US" sz="1000" dirty="0"/>
                    </a:p>
                  </a:txBody>
                  <a:tcPr anchor="ctr">
                    <a:solidFill>
                      <a:schemeClr val="tx1">
                        <a:lumMod val="10000"/>
                        <a:lumOff val="90000"/>
                      </a:schemeClr>
                    </a:solidFill>
                  </a:tcPr>
                </a:tc>
              </a:tr>
              <a:tr h="861060">
                <a:tc>
                  <a:txBody>
                    <a:bodyPr/>
                    <a:lstStyle/>
                    <a:p>
                      <a:pPr algn="ctr">
                        <a:buClrTx/>
                        <a:buSzTx/>
                        <a:buFontTx/>
                        <a:buNone/>
                      </a:pPr>
                      <a:r>
                        <a:rPr lang="zh-CN" altLang="en-US" sz="1400" b="1">
                          <a:solidFill>
                            <a:schemeClr val="lt1"/>
                          </a:solidFill>
                        </a:rPr>
                        <a:t>优点</a:t>
                      </a:r>
                      <a:endParaRPr lang="zh-CN" altLang="en-US" sz="1400" b="1">
                        <a:solidFill>
                          <a:schemeClr val="lt1"/>
                        </a:solidFill>
                      </a:endParaRPr>
                    </a:p>
                  </a:txBody>
                  <a:tcPr anchor="ctr">
                    <a:solidFill>
                      <a:schemeClr val="tx2"/>
                    </a:solidFill>
                  </a:tcPr>
                </a:tc>
                <a:tc>
                  <a:txBody>
                    <a:bodyPr/>
                    <a:lstStyle/>
                    <a:p>
                      <a:pPr algn="l">
                        <a:buClrTx/>
                        <a:buSzTx/>
                        <a:buFontTx/>
                        <a:buNone/>
                      </a:pPr>
                      <a:r>
                        <a:rPr lang="zh-CN" altLang="en-US" sz="1000"/>
                        <a:t>可与售电业务、分布式电源运营业务捆绑开展，便于推广VPP业务</a:t>
                      </a:r>
                      <a:endParaRPr lang="zh-CN" altLang="en-US" sz="1000"/>
                    </a:p>
                  </a:txBody>
                  <a:tcPr anchor="ctr">
                    <a:solidFill>
                      <a:schemeClr val="bg1">
                        <a:lumMod val="95000"/>
                      </a:schemeClr>
                    </a:solidFill>
                  </a:tcPr>
                </a:tc>
                <a:tc>
                  <a:txBody>
                    <a:bodyPr/>
                    <a:lstStyle/>
                    <a:p>
                      <a:pPr>
                        <a:buNone/>
                      </a:pPr>
                      <a:r>
                        <a:rPr lang="zh-CN" altLang="en-US" sz="1000" dirty="0"/>
                        <a:t>虚拟电厂运营商与用户的结算关系简单，且用户收入有保障。</a:t>
                      </a:r>
                      <a:endParaRPr lang="zh-CN" altLang="en-US" sz="1000" dirty="0"/>
                    </a:p>
                  </a:txBody>
                  <a:tcPr anchor="ctr">
                    <a:solidFill>
                      <a:schemeClr val="bg1">
                        <a:lumMod val="95000"/>
                      </a:schemeClr>
                    </a:solidFill>
                  </a:tcPr>
                </a:tc>
                <a:tc>
                  <a:txBody>
                    <a:bodyPr/>
                    <a:lstStyle/>
                    <a:p>
                      <a:pPr algn="l">
                        <a:buClrTx/>
                        <a:buSzTx/>
                        <a:buFontTx/>
                        <a:buNone/>
                      </a:pPr>
                      <a:r>
                        <a:rPr lang="zh-CN" altLang="en-US" sz="1000" dirty="0"/>
                        <a:t>虚拟电厂运营商因为没有向用户提供固定激励，所以在市场反转的情况下可节省成本</a:t>
                      </a:r>
                      <a:endParaRPr lang="zh-CN" altLang="en-US" sz="1000" dirty="0"/>
                    </a:p>
                  </a:txBody>
                  <a:tcPr anchor="ctr">
                    <a:solidFill>
                      <a:schemeClr val="bg1">
                        <a:lumMod val="95000"/>
                      </a:schemeClr>
                    </a:solidFill>
                  </a:tcPr>
                </a:tc>
              </a:tr>
              <a:tr h="701040">
                <a:tc>
                  <a:txBody>
                    <a:bodyPr/>
                    <a:lstStyle/>
                    <a:p>
                      <a:pPr algn="ctr">
                        <a:buClrTx/>
                        <a:buSzTx/>
                        <a:buFontTx/>
                        <a:buNone/>
                      </a:pPr>
                      <a:r>
                        <a:rPr lang="zh-CN" altLang="en-US" sz="1400" b="1">
                          <a:solidFill>
                            <a:schemeClr val="lt1"/>
                          </a:solidFill>
                        </a:rPr>
                        <a:t>劣势</a:t>
                      </a:r>
                      <a:endParaRPr lang="zh-CN" altLang="en-US" sz="1400" b="1">
                        <a:solidFill>
                          <a:schemeClr val="lt1"/>
                        </a:solidFill>
                      </a:endParaRPr>
                    </a:p>
                  </a:txBody>
                  <a:tcPr anchor="ctr">
                    <a:solidFill>
                      <a:schemeClr val="tx2"/>
                    </a:solidFill>
                  </a:tcPr>
                </a:tc>
                <a:tc>
                  <a:txBody>
                    <a:bodyPr/>
                    <a:lstStyle/>
                    <a:p>
                      <a:pPr>
                        <a:buNone/>
                      </a:pPr>
                      <a:r>
                        <a:rPr lang="zh-CN" altLang="en-US" sz="1000">
                          <a:sym typeface="+mn-ea"/>
                        </a:rPr>
                        <a:t>应用范围受限，虚拟电厂与用户需有虚拟电厂以外的业务，才能采用此模式</a:t>
                      </a:r>
                      <a:endParaRPr lang="zh-CN" altLang="en-US" sz="1000">
                        <a:sym typeface="+mn-ea"/>
                      </a:endParaRPr>
                    </a:p>
                  </a:txBody>
                  <a:tcPr anchor="ctr">
                    <a:solidFill>
                      <a:schemeClr val="tx1">
                        <a:lumMod val="10000"/>
                        <a:lumOff val="90000"/>
                      </a:schemeClr>
                    </a:solidFill>
                  </a:tcPr>
                </a:tc>
                <a:tc>
                  <a:txBody>
                    <a:bodyPr/>
                    <a:lstStyle/>
                    <a:p>
                      <a:pPr algn="l">
                        <a:buClrTx/>
                        <a:buSzTx/>
                        <a:buFontTx/>
                        <a:buNone/>
                      </a:pPr>
                      <a:r>
                        <a:rPr lang="zh-CN" altLang="en-US" sz="1000">
                          <a:sym typeface="+mn-ea"/>
                        </a:rPr>
                        <a:t>固定费模式下对提升用户的积极性作用有限。同时VPP运营商承担主要风险</a:t>
                      </a:r>
                      <a:endParaRPr lang="zh-CN" altLang="en-US" sz="1000">
                        <a:sym typeface="+mn-ea"/>
                      </a:endParaRPr>
                    </a:p>
                  </a:txBody>
                  <a:tcPr anchor="ctr">
                    <a:solidFill>
                      <a:schemeClr val="tx1">
                        <a:lumMod val="10000"/>
                        <a:lumOff val="90000"/>
                      </a:schemeClr>
                    </a:solidFill>
                  </a:tcPr>
                </a:tc>
                <a:tc>
                  <a:txBody>
                    <a:bodyPr/>
                    <a:lstStyle/>
                    <a:p>
                      <a:pPr algn="l">
                        <a:buClrTx/>
                        <a:buSzTx/>
                        <a:buFontTx/>
                        <a:buNone/>
                      </a:pPr>
                      <a:r>
                        <a:rPr lang="zh-CN" altLang="en-US" sz="1000" dirty="0">
                          <a:sym typeface="+mn-ea"/>
                        </a:rPr>
                        <a:t>用户承担更高的风险，其收益与VPP平台收益挂钩</a:t>
                      </a:r>
                      <a:endParaRPr lang="zh-CN" altLang="en-US" sz="1000" dirty="0"/>
                    </a:p>
                    <a:p>
                      <a:pPr algn="l">
                        <a:buClrTx/>
                        <a:buSzTx/>
                        <a:buFontTx/>
                        <a:buNone/>
                      </a:pPr>
                      <a:endParaRPr lang="zh-CN" altLang="en-US" sz="1000" dirty="0"/>
                    </a:p>
                  </a:txBody>
                  <a:tcPr anchor="ctr">
                    <a:solidFill>
                      <a:schemeClr val="tx1">
                        <a:lumMod val="10000"/>
                        <a:lumOff val="90000"/>
                      </a:schemeClr>
                    </a:solidFill>
                  </a:tcPr>
                </a:tc>
              </a:tr>
              <a:tr h="1052195">
                <a:tc>
                  <a:txBody>
                    <a:bodyPr/>
                    <a:lstStyle/>
                    <a:p>
                      <a:pPr algn="ctr">
                        <a:buClrTx/>
                        <a:buSzTx/>
                        <a:buFontTx/>
                        <a:buNone/>
                      </a:pPr>
                      <a:r>
                        <a:rPr lang="zh-CN" altLang="en-US" sz="1400" b="1" dirty="0">
                          <a:solidFill>
                            <a:schemeClr val="lt1"/>
                          </a:solidFill>
                        </a:rPr>
                        <a:t>应用举例</a:t>
                      </a:r>
                      <a:endParaRPr lang="zh-CN" altLang="en-US" sz="1400" b="1" dirty="0">
                        <a:solidFill>
                          <a:schemeClr val="lt1"/>
                        </a:solidFill>
                      </a:endParaRPr>
                    </a:p>
                  </a:txBody>
                  <a:tcPr anchor="ctr">
                    <a:solidFill>
                      <a:schemeClr val="tx2"/>
                    </a:solidFill>
                  </a:tcPr>
                </a:tc>
                <a:tc>
                  <a:txBody>
                    <a:bodyPr/>
                    <a:lstStyle/>
                    <a:p>
                      <a:pPr algn="l">
                        <a:buClrTx/>
                        <a:buSzTx/>
                        <a:buFontTx/>
                        <a:buNone/>
                      </a:pPr>
                      <a:r>
                        <a:rPr lang="zh-CN" altLang="en-US" sz="1000" dirty="0"/>
                        <a:t>DIS</a:t>
                      </a:r>
                      <a:r>
                        <a:rPr lang="en-US" altLang="zh-CN" sz="1000" dirty="0"/>
                        <a:t>CO</a:t>
                      </a:r>
                      <a:r>
                        <a:rPr lang="zh-CN" altLang="en-US" sz="1000" dirty="0"/>
                        <a:t>VERENERGY公司：吸引零售客户以固定上网电价和电费打折的形式加入虚拟电厂平台</a:t>
                      </a:r>
                      <a:endParaRPr lang="zh-CN" altLang="en-US" sz="1000" dirty="0"/>
                    </a:p>
                  </a:txBody>
                  <a:tcPr anchor="ctr">
                    <a:solidFill>
                      <a:schemeClr val="bg1">
                        <a:lumMod val="95000"/>
                      </a:schemeClr>
                    </a:solidFill>
                  </a:tcPr>
                </a:tc>
                <a:tc>
                  <a:txBody>
                    <a:bodyPr/>
                    <a:lstStyle/>
                    <a:p>
                      <a:pPr algn="l">
                        <a:buClrTx/>
                        <a:buSzTx/>
                        <a:buFontTx/>
                        <a:buNone/>
                      </a:pPr>
                      <a:r>
                        <a:rPr lang="zh-CN" altLang="en-US" sz="1000" dirty="0">
                          <a:sym typeface="+mn-ea"/>
                        </a:rPr>
                        <a:t>ROCKY MOUNTAIN POWER公司：向Vermont地区的零售客户每月支付15美元以将其储能电池接入</a:t>
                      </a:r>
                      <a:endParaRPr lang="zh-CN" altLang="en-US" sz="1000" dirty="0">
                        <a:sym typeface="+mn-ea"/>
                      </a:endParaRPr>
                    </a:p>
                  </a:txBody>
                  <a:tcPr anchor="ctr">
                    <a:solidFill>
                      <a:schemeClr val="bg1">
                        <a:lumMod val="95000"/>
                      </a:schemeClr>
                    </a:solidFill>
                  </a:tcPr>
                </a:tc>
                <a:tc>
                  <a:txBody>
                    <a:bodyPr/>
                    <a:lstStyle/>
                    <a:p>
                      <a:pPr algn="l">
                        <a:buClrTx/>
                        <a:buSzTx/>
                        <a:buFontTx/>
                        <a:buNone/>
                      </a:pPr>
                      <a:r>
                        <a:rPr lang="zh-CN" altLang="en-US" sz="1000" dirty="0">
                          <a:sym typeface="+mn-ea"/>
                        </a:rPr>
                        <a:t>Next公司：与用户分享参与电网平衡市场竞标的利润</a:t>
                      </a:r>
                      <a:endParaRPr lang="zh-CN" altLang="en-US" sz="1000" dirty="0">
                        <a:sym typeface="+mn-ea"/>
                      </a:endParaRPr>
                    </a:p>
                  </a:txBody>
                  <a:tcPr anchor="ctr">
                    <a:solidFill>
                      <a:schemeClr val="bg1">
                        <a:lumMod val="95000"/>
                      </a:schemeClr>
                    </a:solidFill>
                  </a:tcPr>
                </a:tc>
              </a:tr>
            </a:tbl>
          </a:graphicData>
        </a:graphic>
      </p:graphicFrame>
      <p:grpSp>
        <p:nvGrpSpPr>
          <p:cNvPr id="40998" name="组合 2"/>
          <p:cNvGrpSpPr/>
          <p:nvPr/>
        </p:nvGrpSpPr>
        <p:grpSpPr>
          <a:xfrm>
            <a:off x="163513" y="3789363"/>
            <a:ext cx="2830512" cy="2263753"/>
            <a:chOff x="324485" y="2983230"/>
            <a:chExt cx="3663490" cy="2922450"/>
          </a:xfrm>
        </p:grpSpPr>
        <p:pic>
          <p:nvPicPr>
            <p:cNvPr id="40999" name="图片 5"/>
            <p:cNvPicPr>
              <a:picLocks noChangeAspect="1"/>
            </p:cNvPicPr>
            <p:nvPr/>
          </p:nvPicPr>
          <p:blipFill>
            <a:blip r:embed="rId2">
              <a:clrChange>
                <a:clrFrom>
                  <a:srgbClr val="FFFFFF"/>
                </a:clrFrom>
                <a:clrTo>
                  <a:srgbClr val="FFFFFF">
                    <a:alpha val="0"/>
                  </a:srgbClr>
                </a:clrTo>
              </a:clrChange>
            </a:blip>
            <a:stretch>
              <a:fillRect/>
            </a:stretch>
          </p:blipFill>
          <p:spPr>
            <a:xfrm>
              <a:off x="560070" y="3124200"/>
              <a:ext cx="1019810" cy="586740"/>
            </a:xfrm>
            <a:prstGeom prst="rect">
              <a:avLst/>
            </a:prstGeom>
            <a:noFill/>
            <a:ln w="9525">
              <a:noFill/>
            </a:ln>
          </p:spPr>
        </p:pic>
        <p:pic>
          <p:nvPicPr>
            <p:cNvPr id="41000" name="图片 100"/>
            <p:cNvPicPr>
              <a:picLocks noChangeAspect="1"/>
            </p:cNvPicPr>
            <p:nvPr/>
          </p:nvPicPr>
          <p:blipFill>
            <a:blip r:embed="rId3">
              <a:clrChange>
                <a:clrFrom>
                  <a:srgbClr val="FFFFFF"/>
                </a:clrFrom>
                <a:clrTo>
                  <a:srgbClr val="FFFFFF">
                    <a:alpha val="0"/>
                  </a:srgbClr>
                </a:clrTo>
              </a:clrChange>
            </a:blip>
            <a:stretch>
              <a:fillRect/>
            </a:stretch>
          </p:blipFill>
          <p:spPr>
            <a:xfrm>
              <a:off x="2489200" y="2983230"/>
              <a:ext cx="952500" cy="952500"/>
            </a:xfrm>
            <a:prstGeom prst="rect">
              <a:avLst/>
            </a:prstGeom>
            <a:noFill/>
            <a:ln w="9525">
              <a:noFill/>
            </a:ln>
          </p:spPr>
        </p:pic>
        <p:pic>
          <p:nvPicPr>
            <p:cNvPr id="41001" name="图片 102"/>
            <p:cNvPicPr>
              <a:picLocks noChangeAspect="1"/>
            </p:cNvPicPr>
            <p:nvPr/>
          </p:nvPicPr>
          <p:blipFill>
            <a:blip r:embed="rId4"/>
            <a:stretch>
              <a:fillRect/>
            </a:stretch>
          </p:blipFill>
          <p:spPr>
            <a:xfrm>
              <a:off x="324485" y="4399280"/>
              <a:ext cx="866140" cy="774700"/>
            </a:xfrm>
            <a:prstGeom prst="rect">
              <a:avLst/>
            </a:prstGeom>
            <a:noFill/>
            <a:ln w="9525">
              <a:noFill/>
            </a:ln>
          </p:spPr>
        </p:pic>
        <p:pic>
          <p:nvPicPr>
            <p:cNvPr id="41002" name="图片 103"/>
            <p:cNvPicPr>
              <a:picLocks noChangeAspect="1"/>
            </p:cNvPicPr>
            <p:nvPr/>
          </p:nvPicPr>
          <p:blipFill>
            <a:blip r:embed="rId5">
              <a:clrChange>
                <a:clrFrom>
                  <a:srgbClr val="FFFFFF"/>
                </a:clrFrom>
                <a:clrTo>
                  <a:srgbClr val="FFFFFF">
                    <a:alpha val="0"/>
                  </a:srgbClr>
                </a:clrTo>
              </a:clrChange>
            </a:blip>
            <a:stretch>
              <a:fillRect/>
            </a:stretch>
          </p:blipFill>
          <p:spPr>
            <a:xfrm>
              <a:off x="1680210" y="3935730"/>
              <a:ext cx="1410970" cy="857250"/>
            </a:xfrm>
            <a:prstGeom prst="rect">
              <a:avLst/>
            </a:prstGeom>
            <a:noFill/>
            <a:ln w="9525">
              <a:noFill/>
            </a:ln>
          </p:spPr>
        </p:pic>
        <p:pic>
          <p:nvPicPr>
            <p:cNvPr id="41003" name="图片 104"/>
            <p:cNvPicPr>
              <a:picLocks noChangeAspect="1"/>
            </p:cNvPicPr>
            <p:nvPr/>
          </p:nvPicPr>
          <p:blipFill>
            <a:blip r:embed="rId6">
              <a:clrChange>
                <a:clrFrom>
                  <a:srgbClr val="FFFFFF"/>
                </a:clrFrom>
                <a:clrTo>
                  <a:srgbClr val="FFFFFF">
                    <a:alpha val="0"/>
                  </a:srgbClr>
                </a:clrTo>
              </a:clrChange>
            </a:blip>
            <a:stretch>
              <a:fillRect/>
            </a:stretch>
          </p:blipFill>
          <p:spPr>
            <a:xfrm>
              <a:off x="2122805" y="4945380"/>
              <a:ext cx="1318895" cy="320675"/>
            </a:xfrm>
            <a:prstGeom prst="rect">
              <a:avLst/>
            </a:prstGeom>
            <a:noFill/>
            <a:ln w="9525">
              <a:noFill/>
            </a:ln>
          </p:spPr>
        </p:pic>
        <p:sp>
          <p:nvSpPr>
            <p:cNvPr id="41004" name="文本框 6"/>
            <p:cNvSpPr txBox="1"/>
            <p:nvPr/>
          </p:nvSpPr>
          <p:spPr>
            <a:xfrm>
              <a:off x="581835" y="5549900"/>
              <a:ext cx="3406140" cy="355780"/>
            </a:xfrm>
            <a:prstGeom prst="rect">
              <a:avLst/>
            </a:prstGeom>
            <a:noFill/>
            <a:ln w="9525">
              <a:noFill/>
            </a:ln>
          </p:spPr>
          <p:txBody>
            <a:bodyPr>
              <a:spAutoFit/>
            </a:bodyPr>
            <a:p>
              <a:pPr>
                <a:buNone/>
              </a:pPr>
              <a:r>
                <a:rPr lang="zh-CN" altLang="en-US" sz="1200" dirty="0">
                  <a:latin typeface="Arial" panose="020B0604020202020204" pitchFamily="34" charset="0"/>
                </a:rPr>
                <a:t>国外从事虚拟电厂业务的典型厂商</a:t>
              </a:r>
              <a:endParaRPr lang="zh-CN" altLang="en-US" sz="1200" dirty="0">
                <a:latin typeface="Arial" panose="020B0604020202020204" pitchFamily="34"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Line 8"/>
          <p:cNvSpPr/>
          <p:nvPr/>
        </p:nvSpPr>
        <p:spPr>
          <a:xfrm>
            <a:off x="11113" y="869950"/>
            <a:ext cx="8737600" cy="14288"/>
          </a:xfrm>
          <a:prstGeom prst="line">
            <a:avLst/>
          </a:prstGeom>
          <a:ln w="57150" cap="flat" cmpd="sng">
            <a:solidFill>
              <a:srgbClr val="0033CC"/>
            </a:solidFill>
            <a:prstDash val="solid"/>
            <a:bevel/>
            <a:headEnd type="none" w="med" len="med"/>
            <a:tailEnd type="none" w="med" len="med"/>
          </a:ln>
        </p:spPr>
      </p:sp>
      <p:sp>
        <p:nvSpPr>
          <p:cNvPr id="41987" name="Text Box 2"/>
          <p:cNvSpPr/>
          <p:nvPr/>
        </p:nvSpPr>
        <p:spPr>
          <a:xfrm>
            <a:off x="182563" y="114300"/>
            <a:ext cx="45720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国内外情况差异</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graphicFrame>
        <p:nvGraphicFramePr>
          <p:cNvPr id="2" name="表格 1"/>
          <p:cNvGraphicFramePr/>
          <p:nvPr/>
        </p:nvGraphicFramePr>
        <p:xfrm>
          <a:off x="295275" y="1638300"/>
          <a:ext cx="8580120" cy="5077460"/>
        </p:xfrm>
        <a:graphic>
          <a:graphicData uri="http://schemas.openxmlformats.org/drawingml/2006/table">
            <a:tbl>
              <a:tblPr firstRow="1" bandRow="1">
                <a:tableStyleId>{5C22544A-7EE6-4342-B048-85BDC9FD1C3A}</a:tableStyleId>
              </a:tblPr>
              <a:tblGrid>
                <a:gridCol w="1601470"/>
                <a:gridCol w="3345815"/>
                <a:gridCol w="3632835"/>
              </a:tblGrid>
              <a:tr h="1043940">
                <a:tc>
                  <a:txBody>
                    <a:bodyPr/>
                    <a:lstStyle/>
                    <a:p>
                      <a:pPr>
                        <a:buNone/>
                      </a:pPr>
                      <a:r>
                        <a:rPr lang="en-US" altLang="zh-CN" sz="1800" dirty="0">
                          <a:ea typeface="Kaiti SC"/>
                          <a:sym typeface="+mn-ea"/>
                        </a:rPr>
                        <a:t>          </a:t>
                      </a:r>
                      <a:r>
                        <a:rPr lang="zh-CN" altLang="en-US" sz="1800" dirty="0">
                          <a:ea typeface="Kaiti SC"/>
                          <a:sym typeface="+mn-ea"/>
                        </a:rPr>
                        <a:t>国内外</a:t>
                      </a:r>
                      <a:endParaRPr lang="zh-CN" altLang="en-US" sz="1800" dirty="0">
                        <a:ea typeface="Kaiti SC"/>
                      </a:endParaRPr>
                    </a:p>
                    <a:p>
                      <a:pPr>
                        <a:buNone/>
                      </a:pPr>
                      <a:endParaRPr lang="zh-CN" altLang="en-US" dirty="0">
                        <a:ea typeface="Kaiti SC"/>
                      </a:endParaRPr>
                    </a:p>
                    <a:p>
                      <a:pPr>
                        <a:buNone/>
                      </a:pPr>
                      <a:r>
                        <a:rPr lang="zh-CN" altLang="en-US" dirty="0">
                          <a:ea typeface="Kaiti SC"/>
                        </a:rPr>
                        <a:t>对比项</a:t>
                      </a:r>
                      <a:endParaRPr lang="zh-CN" altLang="en-US" dirty="0">
                        <a:ea typeface="Kaiti SC"/>
                      </a:endParaRPr>
                    </a:p>
                  </a:txBody>
                  <a:tcPr anchor="ctr">
                    <a:lnTlToBr w="6350">
                      <a:solidFill>
                        <a:schemeClr val="tx1"/>
                      </a:solidFill>
                      <a:prstDash val="solid"/>
                    </a:lnTlToBr>
                    <a:solidFill>
                      <a:schemeClr val="tx2"/>
                    </a:solidFill>
                  </a:tcPr>
                </a:tc>
                <a:tc>
                  <a:txBody>
                    <a:bodyPr/>
                    <a:lstStyle/>
                    <a:p>
                      <a:pPr algn="ctr">
                        <a:buNone/>
                      </a:pPr>
                      <a:r>
                        <a:rPr lang="zh-CN" altLang="en-US" dirty="0">
                          <a:ea typeface="Kaiti SC"/>
                        </a:rPr>
                        <a:t>国外</a:t>
                      </a:r>
                      <a:endParaRPr lang="zh-CN" altLang="en-US" dirty="0">
                        <a:ea typeface="Kaiti SC"/>
                      </a:endParaRPr>
                    </a:p>
                  </a:txBody>
                  <a:tcPr anchor="ctr">
                    <a:solidFill>
                      <a:schemeClr val="tx2"/>
                    </a:solidFill>
                  </a:tcPr>
                </a:tc>
                <a:tc>
                  <a:txBody>
                    <a:bodyPr/>
                    <a:lstStyle/>
                    <a:p>
                      <a:pPr algn="ctr">
                        <a:buNone/>
                      </a:pPr>
                      <a:r>
                        <a:rPr lang="zh-CN" altLang="en-US" dirty="0">
                          <a:ea typeface="Kaiti SC"/>
                        </a:rPr>
                        <a:t>国内</a:t>
                      </a:r>
                      <a:endParaRPr lang="zh-CN" altLang="en-US" dirty="0">
                        <a:ea typeface="Kaiti SC"/>
                      </a:endParaRPr>
                    </a:p>
                  </a:txBody>
                  <a:tcPr anchor="ctr">
                    <a:solidFill>
                      <a:schemeClr val="tx2"/>
                    </a:solidFill>
                  </a:tcPr>
                </a:tc>
              </a:tr>
              <a:tr h="1313815">
                <a:tc>
                  <a:txBody>
                    <a:bodyPr/>
                    <a:lstStyle/>
                    <a:p>
                      <a:pPr algn="ctr">
                        <a:buClrTx/>
                        <a:buSzTx/>
                        <a:buFontTx/>
                        <a:buNone/>
                      </a:pPr>
                      <a:endParaRPr lang="zh-CN" altLang="en-US" b="1" dirty="0">
                        <a:solidFill>
                          <a:schemeClr val="lt1"/>
                        </a:solidFill>
                        <a:ea typeface="Kaiti SC"/>
                      </a:endParaRPr>
                    </a:p>
                    <a:p>
                      <a:pPr algn="ctr">
                        <a:buClrTx/>
                        <a:buSzTx/>
                        <a:buFontTx/>
                        <a:buNone/>
                      </a:pPr>
                      <a:r>
                        <a:rPr lang="zh-CN" altLang="en-US" b="1" dirty="0">
                          <a:solidFill>
                            <a:schemeClr val="lt1"/>
                          </a:solidFill>
                          <a:ea typeface="Kaiti SC"/>
                        </a:rPr>
                        <a:t>聚合资源类型</a:t>
                      </a:r>
                      <a:endParaRPr lang="zh-CN" altLang="en-US" b="1" dirty="0">
                        <a:solidFill>
                          <a:schemeClr val="lt1"/>
                        </a:solidFill>
                        <a:ea typeface="Kaiti SC"/>
                      </a:endParaRPr>
                    </a:p>
                    <a:p>
                      <a:pPr algn="ctr">
                        <a:buClrTx/>
                        <a:buSzTx/>
                        <a:buFontTx/>
                        <a:buNone/>
                      </a:pPr>
                      <a:endParaRPr lang="zh-CN" altLang="en-US" b="1" dirty="0">
                        <a:solidFill>
                          <a:schemeClr val="lt1"/>
                        </a:solidFill>
                        <a:ea typeface="Kaiti SC"/>
                      </a:endParaRPr>
                    </a:p>
                  </a:txBody>
                  <a:tcPr anchor="ctr">
                    <a:solidFill>
                      <a:schemeClr val="tx2"/>
                    </a:solidFill>
                  </a:tcPr>
                </a:tc>
                <a:tc>
                  <a:txBody>
                    <a:bodyPr/>
                    <a:lstStyle/>
                    <a:p>
                      <a:pPr indent="0" algn="l">
                        <a:buClrTx/>
                        <a:buSzTx/>
                        <a:buNone/>
                      </a:pPr>
                      <a:r>
                        <a:rPr lang="zh-CN" altLang="en-US" sz="1600" b="1" dirty="0">
                          <a:ea typeface="Kaiti SC"/>
                        </a:rPr>
                        <a:t>聚合资源类型丰富，包括源侧、荷测及储能等各类资源</a:t>
                      </a:r>
                      <a:r>
                        <a:rPr lang="zh-CN" altLang="en-US" sz="1600" dirty="0">
                          <a:ea typeface="Kaiti SC"/>
                        </a:rPr>
                        <a:t>，尤其欧洲以分布式可再生能源为主，负荷侧资源类型占比较小。</a:t>
                      </a:r>
                      <a:endParaRPr lang="zh-CN" altLang="en-US" sz="1600" dirty="0">
                        <a:ea typeface="Kaiti SC"/>
                      </a:endParaRPr>
                    </a:p>
                  </a:txBody>
                  <a:tcPr anchor="ctr">
                    <a:solidFill>
                      <a:schemeClr val="tx1">
                        <a:lumMod val="10000"/>
                        <a:lumOff val="90000"/>
                      </a:schemeClr>
                    </a:solidFill>
                  </a:tcPr>
                </a:tc>
                <a:tc>
                  <a:txBody>
                    <a:bodyPr/>
                    <a:lstStyle/>
                    <a:p>
                      <a:pPr indent="0" algn="l">
                        <a:buClrTx/>
                        <a:buSzTx/>
                        <a:buFont typeface="Wingdings" panose="05000000000000000000" charset="0"/>
                        <a:buNone/>
                      </a:pPr>
                      <a:r>
                        <a:rPr lang="zh-CN" altLang="en-US" sz="1600" dirty="0">
                          <a:ea typeface="Kaiti SC"/>
                        </a:rPr>
                        <a:t>以</a:t>
                      </a:r>
                      <a:r>
                        <a:rPr lang="zh-CN" altLang="en-US" sz="1600" b="1" dirty="0">
                          <a:ea typeface="Kaiti SC"/>
                        </a:rPr>
                        <a:t>负荷侧资源</a:t>
                      </a:r>
                      <a:r>
                        <a:rPr lang="zh-CN" altLang="en-US" sz="1600" dirty="0">
                          <a:ea typeface="Kaiti SC"/>
                        </a:rPr>
                        <a:t>调节为主。</a:t>
                      </a:r>
                      <a:endParaRPr lang="zh-CN" altLang="en-US" sz="1600" dirty="0">
                        <a:ea typeface="Kaiti SC"/>
                      </a:endParaRPr>
                    </a:p>
                  </a:txBody>
                  <a:tcPr anchor="ctr">
                    <a:solidFill>
                      <a:schemeClr val="tx1">
                        <a:lumMod val="10000"/>
                        <a:lumOff val="90000"/>
                      </a:schemeClr>
                    </a:solidFill>
                  </a:tcPr>
                </a:tc>
              </a:tr>
              <a:tr h="1223645">
                <a:tc>
                  <a:txBody>
                    <a:bodyPr/>
                    <a:lstStyle/>
                    <a:p>
                      <a:pPr algn="ctr">
                        <a:buClrTx/>
                        <a:buSzTx/>
                        <a:buFontTx/>
                        <a:buNone/>
                      </a:pPr>
                      <a:r>
                        <a:rPr lang="zh-CN" altLang="en-US" sz="1800" b="1" dirty="0">
                          <a:solidFill>
                            <a:schemeClr val="lt1"/>
                          </a:solidFill>
                          <a:ea typeface="Kaiti SC"/>
                          <a:sym typeface="+mn-ea"/>
                        </a:rPr>
                        <a:t>市场成熟度</a:t>
                      </a:r>
                      <a:endParaRPr lang="zh-CN" altLang="en-US" sz="1800" b="1" dirty="0">
                        <a:solidFill>
                          <a:schemeClr val="lt1"/>
                        </a:solidFill>
                        <a:ea typeface="Kaiti SC"/>
                      </a:endParaRPr>
                    </a:p>
                  </a:txBody>
                  <a:tcPr anchor="ctr">
                    <a:solidFill>
                      <a:schemeClr val="tx2"/>
                    </a:solidFill>
                  </a:tcPr>
                </a:tc>
                <a:tc>
                  <a:txBody>
                    <a:bodyPr/>
                    <a:lstStyle/>
                    <a:p>
                      <a:pPr indent="0" algn="l">
                        <a:buClrTx/>
                        <a:buSzTx/>
                        <a:buNone/>
                      </a:pPr>
                      <a:r>
                        <a:rPr lang="zh-CN" altLang="en-US" sz="1600" dirty="0">
                          <a:ea typeface="Kaiti SC"/>
                          <a:sym typeface="+mn-ea"/>
                        </a:rPr>
                        <a:t>辅助服务市场和电力现货市场</a:t>
                      </a:r>
                      <a:r>
                        <a:rPr lang="zh-CN" altLang="en-US" sz="1600" b="1" dirty="0">
                          <a:ea typeface="Kaiti SC"/>
                          <a:sym typeface="+mn-ea"/>
                        </a:rPr>
                        <a:t>较为成熟</a:t>
                      </a:r>
                      <a:r>
                        <a:rPr lang="zh-CN" altLang="en-US" sz="1600" dirty="0">
                          <a:ea typeface="Kaiti SC"/>
                          <a:sym typeface="+mn-ea"/>
                        </a:rPr>
                        <a:t>,相关配套机制</a:t>
                      </a:r>
                      <a:r>
                        <a:rPr lang="zh-CN" altLang="en-US" sz="1600" b="1" dirty="0">
                          <a:ea typeface="Kaiti SC"/>
                          <a:sym typeface="+mn-ea"/>
                        </a:rPr>
                        <a:t>较为健全</a:t>
                      </a:r>
                      <a:r>
                        <a:rPr lang="zh-CN" altLang="en-US" sz="1600" dirty="0">
                          <a:ea typeface="Kaiti SC"/>
                          <a:sym typeface="+mn-ea"/>
                        </a:rPr>
                        <a:t>。</a:t>
                      </a:r>
                      <a:endParaRPr lang="zh-CN" altLang="en-US" sz="1600" dirty="0">
                        <a:ea typeface="Kaiti SC"/>
                      </a:endParaRPr>
                    </a:p>
                  </a:txBody>
                  <a:tcPr anchor="ctr">
                    <a:solidFill>
                      <a:schemeClr val="bg1">
                        <a:lumMod val="95000"/>
                      </a:schemeClr>
                    </a:solidFill>
                  </a:tcPr>
                </a:tc>
                <a:tc>
                  <a:txBody>
                    <a:bodyPr/>
                    <a:lstStyle/>
                    <a:p>
                      <a:pPr indent="0" algn="l">
                        <a:buClrTx/>
                        <a:buSzTx/>
                        <a:buFont typeface="Wingdings" panose="05000000000000000000" charset="0"/>
                        <a:buNone/>
                      </a:pPr>
                      <a:r>
                        <a:rPr lang="zh-CN" altLang="en-US" sz="1600" dirty="0">
                          <a:ea typeface="Kaiti SC"/>
                          <a:sym typeface="+mn-ea"/>
                        </a:rPr>
                        <a:t>电力市场建设仍在发展阶段，配套机制</a:t>
                      </a:r>
                      <a:r>
                        <a:rPr lang="zh-CN" altLang="en-US" sz="1600" b="1" dirty="0">
                          <a:ea typeface="Kaiti SC"/>
                          <a:sym typeface="+mn-ea"/>
                        </a:rPr>
                        <a:t>还不完善</a:t>
                      </a:r>
                      <a:r>
                        <a:rPr lang="zh-CN" altLang="en-US" sz="1600" dirty="0">
                          <a:ea typeface="Kaiti SC"/>
                          <a:sym typeface="+mn-ea"/>
                        </a:rPr>
                        <a:t>，大部分省份以试点方式在推进。</a:t>
                      </a:r>
                      <a:endParaRPr lang="zh-CN" altLang="en-US" sz="1600" dirty="0">
                        <a:ea typeface="Kaiti SC"/>
                      </a:endParaRPr>
                    </a:p>
                  </a:txBody>
                  <a:tcPr anchor="ctr">
                    <a:solidFill>
                      <a:schemeClr val="bg1">
                        <a:lumMod val="95000"/>
                      </a:schemeClr>
                    </a:solidFill>
                  </a:tcPr>
                </a:tc>
              </a:tr>
              <a:tr h="1496060">
                <a:tc>
                  <a:txBody>
                    <a:bodyPr/>
                    <a:lstStyle/>
                    <a:p>
                      <a:pPr algn="ctr">
                        <a:buClrTx/>
                        <a:buSzTx/>
                        <a:buFontTx/>
                        <a:buNone/>
                      </a:pPr>
                      <a:r>
                        <a:rPr lang="zh-CN" altLang="en-US" sz="1800" b="1" dirty="0">
                          <a:solidFill>
                            <a:schemeClr val="lt1"/>
                          </a:solidFill>
                          <a:ea typeface="Kaiti SC"/>
                          <a:sym typeface="+mn-ea"/>
                        </a:rPr>
                        <a:t>商业模式成熟度</a:t>
                      </a:r>
                      <a:endParaRPr lang="zh-CN" altLang="en-US" sz="1800" b="1" dirty="0">
                        <a:solidFill>
                          <a:schemeClr val="lt1"/>
                        </a:solidFill>
                        <a:ea typeface="Kaiti SC"/>
                      </a:endParaRPr>
                    </a:p>
                  </a:txBody>
                  <a:tcPr anchor="ctr">
                    <a:solidFill>
                      <a:schemeClr val="tx2"/>
                    </a:solidFill>
                  </a:tcPr>
                </a:tc>
                <a:tc>
                  <a:txBody>
                    <a:bodyPr/>
                    <a:lstStyle/>
                    <a:p>
                      <a:pPr indent="0" algn="l">
                        <a:buClrTx/>
                        <a:buSzTx/>
                        <a:buNone/>
                      </a:pPr>
                      <a:r>
                        <a:rPr lang="zh-CN" altLang="en-US" sz="1600" dirty="0">
                          <a:ea typeface="Kaiti SC"/>
                          <a:sym typeface="+mn-ea"/>
                        </a:rPr>
                        <a:t>商业化路径清晰，以</a:t>
                      </a:r>
                      <a:r>
                        <a:rPr lang="zh-CN" altLang="en-US" sz="1600" b="1" dirty="0">
                          <a:ea typeface="Kaiti SC"/>
                          <a:sym typeface="+mn-ea"/>
                        </a:rPr>
                        <a:t>销售预置虚拟电厂平台接口的储能设备</a:t>
                      </a:r>
                      <a:r>
                        <a:rPr lang="zh-CN" altLang="en-US" sz="1600" dirty="0">
                          <a:ea typeface="Kaiti SC"/>
                          <a:sym typeface="+mn-ea"/>
                        </a:rPr>
                        <a:t>和</a:t>
                      </a:r>
                      <a:r>
                        <a:rPr lang="zh-CN" altLang="en-US" sz="1600" b="1" dirty="0">
                          <a:ea typeface="Kaiti SC"/>
                          <a:sym typeface="+mn-ea"/>
                        </a:rPr>
                        <a:t>参与市场化交易</a:t>
                      </a:r>
                      <a:r>
                        <a:rPr lang="zh-CN" altLang="en-US" sz="1600" b="0" dirty="0">
                          <a:ea typeface="Kaiti SC"/>
                          <a:sym typeface="+mn-ea"/>
                        </a:rPr>
                        <a:t>盈利</a:t>
                      </a:r>
                      <a:r>
                        <a:rPr lang="zh-CN" altLang="en-US" sz="1600" dirty="0">
                          <a:ea typeface="Kaiti SC"/>
                          <a:sym typeface="+mn-ea"/>
                        </a:rPr>
                        <a:t>为主。</a:t>
                      </a:r>
                      <a:endParaRPr lang="zh-CN" altLang="en-US" sz="1600" dirty="0">
                        <a:ea typeface="Kaiti SC"/>
                        <a:sym typeface="+mn-ea"/>
                      </a:endParaRPr>
                    </a:p>
                  </a:txBody>
                  <a:tcPr anchor="ctr">
                    <a:solidFill>
                      <a:schemeClr val="bg1">
                        <a:lumMod val="95000"/>
                      </a:schemeClr>
                    </a:solidFill>
                  </a:tcPr>
                </a:tc>
                <a:tc>
                  <a:txBody>
                    <a:bodyPr/>
                    <a:lstStyle/>
                    <a:p>
                      <a:pPr indent="0" algn="l">
                        <a:buClrTx/>
                        <a:buSzTx/>
                        <a:buFont typeface="Wingdings" panose="05000000000000000000" charset="0"/>
                        <a:buNone/>
                      </a:pPr>
                      <a:r>
                        <a:rPr lang="zh-CN" altLang="en-US" sz="1600" b="1" dirty="0">
                          <a:ea typeface="Kaiti SC"/>
                          <a:sym typeface="+mn-ea"/>
                        </a:rPr>
                        <a:t>商业模式尚不清晰</a:t>
                      </a:r>
                      <a:r>
                        <a:rPr lang="zh-CN" altLang="en-US" sz="1600" dirty="0">
                          <a:ea typeface="Kaiti SC"/>
                          <a:sym typeface="+mn-ea"/>
                        </a:rPr>
                        <a:t>，收益主要依赖</a:t>
                      </a:r>
                      <a:r>
                        <a:rPr lang="zh-CN" altLang="en-US" sz="1600" b="1" dirty="0">
                          <a:ea typeface="Kaiti SC"/>
                          <a:sym typeface="+mn-ea"/>
                        </a:rPr>
                        <a:t>提供综合能源</a:t>
                      </a:r>
                      <a:r>
                        <a:rPr lang="zh-CN" altLang="en-US" sz="1600" dirty="0">
                          <a:ea typeface="Kaiti SC"/>
                          <a:sym typeface="+mn-ea"/>
                        </a:rPr>
                        <a:t>和</a:t>
                      </a:r>
                      <a:r>
                        <a:rPr lang="zh-CN" altLang="en-US" sz="1600" b="1" dirty="0">
                          <a:ea typeface="Kaiti SC"/>
                          <a:sym typeface="+mn-ea"/>
                        </a:rPr>
                        <a:t>能源管理服务</a:t>
                      </a:r>
                      <a:r>
                        <a:rPr lang="zh-CN" altLang="en-US" sz="1600" dirty="0">
                          <a:ea typeface="Kaiti SC"/>
                          <a:sym typeface="+mn-ea"/>
                        </a:rPr>
                        <a:t>，受市场发展阶段和电价限制，</a:t>
                      </a:r>
                      <a:r>
                        <a:rPr lang="zh-CN" altLang="en-US" sz="1600" b="1" dirty="0">
                          <a:ea typeface="Kaiti SC"/>
                          <a:sym typeface="+mn-ea"/>
                        </a:rPr>
                        <a:t>尚未形成成熟稳定的盈利模式。</a:t>
                      </a:r>
                      <a:endParaRPr lang="zh-CN" altLang="en-US" sz="1600" b="1" dirty="0">
                        <a:ea typeface="Kaiti SC"/>
                      </a:endParaRPr>
                    </a:p>
                  </a:txBody>
                  <a:tcPr anchor="ctr">
                    <a:solidFill>
                      <a:schemeClr val="bg1">
                        <a:lumMod val="95000"/>
                      </a:schemeClr>
                    </a:solidFill>
                  </a:tcPr>
                </a:tc>
              </a:tr>
            </a:tbl>
          </a:graphicData>
        </a:graphic>
      </p:graphicFrame>
      <p:sp>
        <p:nvSpPr>
          <p:cNvPr id="42011" name="文本框 2"/>
          <p:cNvSpPr txBox="1"/>
          <p:nvPr/>
        </p:nvSpPr>
        <p:spPr>
          <a:xfrm>
            <a:off x="250825" y="1123950"/>
            <a:ext cx="6769100" cy="398780"/>
          </a:xfrm>
          <a:prstGeom prst="rect">
            <a:avLst/>
          </a:prstGeom>
          <a:noFill/>
          <a:ln w="9525">
            <a:noFill/>
          </a:ln>
        </p:spPr>
        <p:txBody>
          <a:bodyPr>
            <a:spAutoFit/>
          </a:bodyPr>
          <a:p>
            <a:pPr>
              <a:buNone/>
            </a:pPr>
            <a:r>
              <a:rPr lang="zh-CN" altLang="en-US" sz="2000" dirty="0">
                <a:latin typeface="Arial" panose="020B0604020202020204" pitchFamily="34" charset="0"/>
                <a:ea typeface="Kaiti SC" pitchFamily="2" charset="-122"/>
              </a:rPr>
              <a:t>从国内外虚拟电厂实践对比看，有较大差别，总结如下:</a:t>
            </a:r>
            <a:endParaRPr lang="zh-CN" altLang="en-US" sz="2000" dirty="0">
              <a:latin typeface="Arial" panose="020B0604020202020204" pitchFamily="34" charset="0"/>
              <a:ea typeface="Kaiti SC"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5603"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5604" name="Content Placeholder 3"/>
          <p:cNvSpPr>
            <a:spLocks noGrp="1"/>
          </p:cNvSpPr>
          <p:nvPr>
            <p:ph sz="quarter" idx="1"/>
          </p:nvPr>
        </p:nvSpPr>
        <p:spPr>
          <a:xfrm>
            <a:off x="228600" y="1214438"/>
            <a:ext cx="8794750"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1</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华中区域虚拟电厂发展现状及资源灵活调控潜力分析</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25605" name="Rectangle 7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5606" name="Rectangle 8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5607" name="Rectangle 84"/>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17" name="矩形: 圆角 16"/>
          <p:cNvSpPr/>
          <p:nvPr>
            <p:custDataLst>
              <p:tags r:id="rId1"/>
            </p:custDataLst>
          </p:nvPr>
        </p:nvSpPr>
        <p:spPr>
          <a:xfrm>
            <a:off x="481013" y="2339975"/>
            <a:ext cx="1765300" cy="1139825"/>
          </a:xfrm>
          <a:prstGeom prst="roundRect">
            <a:avLst>
              <a:gd name="adj" fmla="val 9997"/>
            </a:avLst>
          </a:prstGeom>
          <a:solidFill>
            <a:srgbClr val="4874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Heiti SC Medium" pitchFamily="2" charset="-128"/>
                <a:ea typeface="Heiti SC Medium" pitchFamily="2" charset="-128"/>
                <a:cs typeface="+mn-cs"/>
              </a:rPr>
              <a:t>现场调研</a:t>
            </a:r>
            <a:endParaRPr kumimoji="0" lang="zh-CN" altLang="en-US" sz="2400" b="1" i="0" u="none" strike="noStrike" kern="1200" cap="none" spc="0" normalizeH="0" baseline="0" noProof="0">
              <a:ln>
                <a:noFill/>
              </a:ln>
              <a:solidFill>
                <a:srgbClr val="FFFFFF"/>
              </a:solidFill>
              <a:effectLst/>
              <a:uLnTx/>
              <a:uFillTx/>
              <a:latin typeface="Heiti SC Medium" pitchFamily="2" charset="-128"/>
              <a:ea typeface="Heiti SC Medium" pitchFamily="2" charset="-128"/>
              <a:cs typeface="+mn-cs"/>
            </a:endParaRPr>
          </a:p>
        </p:txBody>
      </p:sp>
      <p:sp>
        <p:nvSpPr>
          <p:cNvPr id="13" name="矩形: 圆角 12"/>
          <p:cNvSpPr/>
          <p:nvPr>
            <p:custDataLst>
              <p:tags r:id="rId2"/>
            </p:custDataLst>
          </p:nvPr>
        </p:nvSpPr>
        <p:spPr>
          <a:xfrm>
            <a:off x="930275" y="3213100"/>
            <a:ext cx="2112963" cy="2266950"/>
          </a:xfrm>
          <a:prstGeom prst="roundRect">
            <a:avLst>
              <a:gd name="adj" fmla="val 7843"/>
            </a:avLst>
          </a:prstGeom>
          <a:solidFill>
            <a:schemeClr val="bg1"/>
          </a:solidFill>
          <a:ln w="38100">
            <a:solidFill>
              <a:srgbClr val="4874C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调研华中区域虚拟电厂建设运营情况：</a:t>
            </a:r>
            <a:endParaRPr kumimoji="0" lang="en-US" altLang="zh-CN"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 数量</a:t>
            </a:r>
            <a:endParaRPr kumimoji="0" lang="en-US" altLang="zh-CN"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 规模</a:t>
            </a:r>
            <a:endPar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 类型</a:t>
            </a:r>
            <a:endParaRPr kumimoji="0" lang="en-US" altLang="zh-CN"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p:txBody>
      </p:sp>
      <p:sp>
        <p:nvSpPr>
          <p:cNvPr id="18" name="矩形: 圆角 17"/>
          <p:cNvSpPr/>
          <p:nvPr>
            <p:custDataLst>
              <p:tags r:id="rId3"/>
            </p:custDataLst>
          </p:nvPr>
        </p:nvSpPr>
        <p:spPr>
          <a:xfrm>
            <a:off x="3238500" y="2339975"/>
            <a:ext cx="1765300" cy="1139825"/>
          </a:xfrm>
          <a:prstGeom prst="roundRect">
            <a:avLst>
              <a:gd name="adj" fmla="val 9997"/>
            </a:avLst>
          </a:prstGeom>
          <a:solidFill>
            <a:srgbClr val="4874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Heiti SC Medium" pitchFamily="2" charset="-128"/>
                <a:ea typeface="Heiti SC Medium" pitchFamily="2" charset="-128"/>
                <a:cs typeface="+mn-cs"/>
              </a:rPr>
              <a:t>文献调研</a:t>
            </a:r>
            <a:endParaRPr kumimoji="0" lang="zh-CN" altLang="en-US" sz="2400" b="1" i="0" u="none" strike="noStrike" kern="1200" cap="none" spc="0" normalizeH="0" baseline="0" noProof="0">
              <a:ln>
                <a:noFill/>
              </a:ln>
              <a:solidFill>
                <a:srgbClr val="FFFFFF"/>
              </a:solidFill>
              <a:effectLst/>
              <a:uLnTx/>
              <a:uFillTx/>
              <a:latin typeface="Heiti SC Medium" pitchFamily="2" charset="-128"/>
              <a:ea typeface="Heiti SC Medium" pitchFamily="2" charset="-128"/>
              <a:cs typeface="+mn-cs"/>
            </a:endParaRPr>
          </a:p>
        </p:txBody>
      </p:sp>
      <p:sp>
        <p:nvSpPr>
          <p:cNvPr id="19" name="矩形: 圆角 18"/>
          <p:cNvSpPr/>
          <p:nvPr>
            <p:custDataLst>
              <p:tags r:id="rId4"/>
            </p:custDataLst>
          </p:nvPr>
        </p:nvSpPr>
        <p:spPr>
          <a:xfrm>
            <a:off x="3635375" y="3213100"/>
            <a:ext cx="2114550" cy="2232025"/>
          </a:xfrm>
          <a:prstGeom prst="roundRect">
            <a:avLst>
              <a:gd name="adj" fmla="val 7843"/>
            </a:avLst>
          </a:prstGeom>
          <a:solidFill>
            <a:schemeClr val="bg1"/>
          </a:solidFill>
          <a:ln w="38100">
            <a:solidFill>
              <a:srgbClr val="4874C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分析华中区域虚拟电厂可调节资源特性</a:t>
            </a:r>
            <a:r>
              <a:rPr kumimoji="0" lang="en-US" altLang="zh-CN"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a:t>
            </a:r>
            <a:endParaRPr kumimoji="0" lang="en-US" altLang="zh-CN"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 分布式新能源</a:t>
            </a:r>
            <a:endParaRPr kumimoji="0" lang="en-US" altLang="zh-CN"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 可控负荷</a:t>
            </a:r>
            <a:endParaRPr kumimoji="0" lang="en-US" altLang="zh-CN"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 储能</a:t>
            </a:r>
            <a:endPar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p:txBody>
      </p:sp>
      <p:sp>
        <p:nvSpPr>
          <p:cNvPr id="20" name="矩形: 圆角 19"/>
          <p:cNvSpPr/>
          <p:nvPr>
            <p:custDataLst>
              <p:tags r:id="rId5"/>
            </p:custDataLst>
          </p:nvPr>
        </p:nvSpPr>
        <p:spPr>
          <a:xfrm>
            <a:off x="5995988" y="2339975"/>
            <a:ext cx="1763713" cy="1139825"/>
          </a:xfrm>
          <a:prstGeom prst="roundRect">
            <a:avLst>
              <a:gd name="adj" fmla="val 9997"/>
            </a:avLst>
          </a:prstGeom>
          <a:solidFill>
            <a:srgbClr val="4874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Heiti SC Medium" pitchFamily="2" charset="-128"/>
                <a:ea typeface="Heiti SC Medium" pitchFamily="2" charset="-128"/>
                <a:cs typeface="+mn-cs"/>
              </a:rPr>
              <a:t>归纳分析</a:t>
            </a:r>
            <a:endParaRPr kumimoji="0" lang="zh-CN" altLang="en-US" sz="2400" b="1" i="0" u="none" strike="noStrike" kern="1200" cap="none" spc="0" normalizeH="0" baseline="0" noProof="0">
              <a:ln>
                <a:noFill/>
              </a:ln>
              <a:solidFill>
                <a:srgbClr val="FFFFFF"/>
              </a:solidFill>
              <a:effectLst/>
              <a:uLnTx/>
              <a:uFillTx/>
              <a:latin typeface="Heiti SC Medium" pitchFamily="2" charset="-128"/>
              <a:ea typeface="Heiti SC Medium" pitchFamily="2" charset="-128"/>
              <a:cs typeface="+mn-cs"/>
            </a:endParaRPr>
          </a:p>
        </p:txBody>
      </p:sp>
      <p:sp>
        <p:nvSpPr>
          <p:cNvPr id="21" name="矩形: 圆角 20"/>
          <p:cNvSpPr/>
          <p:nvPr>
            <p:custDataLst>
              <p:tags r:id="rId6"/>
            </p:custDataLst>
          </p:nvPr>
        </p:nvSpPr>
        <p:spPr>
          <a:xfrm>
            <a:off x="6300788" y="3213100"/>
            <a:ext cx="2112963" cy="2232025"/>
          </a:xfrm>
          <a:prstGeom prst="roundRect">
            <a:avLst>
              <a:gd name="adj" fmla="val 7843"/>
            </a:avLst>
          </a:prstGeom>
          <a:solidFill>
            <a:schemeClr val="bg1"/>
          </a:solidFill>
          <a:ln w="38100">
            <a:solidFill>
              <a:srgbClr val="4874C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rPr>
              <a:t>评估虚拟电厂参与省间电力市场的技术可行性和经济潜力</a:t>
            </a:r>
            <a:endParaRPr kumimoji="0" lang="en-US" altLang="zh-CN" sz="2000" b="0" i="0" u="none" strike="noStrike" kern="1200" cap="none" spc="0" normalizeH="0" baseline="0" noProof="0" dirty="0">
              <a:ln>
                <a:noFill/>
              </a:ln>
              <a:solidFill>
                <a:schemeClr val="tx1"/>
              </a:solidFill>
              <a:effectLst/>
              <a:uLnTx/>
              <a:uFillTx/>
              <a:latin typeface="Kaiti SC" pitchFamily="2" charset="-122"/>
              <a:ea typeface="Kaiti SC" pitchFamily="2" charset="-122"/>
              <a:cs typeface="+mn-cs"/>
            </a:endParaRPr>
          </a:p>
        </p:txBody>
      </p:sp>
      <p:sp>
        <p:nvSpPr>
          <p:cNvPr id="4" name="箭头: 右 3"/>
          <p:cNvSpPr/>
          <p:nvPr>
            <p:custDataLst>
              <p:tags r:id="rId7"/>
            </p:custDataLst>
          </p:nvPr>
        </p:nvSpPr>
        <p:spPr>
          <a:xfrm>
            <a:off x="2551113" y="2665413"/>
            <a:ext cx="492125" cy="488950"/>
          </a:xfrm>
          <a:prstGeom prst="rightArrow">
            <a:avLst/>
          </a:prstGeom>
          <a:solidFill>
            <a:srgbClr val="4874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箭头: 右 22"/>
          <p:cNvSpPr/>
          <p:nvPr>
            <p:custDataLst>
              <p:tags r:id="rId8"/>
            </p:custDataLst>
          </p:nvPr>
        </p:nvSpPr>
        <p:spPr>
          <a:xfrm>
            <a:off x="5316538" y="2665413"/>
            <a:ext cx="492125" cy="488950"/>
          </a:xfrm>
          <a:prstGeom prst="rightArrow">
            <a:avLst/>
          </a:prstGeom>
          <a:solidFill>
            <a:srgbClr val="4874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txBody>
          <a:bodyPr/>
          <a:lstStyle/>
          <a:p>
            <a:endParaRPr lang="zh-CN" altLang="en-US"/>
          </a:p>
        </p:txBody>
      </p:sp>
      <p:sp>
        <p:nvSpPr>
          <p:cNvPr id="27651"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7652" name="Content Placeholder 3"/>
          <p:cNvSpPr>
            <a:spLocks noGrp="1"/>
          </p:cNvSpPr>
          <p:nvPr>
            <p:ph sz="quarter" idx="1"/>
          </p:nvPr>
        </p:nvSpPr>
        <p:spPr>
          <a:xfrm>
            <a:off x="250825" y="1125538"/>
            <a:ext cx="8806089"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1</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：华中区域虚拟电厂发展现状及资源灵活调控潜力分析</a:t>
            </a:r>
            <a:endParaRPr lang="zh-CN" altLang="en-US" sz="2000" dirty="0"/>
          </a:p>
        </p:txBody>
      </p:sp>
      <p:sp>
        <p:nvSpPr>
          <p:cNvPr id="27653"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4"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5"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3" name="矩形 2"/>
          <p:cNvSpPr/>
          <p:nvPr/>
        </p:nvSpPr>
        <p:spPr>
          <a:xfrm>
            <a:off x="287338" y="1575752"/>
            <a:ext cx="8027035" cy="48958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相关政策梳理：</a:t>
            </a:r>
            <a:endPar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矩形 3"/>
          <p:cNvSpPr/>
          <p:nvPr/>
        </p:nvSpPr>
        <p:spPr>
          <a:xfrm>
            <a:off x="480915" y="2638307"/>
            <a:ext cx="2861449" cy="1592143"/>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p:cNvSpPr/>
          <p:nvPr/>
        </p:nvSpPr>
        <p:spPr>
          <a:xfrm>
            <a:off x="485098" y="2192338"/>
            <a:ext cx="2854970" cy="435212"/>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国家政策</a:t>
            </a:r>
            <a:endParaRPr kumimoji="1" lang="zh-CN" altLang="en-US" sz="1600" dirty="0"/>
          </a:p>
        </p:txBody>
      </p:sp>
      <p:sp>
        <p:nvSpPr>
          <p:cNvPr id="7" name="矩形 6"/>
          <p:cNvSpPr/>
          <p:nvPr/>
        </p:nvSpPr>
        <p:spPr>
          <a:xfrm>
            <a:off x="480915" y="4936391"/>
            <a:ext cx="2861449" cy="1389106"/>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p:cNvSpPr/>
          <p:nvPr/>
        </p:nvSpPr>
        <p:spPr>
          <a:xfrm>
            <a:off x="485098" y="4490421"/>
            <a:ext cx="2854970" cy="435212"/>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区域政策</a:t>
            </a:r>
            <a:endParaRPr kumimoji="1" lang="zh-CN" altLang="en-US" sz="1600" dirty="0"/>
          </a:p>
        </p:txBody>
      </p:sp>
      <p:sp>
        <p:nvSpPr>
          <p:cNvPr id="28" name="矩形 27"/>
          <p:cNvSpPr/>
          <p:nvPr/>
        </p:nvSpPr>
        <p:spPr>
          <a:xfrm>
            <a:off x="584200" y="2757805"/>
            <a:ext cx="2632710" cy="361315"/>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电力现货市场基本规则（试行）</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
        <p:nvSpPr>
          <p:cNvPr id="30" name="矩形 29"/>
          <p:cNvSpPr/>
          <p:nvPr/>
        </p:nvSpPr>
        <p:spPr>
          <a:xfrm>
            <a:off x="584835" y="3239770"/>
            <a:ext cx="2639695" cy="815975"/>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国家发展改革委、国家能源局关于加快建设全国统一电力市场体系的指导意见</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
        <p:nvSpPr>
          <p:cNvPr id="33" name="矩形 32"/>
          <p:cNvSpPr/>
          <p:nvPr/>
        </p:nvSpPr>
        <p:spPr>
          <a:xfrm>
            <a:off x="584200" y="5097780"/>
            <a:ext cx="2640330" cy="439420"/>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南方区域电力现货市场运行规则</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
        <p:nvSpPr>
          <p:cNvPr id="34" name="矩形 33"/>
          <p:cNvSpPr/>
          <p:nvPr/>
        </p:nvSpPr>
        <p:spPr>
          <a:xfrm>
            <a:off x="584835" y="5732145"/>
            <a:ext cx="2639695" cy="439420"/>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加快构建新型电力系统行动方案（</a:t>
            </a:r>
            <a:r>
              <a:rPr lang="en-US" altLang="zh-CN" sz="1200" i="0" dirty="0">
                <a:solidFill>
                  <a:sysClr val="windowText" lastClr="000000"/>
                </a:solidFill>
                <a:effectLst/>
                <a:latin typeface="Inter"/>
              </a:rPr>
              <a:t>2024—2027</a:t>
            </a:r>
            <a:r>
              <a:rPr lang="zh-CN" altLang="en-US" sz="1200" i="0" dirty="0">
                <a:solidFill>
                  <a:sysClr val="windowText" lastClr="000000"/>
                </a:solidFill>
                <a:effectLst/>
                <a:latin typeface="Inter"/>
              </a:rPr>
              <a:t>年）</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
        <p:nvSpPr>
          <p:cNvPr id="37" name="右箭头 36"/>
          <p:cNvSpPr/>
          <p:nvPr/>
        </p:nvSpPr>
        <p:spPr>
          <a:xfrm>
            <a:off x="3521169" y="3062726"/>
            <a:ext cx="365760" cy="430305"/>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右箭头 37"/>
          <p:cNvSpPr/>
          <p:nvPr/>
        </p:nvSpPr>
        <p:spPr>
          <a:xfrm>
            <a:off x="3521169" y="5365524"/>
            <a:ext cx="365760" cy="430305"/>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p:cNvSpPr/>
          <p:nvPr/>
        </p:nvSpPr>
        <p:spPr>
          <a:xfrm>
            <a:off x="4049340" y="2192337"/>
            <a:ext cx="490388" cy="41331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加快推进虚拟电厂发展</a:t>
            </a:r>
            <a:endParaRPr kumimoji="1" lang="zh-CN" altLang="en-US" dirty="0"/>
          </a:p>
        </p:txBody>
      </p:sp>
      <p:sp>
        <p:nvSpPr>
          <p:cNvPr id="43" name="矩形 42"/>
          <p:cNvSpPr/>
          <p:nvPr/>
        </p:nvSpPr>
        <p:spPr>
          <a:xfrm>
            <a:off x="5257131" y="2638307"/>
            <a:ext cx="3505705" cy="3687189"/>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矩形 43"/>
          <p:cNvSpPr/>
          <p:nvPr/>
        </p:nvSpPr>
        <p:spPr>
          <a:xfrm>
            <a:off x="5261313" y="2192338"/>
            <a:ext cx="3497767" cy="435212"/>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华中省份政策</a:t>
            </a:r>
            <a:endParaRPr kumimoji="1" lang="zh-CN" altLang="en-US" sz="1600" dirty="0"/>
          </a:p>
        </p:txBody>
      </p:sp>
      <p:sp>
        <p:nvSpPr>
          <p:cNvPr id="45" name="右箭头 44"/>
          <p:cNvSpPr/>
          <p:nvPr/>
        </p:nvSpPr>
        <p:spPr>
          <a:xfrm rot="10800000">
            <a:off x="4715550" y="3062726"/>
            <a:ext cx="365760" cy="430305"/>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右箭头 45"/>
          <p:cNvSpPr/>
          <p:nvPr/>
        </p:nvSpPr>
        <p:spPr>
          <a:xfrm rot="10800000">
            <a:off x="4715550" y="5365524"/>
            <a:ext cx="365760" cy="430305"/>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p:cNvSpPr/>
          <p:nvPr/>
        </p:nvSpPr>
        <p:spPr>
          <a:xfrm>
            <a:off x="5417716" y="2822123"/>
            <a:ext cx="3245369" cy="523506"/>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湖北省电力现货市场交易实施细则（</a:t>
            </a:r>
            <a:r>
              <a:rPr lang="en-US" altLang="zh-CN" sz="1200" i="0" dirty="0">
                <a:solidFill>
                  <a:sysClr val="windowText" lastClr="000000"/>
                </a:solidFill>
                <a:effectLst/>
                <a:latin typeface="Inter"/>
              </a:rPr>
              <a:t>V3.0</a:t>
            </a:r>
            <a:r>
              <a:rPr lang="zh-CN" altLang="en-US" sz="1200" i="0" dirty="0">
                <a:solidFill>
                  <a:sysClr val="windowText" lastClr="000000"/>
                </a:solidFill>
                <a:effectLst/>
                <a:latin typeface="Inter"/>
              </a:rPr>
              <a:t>）（征求意见稿）</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
        <p:nvSpPr>
          <p:cNvPr id="48" name="矩形 47"/>
          <p:cNvSpPr/>
          <p:nvPr/>
        </p:nvSpPr>
        <p:spPr>
          <a:xfrm>
            <a:off x="5417716" y="3528734"/>
            <a:ext cx="3245369" cy="523506"/>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湖南省电力现货市场交易实施细则（试运行</a:t>
            </a:r>
            <a:r>
              <a:rPr lang="en-US" altLang="zh-CN" sz="1200" i="0" dirty="0">
                <a:solidFill>
                  <a:sysClr val="windowText" lastClr="000000"/>
                </a:solidFill>
                <a:effectLst/>
                <a:latin typeface="Inter"/>
              </a:rPr>
              <a:t>3.0</a:t>
            </a:r>
            <a:r>
              <a:rPr lang="zh-CN" altLang="en-US" sz="1200" i="0" dirty="0">
                <a:solidFill>
                  <a:sysClr val="windowText" lastClr="000000"/>
                </a:solidFill>
                <a:effectLst/>
                <a:latin typeface="Inter"/>
              </a:rPr>
              <a:t>版）（征求意见稿）</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
        <p:nvSpPr>
          <p:cNvPr id="49" name="矩形 48"/>
          <p:cNvSpPr/>
          <p:nvPr/>
        </p:nvSpPr>
        <p:spPr>
          <a:xfrm>
            <a:off x="5417716" y="4235345"/>
            <a:ext cx="3245369" cy="523506"/>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虚拟电厂参与湖南电力市场交易实施细则（试行）</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
        <p:nvSpPr>
          <p:cNvPr id="50" name="矩形 49"/>
          <p:cNvSpPr/>
          <p:nvPr/>
        </p:nvSpPr>
        <p:spPr>
          <a:xfrm>
            <a:off x="5417716" y="4941956"/>
            <a:ext cx="3245369" cy="523506"/>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河南省电力市场运营基本规则（试行）</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
        <p:nvSpPr>
          <p:cNvPr id="51" name="矩形 50"/>
          <p:cNvSpPr/>
          <p:nvPr/>
        </p:nvSpPr>
        <p:spPr>
          <a:xfrm>
            <a:off x="5417716" y="5648567"/>
            <a:ext cx="3245369" cy="523506"/>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新型市场主体参与华中电力调峰辅助服务市场规则</a:t>
            </a:r>
            <a:r>
              <a:rPr lang="en-US" altLang="zh-CN" sz="1200" i="0" dirty="0">
                <a:solidFill>
                  <a:sysClr val="windowText" lastClr="000000"/>
                </a:solidFill>
                <a:effectLst/>
                <a:latin typeface="Inter"/>
              </a:rPr>
              <a:t>》</a:t>
            </a:r>
            <a:endParaRPr kumimoji="1" lang="zh-CN" altLang="en-US" sz="1200" dirty="0">
              <a:solidFill>
                <a:sysClr val="windowText" lastClr="000000"/>
              </a:solidFill>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5603"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5604" name="Content Placeholder 3"/>
          <p:cNvSpPr>
            <a:spLocks noGrp="1"/>
          </p:cNvSpPr>
          <p:nvPr>
            <p:ph sz="quarter" idx="1"/>
          </p:nvPr>
        </p:nvSpPr>
        <p:spPr>
          <a:xfrm>
            <a:off x="228600" y="1091248"/>
            <a:ext cx="8794750"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1</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华中区域虚拟电厂发展现状及资源灵活调控潜力分析</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25605" name="Rectangle 7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5606" name="Rectangle 8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5607" name="Rectangle 84"/>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grpSp>
        <p:nvGrpSpPr>
          <p:cNvPr id="2" name="组合 1"/>
          <p:cNvGrpSpPr/>
          <p:nvPr/>
        </p:nvGrpSpPr>
        <p:grpSpPr>
          <a:xfrm>
            <a:off x="287655" y="1811655"/>
            <a:ext cx="8650605" cy="4694555"/>
            <a:chOff x="165" y="2679"/>
            <a:chExt cx="13623" cy="7393"/>
          </a:xfrm>
        </p:grpSpPr>
        <p:sp>
          <p:nvSpPr>
            <p:cNvPr id="37" name="Right Arrow 8"/>
            <p:cNvSpPr/>
            <p:nvPr/>
          </p:nvSpPr>
          <p:spPr>
            <a:xfrm>
              <a:off x="9809" y="5316"/>
              <a:ext cx="3611" cy="1446"/>
            </a:xfrm>
            <a:custGeom>
              <a:avLst/>
              <a:gdLst>
                <a:gd name="connsiteX0" fmla="*/ 0 w 2232436"/>
                <a:gd name="connsiteY0" fmla="*/ 227029 h 1105786"/>
                <a:gd name="connsiteX1" fmla="*/ 1531279 w 2232436"/>
                <a:gd name="connsiteY1" fmla="*/ 227029 h 1105786"/>
                <a:gd name="connsiteX2" fmla="*/ 1531279 w 2232436"/>
                <a:gd name="connsiteY2" fmla="*/ 0 h 1105786"/>
                <a:gd name="connsiteX3" fmla="*/ 2232436 w 2232436"/>
                <a:gd name="connsiteY3" fmla="*/ 552893 h 1105786"/>
                <a:gd name="connsiteX4" fmla="*/ 1531279 w 2232436"/>
                <a:gd name="connsiteY4" fmla="*/ 1105786 h 1105786"/>
                <a:gd name="connsiteX5" fmla="*/ 1531279 w 2232436"/>
                <a:gd name="connsiteY5" fmla="*/ 878757 h 1105786"/>
                <a:gd name="connsiteX6" fmla="*/ 0 w 2232436"/>
                <a:gd name="connsiteY6" fmla="*/ 878757 h 1105786"/>
                <a:gd name="connsiteX7" fmla="*/ 0 w 2232436"/>
                <a:gd name="connsiteY7" fmla="*/ 227029 h 1105786"/>
                <a:gd name="connsiteX0-1" fmla="*/ 0 w 2232436"/>
                <a:gd name="connsiteY0-2" fmla="*/ 227029 h 1105786"/>
                <a:gd name="connsiteX1-3" fmla="*/ 1531279 w 2232436"/>
                <a:gd name="connsiteY1-4" fmla="*/ 227029 h 1105786"/>
                <a:gd name="connsiteX2-5" fmla="*/ 1531279 w 2232436"/>
                <a:gd name="connsiteY2-6" fmla="*/ 0 h 1105786"/>
                <a:gd name="connsiteX3-7" fmla="*/ 2232436 w 2232436"/>
                <a:gd name="connsiteY3-8" fmla="*/ 552893 h 1105786"/>
                <a:gd name="connsiteX4-9" fmla="*/ 1531279 w 2232436"/>
                <a:gd name="connsiteY4-10" fmla="*/ 1105786 h 1105786"/>
                <a:gd name="connsiteX5-11" fmla="*/ 1531279 w 2232436"/>
                <a:gd name="connsiteY5-12" fmla="*/ 878757 h 1105786"/>
                <a:gd name="connsiteX6-13" fmla="*/ 0 w 2232436"/>
                <a:gd name="connsiteY6-14" fmla="*/ 878757 h 1105786"/>
                <a:gd name="connsiteX7-15" fmla="*/ 0 w 2232436"/>
                <a:gd name="connsiteY7-16" fmla="*/ 227029 h 1105786"/>
                <a:gd name="connsiteX0-17" fmla="*/ 0 w 2232436"/>
                <a:gd name="connsiteY0-18" fmla="*/ 227029 h 1105786"/>
                <a:gd name="connsiteX1-19" fmla="*/ 1531279 w 2232436"/>
                <a:gd name="connsiteY1-20" fmla="*/ 227029 h 1105786"/>
                <a:gd name="connsiteX2-21" fmla="*/ 1531279 w 2232436"/>
                <a:gd name="connsiteY2-22" fmla="*/ 0 h 1105786"/>
                <a:gd name="connsiteX3-23" fmla="*/ 2232436 w 2232436"/>
                <a:gd name="connsiteY3-24" fmla="*/ 552893 h 1105786"/>
                <a:gd name="connsiteX4-25" fmla="*/ 1531279 w 2232436"/>
                <a:gd name="connsiteY4-26" fmla="*/ 1105786 h 1105786"/>
                <a:gd name="connsiteX5-27" fmla="*/ 1531279 w 2232436"/>
                <a:gd name="connsiteY5-28" fmla="*/ 878757 h 1105786"/>
                <a:gd name="connsiteX6-29" fmla="*/ 0 w 2232436"/>
                <a:gd name="connsiteY6-30" fmla="*/ 878757 h 1105786"/>
                <a:gd name="connsiteX7-31" fmla="*/ 0 w 2232436"/>
                <a:gd name="connsiteY7-32" fmla="*/ 227029 h 1105786"/>
                <a:gd name="connsiteX0-33" fmla="*/ 0 w 2232436"/>
                <a:gd name="connsiteY0-34" fmla="*/ 227029 h 1105786"/>
                <a:gd name="connsiteX1-35" fmla="*/ 1531279 w 2232436"/>
                <a:gd name="connsiteY1-36" fmla="*/ 227029 h 1105786"/>
                <a:gd name="connsiteX2-37" fmla="*/ 1531279 w 2232436"/>
                <a:gd name="connsiteY2-38" fmla="*/ 0 h 1105786"/>
                <a:gd name="connsiteX3-39" fmla="*/ 2232436 w 2232436"/>
                <a:gd name="connsiteY3-40" fmla="*/ 552893 h 1105786"/>
                <a:gd name="connsiteX4-41" fmla="*/ 1531279 w 2232436"/>
                <a:gd name="connsiteY4-42" fmla="*/ 1105786 h 1105786"/>
                <a:gd name="connsiteX5-43" fmla="*/ 1531279 w 2232436"/>
                <a:gd name="connsiteY5-44" fmla="*/ 878757 h 1105786"/>
                <a:gd name="connsiteX6-45" fmla="*/ 0 w 2232436"/>
                <a:gd name="connsiteY6-46" fmla="*/ 878757 h 1105786"/>
                <a:gd name="connsiteX7-47" fmla="*/ 0 w 2232436"/>
                <a:gd name="connsiteY7-48" fmla="*/ 227029 h 1105786"/>
                <a:gd name="connsiteX0-49" fmla="*/ 0 w 2232436"/>
                <a:gd name="connsiteY0-50" fmla="*/ 227029 h 1105786"/>
                <a:gd name="connsiteX1-51" fmla="*/ 1531279 w 2232436"/>
                <a:gd name="connsiteY1-52" fmla="*/ 227029 h 1105786"/>
                <a:gd name="connsiteX2-53" fmla="*/ 1531279 w 2232436"/>
                <a:gd name="connsiteY2-54" fmla="*/ 0 h 1105786"/>
                <a:gd name="connsiteX3-55" fmla="*/ 2232436 w 2232436"/>
                <a:gd name="connsiteY3-56" fmla="*/ 552893 h 1105786"/>
                <a:gd name="connsiteX4-57" fmla="*/ 1531279 w 2232436"/>
                <a:gd name="connsiteY4-58" fmla="*/ 1105786 h 1105786"/>
                <a:gd name="connsiteX5-59" fmla="*/ 1531279 w 2232436"/>
                <a:gd name="connsiteY5-60" fmla="*/ 878757 h 1105786"/>
                <a:gd name="connsiteX6-61" fmla="*/ 0 w 2232436"/>
                <a:gd name="connsiteY6-62" fmla="*/ 878757 h 1105786"/>
                <a:gd name="connsiteX7-63" fmla="*/ 0 w 2232436"/>
                <a:gd name="connsiteY7-64" fmla="*/ 227029 h 1105786"/>
                <a:gd name="connsiteX0-65" fmla="*/ 42530 w 2274966"/>
                <a:gd name="connsiteY0-66" fmla="*/ 227029 h 1105786"/>
                <a:gd name="connsiteX1-67" fmla="*/ 1573809 w 2274966"/>
                <a:gd name="connsiteY1-68" fmla="*/ 227029 h 1105786"/>
                <a:gd name="connsiteX2-69" fmla="*/ 1573809 w 2274966"/>
                <a:gd name="connsiteY2-70" fmla="*/ 0 h 1105786"/>
                <a:gd name="connsiteX3-71" fmla="*/ 2274966 w 2274966"/>
                <a:gd name="connsiteY3-72" fmla="*/ 552893 h 1105786"/>
                <a:gd name="connsiteX4-73" fmla="*/ 1573809 w 2274966"/>
                <a:gd name="connsiteY4-74" fmla="*/ 1105786 h 1105786"/>
                <a:gd name="connsiteX5-75" fmla="*/ 1573809 w 2274966"/>
                <a:gd name="connsiteY5-76" fmla="*/ 878757 h 1105786"/>
                <a:gd name="connsiteX6-77" fmla="*/ 42530 w 2274966"/>
                <a:gd name="connsiteY6-78" fmla="*/ 878757 h 1105786"/>
                <a:gd name="connsiteX7-79" fmla="*/ 42530 w 2274966"/>
                <a:gd name="connsiteY7-80" fmla="*/ 227029 h 1105786"/>
                <a:gd name="connsiteX0-81" fmla="*/ 60394 w 2292830"/>
                <a:gd name="connsiteY0-82" fmla="*/ 227029 h 1105786"/>
                <a:gd name="connsiteX1-83" fmla="*/ 1591673 w 2292830"/>
                <a:gd name="connsiteY1-84" fmla="*/ 227029 h 1105786"/>
                <a:gd name="connsiteX2-85" fmla="*/ 1591673 w 2292830"/>
                <a:gd name="connsiteY2-86" fmla="*/ 0 h 1105786"/>
                <a:gd name="connsiteX3-87" fmla="*/ 2292830 w 2292830"/>
                <a:gd name="connsiteY3-88" fmla="*/ 552893 h 1105786"/>
                <a:gd name="connsiteX4-89" fmla="*/ 1591673 w 2292830"/>
                <a:gd name="connsiteY4-90" fmla="*/ 1105786 h 1105786"/>
                <a:gd name="connsiteX5-91" fmla="*/ 1591673 w 2292830"/>
                <a:gd name="connsiteY5-92" fmla="*/ 878757 h 1105786"/>
                <a:gd name="connsiteX6-93" fmla="*/ 60394 w 2292830"/>
                <a:gd name="connsiteY6-94" fmla="*/ 878757 h 1105786"/>
                <a:gd name="connsiteX7-95" fmla="*/ 60394 w 2292830"/>
                <a:gd name="connsiteY7-96" fmla="*/ 227029 h 1105786"/>
                <a:gd name="connsiteX0-97" fmla="*/ 60394 w 2292830"/>
                <a:gd name="connsiteY0-98" fmla="*/ 227029 h 1105786"/>
                <a:gd name="connsiteX1-99" fmla="*/ 1591673 w 2292830"/>
                <a:gd name="connsiteY1-100" fmla="*/ 227029 h 1105786"/>
                <a:gd name="connsiteX2-101" fmla="*/ 1591673 w 2292830"/>
                <a:gd name="connsiteY2-102" fmla="*/ 0 h 1105786"/>
                <a:gd name="connsiteX3-103" fmla="*/ 2292830 w 2292830"/>
                <a:gd name="connsiteY3-104" fmla="*/ 552893 h 1105786"/>
                <a:gd name="connsiteX4-105" fmla="*/ 1591673 w 2292830"/>
                <a:gd name="connsiteY4-106" fmla="*/ 1105786 h 1105786"/>
                <a:gd name="connsiteX5-107" fmla="*/ 1591673 w 2292830"/>
                <a:gd name="connsiteY5-108" fmla="*/ 878757 h 1105786"/>
                <a:gd name="connsiteX6-109" fmla="*/ 60394 w 2292830"/>
                <a:gd name="connsiteY6-110" fmla="*/ 878757 h 1105786"/>
                <a:gd name="connsiteX7-111" fmla="*/ 60394 w 2292830"/>
                <a:gd name="connsiteY7-112" fmla="*/ 227029 h 1105786"/>
                <a:gd name="connsiteX0-113" fmla="*/ 60394 w 2292830"/>
                <a:gd name="connsiteY0-114" fmla="*/ 227029 h 1105786"/>
                <a:gd name="connsiteX1-115" fmla="*/ 1591673 w 2292830"/>
                <a:gd name="connsiteY1-116" fmla="*/ 227029 h 1105786"/>
                <a:gd name="connsiteX2-117" fmla="*/ 1591673 w 2292830"/>
                <a:gd name="connsiteY2-118" fmla="*/ 0 h 1105786"/>
                <a:gd name="connsiteX3-119" fmla="*/ 2292830 w 2292830"/>
                <a:gd name="connsiteY3-120" fmla="*/ 552893 h 1105786"/>
                <a:gd name="connsiteX4-121" fmla="*/ 1591673 w 2292830"/>
                <a:gd name="connsiteY4-122" fmla="*/ 1105786 h 1105786"/>
                <a:gd name="connsiteX5-123" fmla="*/ 1591673 w 2292830"/>
                <a:gd name="connsiteY5-124" fmla="*/ 878757 h 1105786"/>
                <a:gd name="connsiteX6-125" fmla="*/ 60394 w 2292830"/>
                <a:gd name="connsiteY6-126" fmla="*/ 878757 h 1105786"/>
                <a:gd name="connsiteX7-127" fmla="*/ 60394 w 2292830"/>
                <a:gd name="connsiteY7-128" fmla="*/ 227029 h 11057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292830" h="1105786">
                  <a:moveTo>
                    <a:pt x="60394" y="227029"/>
                  </a:moveTo>
                  <a:cubicBezTo>
                    <a:pt x="592085" y="88806"/>
                    <a:pt x="1006819" y="407782"/>
                    <a:pt x="1591673" y="227029"/>
                  </a:cubicBezTo>
                  <a:lnTo>
                    <a:pt x="1591673" y="0"/>
                  </a:lnTo>
                  <a:cubicBezTo>
                    <a:pt x="1867922" y="354419"/>
                    <a:pt x="2059111" y="368595"/>
                    <a:pt x="2292830" y="552893"/>
                  </a:cubicBezTo>
                  <a:cubicBezTo>
                    <a:pt x="2059111" y="737191"/>
                    <a:pt x="1761597" y="878958"/>
                    <a:pt x="1591673" y="1105786"/>
                  </a:cubicBezTo>
                  <a:lnTo>
                    <a:pt x="1591673" y="878757"/>
                  </a:lnTo>
                  <a:cubicBezTo>
                    <a:pt x="1113145" y="666106"/>
                    <a:pt x="538922" y="1038246"/>
                    <a:pt x="60394" y="878757"/>
                  </a:cubicBezTo>
                  <a:cubicBezTo>
                    <a:pt x="-35299" y="640249"/>
                    <a:pt x="-3402" y="444272"/>
                    <a:pt x="60394" y="227029"/>
                  </a:cubicBezTo>
                  <a:close/>
                </a:path>
              </a:pathLst>
            </a:custGeom>
            <a:solidFill>
              <a:srgbClr val="4874CB"/>
            </a:solidFill>
            <a:ln>
              <a:noFill/>
            </a:ln>
            <a:effectLst>
              <a:outerShdw blurRad="50800" dist="38100" algn="l" rotWithShape="0">
                <a:schemeClr val="bg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Arrow 8"/>
            <p:cNvSpPr/>
            <p:nvPr/>
          </p:nvSpPr>
          <p:spPr>
            <a:xfrm>
              <a:off x="6860" y="5316"/>
              <a:ext cx="3611" cy="1446"/>
            </a:xfrm>
            <a:custGeom>
              <a:avLst/>
              <a:gdLst>
                <a:gd name="connsiteX0" fmla="*/ 0 w 2232436"/>
                <a:gd name="connsiteY0" fmla="*/ 227029 h 1105786"/>
                <a:gd name="connsiteX1" fmla="*/ 1531279 w 2232436"/>
                <a:gd name="connsiteY1" fmla="*/ 227029 h 1105786"/>
                <a:gd name="connsiteX2" fmla="*/ 1531279 w 2232436"/>
                <a:gd name="connsiteY2" fmla="*/ 0 h 1105786"/>
                <a:gd name="connsiteX3" fmla="*/ 2232436 w 2232436"/>
                <a:gd name="connsiteY3" fmla="*/ 552893 h 1105786"/>
                <a:gd name="connsiteX4" fmla="*/ 1531279 w 2232436"/>
                <a:gd name="connsiteY4" fmla="*/ 1105786 h 1105786"/>
                <a:gd name="connsiteX5" fmla="*/ 1531279 w 2232436"/>
                <a:gd name="connsiteY5" fmla="*/ 878757 h 1105786"/>
                <a:gd name="connsiteX6" fmla="*/ 0 w 2232436"/>
                <a:gd name="connsiteY6" fmla="*/ 878757 h 1105786"/>
                <a:gd name="connsiteX7" fmla="*/ 0 w 2232436"/>
                <a:gd name="connsiteY7" fmla="*/ 227029 h 1105786"/>
                <a:gd name="connsiteX0-1" fmla="*/ 0 w 2232436"/>
                <a:gd name="connsiteY0-2" fmla="*/ 227029 h 1105786"/>
                <a:gd name="connsiteX1-3" fmla="*/ 1531279 w 2232436"/>
                <a:gd name="connsiteY1-4" fmla="*/ 227029 h 1105786"/>
                <a:gd name="connsiteX2-5" fmla="*/ 1531279 w 2232436"/>
                <a:gd name="connsiteY2-6" fmla="*/ 0 h 1105786"/>
                <a:gd name="connsiteX3-7" fmla="*/ 2232436 w 2232436"/>
                <a:gd name="connsiteY3-8" fmla="*/ 552893 h 1105786"/>
                <a:gd name="connsiteX4-9" fmla="*/ 1531279 w 2232436"/>
                <a:gd name="connsiteY4-10" fmla="*/ 1105786 h 1105786"/>
                <a:gd name="connsiteX5-11" fmla="*/ 1531279 w 2232436"/>
                <a:gd name="connsiteY5-12" fmla="*/ 878757 h 1105786"/>
                <a:gd name="connsiteX6-13" fmla="*/ 0 w 2232436"/>
                <a:gd name="connsiteY6-14" fmla="*/ 878757 h 1105786"/>
                <a:gd name="connsiteX7-15" fmla="*/ 0 w 2232436"/>
                <a:gd name="connsiteY7-16" fmla="*/ 227029 h 1105786"/>
                <a:gd name="connsiteX0-17" fmla="*/ 0 w 2232436"/>
                <a:gd name="connsiteY0-18" fmla="*/ 227029 h 1105786"/>
                <a:gd name="connsiteX1-19" fmla="*/ 1531279 w 2232436"/>
                <a:gd name="connsiteY1-20" fmla="*/ 227029 h 1105786"/>
                <a:gd name="connsiteX2-21" fmla="*/ 1531279 w 2232436"/>
                <a:gd name="connsiteY2-22" fmla="*/ 0 h 1105786"/>
                <a:gd name="connsiteX3-23" fmla="*/ 2232436 w 2232436"/>
                <a:gd name="connsiteY3-24" fmla="*/ 552893 h 1105786"/>
                <a:gd name="connsiteX4-25" fmla="*/ 1531279 w 2232436"/>
                <a:gd name="connsiteY4-26" fmla="*/ 1105786 h 1105786"/>
                <a:gd name="connsiteX5-27" fmla="*/ 1531279 w 2232436"/>
                <a:gd name="connsiteY5-28" fmla="*/ 878757 h 1105786"/>
                <a:gd name="connsiteX6-29" fmla="*/ 0 w 2232436"/>
                <a:gd name="connsiteY6-30" fmla="*/ 878757 h 1105786"/>
                <a:gd name="connsiteX7-31" fmla="*/ 0 w 2232436"/>
                <a:gd name="connsiteY7-32" fmla="*/ 227029 h 1105786"/>
                <a:gd name="connsiteX0-33" fmla="*/ 0 w 2232436"/>
                <a:gd name="connsiteY0-34" fmla="*/ 227029 h 1105786"/>
                <a:gd name="connsiteX1-35" fmla="*/ 1531279 w 2232436"/>
                <a:gd name="connsiteY1-36" fmla="*/ 227029 h 1105786"/>
                <a:gd name="connsiteX2-37" fmla="*/ 1531279 w 2232436"/>
                <a:gd name="connsiteY2-38" fmla="*/ 0 h 1105786"/>
                <a:gd name="connsiteX3-39" fmla="*/ 2232436 w 2232436"/>
                <a:gd name="connsiteY3-40" fmla="*/ 552893 h 1105786"/>
                <a:gd name="connsiteX4-41" fmla="*/ 1531279 w 2232436"/>
                <a:gd name="connsiteY4-42" fmla="*/ 1105786 h 1105786"/>
                <a:gd name="connsiteX5-43" fmla="*/ 1531279 w 2232436"/>
                <a:gd name="connsiteY5-44" fmla="*/ 878757 h 1105786"/>
                <a:gd name="connsiteX6-45" fmla="*/ 0 w 2232436"/>
                <a:gd name="connsiteY6-46" fmla="*/ 878757 h 1105786"/>
                <a:gd name="connsiteX7-47" fmla="*/ 0 w 2232436"/>
                <a:gd name="connsiteY7-48" fmla="*/ 227029 h 1105786"/>
                <a:gd name="connsiteX0-49" fmla="*/ 0 w 2232436"/>
                <a:gd name="connsiteY0-50" fmla="*/ 227029 h 1105786"/>
                <a:gd name="connsiteX1-51" fmla="*/ 1531279 w 2232436"/>
                <a:gd name="connsiteY1-52" fmla="*/ 227029 h 1105786"/>
                <a:gd name="connsiteX2-53" fmla="*/ 1531279 w 2232436"/>
                <a:gd name="connsiteY2-54" fmla="*/ 0 h 1105786"/>
                <a:gd name="connsiteX3-55" fmla="*/ 2232436 w 2232436"/>
                <a:gd name="connsiteY3-56" fmla="*/ 552893 h 1105786"/>
                <a:gd name="connsiteX4-57" fmla="*/ 1531279 w 2232436"/>
                <a:gd name="connsiteY4-58" fmla="*/ 1105786 h 1105786"/>
                <a:gd name="connsiteX5-59" fmla="*/ 1531279 w 2232436"/>
                <a:gd name="connsiteY5-60" fmla="*/ 878757 h 1105786"/>
                <a:gd name="connsiteX6-61" fmla="*/ 0 w 2232436"/>
                <a:gd name="connsiteY6-62" fmla="*/ 878757 h 1105786"/>
                <a:gd name="connsiteX7-63" fmla="*/ 0 w 2232436"/>
                <a:gd name="connsiteY7-64" fmla="*/ 227029 h 1105786"/>
                <a:gd name="connsiteX0-65" fmla="*/ 42530 w 2274966"/>
                <a:gd name="connsiteY0-66" fmla="*/ 227029 h 1105786"/>
                <a:gd name="connsiteX1-67" fmla="*/ 1573809 w 2274966"/>
                <a:gd name="connsiteY1-68" fmla="*/ 227029 h 1105786"/>
                <a:gd name="connsiteX2-69" fmla="*/ 1573809 w 2274966"/>
                <a:gd name="connsiteY2-70" fmla="*/ 0 h 1105786"/>
                <a:gd name="connsiteX3-71" fmla="*/ 2274966 w 2274966"/>
                <a:gd name="connsiteY3-72" fmla="*/ 552893 h 1105786"/>
                <a:gd name="connsiteX4-73" fmla="*/ 1573809 w 2274966"/>
                <a:gd name="connsiteY4-74" fmla="*/ 1105786 h 1105786"/>
                <a:gd name="connsiteX5-75" fmla="*/ 1573809 w 2274966"/>
                <a:gd name="connsiteY5-76" fmla="*/ 878757 h 1105786"/>
                <a:gd name="connsiteX6-77" fmla="*/ 42530 w 2274966"/>
                <a:gd name="connsiteY6-78" fmla="*/ 878757 h 1105786"/>
                <a:gd name="connsiteX7-79" fmla="*/ 42530 w 2274966"/>
                <a:gd name="connsiteY7-80" fmla="*/ 227029 h 1105786"/>
                <a:gd name="connsiteX0-81" fmla="*/ 60394 w 2292830"/>
                <a:gd name="connsiteY0-82" fmla="*/ 227029 h 1105786"/>
                <a:gd name="connsiteX1-83" fmla="*/ 1591673 w 2292830"/>
                <a:gd name="connsiteY1-84" fmla="*/ 227029 h 1105786"/>
                <a:gd name="connsiteX2-85" fmla="*/ 1591673 w 2292830"/>
                <a:gd name="connsiteY2-86" fmla="*/ 0 h 1105786"/>
                <a:gd name="connsiteX3-87" fmla="*/ 2292830 w 2292830"/>
                <a:gd name="connsiteY3-88" fmla="*/ 552893 h 1105786"/>
                <a:gd name="connsiteX4-89" fmla="*/ 1591673 w 2292830"/>
                <a:gd name="connsiteY4-90" fmla="*/ 1105786 h 1105786"/>
                <a:gd name="connsiteX5-91" fmla="*/ 1591673 w 2292830"/>
                <a:gd name="connsiteY5-92" fmla="*/ 878757 h 1105786"/>
                <a:gd name="connsiteX6-93" fmla="*/ 60394 w 2292830"/>
                <a:gd name="connsiteY6-94" fmla="*/ 878757 h 1105786"/>
                <a:gd name="connsiteX7-95" fmla="*/ 60394 w 2292830"/>
                <a:gd name="connsiteY7-96" fmla="*/ 227029 h 1105786"/>
                <a:gd name="connsiteX0-97" fmla="*/ 60394 w 2292830"/>
                <a:gd name="connsiteY0-98" fmla="*/ 227029 h 1105786"/>
                <a:gd name="connsiteX1-99" fmla="*/ 1591673 w 2292830"/>
                <a:gd name="connsiteY1-100" fmla="*/ 227029 h 1105786"/>
                <a:gd name="connsiteX2-101" fmla="*/ 1591673 w 2292830"/>
                <a:gd name="connsiteY2-102" fmla="*/ 0 h 1105786"/>
                <a:gd name="connsiteX3-103" fmla="*/ 2292830 w 2292830"/>
                <a:gd name="connsiteY3-104" fmla="*/ 552893 h 1105786"/>
                <a:gd name="connsiteX4-105" fmla="*/ 1591673 w 2292830"/>
                <a:gd name="connsiteY4-106" fmla="*/ 1105786 h 1105786"/>
                <a:gd name="connsiteX5-107" fmla="*/ 1591673 w 2292830"/>
                <a:gd name="connsiteY5-108" fmla="*/ 878757 h 1105786"/>
                <a:gd name="connsiteX6-109" fmla="*/ 60394 w 2292830"/>
                <a:gd name="connsiteY6-110" fmla="*/ 878757 h 1105786"/>
                <a:gd name="connsiteX7-111" fmla="*/ 60394 w 2292830"/>
                <a:gd name="connsiteY7-112" fmla="*/ 227029 h 1105786"/>
                <a:gd name="connsiteX0-113" fmla="*/ 60394 w 2292830"/>
                <a:gd name="connsiteY0-114" fmla="*/ 227029 h 1105786"/>
                <a:gd name="connsiteX1-115" fmla="*/ 1591673 w 2292830"/>
                <a:gd name="connsiteY1-116" fmla="*/ 227029 h 1105786"/>
                <a:gd name="connsiteX2-117" fmla="*/ 1591673 w 2292830"/>
                <a:gd name="connsiteY2-118" fmla="*/ 0 h 1105786"/>
                <a:gd name="connsiteX3-119" fmla="*/ 2292830 w 2292830"/>
                <a:gd name="connsiteY3-120" fmla="*/ 552893 h 1105786"/>
                <a:gd name="connsiteX4-121" fmla="*/ 1591673 w 2292830"/>
                <a:gd name="connsiteY4-122" fmla="*/ 1105786 h 1105786"/>
                <a:gd name="connsiteX5-123" fmla="*/ 1591673 w 2292830"/>
                <a:gd name="connsiteY5-124" fmla="*/ 878757 h 1105786"/>
                <a:gd name="connsiteX6-125" fmla="*/ 60394 w 2292830"/>
                <a:gd name="connsiteY6-126" fmla="*/ 878757 h 1105786"/>
                <a:gd name="connsiteX7-127" fmla="*/ 60394 w 2292830"/>
                <a:gd name="connsiteY7-128" fmla="*/ 227029 h 11057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292830" h="1105786">
                  <a:moveTo>
                    <a:pt x="60394" y="227029"/>
                  </a:moveTo>
                  <a:cubicBezTo>
                    <a:pt x="592085" y="88806"/>
                    <a:pt x="1006819" y="407782"/>
                    <a:pt x="1591673" y="227029"/>
                  </a:cubicBezTo>
                  <a:lnTo>
                    <a:pt x="1591673" y="0"/>
                  </a:lnTo>
                  <a:cubicBezTo>
                    <a:pt x="1867922" y="354419"/>
                    <a:pt x="2059111" y="368595"/>
                    <a:pt x="2292830" y="552893"/>
                  </a:cubicBezTo>
                  <a:cubicBezTo>
                    <a:pt x="2059111" y="737191"/>
                    <a:pt x="1761597" y="878958"/>
                    <a:pt x="1591673" y="1105786"/>
                  </a:cubicBezTo>
                  <a:lnTo>
                    <a:pt x="1591673" y="878757"/>
                  </a:lnTo>
                  <a:cubicBezTo>
                    <a:pt x="1113145" y="666106"/>
                    <a:pt x="538922" y="1038246"/>
                    <a:pt x="60394" y="878757"/>
                  </a:cubicBezTo>
                  <a:cubicBezTo>
                    <a:pt x="-35299" y="640249"/>
                    <a:pt x="-3402" y="444272"/>
                    <a:pt x="60394" y="227029"/>
                  </a:cubicBezTo>
                  <a:close/>
                </a:path>
              </a:pathLst>
            </a:custGeom>
            <a:solidFill>
              <a:srgbClr val="4F88BB"/>
            </a:solidFill>
            <a:ln>
              <a:noFill/>
            </a:ln>
            <a:effectLst>
              <a:outerShdw blurRad="50800" dist="38100" algn="l" rotWithShape="0">
                <a:schemeClr val="bg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ight Arrow 8"/>
            <p:cNvSpPr/>
            <p:nvPr/>
          </p:nvSpPr>
          <p:spPr>
            <a:xfrm>
              <a:off x="3851" y="5317"/>
              <a:ext cx="3611" cy="1445"/>
            </a:xfrm>
            <a:custGeom>
              <a:avLst/>
              <a:gdLst>
                <a:gd name="connsiteX0" fmla="*/ 0 w 2232436"/>
                <a:gd name="connsiteY0" fmla="*/ 227029 h 1105786"/>
                <a:gd name="connsiteX1" fmla="*/ 1531279 w 2232436"/>
                <a:gd name="connsiteY1" fmla="*/ 227029 h 1105786"/>
                <a:gd name="connsiteX2" fmla="*/ 1531279 w 2232436"/>
                <a:gd name="connsiteY2" fmla="*/ 0 h 1105786"/>
                <a:gd name="connsiteX3" fmla="*/ 2232436 w 2232436"/>
                <a:gd name="connsiteY3" fmla="*/ 552893 h 1105786"/>
                <a:gd name="connsiteX4" fmla="*/ 1531279 w 2232436"/>
                <a:gd name="connsiteY4" fmla="*/ 1105786 h 1105786"/>
                <a:gd name="connsiteX5" fmla="*/ 1531279 w 2232436"/>
                <a:gd name="connsiteY5" fmla="*/ 878757 h 1105786"/>
                <a:gd name="connsiteX6" fmla="*/ 0 w 2232436"/>
                <a:gd name="connsiteY6" fmla="*/ 878757 h 1105786"/>
                <a:gd name="connsiteX7" fmla="*/ 0 w 2232436"/>
                <a:gd name="connsiteY7" fmla="*/ 227029 h 1105786"/>
                <a:gd name="connsiteX0-1" fmla="*/ 0 w 2232436"/>
                <a:gd name="connsiteY0-2" fmla="*/ 227029 h 1105786"/>
                <a:gd name="connsiteX1-3" fmla="*/ 1531279 w 2232436"/>
                <a:gd name="connsiteY1-4" fmla="*/ 227029 h 1105786"/>
                <a:gd name="connsiteX2-5" fmla="*/ 1531279 w 2232436"/>
                <a:gd name="connsiteY2-6" fmla="*/ 0 h 1105786"/>
                <a:gd name="connsiteX3-7" fmla="*/ 2232436 w 2232436"/>
                <a:gd name="connsiteY3-8" fmla="*/ 552893 h 1105786"/>
                <a:gd name="connsiteX4-9" fmla="*/ 1531279 w 2232436"/>
                <a:gd name="connsiteY4-10" fmla="*/ 1105786 h 1105786"/>
                <a:gd name="connsiteX5-11" fmla="*/ 1531279 w 2232436"/>
                <a:gd name="connsiteY5-12" fmla="*/ 878757 h 1105786"/>
                <a:gd name="connsiteX6-13" fmla="*/ 0 w 2232436"/>
                <a:gd name="connsiteY6-14" fmla="*/ 878757 h 1105786"/>
                <a:gd name="connsiteX7-15" fmla="*/ 0 w 2232436"/>
                <a:gd name="connsiteY7-16" fmla="*/ 227029 h 1105786"/>
                <a:gd name="connsiteX0-17" fmla="*/ 0 w 2232436"/>
                <a:gd name="connsiteY0-18" fmla="*/ 227029 h 1105786"/>
                <a:gd name="connsiteX1-19" fmla="*/ 1531279 w 2232436"/>
                <a:gd name="connsiteY1-20" fmla="*/ 227029 h 1105786"/>
                <a:gd name="connsiteX2-21" fmla="*/ 1531279 w 2232436"/>
                <a:gd name="connsiteY2-22" fmla="*/ 0 h 1105786"/>
                <a:gd name="connsiteX3-23" fmla="*/ 2232436 w 2232436"/>
                <a:gd name="connsiteY3-24" fmla="*/ 552893 h 1105786"/>
                <a:gd name="connsiteX4-25" fmla="*/ 1531279 w 2232436"/>
                <a:gd name="connsiteY4-26" fmla="*/ 1105786 h 1105786"/>
                <a:gd name="connsiteX5-27" fmla="*/ 1531279 w 2232436"/>
                <a:gd name="connsiteY5-28" fmla="*/ 878757 h 1105786"/>
                <a:gd name="connsiteX6-29" fmla="*/ 0 w 2232436"/>
                <a:gd name="connsiteY6-30" fmla="*/ 878757 h 1105786"/>
                <a:gd name="connsiteX7-31" fmla="*/ 0 w 2232436"/>
                <a:gd name="connsiteY7-32" fmla="*/ 227029 h 1105786"/>
                <a:gd name="connsiteX0-33" fmla="*/ 0 w 2232436"/>
                <a:gd name="connsiteY0-34" fmla="*/ 227029 h 1105786"/>
                <a:gd name="connsiteX1-35" fmla="*/ 1531279 w 2232436"/>
                <a:gd name="connsiteY1-36" fmla="*/ 227029 h 1105786"/>
                <a:gd name="connsiteX2-37" fmla="*/ 1531279 w 2232436"/>
                <a:gd name="connsiteY2-38" fmla="*/ 0 h 1105786"/>
                <a:gd name="connsiteX3-39" fmla="*/ 2232436 w 2232436"/>
                <a:gd name="connsiteY3-40" fmla="*/ 552893 h 1105786"/>
                <a:gd name="connsiteX4-41" fmla="*/ 1531279 w 2232436"/>
                <a:gd name="connsiteY4-42" fmla="*/ 1105786 h 1105786"/>
                <a:gd name="connsiteX5-43" fmla="*/ 1531279 w 2232436"/>
                <a:gd name="connsiteY5-44" fmla="*/ 878757 h 1105786"/>
                <a:gd name="connsiteX6-45" fmla="*/ 0 w 2232436"/>
                <a:gd name="connsiteY6-46" fmla="*/ 878757 h 1105786"/>
                <a:gd name="connsiteX7-47" fmla="*/ 0 w 2232436"/>
                <a:gd name="connsiteY7-48" fmla="*/ 227029 h 1105786"/>
                <a:gd name="connsiteX0-49" fmla="*/ 0 w 2232436"/>
                <a:gd name="connsiteY0-50" fmla="*/ 227029 h 1105786"/>
                <a:gd name="connsiteX1-51" fmla="*/ 1531279 w 2232436"/>
                <a:gd name="connsiteY1-52" fmla="*/ 227029 h 1105786"/>
                <a:gd name="connsiteX2-53" fmla="*/ 1531279 w 2232436"/>
                <a:gd name="connsiteY2-54" fmla="*/ 0 h 1105786"/>
                <a:gd name="connsiteX3-55" fmla="*/ 2232436 w 2232436"/>
                <a:gd name="connsiteY3-56" fmla="*/ 552893 h 1105786"/>
                <a:gd name="connsiteX4-57" fmla="*/ 1531279 w 2232436"/>
                <a:gd name="connsiteY4-58" fmla="*/ 1105786 h 1105786"/>
                <a:gd name="connsiteX5-59" fmla="*/ 1531279 w 2232436"/>
                <a:gd name="connsiteY5-60" fmla="*/ 878757 h 1105786"/>
                <a:gd name="connsiteX6-61" fmla="*/ 0 w 2232436"/>
                <a:gd name="connsiteY6-62" fmla="*/ 878757 h 1105786"/>
                <a:gd name="connsiteX7-63" fmla="*/ 0 w 2232436"/>
                <a:gd name="connsiteY7-64" fmla="*/ 227029 h 1105786"/>
                <a:gd name="connsiteX0-65" fmla="*/ 42530 w 2274966"/>
                <a:gd name="connsiteY0-66" fmla="*/ 227029 h 1105786"/>
                <a:gd name="connsiteX1-67" fmla="*/ 1573809 w 2274966"/>
                <a:gd name="connsiteY1-68" fmla="*/ 227029 h 1105786"/>
                <a:gd name="connsiteX2-69" fmla="*/ 1573809 w 2274966"/>
                <a:gd name="connsiteY2-70" fmla="*/ 0 h 1105786"/>
                <a:gd name="connsiteX3-71" fmla="*/ 2274966 w 2274966"/>
                <a:gd name="connsiteY3-72" fmla="*/ 552893 h 1105786"/>
                <a:gd name="connsiteX4-73" fmla="*/ 1573809 w 2274966"/>
                <a:gd name="connsiteY4-74" fmla="*/ 1105786 h 1105786"/>
                <a:gd name="connsiteX5-75" fmla="*/ 1573809 w 2274966"/>
                <a:gd name="connsiteY5-76" fmla="*/ 878757 h 1105786"/>
                <a:gd name="connsiteX6-77" fmla="*/ 42530 w 2274966"/>
                <a:gd name="connsiteY6-78" fmla="*/ 878757 h 1105786"/>
                <a:gd name="connsiteX7-79" fmla="*/ 42530 w 2274966"/>
                <a:gd name="connsiteY7-80" fmla="*/ 227029 h 1105786"/>
                <a:gd name="connsiteX0-81" fmla="*/ 60394 w 2292830"/>
                <a:gd name="connsiteY0-82" fmla="*/ 227029 h 1105786"/>
                <a:gd name="connsiteX1-83" fmla="*/ 1591673 w 2292830"/>
                <a:gd name="connsiteY1-84" fmla="*/ 227029 h 1105786"/>
                <a:gd name="connsiteX2-85" fmla="*/ 1591673 w 2292830"/>
                <a:gd name="connsiteY2-86" fmla="*/ 0 h 1105786"/>
                <a:gd name="connsiteX3-87" fmla="*/ 2292830 w 2292830"/>
                <a:gd name="connsiteY3-88" fmla="*/ 552893 h 1105786"/>
                <a:gd name="connsiteX4-89" fmla="*/ 1591673 w 2292830"/>
                <a:gd name="connsiteY4-90" fmla="*/ 1105786 h 1105786"/>
                <a:gd name="connsiteX5-91" fmla="*/ 1591673 w 2292830"/>
                <a:gd name="connsiteY5-92" fmla="*/ 878757 h 1105786"/>
                <a:gd name="connsiteX6-93" fmla="*/ 60394 w 2292830"/>
                <a:gd name="connsiteY6-94" fmla="*/ 878757 h 1105786"/>
                <a:gd name="connsiteX7-95" fmla="*/ 60394 w 2292830"/>
                <a:gd name="connsiteY7-96" fmla="*/ 227029 h 1105786"/>
                <a:gd name="connsiteX0-97" fmla="*/ 60394 w 2292830"/>
                <a:gd name="connsiteY0-98" fmla="*/ 227029 h 1105786"/>
                <a:gd name="connsiteX1-99" fmla="*/ 1591673 w 2292830"/>
                <a:gd name="connsiteY1-100" fmla="*/ 227029 h 1105786"/>
                <a:gd name="connsiteX2-101" fmla="*/ 1591673 w 2292830"/>
                <a:gd name="connsiteY2-102" fmla="*/ 0 h 1105786"/>
                <a:gd name="connsiteX3-103" fmla="*/ 2292830 w 2292830"/>
                <a:gd name="connsiteY3-104" fmla="*/ 552893 h 1105786"/>
                <a:gd name="connsiteX4-105" fmla="*/ 1591673 w 2292830"/>
                <a:gd name="connsiteY4-106" fmla="*/ 1105786 h 1105786"/>
                <a:gd name="connsiteX5-107" fmla="*/ 1591673 w 2292830"/>
                <a:gd name="connsiteY5-108" fmla="*/ 878757 h 1105786"/>
                <a:gd name="connsiteX6-109" fmla="*/ 60394 w 2292830"/>
                <a:gd name="connsiteY6-110" fmla="*/ 878757 h 1105786"/>
                <a:gd name="connsiteX7-111" fmla="*/ 60394 w 2292830"/>
                <a:gd name="connsiteY7-112" fmla="*/ 227029 h 1105786"/>
                <a:gd name="connsiteX0-113" fmla="*/ 60394 w 2292830"/>
                <a:gd name="connsiteY0-114" fmla="*/ 227029 h 1105786"/>
                <a:gd name="connsiteX1-115" fmla="*/ 1591673 w 2292830"/>
                <a:gd name="connsiteY1-116" fmla="*/ 227029 h 1105786"/>
                <a:gd name="connsiteX2-117" fmla="*/ 1591673 w 2292830"/>
                <a:gd name="connsiteY2-118" fmla="*/ 0 h 1105786"/>
                <a:gd name="connsiteX3-119" fmla="*/ 2292830 w 2292830"/>
                <a:gd name="connsiteY3-120" fmla="*/ 552893 h 1105786"/>
                <a:gd name="connsiteX4-121" fmla="*/ 1591673 w 2292830"/>
                <a:gd name="connsiteY4-122" fmla="*/ 1105786 h 1105786"/>
                <a:gd name="connsiteX5-123" fmla="*/ 1591673 w 2292830"/>
                <a:gd name="connsiteY5-124" fmla="*/ 878757 h 1105786"/>
                <a:gd name="connsiteX6-125" fmla="*/ 60394 w 2292830"/>
                <a:gd name="connsiteY6-126" fmla="*/ 878757 h 1105786"/>
                <a:gd name="connsiteX7-127" fmla="*/ 60394 w 2292830"/>
                <a:gd name="connsiteY7-128" fmla="*/ 227029 h 11057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292830" h="1105786">
                  <a:moveTo>
                    <a:pt x="60394" y="227029"/>
                  </a:moveTo>
                  <a:cubicBezTo>
                    <a:pt x="592085" y="88806"/>
                    <a:pt x="1006819" y="407782"/>
                    <a:pt x="1591673" y="227029"/>
                  </a:cubicBezTo>
                  <a:lnTo>
                    <a:pt x="1591673" y="0"/>
                  </a:lnTo>
                  <a:cubicBezTo>
                    <a:pt x="1867922" y="354419"/>
                    <a:pt x="2059111" y="368595"/>
                    <a:pt x="2292830" y="552893"/>
                  </a:cubicBezTo>
                  <a:cubicBezTo>
                    <a:pt x="2059111" y="737191"/>
                    <a:pt x="1761597" y="878958"/>
                    <a:pt x="1591673" y="1105786"/>
                  </a:cubicBezTo>
                  <a:lnTo>
                    <a:pt x="1591673" y="878757"/>
                  </a:lnTo>
                  <a:cubicBezTo>
                    <a:pt x="1113145" y="666106"/>
                    <a:pt x="538922" y="1038246"/>
                    <a:pt x="60394" y="878757"/>
                  </a:cubicBezTo>
                  <a:cubicBezTo>
                    <a:pt x="-35299" y="640249"/>
                    <a:pt x="-3402" y="444272"/>
                    <a:pt x="60394" y="227029"/>
                  </a:cubicBezTo>
                  <a:close/>
                </a:path>
              </a:pathLst>
            </a:custGeom>
            <a:solidFill>
              <a:srgbClr val="63A3CF"/>
            </a:solidFill>
            <a:ln>
              <a:noFill/>
            </a:ln>
            <a:effectLst>
              <a:outerShdw blurRad="50800" dist="38100" algn="l" rotWithShape="0">
                <a:schemeClr val="bg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ight Arrow 8"/>
            <p:cNvSpPr/>
            <p:nvPr/>
          </p:nvSpPr>
          <p:spPr>
            <a:xfrm>
              <a:off x="841" y="5316"/>
              <a:ext cx="3611" cy="1446"/>
            </a:xfrm>
            <a:custGeom>
              <a:avLst/>
              <a:gdLst>
                <a:gd name="connsiteX0" fmla="*/ 0 w 2232436"/>
                <a:gd name="connsiteY0" fmla="*/ 227029 h 1105786"/>
                <a:gd name="connsiteX1" fmla="*/ 1531279 w 2232436"/>
                <a:gd name="connsiteY1" fmla="*/ 227029 h 1105786"/>
                <a:gd name="connsiteX2" fmla="*/ 1531279 w 2232436"/>
                <a:gd name="connsiteY2" fmla="*/ 0 h 1105786"/>
                <a:gd name="connsiteX3" fmla="*/ 2232436 w 2232436"/>
                <a:gd name="connsiteY3" fmla="*/ 552893 h 1105786"/>
                <a:gd name="connsiteX4" fmla="*/ 1531279 w 2232436"/>
                <a:gd name="connsiteY4" fmla="*/ 1105786 h 1105786"/>
                <a:gd name="connsiteX5" fmla="*/ 1531279 w 2232436"/>
                <a:gd name="connsiteY5" fmla="*/ 878757 h 1105786"/>
                <a:gd name="connsiteX6" fmla="*/ 0 w 2232436"/>
                <a:gd name="connsiteY6" fmla="*/ 878757 h 1105786"/>
                <a:gd name="connsiteX7" fmla="*/ 0 w 2232436"/>
                <a:gd name="connsiteY7" fmla="*/ 227029 h 1105786"/>
                <a:gd name="connsiteX0-1" fmla="*/ 0 w 2232436"/>
                <a:gd name="connsiteY0-2" fmla="*/ 227029 h 1105786"/>
                <a:gd name="connsiteX1-3" fmla="*/ 1531279 w 2232436"/>
                <a:gd name="connsiteY1-4" fmla="*/ 227029 h 1105786"/>
                <a:gd name="connsiteX2-5" fmla="*/ 1531279 w 2232436"/>
                <a:gd name="connsiteY2-6" fmla="*/ 0 h 1105786"/>
                <a:gd name="connsiteX3-7" fmla="*/ 2232436 w 2232436"/>
                <a:gd name="connsiteY3-8" fmla="*/ 552893 h 1105786"/>
                <a:gd name="connsiteX4-9" fmla="*/ 1531279 w 2232436"/>
                <a:gd name="connsiteY4-10" fmla="*/ 1105786 h 1105786"/>
                <a:gd name="connsiteX5-11" fmla="*/ 1531279 w 2232436"/>
                <a:gd name="connsiteY5-12" fmla="*/ 878757 h 1105786"/>
                <a:gd name="connsiteX6-13" fmla="*/ 0 w 2232436"/>
                <a:gd name="connsiteY6-14" fmla="*/ 878757 h 1105786"/>
                <a:gd name="connsiteX7-15" fmla="*/ 0 w 2232436"/>
                <a:gd name="connsiteY7-16" fmla="*/ 227029 h 1105786"/>
                <a:gd name="connsiteX0-17" fmla="*/ 0 w 2232436"/>
                <a:gd name="connsiteY0-18" fmla="*/ 227029 h 1105786"/>
                <a:gd name="connsiteX1-19" fmla="*/ 1531279 w 2232436"/>
                <a:gd name="connsiteY1-20" fmla="*/ 227029 h 1105786"/>
                <a:gd name="connsiteX2-21" fmla="*/ 1531279 w 2232436"/>
                <a:gd name="connsiteY2-22" fmla="*/ 0 h 1105786"/>
                <a:gd name="connsiteX3-23" fmla="*/ 2232436 w 2232436"/>
                <a:gd name="connsiteY3-24" fmla="*/ 552893 h 1105786"/>
                <a:gd name="connsiteX4-25" fmla="*/ 1531279 w 2232436"/>
                <a:gd name="connsiteY4-26" fmla="*/ 1105786 h 1105786"/>
                <a:gd name="connsiteX5-27" fmla="*/ 1531279 w 2232436"/>
                <a:gd name="connsiteY5-28" fmla="*/ 878757 h 1105786"/>
                <a:gd name="connsiteX6-29" fmla="*/ 0 w 2232436"/>
                <a:gd name="connsiteY6-30" fmla="*/ 878757 h 1105786"/>
                <a:gd name="connsiteX7-31" fmla="*/ 0 w 2232436"/>
                <a:gd name="connsiteY7-32" fmla="*/ 227029 h 1105786"/>
                <a:gd name="connsiteX0-33" fmla="*/ 0 w 2232436"/>
                <a:gd name="connsiteY0-34" fmla="*/ 227029 h 1105786"/>
                <a:gd name="connsiteX1-35" fmla="*/ 1531279 w 2232436"/>
                <a:gd name="connsiteY1-36" fmla="*/ 227029 h 1105786"/>
                <a:gd name="connsiteX2-37" fmla="*/ 1531279 w 2232436"/>
                <a:gd name="connsiteY2-38" fmla="*/ 0 h 1105786"/>
                <a:gd name="connsiteX3-39" fmla="*/ 2232436 w 2232436"/>
                <a:gd name="connsiteY3-40" fmla="*/ 552893 h 1105786"/>
                <a:gd name="connsiteX4-41" fmla="*/ 1531279 w 2232436"/>
                <a:gd name="connsiteY4-42" fmla="*/ 1105786 h 1105786"/>
                <a:gd name="connsiteX5-43" fmla="*/ 1531279 w 2232436"/>
                <a:gd name="connsiteY5-44" fmla="*/ 878757 h 1105786"/>
                <a:gd name="connsiteX6-45" fmla="*/ 0 w 2232436"/>
                <a:gd name="connsiteY6-46" fmla="*/ 878757 h 1105786"/>
                <a:gd name="connsiteX7-47" fmla="*/ 0 w 2232436"/>
                <a:gd name="connsiteY7-48" fmla="*/ 227029 h 1105786"/>
                <a:gd name="connsiteX0-49" fmla="*/ 0 w 2232436"/>
                <a:gd name="connsiteY0-50" fmla="*/ 227029 h 1105786"/>
                <a:gd name="connsiteX1-51" fmla="*/ 1531279 w 2232436"/>
                <a:gd name="connsiteY1-52" fmla="*/ 227029 h 1105786"/>
                <a:gd name="connsiteX2-53" fmla="*/ 1531279 w 2232436"/>
                <a:gd name="connsiteY2-54" fmla="*/ 0 h 1105786"/>
                <a:gd name="connsiteX3-55" fmla="*/ 2232436 w 2232436"/>
                <a:gd name="connsiteY3-56" fmla="*/ 552893 h 1105786"/>
                <a:gd name="connsiteX4-57" fmla="*/ 1531279 w 2232436"/>
                <a:gd name="connsiteY4-58" fmla="*/ 1105786 h 1105786"/>
                <a:gd name="connsiteX5-59" fmla="*/ 1531279 w 2232436"/>
                <a:gd name="connsiteY5-60" fmla="*/ 878757 h 1105786"/>
                <a:gd name="connsiteX6-61" fmla="*/ 0 w 2232436"/>
                <a:gd name="connsiteY6-62" fmla="*/ 878757 h 1105786"/>
                <a:gd name="connsiteX7-63" fmla="*/ 0 w 2232436"/>
                <a:gd name="connsiteY7-64" fmla="*/ 227029 h 1105786"/>
                <a:gd name="connsiteX0-65" fmla="*/ 42530 w 2274966"/>
                <a:gd name="connsiteY0-66" fmla="*/ 227029 h 1105786"/>
                <a:gd name="connsiteX1-67" fmla="*/ 1573809 w 2274966"/>
                <a:gd name="connsiteY1-68" fmla="*/ 227029 h 1105786"/>
                <a:gd name="connsiteX2-69" fmla="*/ 1573809 w 2274966"/>
                <a:gd name="connsiteY2-70" fmla="*/ 0 h 1105786"/>
                <a:gd name="connsiteX3-71" fmla="*/ 2274966 w 2274966"/>
                <a:gd name="connsiteY3-72" fmla="*/ 552893 h 1105786"/>
                <a:gd name="connsiteX4-73" fmla="*/ 1573809 w 2274966"/>
                <a:gd name="connsiteY4-74" fmla="*/ 1105786 h 1105786"/>
                <a:gd name="connsiteX5-75" fmla="*/ 1573809 w 2274966"/>
                <a:gd name="connsiteY5-76" fmla="*/ 878757 h 1105786"/>
                <a:gd name="connsiteX6-77" fmla="*/ 42530 w 2274966"/>
                <a:gd name="connsiteY6-78" fmla="*/ 878757 h 1105786"/>
                <a:gd name="connsiteX7-79" fmla="*/ 42530 w 2274966"/>
                <a:gd name="connsiteY7-80" fmla="*/ 227029 h 1105786"/>
                <a:gd name="connsiteX0-81" fmla="*/ 60394 w 2292830"/>
                <a:gd name="connsiteY0-82" fmla="*/ 227029 h 1105786"/>
                <a:gd name="connsiteX1-83" fmla="*/ 1591673 w 2292830"/>
                <a:gd name="connsiteY1-84" fmla="*/ 227029 h 1105786"/>
                <a:gd name="connsiteX2-85" fmla="*/ 1591673 w 2292830"/>
                <a:gd name="connsiteY2-86" fmla="*/ 0 h 1105786"/>
                <a:gd name="connsiteX3-87" fmla="*/ 2292830 w 2292830"/>
                <a:gd name="connsiteY3-88" fmla="*/ 552893 h 1105786"/>
                <a:gd name="connsiteX4-89" fmla="*/ 1591673 w 2292830"/>
                <a:gd name="connsiteY4-90" fmla="*/ 1105786 h 1105786"/>
                <a:gd name="connsiteX5-91" fmla="*/ 1591673 w 2292830"/>
                <a:gd name="connsiteY5-92" fmla="*/ 878757 h 1105786"/>
                <a:gd name="connsiteX6-93" fmla="*/ 60394 w 2292830"/>
                <a:gd name="connsiteY6-94" fmla="*/ 878757 h 1105786"/>
                <a:gd name="connsiteX7-95" fmla="*/ 60394 w 2292830"/>
                <a:gd name="connsiteY7-96" fmla="*/ 227029 h 1105786"/>
                <a:gd name="connsiteX0-97" fmla="*/ 60394 w 2292830"/>
                <a:gd name="connsiteY0-98" fmla="*/ 227029 h 1105786"/>
                <a:gd name="connsiteX1-99" fmla="*/ 1591673 w 2292830"/>
                <a:gd name="connsiteY1-100" fmla="*/ 227029 h 1105786"/>
                <a:gd name="connsiteX2-101" fmla="*/ 1591673 w 2292830"/>
                <a:gd name="connsiteY2-102" fmla="*/ 0 h 1105786"/>
                <a:gd name="connsiteX3-103" fmla="*/ 2292830 w 2292830"/>
                <a:gd name="connsiteY3-104" fmla="*/ 552893 h 1105786"/>
                <a:gd name="connsiteX4-105" fmla="*/ 1591673 w 2292830"/>
                <a:gd name="connsiteY4-106" fmla="*/ 1105786 h 1105786"/>
                <a:gd name="connsiteX5-107" fmla="*/ 1591673 w 2292830"/>
                <a:gd name="connsiteY5-108" fmla="*/ 878757 h 1105786"/>
                <a:gd name="connsiteX6-109" fmla="*/ 60394 w 2292830"/>
                <a:gd name="connsiteY6-110" fmla="*/ 878757 h 1105786"/>
                <a:gd name="connsiteX7-111" fmla="*/ 60394 w 2292830"/>
                <a:gd name="connsiteY7-112" fmla="*/ 227029 h 1105786"/>
                <a:gd name="connsiteX0-113" fmla="*/ 60394 w 2292830"/>
                <a:gd name="connsiteY0-114" fmla="*/ 227029 h 1105786"/>
                <a:gd name="connsiteX1-115" fmla="*/ 1591673 w 2292830"/>
                <a:gd name="connsiteY1-116" fmla="*/ 227029 h 1105786"/>
                <a:gd name="connsiteX2-117" fmla="*/ 1591673 w 2292830"/>
                <a:gd name="connsiteY2-118" fmla="*/ 0 h 1105786"/>
                <a:gd name="connsiteX3-119" fmla="*/ 2292830 w 2292830"/>
                <a:gd name="connsiteY3-120" fmla="*/ 552893 h 1105786"/>
                <a:gd name="connsiteX4-121" fmla="*/ 1591673 w 2292830"/>
                <a:gd name="connsiteY4-122" fmla="*/ 1105786 h 1105786"/>
                <a:gd name="connsiteX5-123" fmla="*/ 1591673 w 2292830"/>
                <a:gd name="connsiteY5-124" fmla="*/ 878757 h 1105786"/>
                <a:gd name="connsiteX6-125" fmla="*/ 60394 w 2292830"/>
                <a:gd name="connsiteY6-126" fmla="*/ 878757 h 1105786"/>
                <a:gd name="connsiteX7-127" fmla="*/ 60394 w 2292830"/>
                <a:gd name="connsiteY7-128" fmla="*/ 227029 h 11057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292830" h="1105786">
                  <a:moveTo>
                    <a:pt x="60394" y="227029"/>
                  </a:moveTo>
                  <a:cubicBezTo>
                    <a:pt x="592085" y="88806"/>
                    <a:pt x="1006819" y="407782"/>
                    <a:pt x="1591673" y="227029"/>
                  </a:cubicBezTo>
                  <a:lnTo>
                    <a:pt x="1591673" y="0"/>
                  </a:lnTo>
                  <a:cubicBezTo>
                    <a:pt x="1867922" y="354419"/>
                    <a:pt x="2059111" y="368595"/>
                    <a:pt x="2292830" y="552893"/>
                  </a:cubicBezTo>
                  <a:cubicBezTo>
                    <a:pt x="2059111" y="737191"/>
                    <a:pt x="1761597" y="878958"/>
                    <a:pt x="1591673" y="1105786"/>
                  </a:cubicBezTo>
                  <a:lnTo>
                    <a:pt x="1591673" y="878757"/>
                  </a:lnTo>
                  <a:cubicBezTo>
                    <a:pt x="1113145" y="666106"/>
                    <a:pt x="538922" y="1038246"/>
                    <a:pt x="60394" y="878757"/>
                  </a:cubicBezTo>
                  <a:cubicBezTo>
                    <a:pt x="-35299" y="640249"/>
                    <a:pt x="-3402" y="444272"/>
                    <a:pt x="60394" y="227029"/>
                  </a:cubicBezTo>
                  <a:close/>
                </a:path>
              </a:pathLst>
            </a:custGeom>
            <a:solidFill>
              <a:srgbClr val="8BA7DE"/>
            </a:solidFill>
            <a:ln>
              <a:noFill/>
            </a:ln>
            <a:effectLst>
              <a:outerShdw blurRad="50800" dist="38100" algn="l" rotWithShape="0">
                <a:schemeClr val="bg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13"/>
            <p:cNvSpPr txBox="1"/>
            <p:nvPr/>
          </p:nvSpPr>
          <p:spPr>
            <a:xfrm>
              <a:off x="1326" y="5730"/>
              <a:ext cx="1980" cy="483"/>
            </a:xfrm>
            <a:prstGeom prst="rect">
              <a:avLst/>
            </a:prstGeom>
            <a:noFill/>
          </p:spPr>
          <p:txBody>
            <a:bodyPr wrap="none" rtlCol="0">
              <a:spAutoFit/>
            </a:bodyPr>
            <a:lstStyle/>
            <a:p>
              <a:pPr algn="ctr"/>
              <a:r>
                <a:rPr lang="zh-CN" alt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规划筹备阶段</a:t>
              </a:r>
              <a:endParaRPr lang="zh-CN" alt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TextBox 14"/>
            <p:cNvSpPr txBox="1"/>
            <p:nvPr/>
          </p:nvSpPr>
          <p:spPr>
            <a:xfrm>
              <a:off x="4370" y="5730"/>
              <a:ext cx="1980" cy="483"/>
            </a:xfrm>
            <a:prstGeom prst="rect">
              <a:avLst/>
            </a:prstGeom>
            <a:noFill/>
          </p:spPr>
          <p:txBody>
            <a:bodyPr wrap="none" rtlCol="0">
              <a:spAutoFit/>
            </a:bodyPr>
            <a:lstStyle/>
            <a:p>
              <a:pPr algn="ctr"/>
              <a:r>
                <a:rPr lang="zh-CN" alt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平台搭建阶段</a:t>
              </a:r>
              <a:endParaRPr lang="zh-CN" alt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TextBox 15"/>
            <p:cNvSpPr txBox="1"/>
            <p:nvPr/>
          </p:nvSpPr>
          <p:spPr>
            <a:xfrm>
              <a:off x="7414" y="5730"/>
              <a:ext cx="1980" cy="483"/>
            </a:xfrm>
            <a:prstGeom prst="rect">
              <a:avLst/>
            </a:prstGeom>
            <a:noFill/>
          </p:spPr>
          <p:txBody>
            <a:bodyPr wrap="none" rtlCol="0">
              <a:spAutoFit/>
            </a:bodyPr>
            <a:lstStyle/>
            <a:p>
              <a:pPr algn="ctr"/>
              <a:r>
                <a:rPr lang="zh-CN" alt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注册入市阶段</a:t>
              </a:r>
              <a:endParaRPr lang="zh-CN" alt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4" name="TextBox 16"/>
            <p:cNvSpPr txBox="1"/>
            <p:nvPr/>
          </p:nvSpPr>
          <p:spPr>
            <a:xfrm>
              <a:off x="9977" y="5730"/>
              <a:ext cx="2948" cy="483"/>
            </a:xfrm>
            <a:prstGeom prst="rect">
              <a:avLst/>
            </a:prstGeom>
            <a:noFill/>
          </p:spPr>
          <p:txBody>
            <a:bodyPr wrap="square" rtlCol="0">
              <a:spAutoFit/>
            </a:bodyPr>
            <a:lstStyle/>
            <a:p>
              <a:pPr algn="ctr"/>
              <a:r>
                <a:rPr lang="zh-CN" alt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运营交易阶段</a:t>
              </a:r>
              <a:endParaRPr lang="zh-CN" alt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5" name="Straight Connector 32"/>
            <p:cNvCxnSpPr/>
            <p:nvPr/>
          </p:nvCxnSpPr>
          <p:spPr>
            <a:xfrm>
              <a:off x="5490" y="6312"/>
              <a:ext cx="0" cy="1212"/>
            </a:xfrm>
            <a:prstGeom prst="line">
              <a:avLst/>
            </a:prstGeom>
            <a:ln>
              <a:solidFill>
                <a:srgbClr val="7F8C8D"/>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38"/>
            <p:cNvCxnSpPr/>
            <p:nvPr/>
          </p:nvCxnSpPr>
          <p:spPr>
            <a:xfrm>
              <a:off x="7050" y="3103"/>
              <a:ext cx="0" cy="3110"/>
            </a:xfrm>
            <a:prstGeom prst="line">
              <a:avLst/>
            </a:prstGeom>
            <a:ln>
              <a:solidFill>
                <a:srgbClr val="7F8C8D"/>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39"/>
            <p:cNvCxnSpPr/>
            <p:nvPr/>
          </p:nvCxnSpPr>
          <p:spPr>
            <a:xfrm>
              <a:off x="7050" y="3103"/>
              <a:ext cx="1106" cy="0"/>
            </a:xfrm>
            <a:prstGeom prst="line">
              <a:avLst/>
            </a:prstGeom>
            <a:ln>
              <a:solidFill>
                <a:srgbClr val="7F8C8D"/>
              </a:solidFill>
              <a:prstDash val="dash"/>
              <a:headEnd type="none"/>
              <a:tailEnd type="oval"/>
            </a:ln>
          </p:spPr>
          <p:style>
            <a:lnRef idx="1">
              <a:schemeClr val="accent1"/>
            </a:lnRef>
            <a:fillRef idx="0">
              <a:schemeClr val="accent1"/>
            </a:fillRef>
            <a:effectRef idx="0">
              <a:schemeClr val="accent1"/>
            </a:effectRef>
            <a:fontRef idx="minor">
              <a:schemeClr val="tx1"/>
            </a:fontRef>
          </p:style>
        </p:cxnSp>
        <p:cxnSp>
          <p:nvCxnSpPr>
            <p:cNvPr id="68" name="Straight Connector 34"/>
            <p:cNvCxnSpPr/>
            <p:nvPr/>
          </p:nvCxnSpPr>
          <p:spPr>
            <a:xfrm>
              <a:off x="4743" y="7523"/>
              <a:ext cx="747" cy="0"/>
            </a:xfrm>
            <a:prstGeom prst="line">
              <a:avLst/>
            </a:prstGeom>
            <a:ln>
              <a:solidFill>
                <a:srgbClr val="7F8C8D"/>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57" name="Straight Connector 37"/>
            <p:cNvCxnSpPr/>
            <p:nvPr/>
          </p:nvCxnSpPr>
          <p:spPr>
            <a:xfrm>
              <a:off x="1128" y="3158"/>
              <a:ext cx="0" cy="2159"/>
            </a:xfrm>
            <a:prstGeom prst="line">
              <a:avLst/>
            </a:prstGeom>
            <a:ln>
              <a:solidFill>
                <a:srgbClr val="7F8C8D"/>
              </a:solidFill>
              <a:prstDash val="dash"/>
            </a:ln>
          </p:spPr>
          <p:style>
            <a:lnRef idx="1">
              <a:schemeClr val="accent1"/>
            </a:lnRef>
            <a:fillRef idx="0">
              <a:schemeClr val="accent1"/>
            </a:fillRef>
            <a:effectRef idx="0">
              <a:schemeClr val="accent1"/>
            </a:effectRef>
            <a:fontRef idx="minor">
              <a:schemeClr val="tx1"/>
            </a:fontRef>
          </p:style>
        </p:cxnSp>
        <p:sp>
          <p:nvSpPr>
            <p:cNvPr id="67" name="TextBox 41"/>
            <p:cNvSpPr txBox="1"/>
            <p:nvPr/>
          </p:nvSpPr>
          <p:spPr>
            <a:xfrm>
              <a:off x="1983" y="2679"/>
              <a:ext cx="4967" cy="2524"/>
            </a:xfrm>
            <a:prstGeom prst="rect">
              <a:avLst/>
            </a:prstGeom>
            <a:noFill/>
          </p:spPr>
          <p:txBody>
            <a:bodyPr wrap="square" rtlCol="0">
              <a:noAutofit/>
            </a:bodyPr>
            <a:lstStyle/>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rPr>
                <a:t>湖北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rPr>
                <a:t>：政策体系完善，已发布虚拟电厂注册操作指南、入市服务指南。</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rPr>
                <a:t>湖南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rPr>
                <a:t>：处于市场交易规则完善阶段。</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rPr>
                <a:t>河南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rPr>
                <a:t>：聚焦于辅助服务市场交易规则制定。</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rPr>
                <a:t>江西</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rPr>
                <a:t>：从储能发展规划和新能源产业转型角度侧面推动虚拟电厂发展。</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p:txBody>
        </p:sp>
        <p:cxnSp>
          <p:nvCxnSpPr>
            <p:cNvPr id="69" name="Straight Connector 36"/>
            <p:cNvCxnSpPr/>
            <p:nvPr/>
          </p:nvCxnSpPr>
          <p:spPr>
            <a:xfrm>
              <a:off x="1136" y="3158"/>
              <a:ext cx="747" cy="0"/>
            </a:xfrm>
            <a:prstGeom prst="line">
              <a:avLst/>
            </a:prstGeom>
            <a:ln>
              <a:solidFill>
                <a:srgbClr val="7F8C8D"/>
              </a:solidFill>
              <a:prstDash val="dash"/>
              <a:headEnd type="none"/>
              <a:tailEnd type="oval"/>
            </a:ln>
          </p:spPr>
          <p:style>
            <a:lnRef idx="1">
              <a:schemeClr val="accent1"/>
            </a:lnRef>
            <a:fillRef idx="0">
              <a:schemeClr val="accent1"/>
            </a:fillRef>
            <a:effectRef idx="0">
              <a:schemeClr val="accent1"/>
            </a:effectRef>
            <a:fontRef idx="minor">
              <a:schemeClr val="tx1"/>
            </a:fontRef>
          </p:style>
        </p:cxnSp>
        <p:sp>
          <p:nvSpPr>
            <p:cNvPr id="71" name="TextBox 41"/>
            <p:cNvSpPr txBox="1"/>
            <p:nvPr/>
          </p:nvSpPr>
          <p:spPr>
            <a:xfrm>
              <a:off x="165" y="6875"/>
              <a:ext cx="4957" cy="3197"/>
            </a:xfrm>
            <a:prstGeom prst="rect">
              <a:avLst/>
            </a:prstGeom>
            <a:noFill/>
          </p:spPr>
          <p:txBody>
            <a:bodyPr wrap="square" rtlCol="0">
              <a:spAutoFit/>
            </a:bodyPr>
            <a:lstStyle/>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湖北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：已建成功能齐全、规模领先的省级虚拟电厂平台，接入超过</a:t>
              </a:r>
              <a:r>
                <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35</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家资源运营商。</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湖南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：部分平台已搭建完成且聚合形成可调节资源库，具备相应的平台功能。</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江西</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：初步建成虚拟电厂平台，正式进入上线测试阶段。</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河南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：处于平台建设推进阶段。</a:t>
              </a:r>
              <a:endParaRPr lang="zh-CN" altLang="en-US" sz="1200" b="1" dirty="0">
                <a:solidFill>
                  <a:schemeClr val="tx2"/>
                </a:solidFill>
                <a:latin typeface="微软雅黑" panose="020B0503020204020204" pitchFamily="34" charset="-122"/>
                <a:ea typeface="微软雅黑" panose="020B0503020204020204" pitchFamily="34" charset="-122"/>
              </a:endParaRPr>
            </a:p>
          </p:txBody>
        </p:sp>
        <p:cxnSp>
          <p:nvCxnSpPr>
            <p:cNvPr id="73" name="Straight Connector 32"/>
            <p:cNvCxnSpPr/>
            <p:nvPr/>
          </p:nvCxnSpPr>
          <p:spPr>
            <a:xfrm>
              <a:off x="12806" y="6597"/>
              <a:ext cx="0" cy="1340"/>
            </a:xfrm>
            <a:prstGeom prst="line">
              <a:avLst/>
            </a:prstGeom>
            <a:ln>
              <a:solidFill>
                <a:srgbClr val="7F8C8D"/>
              </a:solidFill>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34"/>
            <p:cNvCxnSpPr/>
            <p:nvPr/>
          </p:nvCxnSpPr>
          <p:spPr>
            <a:xfrm>
              <a:off x="12059" y="7937"/>
              <a:ext cx="747" cy="0"/>
            </a:xfrm>
            <a:prstGeom prst="line">
              <a:avLst/>
            </a:prstGeom>
            <a:ln>
              <a:solidFill>
                <a:srgbClr val="7F8C8D"/>
              </a:solidFill>
              <a:prstDash val="dash"/>
              <a:headEnd type="oval"/>
            </a:ln>
          </p:spPr>
          <p:style>
            <a:lnRef idx="1">
              <a:schemeClr val="accent1"/>
            </a:lnRef>
            <a:fillRef idx="0">
              <a:schemeClr val="accent1"/>
            </a:fillRef>
            <a:effectRef idx="0">
              <a:schemeClr val="accent1"/>
            </a:effectRef>
            <a:fontRef idx="minor">
              <a:schemeClr val="tx1"/>
            </a:fontRef>
          </p:style>
        </p:cxnSp>
        <p:sp>
          <p:nvSpPr>
            <p:cNvPr id="76" name="TextBox 41"/>
            <p:cNvSpPr txBox="1"/>
            <p:nvPr/>
          </p:nvSpPr>
          <p:spPr>
            <a:xfrm>
              <a:off x="6388" y="7001"/>
              <a:ext cx="5671" cy="2761"/>
            </a:xfrm>
            <a:prstGeom prst="rect">
              <a:avLst/>
            </a:prstGeom>
            <a:noFill/>
          </p:spPr>
          <p:txBody>
            <a:bodyPr wrap="square" rtlCol="0">
              <a:spAutoFit/>
            </a:bodyPr>
            <a:lstStyle/>
            <a:p>
              <a:pPr algn="l">
                <a:lnSpc>
                  <a:spcPct val="150000"/>
                </a:lnSpc>
                <a:buClrTx/>
                <a:buSzTx/>
                <a:buFontTx/>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湖北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：虚拟电厂参与辅助服务市场交易 28 次，参与省间调峰市场运行和现货市场调电试运行。</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a:p>
              <a:pPr algn="l">
                <a:lnSpc>
                  <a:spcPct val="150000"/>
                </a:lnSpc>
                <a:buClrTx/>
                <a:buSzTx/>
                <a:buFontTx/>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湖南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a:t>
              </a:r>
              <a:r>
                <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2</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家虚拟电厂以独立市场主体身份首次参与调峰辅助服务市场</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交易</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a:p>
              <a:pPr algn="l">
                <a:lnSpc>
                  <a:spcPct val="150000"/>
                </a:lnSpc>
                <a:buClrTx/>
                <a:buSzTx/>
                <a:buFontTx/>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河南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：暂未进入成熟的运营交易阶段。</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江西</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：暂未进入成熟的运营交易阶段。</a:t>
              </a:r>
              <a:endParaRPr lang="zh-CN" altLang="en-US" sz="1200" b="1" dirty="0">
                <a:solidFill>
                  <a:schemeClr val="accent2"/>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8256" y="2733"/>
              <a:ext cx="5532" cy="2761"/>
            </a:xfrm>
            <a:prstGeom prst="rect">
              <a:avLst/>
            </a:prstGeom>
            <a:noFill/>
          </p:spPr>
          <p:txBody>
            <a:bodyPr wrap="square" rtlCol="0" anchor="t">
              <a:spAutoFit/>
            </a:bodyPr>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湖北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a:t>
              </a:r>
              <a:r>
                <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26</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家虚拟电厂在湖北电力交易中心公示注册入市。</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湖南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a:t>
              </a:r>
              <a:r>
                <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4</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家</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虚拟电厂湖南北电力交易中心公示注册入市</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河南</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：虚拟电厂尚未</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作为运营机构</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注册入市。</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sym typeface="+mn-ea"/>
                </a:rPr>
                <a:t>江西</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虚拟电厂</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尚未作为</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运营机构</a:t>
              </a: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rPr>
                <a:t>注册入市。</a:t>
              </a:r>
              <a:endPar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p:txBody>
        </p:sp>
      </p:grpSp>
      <p:sp>
        <p:nvSpPr>
          <p:cNvPr id="3" name="文本框 2"/>
          <p:cNvSpPr txBox="1"/>
          <p:nvPr/>
        </p:nvSpPr>
        <p:spPr>
          <a:xfrm>
            <a:off x="241300" y="1484630"/>
            <a:ext cx="5906770" cy="410845"/>
          </a:xfrm>
          <a:prstGeom prst="rect">
            <a:avLst/>
          </a:prstGeom>
          <a:noFill/>
        </p:spPr>
        <p:txBody>
          <a:bodyPr wrap="square" rtlCol="0" anchor="t">
            <a:spAutoFit/>
          </a:bodyPr>
          <a:p>
            <a:pPr algn="l">
              <a:lnSpc>
                <a:spcPct val="130000"/>
              </a:lnSpc>
              <a:buClrTx/>
              <a:buSzTx/>
              <a:buFontTx/>
              <a:defRPr/>
            </a:pPr>
            <a:r>
              <a:rPr lang="zh-CN" altLang="en-US" sz="160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1. 华中区域虚拟电厂建设现状</a:t>
            </a:r>
            <a:endParaRPr lang="zh-CN" altLang="en-US" sz="160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5603"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5604" name="Content Placeholder 3"/>
          <p:cNvSpPr>
            <a:spLocks noGrp="1"/>
          </p:cNvSpPr>
          <p:nvPr>
            <p:ph sz="quarter" idx="1"/>
          </p:nvPr>
        </p:nvSpPr>
        <p:spPr>
          <a:xfrm>
            <a:off x="228600" y="1214438"/>
            <a:ext cx="8794750"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1</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华中区域虚拟电厂发展现状及资源灵活调控潜力分析</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25605" name="Rectangle 7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5606" name="Rectangle 8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5607" name="Rectangle 84"/>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3" name="文本框 2"/>
          <p:cNvSpPr txBox="1"/>
          <p:nvPr/>
        </p:nvSpPr>
        <p:spPr>
          <a:xfrm>
            <a:off x="287655" y="1628775"/>
            <a:ext cx="5906770" cy="410845"/>
          </a:xfrm>
          <a:prstGeom prst="rect">
            <a:avLst/>
          </a:prstGeom>
          <a:noFill/>
        </p:spPr>
        <p:txBody>
          <a:bodyPr wrap="square" rtlCol="0" anchor="t">
            <a:spAutoFit/>
          </a:bodyPr>
          <a:p>
            <a:pPr algn="l">
              <a:lnSpc>
                <a:spcPct val="130000"/>
              </a:lnSpc>
              <a:buClrTx/>
              <a:buSzTx/>
              <a:buFontTx/>
              <a:defRPr/>
            </a:pPr>
            <a:r>
              <a:rPr lang="zh-CN" altLang="en-US" sz="160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2. 虚拟电厂可调资源特性分析</a:t>
            </a:r>
            <a:endParaRPr lang="zh-CN" altLang="en-US" sz="160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3701415" y="6129020"/>
            <a:ext cx="1175385" cy="368300"/>
          </a:xfrm>
          <a:prstGeom prst="rect">
            <a:avLst/>
          </a:prstGeom>
          <a:noFill/>
        </p:spPr>
        <p:txBody>
          <a:bodyPr wrap="square" rtlCol="0">
            <a:spAutoFit/>
          </a:bodyPr>
          <a:p>
            <a:r>
              <a:rPr lang="zh-CN" altLang="en-US"/>
              <a:t>虚拟电厂</a:t>
            </a:r>
            <a:endParaRPr lang="zh-CN" altLang="en-US"/>
          </a:p>
        </p:txBody>
      </p:sp>
      <p:sp>
        <p:nvSpPr>
          <p:cNvPr id="4" name="左大括号 3"/>
          <p:cNvSpPr/>
          <p:nvPr/>
        </p:nvSpPr>
        <p:spPr>
          <a:xfrm rot="16200000">
            <a:off x="3959860" y="2876550"/>
            <a:ext cx="491490" cy="592582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文本框 4"/>
          <p:cNvSpPr txBox="1"/>
          <p:nvPr/>
        </p:nvSpPr>
        <p:spPr>
          <a:xfrm>
            <a:off x="556260" y="5181600"/>
            <a:ext cx="3447415" cy="306705"/>
          </a:xfrm>
          <a:prstGeom prst="rect">
            <a:avLst/>
          </a:prstGeom>
          <a:noFill/>
        </p:spPr>
        <p:txBody>
          <a:bodyPr wrap="square" rtlCol="0">
            <a:spAutoFit/>
          </a:bodyPr>
          <a:p>
            <a:r>
              <a:rPr lang="zh-CN" altLang="en-US" sz="1400"/>
              <a:t>负荷型虚拟电厂（可调度、消耗电功率）</a:t>
            </a:r>
            <a:endParaRPr lang="zh-CN" altLang="en-US" sz="1400"/>
          </a:p>
        </p:txBody>
      </p:sp>
      <p:sp>
        <p:nvSpPr>
          <p:cNvPr id="6" name="文本框 5"/>
          <p:cNvSpPr txBox="1"/>
          <p:nvPr/>
        </p:nvSpPr>
        <p:spPr>
          <a:xfrm>
            <a:off x="5193030" y="5181600"/>
            <a:ext cx="3562985" cy="306705"/>
          </a:xfrm>
          <a:prstGeom prst="rect">
            <a:avLst/>
          </a:prstGeom>
          <a:noFill/>
        </p:spPr>
        <p:txBody>
          <a:bodyPr wrap="square" rtlCol="0">
            <a:spAutoFit/>
          </a:bodyPr>
          <a:p>
            <a:r>
              <a:rPr lang="zh-CN" altLang="en-US" sz="1400"/>
              <a:t>电源型虚拟电厂（不可调度、输出电功率）</a:t>
            </a:r>
            <a:endParaRPr lang="zh-CN" altLang="en-US" sz="1400"/>
          </a:p>
        </p:txBody>
      </p:sp>
      <p:sp>
        <p:nvSpPr>
          <p:cNvPr id="7" name="上箭头 6"/>
          <p:cNvSpPr/>
          <p:nvPr/>
        </p:nvSpPr>
        <p:spPr>
          <a:xfrm>
            <a:off x="2367915" y="4855210"/>
            <a:ext cx="342265" cy="264795"/>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上箭头 7"/>
          <p:cNvSpPr/>
          <p:nvPr/>
        </p:nvSpPr>
        <p:spPr>
          <a:xfrm>
            <a:off x="7056755" y="4855210"/>
            <a:ext cx="342265" cy="264795"/>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892300" y="4486910"/>
            <a:ext cx="1588770" cy="306705"/>
          </a:xfrm>
          <a:prstGeom prst="rect">
            <a:avLst/>
          </a:prstGeom>
          <a:noFill/>
        </p:spPr>
        <p:txBody>
          <a:bodyPr wrap="square" rtlCol="0">
            <a:spAutoFit/>
          </a:bodyPr>
          <a:p>
            <a:r>
              <a:rPr lang="zh-CN" altLang="en-US" sz="1400"/>
              <a:t>功率调节型资源</a:t>
            </a:r>
            <a:endParaRPr lang="zh-CN" altLang="en-US" sz="1400"/>
          </a:p>
        </p:txBody>
      </p:sp>
      <p:sp>
        <p:nvSpPr>
          <p:cNvPr id="10" name="文本框 9"/>
          <p:cNvSpPr txBox="1"/>
          <p:nvPr/>
        </p:nvSpPr>
        <p:spPr>
          <a:xfrm>
            <a:off x="6423025" y="4486910"/>
            <a:ext cx="1506220" cy="306705"/>
          </a:xfrm>
          <a:prstGeom prst="rect">
            <a:avLst/>
          </a:prstGeom>
          <a:noFill/>
        </p:spPr>
        <p:txBody>
          <a:bodyPr wrap="square" rtlCol="0">
            <a:spAutoFit/>
          </a:bodyPr>
          <a:p>
            <a:r>
              <a:rPr lang="zh-CN" altLang="en-US" sz="1400"/>
              <a:t>能量输出型资源</a:t>
            </a:r>
            <a:endParaRPr lang="zh-CN" altLang="en-US" sz="1400"/>
          </a:p>
        </p:txBody>
      </p:sp>
      <p:sp>
        <p:nvSpPr>
          <p:cNvPr id="11" name="左大括号 10"/>
          <p:cNvSpPr/>
          <p:nvPr/>
        </p:nvSpPr>
        <p:spPr>
          <a:xfrm rot="16200000">
            <a:off x="2291715" y="1972945"/>
            <a:ext cx="491490" cy="453644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左大括号 11"/>
          <p:cNvSpPr/>
          <p:nvPr/>
        </p:nvSpPr>
        <p:spPr>
          <a:xfrm rot="16200000">
            <a:off x="6786245" y="2896870"/>
            <a:ext cx="491490" cy="268795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167640" y="3495675"/>
            <a:ext cx="941070" cy="306705"/>
          </a:xfrm>
          <a:prstGeom prst="rect">
            <a:avLst/>
          </a:prstGeom>
          <a:solidFill>
            <a:srgbClr val="4874CB"/>
          </a:solidFill>
          <a:ln>
            <a:solidFill>
              <a:srgbClr val="4874CB"/>
            </a:solidFill>
          </a:ln>
        </p:spPr>
        <p:txBody>
          <a:bodyPr wrap="square" rtlCol="0">
            <a:spAutoFit/>
          </a:bodyPr>
          <a:p>
            <a:r>
              <a:rPr lang="zh-CN" altLang="en-US" sz="1400">
                <a:solidFill>
                  <a:schemeClr val="bg1"/>
                </a:solidFill>
              </a:rPr>
              <a:t>工业负荷</a:t>
            </a:r>
            <a:endParaRPr lang="zh-CN" altLang="en-US" sz="1400">
              <a:solidFill>
                <a:schemeClr val="bg1"/>
              </a:solidFill>
            </a:endParaRPr>
          </a:p>
        </p:txBody>
      </p:sp>
      <p:sp>
        <p:nvSpPr>
          <p:cNvPr id="14" name="文本框 13"/>
          <p:cNvSpPr txBox="1"/>
          <p:nvPr/>
        </p:nvSpPr>
        <p:spPr>
          <a:xfrm>
            <a:off x="1273175" y="3489960"/>
            <a:ext cx="991870" cy="306705"/>
          </a:xfrm>
          <a:prstGeom prst="rect">
            <a:avLst/>
          </a:prstGeom>
          <a:solidFill>
            <a:srgbClr val="4874CB"/>
          </a:solidFill>
          <a:ln>
            <a:solidFill>
              <a:srgbClr val="4874CB"/>
            </a:solidFill>
          </a:ln>
        </p:spPr>
        <p:txBody>
          <a:bodyPr wrap="square" rtlCol="0" anchor="t">
            <a:spAutoFit/>
          </a:bodyPr>
          <a:p>
            <a:r>
              <a:rPr lang="zh-CN" altLang="en-US" sz="1400">
                <a:solidFill>
                  <a:schemeClr val="bg1"/>
                </a:solidFill>
                <a:sym typeface="+mn-ea"/>
              </a:rPr>
              <a:t>商业负荷</a:t>
            </a:r>
            <a:endParaRPr lang="zh-CN" altLang="en-US" sz="1400">
              <a:solidFill>
                <a:schemeClr val="bg1"/>
              </a:solidFill>
              <a:sym typeface="+mn-ea"/>
            </a:endParaRPr>
          </a:p>
        </p:txBody>
      </p:sp>
      <p:sp>
        <p:nvSpPr>
          <p:cNvPr id="15" name="文本框 14"/>
          <p:cNvSpPr txBox="1"/>
          <p:nvPr/>
        </p:nvSpPr>
        <p:spPr>
          <a:xfrm>
            <a:off x="2601595" y="3489960"/>
            <a:ext cx="934085" cy="306705"/>
          </a:xfrm>
          <a:prstGeom prst="rect">
            <a:avLst/>
          </a:prstGeom>
          <a:solidFill>
            <a:srgbClr val="4874CB"/>
          </a:solidFill>
          <a:ln>
            <a:solidFill>
              <a:srgbClr val="4874CB"/>
            </a:solidFill>
          </a:ln>
        </p:spPr>
        <p:txBody>
          <a:bodyPr wrap="square" rtlCol="0" anchor="t">
            <a:spAutoFit/>
          </a:bodyPr>
          <a:p>
            <a:r>
              <a:rPr lang="zh-CN" altLang="en-US" sz="1400">
                <a:solidFill>
                  <a:schemeClr val="bg1"/>
                </a:solidFill>
                <a:sym typeface="+mn-ea"/>
              </a:rPr>
              <a:t>电动汽车</a:t>
            </a:r>
            <a:endParaRPr lang="zh-CN" altLang="en-US" sz="1400">
              <a:solidFill>
                <a:schemeClr val="bg1"/>
              </a:solidFill>
              <a:sym typeface="+mn-ea"/>
            </a:endParaRPr>
          </a:p>
        </p:txBody>
      </p:sp>
      <p:sp>
        <p:nvSpPr>
          <p:cNvPr id="16" name="文本框 15"/>
          <p:cNvSpPr txBox="1"/>
          <p:nvPr/>
        </p:nvSpPr>
        <p:spPr>
          <a:xfrm>
            <a:off x="4188460" y="3479800"/>
            <a:ext cx="653415" cy="306705"/>
          </a:xfrm>
          <a:prstGeom prst="rect">
            <a:avLst/>
          </a:prstGeom>
          <a:solidFill>
            <a:srgbClr val="4874CB"/>
          </a:solidFill>
          <a:ln>
            <a:solidFill>
              <a:srgbClr val="4874CB"/>
            </a:solidFill>
          </a:ln>
        </p:spPr>
        <p:txBody>
          <a:bodyPr wrap="square" rtlCol="0" anchor="t">
            <a:spAutoFit/>
          </a:bodyPr>
          <a:p>
            <a:r>
              <a:rPr lang="zh-CN" altLang="en-US" sz="1400">
                <a:solidFill>
                  <a:schemeClr val="bg1"/>
                </a:solidFill>
                <a:sym typeface="+mn-ea"/>
              </a:rPr>
              <a:t>储能</a:t>
            </a:r>
            <a:endParaRPr lang="zh-CN" altLang="en-US" sz="1400">
              <a:solidFill>
                <a:schemeClr val="bg1"/>
              </a:solidFill>
              <a:sym typeface="+mn-ea"/>
            </a:endParaRPr>
          </a:p>
        </p:txBody>
      </p:sp>
      <p:sp>
        <p:nvSpPr>
          <p:cNvPr id="18" name="文本框 17"/>
          <p:cNvSpPr txBox="1"/>
          <p:nvPr/>
        </p:nvSpPr>
        <p:spPr>
          <a:xfrm>
            <a:off x="5825490" y="3495675"/>
            <a:ext cx="1107440" cy="584200"/>
          </a:xfrm>
          <a:prstGeom prst="rect">
            <a:avLst/>
          </a:prstGeom>
          <a:solidFill>
            <a:srgbClr val="4874CB"/>
          </a:solidFill>
          <a:ln>
            <a:solidFill>
              <a:srgbClr val="4874CB"/>
            </a:solidFill>
          </a:ln>
        </p:spPr>
        <p:txBody>
          <a:bodyPr wrap="square" rtlCol="0" anchor="t">
            <a:noAutofit/>
          </a:bodyPr>
          <a:p>
            <a:r>
              <a:rPr lang="zh-CN" altLang="en-US" sz="1000">
                <a:solidFill>
                  <a:schemeClr val="bg1"/>
                </a:solidFill>
                <a:sym typeface="+mn-ea"/>
              </a:rPr>
              <a:t>可控性发电（小</a:t>
            </a:r>
            <a:r>
              <a:rPr lang="en-US" altLang="zh-CN" sz="1000">
                <a:solidFill>
                  <a:schemeClr val="bg1"/>
                </a:solidFill>
                <a:sym typeface="+mn-ea"/>
              </a:rPr>
              <a:t> </a:t>
            </a:r>
            <a:r>
              <a:rPr lang="zh-CN" altLang="en-US" sz="1000">
                <a:solidFill>
                  <a:schemeClr val="bg1"/>
                </a:solidFill>
                <a:sym typeface="+mn-ea"/>
              </a:rPr>
              <a:t>水</a:t>
            </a:r>
            <a:r>
              <a:rPr lang="en-US" altLang="zh-CN" sz="1000">
                <a:solidFill>
                  <a:schemeClr val="bg1"/>
                </a:solidFill>
                <a:sym typeface="+mn-ea"/>
              </a:rPr>
              <a:t> </a:t>
            </a:r>
            <a:r>
              <a:rPr lang="zh-CN" altLang="en-US" sz="1000">
                <a:solidFill>
                  <a:schemeClr val="bg1"/>
                </a:solidFill>
                <a:sym typeface="+mn-ea"/>
              </a:rPr>
              <a:t>电</a:t>
            </a:r>
            <a:r>
              <a:rPr lang="en-US" altLang="zh-CN" sz="1000">
                <a:solidFill>
                  <a:schemeClr val="bg1"/>
                </a:solidFill>
                <a:sym typeface="+mn-ea"/>
              </a:rPr>
              <a:t> </a:t>
            </a:r>
            <a:r>
              <a:rPr lang="zh-CN" altLang="en-US" sz="1000">
                <a:solidFill>
                  <a:schemeClr val="bg1"/>
                </a:solidFill>
                <a:sym typeface="+mn-ea"/>
              </a:rPr>
              <a:t>、生</a:t>
            </a:r>
            <a:r>
              <a:rPr lang="en-US" altLang="zh-CN" sz="1000">
                <a:solidFill>
                  <a:schemeClr val="bg1"/>
                </a:solidFill>
                <a:sym typeface="+mn-ea"/>
              </a:rPr>
              <a:t> </a:t>
            </a:r>
            <a:r>
              <a:rPr lang="zh-CN" altLang="en-US" sz="1000">
                <a:solidFill>
                  <a:schemeClr val="bg1"/>
                </a:solidFill>
                <a:sym typeface="+mn-ea"/>
              </a:rPr>
              <a:t>物</a:t>
            </a:r>
            <a:r>
              <a:rPr lang="en-US" altLang="zh-CN" sz="1000">
                <a:solidFill>
                  <a:schemeClr val="bg1"/>
                </a:solidFill>
                <a:sym typeface="+mn-ea"/>
              </a:rPr>
              <a:t> </a:t>
            </a:r>
            <a:r>
              <a:rPr lang="zh-CN" altLang="en-US" sz="1000">
                <a:solidFill>
                  <a:schemeClr val="bg1"/>
                </a:solidFill>
                <a:sym typeface="+mn-ea"/>
              </a:rPr>
              <a:t>质</a:t>
            </a:r>
            <a:r>
              <a:rPr lang="en-US" altLang="zh-CN" sz="1000">
                <a:solidFill>
                  <a:schemeClr val="bg1"/>
                </a:solidFill>
                <a:sym typeface="+mn-ea"/>
              </a:rPr>
              <a:t> </a:t>
            </a:r>
            <a:r>
              <a:rPr lang="zh-CN" altLang="en-US" sz="1000">
                <a:solidFill>
                  <a:schemeClr val="bg1"/>
                </a:solidFill>
                <a:sym typeface="+mn-ea"/>
              </a:rPr>
              <a:t>能、</a:t>
            </a:r>
            <a:r>
              <a:rPr lang="en-US" altLang="zh-CN" sz="1000">
                <a:solidFill>
                  <a:schemeClr val="bg1"/>
                </a:solidFill>
                <a:sym typeface="+mn-ea"/>
              </a:rPr>
              <a:t>CHP</a:t>
            </a:r>
            <a:r>
              <a:rPr lang="zh-CN" altLang="en-US" sz="1000">
                <a:solidFill>
                  <a:schemeClr val="bg1"/>
                </a:solidFill>
                <a:sym typeface="+mn-ea"/>
              </a:rPr>
              <a:t>机组）</a:t>
            </a:r>
            <a:endParaRPr lang="zh-CN" altLang="en-US" sz="1000">
              <a:solidFill>
                <a:schemeClr val="bg1"/>
              </a:solidFill>
              <a:sym typeface="+mn-ea"/>
            </a:endParaRPr>
          </a:p>
        </p:txBody>
      </p:sp>
      <p:sp>
        <p:nvSpPr>
          <p:cNvPr id="30" name="文本框 29"/>
          <p:cNvSpPr txBox="1"/>
          <p:nvPr/>
        </p:nvSpPr>
        <p:spPr>
          <a:xfrm>
            <a:off x="2469515" y="2133600"/>
            <a:ext cx="1184910" cy="394335"/>
          </a:xfrm>
          <a:prstGeom prst="rect">
            <a:avLst/>
          </a:prstGeom>
          <a:solidFill>
            <a:srgbClr val="8BA7DE"/>
          </a:solidFill>
          <a:ln>
            <a:solidFill>
              <a:srgbClr val="4874CB"/>
            </a:solidFill>
          </a:ln>
        </p:spPr>
        <p:txBody>
          <a:bodyPr wrap="square" rtlCol="0">
            <a:noAutofit/>
          </a:bodyPr>
          <a:p>
            <a:pPr indent="0" algn="l">
              <a:buNone/>
            </a:pPr>
            <a:r>
              <a:rPr lang="zh-CN" altLang="en-US" sz="1000">
                <a:sym typeface="+mn-ea"/>
              </a:rPr>
              <a:t>充电时长分布存在差异</a:t>
            </a:r>
            <a:endParaRPr lang="zh-CN" altLang="en-US" sz="1000"/>
          </a:p>
          <a:p>
            <a:pPr indent="0" algn="l">
              <a:buFont typeface="+mj-lt"/>
              <a:buNone/>
            </a:pPr>
            <a:endParaRPr lang="zh-CN" altLang="en-US" sz="1000"/>
          </a:p>
        </p:txBody>
      </p:sp>
      <p:sp>
        <p:nvSpPr>
          <p:cNvPr id="32" name="文本框 31"/>
          <p:cNvSpPr txBox="1"/>
          <p:nvPr/>
        </p:nvSpPr>
        <p:spPr>
          <a:xfrm>
            <a:off x="2470150" y="2567940"/>
            <a:ext cx="1184275" cy="394335"/>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sym typeface="+mn-ea"/>
              </a:rPr>
              <a:t>充电开始时间集中</a:t>
            </a:r>
            <a:endParaRPr lang="zh-CN" altLang="en-US" sz="1000"/>
          </a:p>
          <a:p>
            <a:pPr indent="0" algn="l">
              <a:buFont typeface="+mj-lt"/>
              <a:buNone/>
            </a:pPr>
            <a:endParaRPr lang="zh-CN" altLang="en-US" sz="1000"/>
          </a:p>
        </p:txBody>
      </p:sp>
      <p:sp>
        <p:nvSpPr>
          <p:cNvPr id="33" name="文本框 32"/>
          <p:cNvSpPr txBox="1"/>
          <p:nvPr/>
        </p:nvSpPr>
        <p:spPr>
          <a:xfrm>
            <a:off x="2469515" y="3002280"/>
            <a:ext cx="1184275" cy="394335"/>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sym typeface="+mn-ea"/>
              </a:rPr>
              <a:t>充电场景响应潜力不同</a:t>
            </a:r>
            <a:endParaRPr lang="zh-CN" altLang="en-US" sz="1000">
              <a:sym typeface="+mn-ea"/>
            </a:endParaRPr>
          </a:p>
          <a:p>
            <a:pPr indent="0" algn="l">
              <a:buFont typeface="+mj-lt"/>
              <a:buNone/>
            </a:pPr>
            <a:endParaRPr lang="zh-CN" altLang="en-US" sz="1000"/>
          </a:p>
          <a:p>
            <a:pPr indent="0" algn="l">
              <a:buFont typeface="+mj-lt"/>
              <a:buNone/>
            </a:pPr>
            <a:endParaRPr lang="zh-CN" altLang="en-US" sz="1000"/>
          </a:p>
        </p:txBody>
      </p:sp>
      <p:sp>
        <p:nvSpPr>
          <p:cNvPr id="34" name="文本框 33"/>
          <p:cNvSpPr txBox="1"/>
          <p:nvPr/>
        </p:nvSpPr>
        <p:spPr>
          <a:xfrm>
            <a:off x="289560" y="2133600"/>
            <a:ext cx="565150" cy="227330"/>
          </a:xfrm>
          <a:prstGeom prst="rect">
            <a:avLst/>
          </a:prstGeom>
          <a:solidFill>
            <a:srgbClr val="8BA7DE"/>
          </a:solidFill>
          <a:ln>
            <a:solidFill>
              <a:srgbClr val="4874CB"/>
            </a:solidFill>
          </a:ln>
        </p:spPr>
        <p:txBody>
          <a:bodyPr wrap="square" rtlCol="0">
            <a:noAutofit/>
          </a:bodyPr>
          <a:p>
            <a:pPr indent="0" algn="l">
              <a:buNone/>
            </a:pPr>
            <a:r>
              <a:rPr lang="zh-CN" altLang="en-US" sz="1000"/>
              <a:t>保供性</a:t>
            </a:r>
            <a:endParaRPr lang="zh-CN" altLang="en-US" sz="1000"/>
          </a:p>
        </p:txBody>
      </p:sp>
      <p:sp>
        <p:nvSpPr>
          <p:cNvPr id="35" name="文本框 34"/>
          <p:cNvSpPr txBox="1"/>
          <p:nvPr/>
        </p:nvSpPr>
        <p:spPr>
          <a:xfrm>
            <a:off x="287655" y="2432685"/>
            <a:ext cx="565785" cy="267335"/>
          </a:xfrm>
          <a:prstGeom prst="rect">
            <a:avLst/>
          </a:prstGeom>
          <a:solidFill>
            <a:srgbClr val="8BA7DE"/>
          </a:solidFill>
          <a:ln>
            <a:solidFill>
              <a:srgbClr val="4874CB"/>
            </a:solidFill>
          </a:ln>
        </p:spPr>
        <p:txBody>
          <a:bodyPr wrap="square" rtlCol="0">
            <a:noAutofit/>
          </a:bodyPr>
          <a:p>
            <a:pPr lvl="0" algn="l">
              <a:buClrTx/>
              <a:buSzTx/>
              <a:buFontTx/>
            </a:pPr>
            <a:r>
              <a:rPr lang="zh-CN" altLang="en-US" sz="1000">
                <a:sym typeface="+mn-ea"/>
              </a:rPr>
              <a:t>周期性</a:t>
            </a:r>
            <a:endParaRPr lang="zh-CN" altLang="en-US" sz="1000">
              <a:sym typeface="+mn-ea"/>
            </a:endParaRPr>
          </a:p>
        </p:txBody>
      </p:sp>
      <p:sp>
        <p:nvSpPr>
          <p:cNvPr id="36" name="文本框 35"/>
          <p:cNvSpPr txBox="1"/>
          <p:nvPr/>
        </p:nvSpPr>
        <p:spPr>
          <a:xfrm>
            <a:off x="288290" y="2771775"/>
            <a:ext cx="565785" cy="229870"/>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sym typeface="+mn-ea"/>
              </a:rPr>
              <a:t>连续性</a:t>
            </a:r>
            <a:endParaRPr lang="zh-CN" altLang="en-US" sz="1000"/>
          </a:p>
          <a:p>
            <a:pPr indent="0" algn="l">
              <a:buFont typeface="+mj-lt"/>
              <a:buNone/>
            </a:pPr>
            <a:endParaRPr lang="zh-CN" altLang="en-US" sz="1000"/>
          </a:p>
        </p:txBody>
      </p:sp>
      <p:sp>
        <p:nvSpPr>
          <p:cNvPr id="37" name="文本框 36"/>
          <p:cNvSpPr txBox="1"/>
          <p:nvPr/>
        </p:nvSpPr>
        <p:spPr>
          <a:xfrm>
            <a:off x="288925" y="3073400"/>
            <a:ext cx="565785" cy="229870"/>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sym typeface="+mn-ea"/>
              </a:rPr>
              <a:t>耦合性</a:t>
            </a:r>
            <a:endParaRPr lang="zh-CN" altLang="en-US" sz="1000"/>
          </a:p>
          <a:p>
            <a:pPr indent="0" algn="l">
              <a:buFont typeface="+mj-lt"/>
              <a:buNone/>
            </a:pPr>
            <a:endParaRPr lang="zh-CN" altLang="en-US" sz="1000"/>
          </a:p>
        </p:txBody>
      </p:sp>
      <p:sp>
        <p:nvSpPr>
          <p:cNvPr id="38" name="文本框 37"/>
          <p:cNvSpPr txBox="1"/>
          <p:nvPr/>
        </p:nvSpPr>
        <p:spPr>
          <a:xfrm>
            <a:off x="4003675" y="2133600"/>
            <a:ext cx="970915" cy="248920"/>
          </a:xfrm>
          <a:prstGeom prst="rect">
            <a:avLst/>
          </a:prstGeom>
          <a:solidFill>
            <a:srgbClr val="8BA7DE"/>
          </a:solidFill>
          <a:ln>
            <a:solidFill>
              <a:srgbClr val="4874CB"/>
            </a:solidFill>
          </a:ln>
        </p:spPr>
        <p:txBody>
          <a:bodyPr wrap="square" rtlCol="0">
            <a:noAutofit/>
          </a:bodyPr>
          <a:p>
            <a:pPr indent="0" algn="ctr">
              <a:buFont typeface="+mj-lt"/>
              <a:buNone/>
            </a:pPr>
            <a:r>
              <a:rPr lang="zh-CN" altLang="en-US" sz="1000"/>
              <a:t>系统经济性好</a:t>
            </a:r>
            <a:endParaRPr lang="zh-CN" altLang="en-US" sz="1000"/>
          </a:p>
        </p:txBody>
      </p:sp>
      <p:sp>
        <p:nvSpPr>
          <p:cNvPr id="39" name="文本框 38"/>
          <p:cNvSpPr txBox="1"/>
          <p:nvPr/>
        </p:nvSpPr>
        <p:spPr>
          <a:xfrm>
            <a:off x="4003675" y="2577465"/>
            <a:ext cx="970915" cy="228600"/>
          </a:xfrm>
          <a:prstGeom prst="rect">
            <a:avLst/>
          </a:prstGeom>
          <a:solidFill>
            <a:srgbClr val="8BA7DE"/>
          </a:solidFill>
          <a:ln>
            <a:solidFill>
              <a:srgbClr val="4874CB"/>
            </a:solidFill>
          </a:ln>
        </p:spPr>
        <p:txBody>
          <a:bodyPr wrap="square" rtlCol="0">
            <a:noAutofit/>
          </a:bodyPr>
          <a:p>
            <a:pPr indent="0" algn="ctr">
              <a:buFont typeface="+mj-lt"/>
              <a:buNone/>
            </a:pPr>
            <a:r>
              <a:rPr lang="zh-CN" altLang="en-US" sz="1000"/>
              <a:t>能量约束多</a:t>
            </a:r>
            <a:endParaRPr lang="zh-CN" altLang="en-US" sz="1000"/>
          </a:p>
        </p:txBody>
      </p:sp>
      <p:sp>
        <p:nvSpPr>
          <p:cNvPr id="40" name="文本框 39"/>
          <p:cNvSpPr txBox="1"/>
          <p:nvPr/>
        </p:nvSpPr>
        <p:spPr>
          <a:xfrm>
            <a:off x="4004310" y="3001010"/>
            <a:ext cx="970280" cy="394335"/>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t>具备双向调节能力</a:t>
            </a:r>
            <a:endParaRPr lang="zh-CN" altLang="en-US" sz="1000"/>
          </a:p>
        </p:txBody>
      </p:sp>
      <p:sp>
        <p:nvSpPr>
          <p:cNvPr id="42" name="文本框 41"/>
          <p:cNvSpPr txBox="1"/>
          <p:nvPr/>
        </p:nvSpPr>
        <p:spPr>
          <a:xfrm>
            <a:off x="7559040" y="2165350"/>
            <a:ext cx="1196975" cy="289560"/>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t>随机性、间歇性</a:t>
            </a:r>
            <a:endParaRPr lang="zh-CN" altLang="en-US" sz="1000"/>
          </a:p>
        </p:txBody>
      </p:sp>
      <p:sp>
        <p:nvSpPr>
          <p:cNvPr id="43" name="文本框 42"/>
          <p:cNvSpPr txBox="1"/>
          <p:nvPr/>
        </p:nvSpPr>
        <p:spPr>
          <a:xfrm>
            <a:off x="7547610" y="3495675"/>
            <a:ext cx="1107440" cy="584200"/>
          </a:xfrm>
          <a:prstGeom prst="rect">
            <a:avLst/>
          </a:prstGeom>
          <a:solidFill>
            <a:srgbClr val="4874CB"/>
          </a:solidFill>
          <a:ln>
            <a:solidFill>
              <a:srgbClr val="4874CB"/>
            </a:solidFill>
          </a:ln>
        </p:spPr>
        <p:txBody>
          <a:bodyPr wrap="square" rtlCol="0" anchor="t">
            <a:noAutofit/>
          </a:bodyPr>
          <a:p>
            <a:pPr algn="l">
              <a:buClrTx/>
              <a:buSzTx/>
              <a:buFontTx/>
            </a:pPr>
            <a:r>
              <a:rPr lang="zh-CN" altLang="en-US" sz="1000">
                <a:solidFill>
                  <a:schemeClr val="bg1"/>
                </a:solidFill>
                <a:sym typeface="+mn-ea"/>
              </a:rPr>
              <a:t>半可控性发电（分布式光伏与风电）</a:t>
            </a:r>
            <a:endParaRPr lang="zh-CN" altLang="en-US" sz="1000">
              <a:solidFill>
                <a:schemeClr val="bg1"/>
              </a:solidFill>
              <a:sym typeface="+mn-ea"/>
            </a:endParaRPr>
          </a:p>
        </p:txBody>
      </p:sp>
      <p:sp>
        <p:nvSpPr>
          <p:cNvPr id="44" name="文本框 43"/>
          <p:cNvSpPr txBox="1"/>
          <p:nvPr/>
        </p:nvSpPr>
        <p:spPr>
          <a:xfrm>
            <a:off x="5878830" y="2111375"/>
            <a:ext cx="1003935" cy="433705"/>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t>可调电量随时间尺度变化</a:t>
            </a:r>
            <a:endParaRPr lang="zh-CN" altLang="en-US" sz="1000"/>
          </a:p>
        </p:txBody>
      </p:sp>
      <p:sp>
        <p:nvSpPr>
          <p:cNvPr id="45" name="文本框 44"/>
          <p:cNvSpPr txBox="1"/>
          <p:nvPr/>
        </p:nvSpPr>
        <p:spPr>
          <a:xfrm>
            <a:off x="5878830" y="2630805"/>
            <a:ext cx="1003300" cy="383540"/>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t>灵活可调能力受爬坡率影响</a:t>
            </a:r>
            <a:endParaRPr lang="zh-CN" altLang="en-US" sz="1000"/>
          </a:p>
        </p:txBody>
      </p:sp>
      <p:sp>
        <p:nvSpPr>
          <p:cNvPr id="46" name="文本框 45"/>
          <p:cNvSpPr txBox="1"/>
          <p:nvPr/>
        </p:nvSpPr>
        <p:spPr>
          <a:xfrm>
            <a:off x="7559675" y="2568575"/>
            <a:ext cx="1196975" cy="318770"/>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t>重视自发自用</a:t>
            </a:r>
            <a:endParaRPr lang="zh-CN" altLang="en-US" sz="1000"/>
          </a:p>
        </p:txBody>
      </p:sp>
      <p:sp>
        <p:nvSpPr>
          <p:cNvPr id="47" name="文本框 46"/>
          <p:cNvSpPr txBox="1"/>
          <p:nvPr/>
        </p:nvSpPr>
        <p:spPr>
          <a:xfrm>
            <a:off x="7559675" y="3001010"/>
            <a:ext cx="1196340" cy="394335"/>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t>具有集群调度优势</a:t>
            </a:r>
            <a:endParaRPr lang="zh-CN" altLang="en-US" sz="1000"/>
          </a:p>
        </p:txBody>
      </p:sp>
      <p:sp>
        <p:nvSpPr>
          <p:cNvPr id="48" name="文本框 47"/>
          <p:cNvSpPr txBox="1"/>
          <p:nvPr/>
        </p:nvSpPr>
        <p:spPr>
          <a:xfrm>
            <a:off x="1273175" y="2133600"/>
            <a:ext cx="892810" cy="248920"/>
          </a:xfrm>
          <a:prstGeom prst="rect">
            <a:avLst/>
          </a:prstGeom>
          <a:solidFill>
            <a:srgbClr val="8BA7DE"/>
          </a:solidFill>
          <a:ln>
            <a:solidFill>
              <a:srgbClr val="4874CB"/>
            </a:solidFill>
          </a:ln>
        </p:spPr>
        <p:txBody>
          <a:bodyPr wrap="square" rtlCol="0">
            <a:noAutofit/>
          </a:bodyPr>
          <a:p>
            <a:pPr indent="0" algn="ctr">
              <a:buFont typeface="+mj-lt"/>
              <a:buNone/>
            </a:pPr>
            <a:r>
              <a:rPr lang="zh-CN" altLang="en-US" sz="1000"/>
              <a:t>集群容量大</a:t>
            </a:r>
            <a:endParaRPr lang="zh-CN" altLang="en-US" sz="1000"/>
          </a:p>
        </p:txBody>
      </p:sp>
      <p:sp>
        <p:nvSpPr>
          <p:cNvPr id="49" name="文本框 48"/>
          <p:cNvSpPr txBox="1"/>
          <p:nvPr/>
        </p:nvSpPr>
        <p:spPr>
          <a:xfrm>
            <a:off x="1284605" y="2606675"/>
            <a:ext cx="892175" cy="243205"/>
          </a:xfrm>
          <a:prstGeom prst="rect">
            <a:avLst/>
          </a:prstGeom>
          <a:solidFill>
            <a:srgbClr val="8BA7DE"/>
          </a:solidFill>
          <a:ln>
            <a:solidFill>
              <a:srgbClr val="4874CB"/>
            </a:solidFill>
          </a:ln>
        </p:spPr>
        <p:txBody>
          <a:bodyPr wrap="square" rtlCol="0">
            <a:noAutofit/>
          </a:bodyPr>
          <a:p>
            <a:pPr indent="0" algn="ctr">
              <a:buFont typeface="+mj-lt"/>
              <a:buNone/>
            </a:pPr>
            <a:r>
              <a:rPr lang="zh-CN" altLang="en-US" sz="1000"/>
              <a:t>响应速度快</a:t>
            </a:r>
            <a:endParaRPr lang="zh-CN" altLang="en-US" sz="1000"/>
          </a:p>
        </p:txBody>
      </p:sp>
      <p:sp>
        <p:nvSpPr>
          <p:cNvPr id="50" name="文本框 49"/>
          <p:cNvSpPr txBox="1"/>
          <p:nvPr/>
        </p:nvSpPr>
        <p:spPr>
          <a:xfrm>
            <a:off x="1273175" y="3074035"/>
            <a:ext cx="981075" cy="275590"/>
          </a:xfrm>
          <a:prstGeom prst="rect">
            <a:avLst/>
          </a:prstGeom>
          <a:solidFill>
            <a:srgbClr val="8BA7DE"/>
          </a:solidFill>
          <a:ln>
            <a:solidFill>
              <a:srgbClr val="4874CB"/>
            </a:solidFill>
          </a:ln>
        </p:spPr>
        <p:txBody>
          <a:bodyPr wrap="square" rtlCol="0">
            <a:noAutofit/>
          </a:bodyPr>
          <a:p>
            <a:pPr indent="0" algn="ctr">
              <a:buFont typeface="+mj-lt"/>
              <a:buNone/>
            </a:pPr>
            <a:r>
              <a:rPr lang="zh-CN" altLang="en-US" sz="1000"/>
              <a:t>用电时间固定</a:t>
            </a:r>
            <a:endParaRPr lang="zh-CN" altLang="en-US" sz="1000"/>
          </a:p>
        </p:txBody>
      </p:sp>
      <p:sp>
        <p:nvSpPr>
          <p:cNvPr id="51" name="文本框 50"/>
          <p:cNvSpPr txBox="1"/>
          <p:nvPr/>
        </p:nvSpPr>
        <p:spPr>
          <a:xfrm>
            <a:off x="5878830" y="3100070"/>
            <a:ext cx="1003300" cy="270510"/>
          </a:xfrm>
          <a:prstGeom prst="rect">
            <a:avLst/>
          </a:prstGeom>
          <a:solidFill>
            <a:srgbClr val="8BA7DE"/>
          </a:solidFill>
          <a:ln>
            <a:solidFill>
              <a:srgbClr val="4874CB"/>
            </a:solidFill>
          </a:ln>
        </p:spPr>
        <p:txBody>
          <a:bodyPr wrap="square" rtlCol="0">
            <a:noAutofit/>
          </a:bodyPr>
          <a:p>
            <a:pPr indent="0" algn="l">
              <a:buFont typeface="+mj-lt"/>
              <a:buNone/>
            </a:pPr>
            <a:r>
              <a:rPr lang="zh-CN" altLang="en-US" sz="1000"/>
              <a:t>调节精度高</a:t>
            </a:r>
            <a:endParaRPr lang="zh-CN" altLang="en-US" sz="1000"/>
          </a:p>
        </p:txBody>
      </p:sp>
      <p:sp>
        <p:nvSpPr>
          <p:cNvPr id="52" name="上箭头 51"/>
          <p:cNvSpPr/>
          <p:nvPr/>
        </p:nvSpPr>
        <p:spPr>
          <a:xfrm rot="5400000" flipH="1">
            <a:off x="4801870" y="6193790"/>
            <a:ext cx="342265" cy="264795"/>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文本框 52"/>
          <p:cNvSpPr txBox="1"/>
          <p:nvPr/>
        </p:nvSpPr>
        <p:spPr>
          <a:xfrm>
            <a:off x="1473835" y="6155055"/>
            <a:ext cx="1572260" cy="306705"/>
          </a:xfrm>
          <a:prstGeom prst="rect">
            <a:avLst/>
          </a:prstGeom>
          <a:noFill/>
        </p:spPr>
        <p:txBody>
          <a:bodyPr wrap="square" rtlCol="0">
            <a:spAutoFit/>
          </a:bodyPr>
          <a:p>
            <a:r>
              <a:rPr lang="zh-CN" altLang="en-US" sz="1400"/>
              <a:t>辅助服务市场</a:t>
            </a:r>
            <a:endParaRPr lang="zh-CN" altLang="en-US" sz="1400"/>
          </a:p>
        </p:txBody>
      </p:sp>
      <p:sp>
        <p:nvSpPr>
          <p:cNvPr id="54" name="文本框 53"/>
          <p:cNvSpPr txBox="1"/>
          <p:nvPr/>
        </p:nvSpPr>
        <p:spPr>
          <a:xfrm>
            <a:off x="5726430" y="6155055"/>
            <a:ext cx="1572260" cy="306705"/>
          </a:xfrm>
          <a:prstGeom prst="rect">
            <a:avLst/>
          </a:prstGeom>
          <a:noFill/>
        </p:spPr>
        <p:txBody>
          <a:bodyPr wrap="square" rtlCol="0">
            <a:spAutoFit/>
          </a:bodyPr>
          <a:p>
            <a:r>
              <a:rPr lang="zh-CN" altLang="en-US" sz="1400"/>
              <a:t>电能量市场</a:t>
            </a:r>
            <a:endParaRPr lang="zh-CN" altLang="en-US" sz="1400"/>
          </a:p>
        </p:txBody>
      </p:sp>
      <p:sp>
        <p:nvSpPr>
          <p:cNvPr id="55" name="上箭头 54"/>
          <p:cNvSpPr/>
          <p:nvPr/>
        </p:nvSpPr>
        <p:spPr>
          <a:xfrm rot="16200000">
            <a:off x="3350895" y="6193790"/>
            <a:ext cx="342265" cy="264795"/>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txBody>
          <a:bodyPr/>
          <a:lstStyle/>
          <a:p>
            <a:endParaRPr lang="zh-CN" altLang="en-US"/>
          </a:p>
        </p:txBody>
      </p:sp>
      <p:sp>
        <p:nvSpPr>
          <p:cNvPr id="27651"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7652" name="Content Placeholder 3"/>
          <p:cNvSpPr>
            <a:spLocks noGrp="1"/>
          </p:cNvSpPr>
          <p:nvPr>
            <p:ph sz="quarter" idx="1"/>
          </p:nvPr>
        </p:nvSpPr>
        <p:spPr>
          <a:xfrm>
            <a:off x="250825" y="1125538"/>
            <a:ext cx="8806089"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1</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：华中区域虚拟电厂发展现状及资源灵活调控潜力分析</a:t>
            </a:r>
            <a:endParaRPr lang="zh-CN" altLang="en-US" sz="2000" dirty="0"/>
          </a:p>
        </p:txBody>
      </p:sp>
      <p:sp>
        <p:nvSpPr>
          <p:cNvPr id="27653"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4"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5"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 name="文本框 1"/>
          <p:cNvSpPr txBox="1"/>
          <p:nvPr/>
        </p:nvSpPr>
        <p:spPr>
          <a:xfrm>
            <a:off x="287338" y="1583532"/>
            <a:ext cx="4490085" cy="410845"/>
          </a:xfrm>
          <a:prstGeom prst="rect">
            <a:avLst/>
          </a:prstGeom>
          <a:noFill/>
        </p:spPr>
        <p:txBody>
          <a:bodyPr wrap="none" rtlCol="0">
            <a:spAutoFit/>
          </a:bodyPr>
          <a:lstStyle/>
          <a:p>
            <a:pPr algn="l">
              <a:lnSpc>
                <a:spcPct val="130000"/>
              </a:lnSpc>
              <a:buClrTx/>
              <a:buSzTx/>
              <a:buFontTx/>
              <a:defRPr/>
            </a:pPr>
            <a:r>
              <a:rPr lang="zh-CN" altLang="en-US" sz="1600" b="1" noProof="0" dirty="0">
                <a:ln>
                  <a:noFill/>
                </a:ln>
                <a:solidFill>
                  <a:schemeClr val="accent1"/>
                </a:solidFill>
                <a:effectLst/>
                <a:uLnTx/>
                <a:uFillTx/>
                <a:latin typeface="微软雅黑" panose="020B0503020204020204" pitchFamily="34" charset="-122"/>
                <a:ea typeface="微软雅黑" panose="020B0503020204020204" pitchFamily="34" charset="-122"/>
              </a:rPr>
              <a:t>3. 评估虚拟电厂参与省间电力市场的技术可行性</a:t>
            </a:r>
            <a:endParaRPr lang="zh-CN" altLang="en-US" sz="1600" b="1"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32" name="矩形 31"/>
          <p:cNvSpPr/>
          <p:nvPr/>
        </p:nvSpPr>
        <p:spPr>
          <a:xfrm>
            <a:off x="5651393" y="3429000"/>
            <a:ext cx="2062149" cy="3223286"/>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p:cNvSpPr/>
          <p:nvPr/>
        </p:nvSpPr>
        <p:spPr>
          <a:xfrm>
            <a:off x="404691" y="3429000"/>
            <a:ext cx="5110210" cy="3223286"/>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圆角矩形 23"/>
          <p:cNvSpPr/>
          <p:nvPr/>
        </p:nvSpPr>
        <p:spPr>
          <a:xfrm>
            <a:off x="5940539" y="3598450"/>
            <a:ext cx="1447282" cy="835053"/>
          </a:xfrm>
          <a:prstGeom prst="roundRect">
            <a:avLst/>
          </a:prstGeom>
          <a:solidFill>
            <a:srgbClr val="8BA7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圆角矩形 24"/>
          <p:cNvSpPr/>
          <p:nvPr/>
        </p:nvSpPr>
        <p:spPr>
          <a:xfrm>
            <a:off x="5940539" y="4592637"/>
            <a:ext cx="1447282" cy="910583"/>
          </a:xfrm>
          <a:prstGeom prst="roundRect">
            <a:avLst/>
          </a:prstGeom>
          <a:solidFill>
            <a:srgbClr val="8BA7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圆角矩形 25"/>
          <p:cNvSpPr/>
          <p:nvPr/>
        </p:nvSpPr>
        <p:spPr>
          <a:xfrm>
            <a:off x="5940539" y="5698846"/>
            <a:ext cx="1447282" cy="830426"/>
          </a:xfrm>
          <a:prstGeom prst="roundRect">
            <a:avLst/>
          </a:prstGeom>
          <a:solidFill>
            <a:srgbClr val="8BA7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p:cNvSpPr/>
          <p:nvPr/>
        </p:nvSpPr>
        <p:spPr>
          <a:xfrm>
            <a:off x="579819" y="3628423"/>
            <a:ext cx="626524" cy="867100"/>
          </a:xfrm>
          <a:prstGeom prst="rect">
            <a:avLst/>
          </a:prstGeom>
          <a:solidFill>
            <a:srgbClr val="8BA7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交易资源层面</a:t>
            </a:r>
            <a:endParaRPr kumimoji="1" lang="zh-CN" altLang="en-US" sz="1200" dirty="0"/>
          </a:p>
        </p:txBody>
      </p:sp>
      <p:sp>
        <p:nvSpPr>
          <p:cNvPr id="11" name="矩形 10"/>
          <p:cNvSpPr/>
          <p:nvPr/>
        </p:nvSpPr>
        <p:spPr>
          <a:xfrm>
            <a:off x="579819" y="4704891"/>
            <a:ext cx="626524" cy="1817713"/>
          </a:xfrm>
          <a:prstGeom prst="rect">
            <a:avLst/>
          </a:prstGeom>
          <a:solidFill>
            <a:srgbClr val="8BA7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支撑设施层面</a:t>
            </a:r>
            <a:endParaRPr kumimoji="1" lang="zh-CN" altLang="en-US" sz="1200" dirty="0"/>
          </a:p>
        </p:txBody>
      </p:sp>
      <p:sp>
        <p:nvSpPr>
          <p:cNvPr id="12" name="矩形 11"/>
          <p:cNvSpPr/>
          <p:nvPr/>
        </p:nvSpPr>
        <p:spPr>
          <a:xfrm>
            <a:off x="1437387" y="3684163"/>
            <a:ext cx="3692917" cy="303479"/>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i="0" dirty="0">
                <a:solidFill>
                  <a:sysClr val="windowText" lastClr="000000"/>
                </a:solidFill>
                <a:effectLst/>
                <a:latin typeface="Inter"/>
              </a:rPr>
              <a:t>各省负荷特性 </a:t>
            </a:r>
            <a:r>
              <a:rPr lang="en-US" altLang="zh-CN" sz="1200" i="0" dirty="0">
                <a:solidFill>
                  <a:sysClr val="windowText" lastClr="000000"/>
                </a:solidFill>
                <a:effectLst/>
                <a:latin typeface="Inter"/>
              </a:rPr>
              <a:t>-</a:t>
            </a:r>
            <a:r>
              <a:rPr lang="zh-CN" altLang="en-US" sz="1200" i="0" dirty="0">
                <a:solidFill>
                  <a:sysClr val="windowText" lastClr="000000"/>
                </a:solidFill>
                <a:effectLst/>
                <a:latin typeface="Inter"/>
              </a:rPr>
              <a:t> </a:t>
            </a:r>
            <a:r>
              <a:rPr lang="zh-CN" altLang="en-US" sz="1200" i="0" dirty="0">
                <a:solidFill>
                  <a:srgbClr val="000000"/>
                </a:solidFill>
                <a:effectLst/>
                <a:latin typeface="Inter"/>
              </a:rPr>
              <a:t>负荷峰谷差</a:t>
            </a:r>
            <a:endParaRPr kumimoji="1" lang="zh-CN" altLang="en-US" sz="1200" dirty="0">
              <a:solidFill>
                <a:sysClr val="windowText" lastClr="000000"/>
              </a:solidFill>
            </a:endParaRPr>
          </a:p>
        </p:txBody>
      </p:sp>
      <p:sp>
        <p:nvSpPr>
          <p:cNvPr id="13" name="矩形 12"/>
          <p:cNvSpPr/>
          <p:nvPr/>
        </p:nvSpPr>
        <p:spPr>
          <a:xfrm>
            <a:off x="1445028" y="4116782"/>
            <a:ext cx="3692917" cy="303479"/>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i="0" dirty="0">
                <a:solidFill>
                  <a:sysClr val="windowText" lastClr="000000"/>
                </a:solidFill>
                <a:effectLst/>
                <a:latin typeface="Inter"/>
              </a:rPr>
              <a:t>各省电源结构 </a:t>
            </a:r>
            <a:r>
              <a:rPr lang="en-US" altLang="zh-CN" sz="1200" i="0">
                <a:solidFill>
                  <a:sysClr val="windowText" lastClr="000000"/>
                </a:solidFill>
                <a:effectLst/>
                <a:latin typeface="Inter"/>
              </a:rPr>
              <a:t>-</a:t>
            </a:r>
            <a:r>
              <a:rPr lang="zh-CN" altLang="en-US" sz="1200" i="0">
                <a:solidFill>
                  <a:sysClr val="windowText" lastClr="000000"/>
                </a:solidFill>
                <a:effectLst/>
                <a:latin typeface="Inter"/>
              </a:rPr>
              <a:t> </a:t>
            </a:r>
            <a:r>
              <a:rPr lang="zh-CN" altLang="en-US" sz="1200" i="0" dirty="0">
                <a:solidFill>
                  <a:srgbClr val="000000"/>
                </a:solidFill>
                <a:effectLst/>
                <a:latin typeface="Inter"/>
              </a:rPr>
              <a:t>电源互补性</a:t>
            </a:r>
            <a:endParaRPr kumimoji="1" lang="zh-CN" altLang="en-US" sz="1200" dirty="0">
              <a:solidFill>
                <a:sysClr val="windowText" lastClr="000000"/>
              </a:solidFill>
            </a:endParaRPr>
          </a:p>
        </p:txBody>
      </p:sp>
      <p:sp>
        <p:nvSpPr>
          <p:cNvPr id="15" name="矩形 14"/>
          <p:cNvSpPr/>
          <p:nvPr/>
        </p:nvSpPr>
        <p:spPr>
          <a:xfrm>
            <a:off x="2179118" y="4708259"/>
            <a:ext cx="2951186" cy="303479"/>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ysClr val="windowText" lastClr="000000"/>
                </a:solidFill>
                <a:effectLst/>
                <a:latin typeface="Inter"/>
              </a:rPr>
              <a:t>输电通道容量建设情况</a:t>
            </a:r>
            <a:endParaRPr kumimoji="1" lang="zh-CN" altLang="en-US" sz="1200" dirty="0">
              <a:solidFill>
                <a:sysClr val="windowText" lastClr="000000"/>
              </a:solidFill>
            </a:endParaRPr>
          </a:p>
        </p:txBody>
      </p:sp>
      <p:sp>
        <p:nvSpPr>
          <p:cNvPr id="16" name="矩形 15"/>
          <p:cNvSpPr/>
          <p:nvPr/>
        </p:nvSpPr>
        <p:spPr>
          <a:xfrm>
            <a:off x="2179118" y="6192688"/>
            <a:ext cx="2951186" cy="303479"/>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ysClr val="windowText" lastClr="000000"/>
                </a:solidFill>
                <a:latin typeface="Inter"/>
              </a:rPr>
              <a:t>虚拟电厂管控平台</a:t>
            </a:r>
            <a:endParaRPr kumimoji="1" lang="zh-CN" altLang="en-US" sz="1200" dirty="0">
              <a:solidFill>
                <a:sysClr val="windowText" lastClr="000000"/>
              </a:solidFill>
            </a:endParaRPr>
          </a:p>
        </p:txBody>
      </p:sp>
      <p:sp>
        <p:nvSpPr>
          <p:cNvPr id="17" name="矩形 16"/>
          <p:cNvSpPr/>
          <p:nvPr/>
        </p:nvSpPr>
        <p:spPr>
          <a:xfrm>
            <a:off x="1437386" y="4704891"/>
            <a:ext cx="479500" cy="82250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ysClr val="windowText" lastClr="000000"/>
                </a:solidFill>
              </a:rPr>
              <a:t>硬件</a:t>
            </a:r>
            <a:endParaRPr kumimoji="1" lang="zh-CN" altLang="en-US" sz="1200" dirty="0">
              <a:solidFill>
                <a:sysClr val="windowText" lastClr="000000"/>
              </a:solidFill>
            </a:endParaRPr>
          </a:p>
        </p:txBody>
      </p:sp>
      <p:sp>
        <p:nvSpPr>
          <p:cNvPr id="18" name="矩形 17"/>
          <p:cNvSpPr/>
          <p:nvPr/>
        </p:nvSpPr>
        <p:spPr>
          <a:xfrm>
            <a:off x="1437386" y="5677697"/>
            <a:ext cx="479500" cy="84490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ysClr val="windowText" lastClr="000000"/>
                </a:solidFill>
              </a:rPr>
              <a:t>软件</a:t>
            </a:r>
            <a:endParaRPr kumimoji="1" lang="zh-CN" altLang="en-US" sz="1200" dirty="0">
              <a:solidFill>
                <a:sysClr val="windowText" lastClr="000000"/>
              </a:solidFill>
            </a:endParaRPr>
          </a:p>
        </p:txBody>
      </p:sp>
      <p:sp>
        <p:nvSpPr>
          <p:cNvPr id="19" name="矩形 18"/>
          <p:cNvSpPr/>
          <p:nvPr/>
        </p:nvSpPr>
        <p:spPr>
          <a:xfrm>
            <a:off x="2179118" y="5171167"/>
            <a:ext cx="2951186" cy="303479"/>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ysClr val="windowText" lastClr="000000"/>
                </a:solidFill>
                <a:effectLst/>
                <a:latin typeface="Inter"/>
              </a:rPr>
              <a:t>通信标准统一情况</a:t>
            </a:r>
            <a:endParaRPr kumimoji="1" lang="zh-CN" altLang="en-US" sz="1200" dirty="0">
              <a:solidFill>
                <a:sysClr val="windowText" lastClr="000000"/>
              </a:solidFill>
            </a:endParaRPr>
          </a:p>
        </p:txBody>
      </p:sp>
      <p:sp>
        <p:nvSpPr>
          <p:cNvPr id="20" name="矩形 19"/>
          <p:cNvSpPr/>
          <p:nvPr/>
        </p:nvSpPr>
        <p:spPr>
          <a:xfrm>
            <a:off x="2179118" y="5708068"/>
            <a:ext cx="2951186" cy="303479"/>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ysClr val="windowText" lastClr="000000"/>
                </a:solidFill>
                <a:latin typeface="Inter"/>
              </a:rPr>
              <a:t>电力市场信息服务平台</a:t>
            </a:r>
            <a:endParaRPr kumimoji="1" lang="zh-CN" altLang="en-US" sz="1200" dirty="0">
              <a:solidFill>
                <a:sysClr val="windowText" lastClr="000000"/>
              </a:solidFill>
            </a:endParaRPr>
          </a:p>
        </p:txBody>
      </p:sp>
      <p:sp>
        <p:nvSpPr>
          <p:cNvPr id="5" name="右箭头 4"/>
          <p:cNvSpPr/>
          <p:nvPr/>
        </p:nvSpPr>
        <p:spPr>
          <a:xfrm>
            <a:off x="5308569" y="3867374"/>
            <a:ext cx="511473" cy="321193"/>
          </a:xfrm>
          <a:prstGeom prst="rightArrow">
            <a:avLst/>
          </a:prstGeom>
          <a:solidFill>
            <a:srgbClr val="8BA7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nvSpPr>
        <p:spPr>
          <a:xfrm>
            <a:off x="5972864" y="3673845"/>
            <a:ext cx="1382630" cy="737235"/>
          </a:xfrm>
          <a:prstGeom prst="rect">
            <a:avLst/>
          </a:prstGeom>
          <a:noFill/>
        </p:spPr>
        <p:txBody>
          <a:bodyPr wrap="square" rtlCol="0">
            <a:spAutoFit/>
          </a:bodyPr>
          <a:lstStyle/>
          <a:p>
            <a:pPr algn="ctr"/>
            <a:r>
              <a:rPr kumimoji="1" lang="zh-CN" altLang="en-US" sz="1400" dirty="0">
                <a:solidFill>
                  <a:schemeClr val="bg1"/>
                </a:solidFill>
              </a:rPr>
              <a:t>资源时空差异是否形成交易空间</a:t>
            </a:r>
            <a:endParaRPr kumimoji="1" lang="zh-CN" altLang="en-US" sz="1400" dirty="0">
              <a:solidFill>
                <a:schemeClr val="bg1"/>
              </a:solidFill>
            </a:endParaRPr>
          </a:p>
        </p:txBody>
      </p:sp>
      <p:sp>
        <p:nvSpPr>
          <p:cNvPr id="14" name="右箭头 13"/>
          <p:cNvSpPr/>
          <p:nvPr/>
        </p:nvSpPr>
        <p:spPr>
          <a:xfrm>
            <a:off x="5308569" y="4970750"/>
            <a:ext cx="511473" cy="321193"/>
          </a:xfrm>
          <a:prstGeom prst="rightArrow">
            <a:avLst/>
          </a:prstGeom>
          <a:solidFill>
            <a:srgbClr val="8BA7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p:cNvSpPr txBox="1"/>
          <p:nvPr/>
        </p:nvSpPr>
        <p:spPr>
          <a:xfrm>
            <a:off x="6030237" y="4671311"/>
            <a:ext cx="1279201" cy="737235"/>
          </a:xfrm>
          <a:prstGeom prst="rect">
            <a:avLst/>
          </a:prstGeom>
          <a:noFill/>
        </p:spPr>
        <p:txBody>
          <a:bodyPr wrap="square" rtlCol="0">
            <a:spAutoFit/>
          </a:bodyPr>
          <a:lstStyle/>
          <a:p>
            <a:pPr algn="ctr"/>
            <a:r>
              <a:rPr kumimoji="1" lang="zh-CN" altLang="en-US" sz="1400" dirty="0">
                <a:solidFill>
                  <a:schemeClr val="bg1"/>
                </a:solidFill>
              </a:rPr>
              <a:t>是否满足电力传输与通信控制需要</a:t>
            </a:r>
            <a:endParaRPr kumimoji="1" lang="zh-CN" altLang="en-US" sz="1400" dirty="0">
              <a:solidFill>
                <a:schemeClr val="bg1"/>
              </a:solidFill>
            </a:endParaRPr>
          </a:p>
        </p:txBody>
      </p:sp>
      <p:sp>
        <p:nvSpPr>
          <p:cNvPr id="22" name="右箭头 21"/>
          <p:cNvSpPr/>
          <p:nvPr/>
        </p:nvSpPr>
        <p:spPr>
          <a:xfrm>
            <a:off x="5308569" y="5953372"/>
            <a:ext cx="511473" cy="321193"/>
          </a:xfrm>
          <a:prstGeom prst="rightArrow">
            <a:avLst/>
          </a:prstGeom>
          <a:solidFill>
            <a:srgbClr val="8BA7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p:cNvSpPr txBox="1"/>
          <p:nvPr/>
        </p:nvSpPr>
        <p:spPr>
          <a:xfrm>
            <a:off x="5985387" y="5757503"/>
            <a:ext cx="1357584" cy="737235"/>
          </a:xfrm>
          <a:prstGeom prst="rect">
            <a:avLst/>
          </a:prstGeom>
          <a:solidFill>
            <a:srgbClr val="8BA7DE"/>
          </a:solidFill>
        </p:spPr>
        <p:txBody>
          <a:bodyPr wrap="square" rtlCol="0">
            <a:spAutoFit/>
          </a:bodyPr>
          <a:lstStyle/>
          <a:p>
            <a:pPr algn="ctr"/>
            <a:r>
              <a:rPr kumimoji="1" lang="zh-CN" altLang="en-US" sz="1400" dirty="0">
                <a:solidFill>
                  <a:schemeClr val="bg1"/>
                </a:solidFill>
              </a:rPr>
              <a:t>是否满足信息集成与电网调度需要</a:t>
            </a:r>
            <a:endParaRPr kumimoji="1" lang="zh-CN" altLang="en-US" sz="1400" dirty="0">
              <a:solidFill>
                <a:schemeClr val="bg1"/>
              </a:solidFill>
            </a:endParaRPr>
          </a:p>
        </p:txBody>
      </p:sp>
      <p:sp>
        <p:nvSpPr>
          <p:cNvPr id="27" name="矩形 26"/>
          <p:cNvSpPr/>
          <p:nvPr/>
        </p:nvSpPr>
        <p:spPr>
          <a:xfrm>
            <a:off x="404691" y="3053425"/>
            <a:ext cx="5110210" cy="375575"/>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虚拟电厂参与省间电力市场相关要素</a:t>
            </a:r>
            <a:endParaRPr kumimoji="1" lang="zh-CN" altLang="en-US" sz="1600" dirty="0"/>
          </a:p>
        </p:txBody>
      </p:sp>
      <p:sp>
        <p:nvSpPr>
          <p:cNvPr id="29" name="矩形 28"/>
          <p:cNvSpPr/>
          <p:nvPr/>
        </p:nvSpPr>
        <p:spPr>
          <a:xfrm>
            <a:off x="5656061" y="3053425"/>
            <a:ext cx="2057480" cy="375575"/>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技术可行性</a:t>
            </a:r>
            <a:endParaRPr kumimoji="1" lang="zh-CN" altLang="en-US" sz="1600" dirty="0"/>
          </a:p>
        </p:txBody>
      </p:sp>
      <p:sp>
        <p:nvSpPr>
          <p:cNvPr id="35" name="矩形 34"/>
          <p:cNvSpPr/>
          <p:nvPr/>
        </p:nvSpPr>
        <p:spPr>
          <a:xfrm>
            <a:off x="8228859" y="3429000"/>
            <a:ext cx="610341" cy="1541750"/>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多要素资料收集与挖掘</a:t>
            </a:r>
            <a:endParaRPr kumimoji="1" lang="zh-CN" altLang="en-US" sz="1400" dirty="0"/>
          </a:p>
        </p:txBody>
      </p:sp>
      <p:sp>
        <p:nvSpPr>
          <p:cNvPr id="36" name="矩形 35"/>
          <p:cNvSpPr/>
          <p:nvPr/>
        </p:nvSpPr>
        <p:spPr>
          <a:xfrm>
            <a:off x="8228859" y="5171167"/>
            <a:ext cx="610341" cy="1481119"/>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重点比较探究省间差异</a:t>
            </a:r>
            <a:endParaRPr kumimoji="1" lang="zh-CN" altLang="en-US" sz="1400" dirty="0"/>
          </a:p>
        </p:txBody>
      </p:sp>
      <p:sp>
        <p:nvSpPr>
          <p:cNvPr id="39" name="右箭头 38"/>
          <p:cNvSpPr/>
          <p:nvPr/>
        </p:nvSpPr>
        <p:spPr>
          <a:xfrm flipH="1">
            <a:off x="7796803" y="4061973"/>
            <a:ext cx="295564" cy="332233"/>
          </a:xfrm>
          <a:prstGeom prst="rightArrow">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右箭头 39"/>
          <p:cNvSpPr/>
          <p:nvPr/>
        </p:nvSpPr>
        <p:spPr>
          <a:xfrm flipH="1">
            <a:off x="7796803" y="5745609"/>
            <a:ext cx="295564" cy="332233"/>
          </a:xfrm>
          <a:prstGeom prst="rightArrow">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文本框 40"/>
          <p:cNvSpPr txBox="1"/>
          <p:nvPr/>
        </p:nvSpPr>
        <p:spPr>
          <a:xfrm>
            <a:off x="338708" y="2063081"/>
            <a:ext cx="8599809" cy="899160"/>
          </a:xfrm>
          <a:prstGeom prst="rect">
            <a:avLst/>
          </a:prstGeom>
          <a:noFill/>
        </p:spPr>
        <p:txBody>
          <a:bodyPr wrap="square" rtlCol="0">
            <a:spAutoFit/>
          </a:bodyPr>
          <a:lstStyle/>
          <a:p>
            <a:pPr rtl="0">
              <a:lnSpc>
                <a:spcPts val="2100"/>
              </a:lnSpc>
            </a:pPr>
            <a:r>
              <a:rPr lang="zh-CN" altLang="en-US" sz="1400" b="1" dirty="0">
                <a:solidFill>
                  <a:schemeClr val="accent1"/>
                </a:solidFill>
                <a:effectLst/>
              </a:rPr>
              <a:t>可行思路：</a:t>
            </a:r>
            <a:r>
              <a:rPr lang="zh-CN" altLang="en-US" sz="1400" b="0" dirty="0">
                <a:solidFill>
                  <a:srgbClr val="000000"/>
                </a:solidFill>
                <a:effectLst/>
              </a:rPr>
              <a:t>围绕虚拟电厂参与省间电力市场问题，从</a:t>
            </a:r>
            <a:r>
              <a:rPr lang="zh-CN" altLang="en-US" sz="1400" b="0" dirty="0">
                <a:solidFill>
                  <a:schemeClr val="accent1"/>
                </a:solidFill>
                <a:effectLst/>
              </a:rPr>
              <a:t>交易资源层面和支撑设施层面</a:t>
            </a:r>
            <a:r>
              <a:rPr lang="zh-CN" altLang="en-US" sz="1400" b="0" dirty="0">
                <a:solidFill>
                  <a:srgbClr val="000000"/>
                </a:solidFill>
                <a:effectLst/>
              </a:rPr>
              <a:t>梳理相关要素情况，通过探究资源时空差异</a:t>
            </a:r>
            <a:r>
              <a:rPr lang="zh-CN" altLang="en-US" sz="1400" b="0" dirty="0">
                <a:solidFill>
                  <a:schemeClr val="accent1"/>
                </a:solidFill>
                <a:effectLst/>
              </a:rPr>
              <a:t>能否形成交易空间、是否满足电力传输通信及信息集成电网调度需要</a:t>
            </a:r>
            <a:r>
              <a:rPr lang="zh-CN" altLang="en-US" sz="1400" b="0" dirty="0">
                <a:solidFill>
                  <a:srgbClr val="000000"/>
                </a:solidFill>
                <a:effectLst/>
              </a:rPr>
              <a:t>等，经多要素收集挖掘与省间差异比较，进行技术可行性评估。</a:t>
            </a:r>
            <a:endParaRPr lang="zh-CN" altLang="en-US" sz="1400" b="0" dirty="0">
              <a:solidFill>
                <a:srgbClr val="000000"/>
              </a:solidFill>
              <a:effectLst/>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11045" y="3177964"/>
            <a:ext cx="8428155" cy="2871961"/>
          </a:xfrm>
          <a:prstGeom prst="rect">
            <a:avLst/>
          </a:prstGeom>
          <a:solidFill>
            <a:schemeClr val="bg2"/>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650"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txBody>
          <a:bodyPr/>
          <a:lstStyle/>
          <a:p>
            <a:endParaRPr lang="zh-CN" altLang="en-US"/>
          </a:p>
        </p:txBody>
      </p:sp>
      <p:sp>
        <p:nvSpPr>
          <p:cNvPr id="27651"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7652" name="Content Placeholder 3"/>
          <p:cNvSpPr>
            <a:spLocks noGrp="1"/>
          </p:cNvSpPr>
          <p:nvPr>
            <p:ph sz="quarter" idx="1"/>
          </p:nvPr>
        </p:nvSpPr>
        <p:spPr>
          <a:xfrm>
            <a:off x="250825" y="1125538"/>
            <a:ext cx="8806089"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1</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：华中区域虚拟电厂发展现状及资源灵活调控潜力分析</a:t>
            </a:r>
            <a:endParaRPr lang="zh-CN" altLang="en-US" sz="2000" dirty="0"/>
          </a:p>
        </p:txBody>
      </p:sp>
      <p:sp>
        <p:nvSpPr>
          <p:cNvPr id="27653"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4"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5"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 name="文本框 1"/>
          <p:cNvSpPr txBox="1"/>
          <p:nvPr/>
        </p:nvSpPr>
        <p:spPr>
          <a:xfrm>
            <a:off x="250508" y="1614647"/>
            <a:ext cx="4286885" cy="410845"/>
          </a:xfrm>
          <a:prstGeom prst="rect">
            <a:avLst/>
          </a:prstGeom>
          <a:noFill/>
        </p:spPr>
        <p:txBody>
          <a:bodyPr wrap="none" rtlCol="0">
            <a:spAutoFit/>
          </a:bodyPr>
          <a:lstStyle/>
          <a:p>
            <a:pPr algn="l">
              <a:lnSpc>
                <a:spcPct val="130000"/>
              </a:lnSpc>
              <a:buClrTx/>
              <a:buSzTx/>
              <a:buFontTx/>
              <a:defRPr/>
            </a:pPr>
            <a:r>
              <a:rPr lang="zh-CN" altLang="en-US" sz="1600" b="1" noProof="0" dirty="0">
                <a:ln>
                  <a:noFill/>
                </a:ln>
                <a:solidFill>
                  <a:schemeClr val="accent1"/>
                </a:solidFill>
                <a:effectLst/>
                <a:uLnTx/>
                <a:uFillTx/>
                <a:latin typeface="微软雅黑" panose="020B0503020204020204" pitchFamily="34" charset="-122"/>
                <a:ea typeface="微软雅黑" panose="020B0503020204020204" pitchFamily="34" charset="-122"/>
              </a:rPr>
              <a:t>4. 评估虚拟电厂参与省间电力市场的经济潜力</a:t>
            </a:r>
            <a:endParaRPr lang="zh-CN" altLang="en-US" sz="1600" b="1"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36" name="矩形 35"/>
          <p:cNvSpPr/>
          <p:nvPr/>
        </p:nvSpPr>
        <p:spPr>
          <a:xfrm>
            <a:off x="8099641" y="3452764"/>
            <a:ext cx="520395" cy="2442428"/>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经济潜力评估总结</a:t>
            </a:r>
            <a:endParaRPr kumimoji="1" lang="zh-CN" altLang="en-US" sz="1600" dirty="0"/>
          </a:p>
        </p:txBody>
      </p:sp>
      <p:sp>
        <p:nvSpPr>
          <p:cNvPr id="37" name="矩形 36"/>
          <p:cNvSpPr/>
          <p:nvPr/>
        </p:nvSpPr>
        <p:spPr>
          <a:xfrm>
            <a:off x="4020125" y="3763220"/>
            <a:ext cx="3498574" cy="2131972"/>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p:cNvSpPr/>
          <p:nvPr/>
        </p:nvSpPr>
        <p:spPr>
          <a:xfrm>
            <a:off x="4024003" y="3317250"/>
            <a:ext cx="3494696" cy="435212"/>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潜在效益来源</a:t>
            </a:r>
            <a:endParaRPr kumimoji="1" lang="zh-CN" altLang="en-US" sz="1600" dirty="0"/>
          </a:p>
        </p:txBody>
      </p:sp>
      <p:sp>
        <p:nvSpPr>
          <p:cNvPr id="39" name="矩形 38"/>
          <p:cNvSpPr/>
          <p:nvPr/>
        </p:nvSpPr>
        <p:spPr>
          <a:xfrm>
            <a:off x="577734" y="3763220"/>
            <a:ext cx="2861449" cy="2131972"/>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p:cNvSpPr/>
          <p:nvPr/>
        </p:nvSpPr>
        <p:spPr>
          <a:xfrm>
            <a:off x="581917" y="3317250"/>
            <a:ext cx="2854970" cy="435212"/>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调控潜力测算</a:t>
            </a:r>
            <a:endParaRPr kumimoji="1" lang="zh-CN" altLang="en-US" sz="1600" dirty="0"/>
          </a:p>
        </p:txBody>
      </p:sp>
      <p:sp>
        <p:nvSpPr>
          <p:cNvPr id="42" name="矩形 41"/>
          <p:cNvSpPr/>
          <p:nvPr/>
        </p:nvSpPr>
        <p:spPr>
          <a:xfrm>
            <a:off x="4980921" y="3869168"/>
            <a:ext cx="2127200" cy="344781"/>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i="0" dirty="0">
                <a:solidFill>
                  <a:sysClr val="windowText" lastClr="000000"/>
                </a:solidFill>
                <a:effectLst/>
                <a:latin typeface="Inter"/>
              </a:rPr>
              <a:t>可避免发电成本</a:t>
            </a:r>
            <a:endParaRPr kumimoji="1" lang="zh-CN" altLang="en-US" sz="1200" dirty="0">
              <a:solidFill>
                <a:sysClr val="windowText" lastClr="000000"/>
              </a:solidFill>
            </a:endParaRPr>
          </a:p>
        </p:txBody>
      </p:sp>
      <p:sp>
        <p:nvSpPr>
          <p:cNvPr id="44" name="矩形 43"/>
          <p:cNvSpPr/>
          <p:nvPr/>
        </p:nvSpPr>
        <p:spPr>
          <a:xfrm>
            <a:off x="4980921" y="4316702"/>
            <a:ext cx="2127200" cy="344781"/>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i="0" dirty="0">
                <a:solidFill>
                  <a:sysClr val="windowText" lastClr="000000"/>
                </a:solidFill>
                <a:effectLst/>
                <a:latin typeface="Inter"/>
              </a:rPr>
              <a:t>中长期与现货市场收益</a:t>
            </a:r>
            <a:endParaRPr kumimoji="1" lang="zh-CN" altLang="en-US" sz="1200" dirty="0">
              <a:solidFill>
                <a:sysClr val="windowText" lastClr="000000"/>
              </a:solidFill>
            </a:endParaRPr>
          </a:p>
        </p:txBody>
      </p:sp>
      <p:sp>
        <p:nvSpPr>
          <p:cNvPr id="46" name="矩形 45"/>
          <p:cNvSpPr/>
          <p:nvPr/>
        </p:nvSpPr>
        <p:spPr>
          <a:xfrm>
            <a:off x="4236014" y="3869169"/>
            <a:ext cx="559616" cy="12195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对发电侧</a:t>
            </a:r>
            <a:endParaRPr kumimoji="1" lang="zh-CN" altLang="en-US" sz="1200" dirty="0"/>
          </a:p>
        </p:txBody>
      </p:sp>
      <p:sp>
        <p:nvSpPr>
          <p:cNvPr id="48" name="矩形 47"/>
          <p:cNvSpPr/>
          <p:nvPr/>
        </p:nvSpPr>
        <p:spPr>
          <a:xfrm>
            <a:off x="4980921" y="5337977"/>
            <a:ext cx="2127200" cy="344781"/>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i="0" dirty="0">
                <a:solidFill>
                  <a:sysClr val="windowText" lastClr="000000"/>
                </a:solidFill>
                <a:effectLst/>
                <a:latin typeface="Inter"/>
              </a:rPr>
              <a:t>需求响应收益</a:t>
            </a:r>
            <a:endParaRPr kumimoji="1" lang="zh-CN" altLang="en-US" sz="1200" dirty="0">
              <a:solidFill>
                <a:sysClr val="windowText" lastClr="000000"/>
              </a:solidFill>
            </a:endParaRPr>
          </a:p>
        </p:txBody>
      </p:sp>
      <p:sp>
        <p:nvSpPr>
          <p:cNvPr id="49" name="矩形 48"/>
          <p:cNvSpPr/>
          <p:nvPr/>
        </p:nvSpPr>
        <p:spPr>
          <a:xfrm>
            <a:off x="4236014" y="5209064"/>
            <a:ext cx="559616" cy="5562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对需求侧</a:t>
            </a:r>
            <a:endParaRPr kumimoji="1" lang="zh-CN" altLang="en-US" sz="1200" dirty="0"/>
          </a:p>
        </p:txBody>
      </p:sp>
      <p:sp>
        <p:nvSpPr>
          <p:cNvPr id="51" name="矩形 50"/>
          <p:cNvSpPr/>
          <p:nvPr/>
        </p:nvSpPr>
        <p:spPr>
          <a:xfrm>
            <a:off x="4980921" y="4743899"/>
            <a:ext cx="2127200" cy="344781"/>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i="0" dirty="0">
                <a:solidFill>
                  <a:sysClr val="windowText" lastClr="000000"/>
                </a:solidFill>
                <a:effectLst/>
                <a:latin typeface="Inter"/>
              </a:rPr>
              <a:t>碳排放收益</a:t>
            </a:r>
            <a:endParaRPr kumimoji="1" lang="zh-CN" altLang="en-US" sz="1200" dirty="0">
              <a:solidFill>
                <a:sysClr val="windowText" lastClr="000000"/>
              </a:solidFill>
            </a:endParaRPr>
          </a:p>
        </p:txBody>
      </p:sp>
      <p:sp>
        <p:nvSpPr>
          <p:cNvPr id="52" name="右箭头 51"/>
          <p:cNvSpPr/>
          <p:nvPr/>
        </p:nvSpPr>
        <p:spPr>
          <a:xfrm>
            <a:off x="7683911" y="4885113"/>
            <a:ext cx="252487" cy="2484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右箭头 52"/>
          <p:cNvSpPr/>
          <p:nvPr/>
        </p:nvSpPr>
        <p:spPr>
          <a:xfrm>
            <a:off x="3605172" y="4885113"/>
            <a:ext cx="252487" cy="2484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矩形 53"/>
          <p:cNvSpPr/>
          <p:nvPr/>
        </p:nvSpPr>
        <p:spPr>
          <a:xfrm>
            <a:off x="794094" y="3917280"/>
            <a:ext cx="502962" cy="6360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调控资源</a:t>
            </a:r>
            <a:endParaRPr kumimoji="1" lang="zh-CN" altLang="en-US" sz="1200" dirty="0"/>
          </a:p>
        </p:txBody>
      </p:sp>
      <p:sp>
        <p:nvSpPr>
          <p:cNvPr id="60" name="矩形 59"/>
          <p:cNvSpPr/>
          <p:nvPr/>
        </p:nvSpPr>
        <p:spPr>
          <a:xfrm>
            <a:off x="1474449" y="3917280"/>
            <a:ext cx="1683444" cy="248416"/>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i="0" dirty="0">
                <a:solidFill>
                  <a:sysClr val="windowText" lastClr="000000"/>
                </a:solidFill>
                <a:effectLst/>
                <a:latin typeface="Inter"/>
              </a:rPr>
              <a:t>空调负荷</a:t>
            </a:r>
            <a:endParaRPr kumimoji="1" lang="zh-CN" altLang="en-US" sz="1200" dirty="0">
              <a:solidFill>
                <a:sysClr val="windowText" lastClr="000000"/>
              </a:solidFill>
            </a:endParaRPr>
          </a:p>
        </p:txBody>
      </p:sp>
      <p:sp>
        <p:nvSpPr>
          <p:cNvPr id="61" name="矩形 60"/>
          <p:cNvSpPr/>
          <p:nvPr/>
        </p:nvSpPr>
        <p:spPr>
          <a:xfrm>
            <a:off x="1474449" y="4268450"/>
            <a:ext cx="1683444" cy="248416"/>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ysClr val="windowText" lastClr="000000"/>
                </a:solidFill>
                <a:latin typeface="Inter"/>
              </a:rPr>
              <a:t>电动汽车充电桩</a:t>
            </a:r>
            <a:endParaRPr kumimoji="1" lang="zh-CN" altLang="en-US" sz="1200" dirty="0">
              <a:solidFill>
                <a:sysClr val="windowText" lastClr="000000"/>
              </a:solidFill>
            </a:endParaRPr>
          </a:p>
        </p:txBody>
      </p:sp>
      <p:sp>
        <p:nvSpPr>
          <p:cNvPr id="27649" name="矩形 27648"/>
          <p:cNvSpPr/>
          <p:nvPr/>
        </p:nvSpPr>
        <p:spPr>
          <a:xfrm>
            <a:off x="794094" y="4826329"/>
            <a:ext cx="2363799" cy="291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调控潜力建模计算</a:t>
            </a:r>
            <a:endParaRPr kumimoji="1" lang="zh-CN" altLang="en-US" sz="1200" dirty="0"/>
          </a:p>
        </p:txBody>
      </p:sp>
      <p:sp>
        <p:nvSpPr>
          <p:cNvPr id="27656" name="下箭头 27655"/>
          <p:cNvSpPr/>
          <p:nvPr/>
        </p:nvSpPr>
        <p:spPr>
          <a:xfrm>
            <a:off x="1845195" y="4612019"/>
            <a:ext cx="313984" cy="1586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661" name="矩形 27660"/>
          <p:cNvSpPr/>
          <p:nvPr/>
        </p:nvSpPr>
        <p:spPr>
          <a:xfrm>
            <a:off x="794094" y="5424829"/>
            <a:ext cx="2363799" cy="2911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评估省间市场参与情况</a:t>
            </a:r>
            <a:endParaRPr kumimoji="1" lang="zh-CN" altLang="en-US" sz="1200" dirty="0"/>
          </a:p>
        </p:txBody>
      </p:sp>
      <p:sp>
        <p:nvSpPr>
          <p:cNvPr id="27662" name="下箭头 27661"/>
          <p:cNvSpPr/>
          <p:nvPr/>
        </p:nvSpPr>
        <p:spPr>
          <a:xfrm>
            <a:off x="1845195" y="5194913"/>
            <a:ext cx="313984" cy="1586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666" name="文本框 27665"/>
          <p:cNvSpPr txBox="1"/>
          <p:nvPr/>
        </p:nvSpPr>
        <p:spPr>
          <a:xfrm>
            <a:off x="3554374" y="4274348"/>
            <a:ext cx="347503" cy="521970"/>
          </a:xfrm>
          <a:prstGeom prst="rect">
            <a:avLst/>
          </a:prstGeom>
          <a:noFill/>
        </p:spPr>
        <p:txBody>
          <a:bodyPr wrap="square" rtlCol="0">
            <a:spAutoFit/>
          </a:bodyPr>
          <a:lstStyle/>
          <a:p>
            <a:r>
              <a:rPr kumimoji="1" lang="zh-CN" altLang="en-US" sz="1400" dirty="0"/>
              <a:t>参与</a:t>
            </a:r>
            <a:endParaRPr kumimoji="1" lang="zh-CN" altLang="en-US" sz="1400" dirty="0"/>
          </a:p>
        </p:txBody>
      </p:sp>
      <p:sp>
        <p:nvSpPr>
          <p:cNvPr id="27667" name="文本框 27666"/>
          <p:cNvSpPr txBox="1"/>
          <p:nvPr/>
        </p:nvSpPr>
        <p:spPr>
          <a:xfrm>
            <a:off x="7610982" y="4274348"/>
            <a:ext cx="347503" cy="521970"/>
          </a:xfrm>
          <a:prstGeom prst="rect">
            <a:avLst/>
          </a:prstGeom>
          <a:noFill/>
        </p:spPr>
        <p:txBody>
          <a:bodyPr wrap="square" rtlCol="0">
            <a:spAutoFit/>
          </a:bodyPr>
          <a:lstStyle/>
          <a:p>
            <a:r>
              <a:rPr kumimoji="1" lang="zh-CN" altLang="en-US" sz="1400" dirty="0"/>
              <a:t>获利</a:t>
            </a:r>
            <a:endParaRPr kumimoji="1" lang="zh-CN" altLang="en-US" sz="1400" dirty="0"/>
          </a:p>
        </p:txBody>
      </p:sp>
      <p:sp>
        <p:nvSpPr>
          <p:cNvPr id="8" name="矩形 7"/>
          <p:cNvSpPr/>
          <p:nvPr/>
        </p:nvSpPr>
        <p:spPr>
          <a:xfrm>
            <a:off x="577734" y="6293224"/>
            <a:ext cx="3808887" cy="387275"/>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数据驱动的调控潜力建模</a:t>
            </a:r>
            <a:endParaRPr kumimoji="1" lang="zh-CN" altLang="en-US" sz="1400" dirty="0"/>
          </a:p>
        </p:txBody>
      </p:sp>
      <p:sp>
        <p:nvSpPr>
          <p:cNvPr id="9" name="矩形 8"/>
          <p:cNvSpPr/>
          <p:nvPr/>
        </p:nvSpPr>
        <p:spPr>
          <a:xfrm>
            <a:off x="4811149" y="6293224"/>
            <a:ext cx="3808887" cy="387275"/>
          </a:xfrm>
          <a:prstGeom prst="rect">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多角度多场景的潜在效益评估</a:t>
            </a:r>
            <a:endParaRPr kumimoji="1" lang="zh-CN" altLang="en-US" sz="1400" dirty="0"/>
          </a:p>
        </p:txBody>
      </p:sp>
      <p:sp>
        <p:nvSpPr>
          <p:cNvPr id="10" name="右箭头 9"/>
          <p:cNvSpPr/>
          <p:nvPr/>
        </p:nvSpPr>
        <p:spPr>
          <a:xfrm rot="5400000" flipH="1">
            <a:off x="2489288" y="5928833"/>
            <a:ext cx="224424" cy="332233"/>
          </a:xfrm>
          <a:prstGeom prst="rightArrow">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右箭头 10"/>
          <p:cNvSpPr/>
          <p:nvPr/>
        </p:nvSpPr>
        <p:spPr>
          <a:xfrm rot="5400000" flipH="1">
            <a:off x="6603380" y="5928833"/>
            <a:ext cx="224424" cy="332233"/>
          </a:xfrm>
          <a:prstGeom prst="rightArrow">
            <a:avLst/>
          </a:prstGeom>
          <a:solidFill>
            <a:srgbClr val="4874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p:cNvSpPr txBox="1"/>
          <p:nvPr/>
        </p:nvSpPr>
        <p:spPr>
          <a:xfrm>
            <a:off x="338708" y="2063081"/>
            <a:ext cx="8599809" cy="899160"/>
          </a:xfrm>
          <a:prstGeom prst="rect">
            <a:avLst/>
          </a:prstGeom>
          <a:noFill/>
        </p:spPr>
        <p:txBody>
          <a:bodyPr wrap="square" rtlCol="0">
            <a:spAutoFit/>
          </a:bodyPr>
          <a:lstStyle/>
          <a:p>
            <a:pPr rtl="0">
              <a:lnSpc>
                <a:spcPts val="2100"/>
              </a:lnSpc>
            </a:pPr>
            <a:r>
              <a:rPr lang="zh-CN" altLang="en-US" sz="1400" b="1" dirty="0">
                <a:solidFill>
                  <a:schemeClr val="accent1"/>
                </a:solidFill>
                <a:effectLst/>
              </a:rPr>
              <a:t>可行思路：</a:t>
            </a:r>
            <a:r>
              <a:rPr lang="zh-CN" altLang="en-US" sz="1400" b="0" dirty="0">
                <a:solidFill>
                  <a:srgbClr val="000000"/>
                </a:solidFill>
                <a:effectLst/>
              </a:rPr>
              <a:t>该图从调控潜力测算与潜在效益来源两方面评估虚拟电厂参与省间电力市场的经济潜力。以空调负荷、电动汽车充电桩等为调控资源，通过</a:t>
            </a:r>
            <a:r>
              <a:rPr lang="zh-CN" altLang="en-US" sz="1400" b="0" dirty="0">
                <a:solidFill>
                  <a:schemeClr val="accent1"/>
                </a:solidFill>
                <a:effectLst/>
              </a:rPr>
              <a:t>数据驱动建模计算调控潜力</a:t>
            </a:r>
            <a:r>
              <a:rPr lang="zh-CN" altLang="en-US" sz="1400" b="0" dirty="0">
                <a:solidFill>
                  <a:srgbClr val="000000"/>
                </a:solidFill>
                <a:effectLst/>
              </a:rPr>
              <a:t>并评估省间参与情况；从</a:t>
            </a:r>
            <a:r>
              <a:rPr lang="zh-CN" altLang="en-US" sz="1400" b="0" dirty="0">
                <a:solidFill>
                  <a:schemeClr val="accent1"/>
                </a:solidFill>
                <a:effectLst/>
              </a:rPr>
              <a:t>发电侧和需求侧多角度多场景分析潜在效益</a:t>
            </a:r>
            <a:r>
              <a:rPr lang="zh-CN" altLang="en-US" sz="1400" b="0" dirty="0">
                <a:solidFill>
                  <a:srgbClr val="000000"/>
                </a:solidFill>
                <a:effectLst/>
              </a:rPr>
              <a:t>，最终进行经济潜力评估总结以明确经济潜力。</a:t>
            </a:r>
            <a:endParaRPr lang="zh-CN" altLang="en-US" sz="1400" b="0" dirty="0">
              <a:solidFill>
                <a:srgbClr val="000000"/>
              </a:solidFill>
              <a:effectLst/>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6628"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6629" name="Content Placeholder 3"/>
          <p:cNvSpPr>
            <a:spLocks noGrp="1"/>
          </p:cNvSpPr>
          <p:nvPr>
            <p:ph sz="quarter" idx="1"/>
          </p:nvPr>
        </p:nvSpPr>
        <p:spPr>
          <a:xfrm>
            <a:off x="228600" y="1214438"/>
            <a:ext cx="8794750"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34290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2</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虚拟电厂参与电力系统调峰调频服务的调控策略及经济性分析</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26630" name="Rectangle 7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31" name="Rectangle 8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32" name="Rectangle 84"/>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53" name="矩形 26652"/>
          <p:cNvSpPr/>
          <p:nvPr/>
        </p:nvSpPr>
        <p:spPr>
          <a:xfrm>
            <a:off x="228600" y="1489770"/>
            <a:ext cx="8027035" cy="48958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lang="zh-CN" altLang="en-US" sz="1800" b="1" dirty="0">
                <a:solidFill>
                  <a:schemeClr val="accent1"/>
                </a:solidFill>
                <a:latin typeface="微软雅黑" panose="020B0503020204020204" pitchFamily="34" charset="-122"/>
                <a:ea typeface="微软雅黑" panose="020B0503020204020204" pitchFamily="34" charset="-122"/>
              </a:rPr>
              <a:t>现有调峰调频相关</a:t>
            </a:r>
            <a:r>
              <a:rPr kumimoji="0" lang="zh-CN" altLang="en-US"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政策梳理：</a:t>
            </a:r>
            <a:endParaRPr kumimoji="0" lang="zh-CN" altLang="en-US"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grpSp>
        <p:nvGrpSpPr>
          <p:cNvPr id="26654" name="组合 26653"/>
          <p:cNvGrpSpPr/>
          <p:nvPr/>
        </p:nvGrpSpPr>
        <p:grpSpPr>
          <a:xfrm>
            <a:off x="3275892" y="5035761"/>
            <a:ext cx="2852768" cy="1650503"/>
            <a:chOff x="285311" y="3637508"/>
            <a:chExt cx="5607130" cy="1906767"/>
          </a:xfrm>
        </p:grpSpPr>
        <p:sp>
          <p:nvSpPr>
            <p:cNvPr id="26655" name="矩形 26654"/>
            <p:cNvSpPr/>
            <p:nvPr/>
          </p:nvSpPr>
          <p:spPr>
            <a:xfrm rot="16200000">
              <a:off x="2105270" y="1817549"/>
              <a:ext cx="1887135" cy="5527053"/>
            </a:xfrm>
            <a:prstGeom prst="rect">
              <a:avLst/>
            </a:prstGeom>
            <a:solidFill>
              <a:srgbClr val="0062A6">
                <a:alpha val="5000"/>
              </a:srgbClr>
            </a:solidFill>
            <a:ln w="9525" cap="flat" cmpd="sng" algn="ctr">
              <a:solidFill>
                <a:srgbClr val="0062A6"/>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6656" name="文本框 26655"/>
            <p:cNvSpPr txBox="1"/>
            <p:nvPr/>
          </p:nvSpPr>
          <p:spPr>
            <a:xfrm>
              <a:off x="323646" y="3696354"/>
              <a:ext cx="5568795" cy="1847921"/>
            </a:xfrm>
            <a:prstGeom prst="rect">
              <a:avLst/>
            </a:prstGeom>
            <a:noFill/>
          </p:spPr>
          <p:txBody>
            <a:bodyPr wrap="square" rtlCol="0">
              <a:spAutoFit/>
            </a:bodyPr>
            <a:lstStyle/>
            <a:p>
              <a:pPr marL="285750" indent="-285750">
                <a:spcAft>
                  <a:spcPts val="600"/>
                </a:spcAft>
                <a:buFont typeface="Wingdings" panose="05000000000000000000" pitchFamily="2" charset="2"/>
                <a:buChar char="u"/>
              </a:pPr>
              <a:r>
                <a:rPr lang="en-US" altLang="zh-CN" sz="1400" b="1" dirty="0">
                  <a:solidFill>
                    <a:srgbClr val="0062A6"/>
                  </a:solidFill>
                  <a:latin typeface="微软雅黑" panose="020B0503020204020204" pitchFamily="34" charset="-122"/>
                  <a:ea typeface="微软雅黑" panose="020B0503020204020204" pitchFamily="34" charset="-122"/>
                </a:rPr>
                <a:t>2</a:t>
              </a:r>
              <a:r>
                <a:rPr lang="zh-CN" altLang="en-US" sz="1400" b="1" dirty="0">
                  <a:solidFill>
                    <a:srgbClr val="0062A6"/>
                  </a:solidFill>
                  <a:latin typeface="微软雅黑" panose="020B0503020204020204" pitchFamily="34" charset="-122"/>
                  <a:ea typeface="微软雅黑" panose="020B0503020204020204" pitchFamily="34" charset="-122"/>
                </a:rPr>
                <a:t>月</a:t>
              </a:r>
              <a:r>
                <a:rPr lang="zh-CN" altLang="en-US" sz="1400" dirty="0">
                  <a:solidFill>
                    <a:srgbClr val="0062A6"/>
                  </a:solidFill>
                  <a:latin typeface="微软雅黑" panose="020B0503020204020204" pitchFamily="34" charset="-122"/>
                  <a:ea typeface="微软雅黑" panose="020B0503020204020204" pitchFamily="34" charset="-122"/>
                </a:rPr>
                <a:t>：</a:t>
              </a:r>
              <a:r>
                <a:rPr lang="zh-CN" altLang="en-US" sz="1400" dirty="0">
                  <a:solidFill>
                    <a:srgbClr val="262626"/>
                  </a:solidFill>
                  <a:latin typeface="微软雅黑" panose="020B0503020204020204" pitchFamily="34" charset="-122"/>
                  <a:ea typeface="微软雅黑" panose="020B0503020204020204" pitchFamily="34" charset="-122"/>
                </a:rPr>
                <a:t>国家发展改革委发布</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b="1" dirty="0">
                  <a:solidFill>
                    <a:srgbClr val="262626"/>
                  </a:solidFill>
                  <a:latin typeface="微软雅黑" panose="020B0503020204020204" pitchFamily="34" charset="-122"/>
                  <a:ea typeface="微软雅黑" panose="020B0503020204020204" pitchFamily="34" charset="-122"/>
                </a:rPr>
                <a:t>国家能源局关于加强电网调峰储能和智能化调度能力建设的指导意见</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dirty="0">
                  <a:solidFill>
                    <a:srgbClr val="262626"/>
                  </a:solidFill>
                  <a:latin typeface="微软雅黑" panose="020B0503020204020204" pitchFamily="34" charset="-122"/>
                  <a:ea typeface="微软雅黑" panose="020B0503020204020204" pitchFamily="34" charset="-122"/>
                </a:rPr>
                <a:t>，提出</a:t>
              </a:r>
              <a:r>
                <a:rPr lang="zh-CN" altLang="en-US" sz="1400" b="1" dirty="0">
                  <a:solidFill>
                    <a:srgbClr val="F27900"/>
                  </a:solidFill>
                  <a:latin typeface="微软雅黑" panose="020B0503020204020204" pitchFamily="34" charset="-122"/>
                  <a:ea typeface="微软雅黑" panose="020B0503020204020204" pitchFamily="34" charset="-122"/>
                </a:rPr>
                <a:t>支持虚拟电厂等主体聚合形成规模化调节能力</a:t>
              </a:r>
              <a:r>
                <a:rPr lang="zh-CN" altLang="en-US" sz="1400" dirty="0">
                  <a:solidFill>
                    <a:srgbClr val="262626"/>
                  </a:solidFill>
                  <a:latin typeface="微软雅黑" panose="020B0503020204020204" pitchFamily="34" charset="-122"/>
                  <a:ea typeface="微软雅黑" panose="020B0503020204020204" pitchFamily="34" charset="-122"/>
                </a:rPr>
                <a:t>，推动实施分钟级、小时级需求响应。</a:t>
              </a:r>
              <a:endParaRPr lang="en-US" altLang="zh-CN" sz="1400" dirty="0">
                <a:solidFill>
                  <a:srgbClr val="262626"/>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4582368" y="2053615"/>
            <a:ext cx="3877956" cy="1478233"/>
            <a:chOff x="285311" y="3637510"/>
            <a:chExt cx="5607130" cy="1951670"/>
          </a:xfrm>
        </p:grpSpPr>
        <p:sp>
          <p:nvSpPr>
            <p:cNvPr id="3" name="矩形 2"/>
            <p:cNvSpPr/>
            <p:nvPr/>
          </p:nvSpPr>
          <p:spPr>
            <a:xfrm rot="16200000">
              <a:off x="2073003" y="1849818"/>
              <a:ext cx="1951670" cy="5527054"/>
            </a:xfrm>
            <a:prstGeom prst="rect">
              <a:avLst/>
            </a:prstGeom>
            <a:solidFill>
              <a:srgbClr val="0062A6">
                <a:alpha val="5000"/>
              </a:srgbClr>
            </a:solidFill>
            <a:ln w="9525" cap="flat" cmpd="sng" algn="ctr">
              <a:solidFill>
                <a:srgbClr val="0062A6"/>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323646" y="3696355"/>
              <a:ext cx="5568795" cy="1826814"/>
            </a:xfrm>
            <a:prstGeom prst="rect">
              <a:avLst/>
            </a:prstGeom>
            <a:noFill/>
          </p:spPr>
          <p:txBody>
            <a:bodyPr wrap="square" rtlCol="0">
              <a:spAutoFit/>
            </a:bodyPr>
            <a:lstStyle/>
            <a:p>
              <a:pPr marL="285750" indent="-285750">
                <a:spcAft>
                  <a:spcPts val="600"/>
                </a:spcAft>
                <a:buFont typeface="Wingdings" panose="05000000000000000000" pitchFamily="2" charset="2"/>
                <a:buChar char="u"/>
              </a:pPr>
              <a:r>
                <a:rPr lang="en-US" altLang="zh-CN" sz="1400" b="1" dirty="0">
                  <a:solidFill>
                    <a:srgbClr val="0062A6"/>
                  </a:solidFill>
                  <a:latin typeface="微软雅黑" panose="020B0503020204020204" pitchFamily="34" charset="-122"/>
                  <a:ea typeface="微软雅黑" panose="020B0503020204020204" pitchFamily="34" charset="-122"/>
                </a:rPr>
                <a:t>12</a:t>
              </a:r>
              <a:r>
                <a:rPr lang="zh-CN" altLang="en-US" sz="1400" b="1" dirty="0">
                  <a:solidFill>
                    <a:srgbClr val="0062A6"/>
                  </a:solidFill>
                  <a:latin typeface="微软雅黑" panose="020B0503020204020204" pitchFamily="34" charset="-122"/>
                  <a:ea typeface="微软雅黑" panose="020B0503020204020204" pitchFamily="34" charset="-122"/>
                </a:rPr>
                <a:t>月：</a:t>
              </a:r>
              <a:r>
                <a:rPr lang="zh-CN" altLang="en-US" sz="1400" dirty="0">
                  <a:solidFill>
                    <a:srgbClr val="262626"/>
                  </a:solidFill>
                  <a:latin typeface="微软雅黑" panose="020B0503020204020204" pitchFamily="34" charset="-122"/>
                  <a:ea typeface="微软雅黑" panose="020B0503020204020204" pitchFamily="34" charset="-122"/>
                </a:rPr>
                <a:t>国家发展改革委、国家能源局制定了</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b="1" dirty="0">
                  <a:solidFill>
                    <a:srgbClr val="262626"/>
                  </a:solidFill>
                  <a:latin typeface="微软雅黑" panose="020B0503020204020204" pitchFamily="34" charset="-122"/>
                  <a:ea typeface="微软雅黑" panose="020B0503020204020204" pitchFamily="34" charset="-122"/>
                </a:rPr>
                <a:t>电力系统调节能力优化专项行动实施方案（</a:t>
              </a:r>
              <a:r>
                <a:rPr lang="en-US" altLang="zh-CN" sz="1400" b="1" dirty="0">
                  <a:solidFill>
                    <a:srgbClr val="262626"/>
                  </a:solidFill>
                  <a:latin typeface="微软雅黑" panose="020B0503020204020204" pitchFamily="34" charset="-122"/>
                  <a:ea typeface="微软雅黑" panose="020B0503020204020204" pitchFamily="34" charset="-122"/>
                </a:rPr>
                <a:t>2025—2027</a:t>
              </a:r>
              <a:r>
                <a:rPr lang="zh-CN" altLang="en-US" sz="1400" b="1" dirty="0">
                  <a:solidFill>
                    <a:srgbClr val="262626"/>
                  </a:solidFill>
                  <a:latin typeface="微软雅黑" panose="020B0503020204020204" pitchFamily="34" charset="-122"/>
                  <a:ea typeface="微软雅黑" panose="020B0503020204020204" pitchFamily="34" charset="-122"/>
                </a:rPr>
                <a:t>年）</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dirty="0">
                  <a:solidFill>
                    <a:srgbClr val="262626"/>
                  </a:solidFill>
                  <a:latin typeface="微软雅黑" panose="020B0503020204020204" pitchFamily="34" charset="-122"/>
                  <a:ea typeface="微软雅黑" panose="020B0503020204020204" pitchFamily="34" charset="-122"/>
                </a:rPr>
                <a:t>，提出</a:t>
              </a:r>
              <a:r>
                <a:rPr lang="zh-CN" altLang="en-US" sz="1400" b="1" dirty="0">
                  <a:solidFill>
                    <a:srgbClr val="F27900"/>
                  </a:solidFill>
                  <a:latin typeface="微软雅黑" panose="020B0503020204020204" pitchFamily="34" charset="-122"/>
                  <a:ea typeface="微软雅黑" panose="020B0503020204020204" pitchFamily="34" charset="-122"/>
                </a:rPr>
                <a:t>需要明确可调节负荷以虚拟电厂、智能微电网等方式参与系统调节的方案</a:t>
              </a:r>
              <a:r>
                <a:rPr lang="zh-CN" altLang="en-US" sz="1400" dirty="0">
                  <a:solidFill>
                    <a:srgbClr val="262626"/>
                  </a:solidFill>
                  <a:latin typeface="微软雅黑" panose="020B0503020204020204" pitchFamily="34" charset="-122"/>
                  <a:ea typeface="微软雅黑" panose="020B0503020204020204" pitchFamily="34" charset="-122"/>
                </a:rPr>
                <a:t>，健全完善负荷侧响应资源的调度运行机制和市场交易机制。</a:t>
              </a:r>
              <a:endParaRPr lang="en-US" altLang="zh-CN" sz="1400" dirty="0">
                <a:solidFill>
                  <a:srgbClr val="262626"/>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228600" y="3927324"/>
            <a:ext cx="8681796" cy="725778"/>
            <a:chOff x="228600" y="3855318"/>
            <a:chExt cx="8681796" cy="725778"/>
          </a:xfrm>
        </p:grpSpPr>
        <p:grpSp>
          <p:nvGrpSpPr>
            <p:cNvPr id="26652" name="组合 26651"/>
            <p:cNvGrpSpPr/>
            <p:nvPr/>
          </p:nvGrpSpPr>
          <p:grpSpPr>
            <a:xfrm>
              <a:off x="228600" y="3855318"/>
              <a:ext cx="8681796" cy="691048"/>
              <a:chOff x="231102" y="2742509"/>
              <a:chExt cx="8681796" cy="691048"/>
            </a:xfrm>
          </p:grpSpPr>
          <p:sp>
            <p:nvSpPr>
              <p:cNvPr id="48" name="箭头: 右 47"/>
              <p:cNvSpPr/>
              <p:nvPr/>
            </p:nvSpPr>
            <p:spPr>
              <a:xfrm>
                <a:off x="732527" y="3060321"/>
                <a:ext cx="8180371" cy="160170"/>
              </a:xfrm>
              <a:prstGeom prst="rightArrow">
                <a:avLst>
                  <a:gd name="adj1" fmla="val 34906"/>
                  <a:gd name="adj2" fmla="val 60267"/>
                </a:avLst>
              </a:prstGeom>
              <a:gradFill>
                <a:gsLst>
                  <a:gs pos="0">
                    <a:srgbClr val="323F4F">
                      <a:lumMod val="20000"/>
                      <a:lumOff val="80000"/>
                    </a:srgbClr>
                  </a:gs>
                  <a:gs pos="42000">
                    <a:srgbClr val="323F4F">
                      <a:lumMod val="60000"/>
                      <a:lumOff val="40000"/>
                    </a:srgbClr>
                  </a:gs>
                </a:gsLst>
                <a:path path="circle">
                  <a:fillToRect r="100000" b="100000"/>
                </a:path>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文本框 50"/>
              <p:cNvSpPr txBox="1"/>
              <p:nvPr/>
            </p:nvSpPr>
            <p:spPr>
              <a:xfrm>
                <a:off x="231102" y="2960081"/>
                <a:ext cx="720323" cy="306705"/>
              </a:xfrm>
              <a:prstGeom prst="rect">
                <a:avLst/>
              </a:prstGeom>
              <a:noFill/>
            </p:spPr>
            <p:txBody>
              <a:bodyPr wrap="square" rtlCol="0" anchor="ctr" anchorCtr="1">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2011</a:t>
                </a:r>
                <a:endPar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52" name="组合 51"/>
              <p:cNvGrpSpPr/>
              <p:nvPr/>
            </p:nvGrpSpPr>
            <p:grpSpPr>
              <a:xfrm>
                <a:off x="3126112" y="2742509"/>
                <a:ext cx="800336" cy="691048"/>
                <a:chOff x="-344152" y="2737952"/>
                <a:chExt cx="800336" cy="691048"/>
              </a:xfrm>
            </p:grpSpPr>
            <p:sp>
              <p:nvSpPr>
                <p:cNvPr id="53" name="椭圆 52"/>
                <p:cNvSpPr/>
                <p:nvPr/>
              </p:nvSpPr>
              <p:spPr>
                <a:xfrm rot="5400000">
                  <a:off x="-289508" y="2737952"/>
                  <a:ext cx="691048" cy="691048"/>
                </a:xfrm>
                <a:prstGeom prst="ellipse">
                  <a:avLst/>
                </a:prstGeom>
                <a:solidFill>
                  <a:schemeClr val="bg1">
                    <a:lumMod val="50000"/>
                  </a:schemeClr>
                </a:soli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文本框 53"/>
                <p:cNvSpPr txBox="1"/>
                <p:nvPr/>
              </p:nvSpPr>
              <p:spPr>
                <a:xfrm>
                  <a:off x="-344152" y="2955523"/>
                  <a:ext cx="800336" cy="306705"/>
                </a:xfrm>
                <a:prstGeom prst="rect">
                  <a:avLst/>
                </a:prstGeom>
                <a:noFill/>
              </p:spPr>
              <p:txBody>
                <a:bodyPr wrap="square" rtlCol="0" anchor="ctr" anchorCtr="1">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2023.9</a:t>
                  </a:r>
                  <a:endPar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61" name="组合 60"/>
              <p:cNvGrpSpPr/>
              <p:nvPr/>
            </p:nvGrpSpPr>
            <p:grpSpPr>
              <a:xfrm>
                <a:off x="4631390" y="2742509"/>
                <a:ext cx="807184" cy="691048"/>
                <a:chOff x="-630468" y="2737952"/>
                <a:chExt cx="807184" cy="691048"/>
              </a:xfrm>
            </p:grpSpPr>
            <p:sp>
              <p:nvSpPr>
                <p:cNvPr id="62" name="椭圆 61"/>
                <p:cNvSpPr/>
                <p:nvPr/>
              </p:nvSpPr>
              <p:spPr>
                <a:xfrm rot="5400000">
                  <a:off x="-572400" y="2737952"/>
                  <a:ext cx="691048" cy="691048"/>
                </a:xfrm>
                <a:prstGeom prst="ellipse">
                  <a:avLst/>
                </a:prstGeom>
                <a:solidFill>
                  <a:srgbClr val="0062A6"/>
                </a:soli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文本框 62"/>
                <p:cNvSpPr txBox="1"/>
                <p:nvPr/>
              </p:nvSpPr>
              <p:spPr>
                <a:xfrm>
                  <a:off x="-630468" y="2953162"/>
                  <a:ext cx="807184" cy="306705"/>
                </a:xfrm>
                <a:prstGeom prst="rect">
                  <a:avLst/>
                </a:prstGeom>
                <a:noFill/>
              </p:spPr>
              <p:txBody>
                <a:bodyPr wrap="square" rtlCol="0" anchor="ctr" anchorCtr="1">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2024.2</a:t>
                  </a:r>
                  <a:endPar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26636" name="组合 26635"/>
              <p:cNvGrpSpPr/>
              <p:nvPr/>
            </p:nvGrpSpPr>
            <p:grpSpPr>
              <a:xfrm>
                <a:off x="1484858" y="2742509"/>
                <a:ext cx="929464" cy="691048"/>
                <a:chOff x="44604" y="2737952"/>
                <a:chExt cx="929464" cy="691048"/>
              </a:xfrm>
            </p:grpSpPr>
            <p:sp>
              <p:nvSpPr>
                <p:cNvPr id="26640" name="椭圆 26639"/>
                <p:cNvSpPr/>
                <p:nvPr/>
              </p:nvSpPr>
              <p:spPr>
                <a:xfrm rot="5400000">
                  <a:off x="185890" y="2683308"/>
                  <a:ext cx="691048" cy="800335"/>
                </a:xfrm>
                <a:prstGeom prst="ellipse">
                  <a:avLst/>
                </a:prstGeom>
                <a:solidFill>
                  <a:srgbClr val="0062A6"/>
                </a:soli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6641" name="文本框 26640"/>
                <p:cNvSpPr txBox="1"/>
                <p:nvPr/>
              </p:nvSpPr>
              <p:spPr>
                <a:xfrm>
                  <a:off x="44604" y="2955524"/>
                  <a:ext cx="929464" cy="306705"/>
                </a:xfrm>
                <a:prstGeom prst="rect">
                  <a:avLst/>
                </a:prstGeom>
                <a:noFill/>
              </p:spPr>
              <p:txBody>
                <a:bodyPr wrap="square" rtlCol="0" anchor="ctr" anchorCtr="1">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2021.11</a:t>
                  </a:r>
                  <a:endPar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sp>
          <p:nvSpPr>
            <p:cNvPr id="26657" name="椭圆 26656"/>
            <p:cNvSpPr/>
            <p:nvPr/>
          </p:nvSpPr>
          <p:spPr>
            <a:xfrm rot="5400000">
              <a:off x="6177696" y="3814615"/>
              <a:ext cx="725777" cy="807185"/>
            </a:xfrm>
            <a:prstGeom prst="ellipse">
              <a:avLst/>
            </a:prstGeom>
            <a:solidFill>
              <a:schemeClr val="bg1">
                <a:lumMod val="50000"/>
              </a:schemeClr>
            </a:soli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6658" name="文本框 26657"/>
            <p:cNvSpPr txBox="1"/>
            <p:nvPr/>
          </p:nvSpPr>
          <p:spPr>
            <a:xfrm>
              <a:off x="6012120" y="4082218"/>
              <a:ext cx="1080090" cy="306705"/>
            </a:xfrm>
            <a:prstGeom prst="rect">
              <a:avLst/>
            </a:prstGeom>
            <a:noFill/>
          </p:spPr>
          <p:txBody>
            <a:bodyPr wrap="square" rtlCol="0" anchor="ctr" anchorCtr="1">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2024.11</a:t>
              </a:r>
              <a:endPar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35624" y="5096662"/>
            <a:ext cx="3175840" cy="1487822"/>
            <a:chOff x="285313" y="3637510"/>
            <a:chExt cx="5607128" cy="1718828"/>
          </a:xfrm>
        </p:grpSpPr>
        <p:sp>
          <p:nvSpPr>
            <p:cNvPr id="8" name="矩形 7"/>
            <p:cNvSpPr/>
            <p:nvPr/>
          </p:nvSpPr>
          <p:spPr>
            <a:xfrm rot="16200000">
              <a:off x="2189425" y="1733397"/>
              <a:ext cx="1718828" cy="5527053"/>
            </a:xfrm>
            <a:prstGeom prst="rect">
              <a:avLst/>
            </a:prstGeom>
            <a:solidFill>
              <a:srgbClr val="0062A6">
                <a:alpha val="5000"/>
              </a:srgbClr>
            </a:solidFill>
            <a:ln w="9525" cap="flat" cmpd="sng" algn="ctr">
              <a:solidFill>
                <a:srgbClr val="0062A6"/>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文本框 8"/>
            <p:cNvSpPr txBox="1"/>
            <p:nvPr/>
          </p:nvSpPr>
          <p:spPr>
            <a:xfrm>
              <a:off x="323647" y="3720696"/>
              <a:ext cx="5568794" cy="1598499"/>
            </a:xfrm>
            <a:prstGeom prst="rect">
              <a:avLst/>
            </a:prstGeom>
            <a:noFill/>
          </p:spPr>
          <p:txBody>
            <a:bodyPr wrap="square" rtlCol="0">
              <a:spAutoFit/>
            </a:bodyPr>
            <a:lstStyle/>
            <a:p>
              <a:pPr marL="285750" indent="-285750">
                <a:spcAft>
                  <a:spcPts val="600"/>
                </a:spcAft>
                <a:buFont typeface="Wingdings" panose="05000000000000000000" pitchFamily="2" charset="2"/>
                <a:buChar char="u"/>
              </a:pPr>
              <a:r>
                <a:rPr lang="en-US" altLang="zh-CN" sz="1400" b="1" dirty="0">
                  <a:solidFill>
                    <a:srgbClr val="0062A6"/>
                  </a:solidFill>
                  <a:latin typeface="微软雅黑" panose="020B0503020204020204" pitchFamily="34" charset="-122"/>
                  <a:ea typeface="微软雅黑" panose="020B0503020204020204" pitchFamily="34" charset="-122"/>
                </a:rPr>
                <a:t>11</a:t>
              </a:r>
              <a:r>
                <a:rPr lang="zh-CN" altLang="en-US" sz="1400" b="1" dirty="0">
                  <a:solidFill>
                    <a:srgbClr val="0062A6"/>
                  </a:solidFill>
                  <a:latin typeface="微软雅黑" panose="020B0503020204020204" pitchFamily="34" charset="-122"/>
                  <a:ea typeface="微软雅黑" panose="020B0503020204020204" pitchFamily="34" charset="-122"/>
                </a:rPr>
                <a:t>月</a:t>
              </a:r>
              <a:r>
                <a:rPr lang="zh-CN" altLang="en-US" sz="1400" dirty="0">
                  <a:solidFill>
                    <a:srgbClr val="0062A6"/>
                  </a:solidFill>
                  <a:latin typeface="微软雅黑" panose="020B0503020204020204" pitchFamily="34" charset="-122"/>
                  <a:ea typeface="微软雅黑" panose="020B0503020204020204" pitchFamily="34" charset="-122"/>
                </a:rPr>
                <a:t>：</a:t>
              </a:r>
              <a:r>
                <a:rPr lang="zh-CN" altLang="en-US" sz="1400" dirty="0">
                  <a:solidFill>
                    <a:srgbClr val="262626"/>
                  </a:solidFill>
                  <a:latin typeface="微软雅黑" panose="020B0503020204020204" pitchFamily="34" charset="-122"/>
                  <a:ea typeface="微软雅黑" panose="020B0503020204020204" pitchFamily="34" charset="-122"/>
                </a:rPr>
                <a:t>华中能源监管局发布</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b="1" dirty="0">
                  <a:solidFill>
                    <a:srgbClr val="262626"/>
                  </a:solidFill>
                  <a:latin typeface="微软雅黑" panose="020B0503020204020204" pitchFamily="34" charset="-122"/>
                  <a:ea typeface="微软雅黑" panose="020B0503020204020204" pitchFamily="34" charset="-122"/>
                </a:rPr>
                <a:t>新型市场主体参与华中电力调峰辅助服务市场规则（试行）</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dirty="0">
                  <a:solidFill>
                    <a:srgbClr val="262626"/>
                  </a:solidFill>
                  <a:latin typeface="微软雅黑" panose="020B0503020204020204" pitchFamily="34" charset="-122"/>
                  <a:ea typeface="微软雅黑" panose="020B0503020204020204" pitchFamily="34" charset="-122"/>
                </a:rPr>
                <a:t>，提出</a:t>
              </a:r>
              <a:r>
                <a:rPr lang="zh-CN" altLang="en-US" sz="1400" b="1" dirty="0">
                  <a:solidFill>
                    <a:srgbClr val="F27900"/>
                  </a:solidFill>
                  <a:latin typeface="微软雅黑" panose="020B0503020204020204" pitchFamily="34" charset="-122"/>
                  <a:ea typeface="微软雅黑" panose="020B0503020204020204" pitchFamily="34" charset="-122"/>
                </a:rPr>
                <a:t>新型市场主体可在日前、日内交易中，跨省提供调峰服务</a:t>
              </a:r>
              <a:r>
                <a:rPr lang="zh-CN" altLang="en-US" sz="1400" dirty="0">
                  <a:solidFill>
                    <a:srgbClr val="262626"/>
                  </a:solidFill>
                  <a:latin typeface="微软雅黑" panose="020B0503020204020204" pitchFamily="34" charset="-122"/>
                  <a:ea typeface="微软雅黑" panose="020B0503020204020204" pitchFamily="34" charset="-122"/>
                </a:rPr>
                <a:t>，交易时段为</a:t>
              </a:r>
              <a:r>
                <a:rPr lang="en-US" altLang="zh-CN" sz="1400" dirty="0">
                  <a:solidFill>
                    <a:srgbClr val="262626"/>
                  </a:solidFill>
                  <a:latin typeface="微软雅黑" panose="020B0503020204020204" pitchFamily="34" charset="-122"/>
                  <a:ea typeface="微软雅黑" panose="020B0503020204020204" pitchFamily="34" charset="-122"/>
                </a:rPr>
                <a:t>23:00-06:00</a:t>
              </a:r>
              <a:r>
                <a:rPr lang="zh-CN" altLang="en-US" sz="1400" dirty="0">
                  <a:solidFill>
                    <a:srgbClr val="262626"/>
                  </a:solidFill>
                  <a:latin typeface="微软雅黑" panose="020B0503020204020204" pitchFamily="34" charset="-122"/>
                  <a:ea typeface="微软雅黑" panose="020B0503020204020204" pitchFamily="34" charset="-122"/>
                </a:rPr>
                <a:t>和</a:t>
              </a:r>
              <a:r>
                <a:rPr lang="en-US" altLang="zh-CN" sz="1400" dirty="0">
                  <a:solidFill>
                    <a:srgbClr val="262626"/>
                  </a:solidFill>
                  <a:latin typeface="微软雅黑" panose="020B0503020204020204" pitchFamily="34" charset="-122"/>
                  <a:ea typeface="微软雅黑" panose="020B0503020204020204" pitchFamily="34" charset="-122"/>
                </a:rPr>
                <a:t>12:00-16:00</a:t>
              </a:r>
              <a:r>
                <a:rPr lang="zh-CN" altLang="en-US" sz="1400" dirty="0">
                  <a:solidFill>
                    <a:srgbClr val="262626"/>
                  </a:solidFill>
                  <a:latin typeface="微软雅黑" panose="020B0503020204020204" pitchFamily="34" charset="-122"/>
                  <a:ea typeface="微软雅黑" panose="020B0503020204020204" pitchFamily="34" charset="-122"/>
                </a:rPr>
                <a:t>。</a:t>
              </a:r>
              <a:endParaRPr lang="en-US" altLang="zh-CN" sz="1400" dirty="0">
                <a:solidFill>
                  <a:srgbClr val="262626"/>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491891" y="2035608"/>
            <a:ext cx="3953343" cy="1487828"/>
            <a:chOff x="285311" y="3637510"/>
            <a:chExt cx="5607130" cy="1951670"/>
          </a:xfrm>
        </p:grpSpPr>
        <p:sp>
          <p:nvSpPr>
            <p:cNvPr id="28" name="矩形 27"/>
            <p:cNvSpPr/>
            <p:nvPr/>
          </p:nvSpPr>
          <p:spPr>
            <a:xfrm rot="16200000">
              <a:off x="2073003" y="1849818"/>
              <a:ext cx="1951670" cy="5527054"/>
            </a:xfrm>
            <a:prstGeom prst="rect">
              <a:avLst/>
            </a:prstGeom>
            <a:solidFill>
              <a:srgbClr val="0062A6">
                <a:alpha val="5000"/>
              </a:srgbClr>
            </a:solidFill>
            <a:ln w="9525" cap="flat" cmpd="sng" algn="ctr">
              <a:solidFill>
                <a:srgbClr val="0062A6"/>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文本框 28"/>
            <p:cNvSpPr txBox="1"/>
            <p:nvPr/>
          </p:nvSpPr>
          <p:spPr>
            <a:xfrm>
              <a:off x="323647" y="3696354"/>
              <a:ext cx="5568794" cy="1815033"/>
            </a:xfrm>
            <a:prstGeom prst="rect">
              <a:avLst/>
            </a:prstGeom>
            <a:noFill/>
          </p:spPr>
          <p:txBody>
            <a:bodyPr wrap="square" rtlCol="0">
              <a:spAutoFit/>
            </a:bodyPr>
            <a:lstStyle/>
            <a:p>
              <a:pPr marL="285750" indent="-285750">
                <a:spcAft>
                  <a:spcPts val="600"/>
                </a:spcAft>
                <a:buFont typeface="Wingdings" panose="05000000000000000000" pitchFamily="2" charset="2"/>
                <a:buChar char="u"/>
              </a:pPr>
              <a:r>
                <a:rPr lang="en-US" altLang="zh-CN" sz="1400" b="1" dirty="0">
                  <a:solidFill>
                    <a:srgbClr val="0062A6"/>
                  </a:solidFill>
                  <a:latin typeface="微软雅黑" panose="020B0503020204020204" pitchFamily="34" charset="-122"/>
                  <a:ea typeface="微软雅黑" panose="020B0503020204020204" pitchFamily="34" charset="-122"/>
                </a:rPr>
                <a:t>9</a:t>
              </a:r>
              <a:r>
                <a:rPr lang="zh-CN" altLang="en-US" sz="1400" b="1" dirty="0">
                  <a:solidFill>
                    <a:srgbClr val="0062A6"/>
                  </a:solidFill>
                  <a:latin typeface="微软雅黑" panose="020B0503020204020204" pitchFamily="34" charset="-122"/>
                  <a:ea typeface="微软雅黑" panose="020B0503020204020204" pitchFamily="34" charset="-122"/>
                </a:rPr>
                <a:t>月</a:t>
              </a:r>
              <a:r>
                <a:rPr lang="zh-CN" altLang="en-US" sz="1400" dirty="0">
                  <a:solidFill>
                    <a:srgbClr val="0062A6"/>
                  </a:solidFill>
                  <a:latin typeface="微软雅黑" panose="020B0503020204020204" pitchFamily="34" charset="-122"/>
                  <a:ea typeface="微软雅黑" panose="020B0503020204020204" pitchFamily="34" charset="-122"/>
                </a:rPr>
                <a:t>：</a:t>
              </a:r>
              <a:r>
                <a:rPr lang="zh-CN" altLang="en-US" sz="1400" dirty="0">
                  <a:solidFill>
                    <a:srgbClr val="262626"/>
                  </a:solidFill>
                  <a:latin typeface="微软雅黑" panose="020B0503020204020204" pitchFamily="34" charset="-122"/>
                  <a:ea typeface="微软雅黑" panose="020B0503020204020204" pitchFamily="34" charset="-122"/>
                </a:rPr>
                <a:t>国家能源局华中监管局发布</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b="1" dirty="0">
                  <a:solidFill>
                    <a:srgbClr val="262626"/>
                  </a:solidFill>
                  <a:latin typeface="微软雅黑" panose="020B0503020204020204" pitchFamily="34" charset="-122"/>
                  <a:ea typeface="微软雅黑" panose="020B0503020204020204" pitchFamily="34" charset="-122"/>
                </a:rPr>
                <a:t>华中区域电力辅助服务管理实施细则</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dirty="0">
                  <a:solidFill>
                    <a:srgbClr val="262626"/>
                  </a:solidFill>
                  <a:latin typeface="微软雅黑" panose="020B0503020204020204" pitchFamily="34" charset="-122"/>
                  <a:ea typeface="微软雅黑" panose="020B0503020204020204" pitchFamily="34" charset="-122"/>
                </a:rPr>
                <a:t>，提出负荷侧主体包含通过聚合商、</a:t>
              </a:r>
              <a:r>
                <a:rPr lang="zh-CN" altLang="en-US" sz="1400" b="1" dirty="0">
                  <a:solidFill>
                    <a:srgbClr val="F27900"/>
                  </a:solidFill>
                  <a:latin typeface="微软雅黑" panose="020B0503020204020204" pitchFamily="34" charset="-122"/>
                  <a:ea typeface="微软雅黑" panose="020B0503020204020204" pitchFamily="34" charset="-122"/>
                </a:rPr>
                <a:t>虚拟电厂等形式聚合的可调节负荷</a:t>
              </a:r>
              <a:r>
                <a:rPr lang="zh-CN" altLang="en-US" sz="1400" dirty="0">
                  <a:solidFill>
                    <a:srgbClr val="262626"/>
                  </a:solidFill>
                  <a:latin typeface="微软雅黑" panose="020B0503020204020204" pitchFamily="34" charset="-122"/>
                  <a:ea typeface="微软雅黑" panose="020B0503020204020204" pitchFamily="34" charset="-122"/>
                </a:rPr>
                <a:t>，纳入管理的直控型可调节负荷容量不低于</a:t>
              </a:r>
              <a:r>
                <a:rPr lang="en-US" altLang="zh-CN" sz="1400" dirty="0">
                  <a:solidFill>
                    <a:srgbClr val="262626"/>
                  </a:solidFill>
                  <a:latin typeface="微软雅黑" panose="020B0503020204020204" pitchFamily="34" charset="-122"/>
                  <a:ea typeface="微软雅黑" panose="020B0503020204020204" pitchFamily="34" charset="-122"/>
                </a:rPr>
                <a:t>5mw</a:t>
              </a:r>
              <a:r>
                <a:rPr lang="zh-CN" altLang="en-US" sz="1400" dirty="0">
                  <a:solidFill>
                    <a:srgbClr val="262626"/>
                  </a:solidFill>
                  <a:latin typeface="微软雅黑" panose="020B0503020204020204" pitchFamily="34" charset="-122"/>
                  <a:ea typeface="微软雅黑" panose="020B0503020204020204" pitchFamily="34" charset="-122"/>
                </a:rPr>
                <a:t>，向上或向下调节能力不低于</a:t>
              </a:r>
              <a:r>
                <a:rPr lang="en-US" altLang="zh-CN" sz="1400" dirty="0">
                  <a:solidFill>
                    <a:srgbClr val="262626"/>
                  </a:solidFill>
                  <a:latin typeface="微软雅黑" panose="020B0503020204020204" pitchFamily="34" charset="-122"/>
                  <a:ea typeface="微软雅黑" panose="020B0503020204020204" pitchFamily="34" charset="-122"/>
                </a:rPr>
                <a:t>5mw</a:t>
              </a:r>
              <a:r>
                <a:rPr lang="zh-CN" altLang="en-US" sz="1400" dirty="0">
                  <a:solidFill>
                    <a:srgbClr val="262626"/>
                  </a:solidFill>
                  <a:latin typeface="微软雅黑" panose="020B0503020204020204" pitchFamily="34" charset="-122"/>
                  <a:ea typeface="微软雅黑" panose="020B0503020204020204" pitchFamily="34" charset="-122"/>
                </a:rPr>
                <a:t>，持续时间不低于</a:t>
              </a:r>
              <a:r>
                <a:rPr lang="en-US" altLang="zh-CN" sz="1400" dirty="0">
                  <a:solidFill>
                    <a:srgbClr val="262626"/>
                  </a:solidFill>
                  <a:latin typeface="微软雅黑" panose="020B0503020204020204" pitchFamily="34" charset="-122"/>
                  <a:ea typeface="微软雅黑" panose="020B0503020204020204" pitchFamily="34" charset="-122"/>
                </a:rPr>
                <a:t>1</a:t>
              </a:r>
              <a:r>
                <a:rPr lang="zh-CN" altLang="en-US" sz="1400" dirty="0">
                  <a:solidFill>
                    <a:srgbClr val="262626"/>
                  </a:solidFill>
                  <a:latin typeface="微软雅黑" panose="020B0503020204020204" pitchFamily="34" charset="-122"/>
                  <a:ea typeface="微软雅黑" panose="020B0503020204020204" pitchFamily="34" charset="-122"/>
                </a:rPr>
                <a:t>小时。</a:t>
              </a:r>
              <a:endParaRPr lang="en-US" altLang="zh-CN" sz="1400" dirty="0">
                <a:solidFill>
                  <a:srgbClr val="262626"/>
                </a:solidFill>
                <a:latin typeface="微软雅黑" panose="020B0503020204020204" pitchFamily="34" charset="-122"/>
                <a:ea typeface="微软雅黑" panose="020B0503020204020204" pitchFamily="34" charset="-122"/>
              </a:endParaRPr>
            </a:p>
          </p:txBody>
        </p:sp>
      </p:grpSp>
      <p:cxnSp>
        <p:nvCxnSpPr>
          <p:cNvPr id="31" name="直接箭头连接符 30"/>
          <p:cNvCxnSpPr>
            <a:stCxn id="8" idx="3"/>
            <a:endCxn id="26640" idx="6"/>
          </p:cNvCxnSpPr>
          <p:nvPr/>
        </p:nvCxnSpPr>
        <p:spPr bwMode="auto">
          <a:xfrm flipV="1">
            <a:off x="1600866" y="4618506"/>
            <a:ext cx="368300" cy="478155"/>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3" name="直接箭头连接符 32"/>
          <p:cNvCxnSpPr>
            <a:stCxn id="28" idx="1"/>
            <a:endCxn id="53" idx="2"/>
          </p:cNvCxnSpPr>
          <p:nvPr/>
        </p:nvCxnSpPr>
        <p:spPr bwMode="auto">
          <a:xfrm>
            <a:off x="2440334" y="3523437"/>
            <a:ext cx="1083444" cy="403887"/>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5" name="直接箭头连接符 34"/>
          <p:cNvCxnSpPr>
            <a:stCxn id="26655" idx="3"/>
            <a:endCxn id="62" idx="6"/>
          </p:cNvCxnSpPr>
          <p:nvPr/>
        </p:nvCxnSpPr>
        <p:spPr bwMode="auto">
          <a:xfrm flipV="1">
            <a:off x="4681906" y="4618566"/>
            <a:ext cx="350520" cy="41783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7" name="直接箭头连接符 36"/>
          <p:cNvCxnSpPr>
            <a:stCxn id="3" idx="1"/>
            <a:endCxn id="15" idx="2"/>
          </p:cNvCxnSpPr>
          <p:nvPr/>
        </p:nvCxnSpPr>
        <p:spPr bwMode="auto">
          <a:xfrm>
            <a:off x="6493656" y="3531848"/>
            <a:ext cx="1484353" cy="383814"/>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5" name="椭圆 14"/>
          <p:cNvSpPr/>
          <p:nvPr/>
        </p:nvSpPr>
        <p:spPr>
          <a:xfrm rot="5400000">
            <a:off x="7626654" y="3863425"/>
            <a:ext cx="702711" cy="807185"/>
          </a:xfrm>
          <a:prstGeom prst="ellipse">
            <a:avLst/>
          </a:prstGeom>
          <a:solidFill>
            <a:srgbClr val="0062A6"/>
          </a:soli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7516349" y="4130873"/>
            <a:ext cx="897625" cy="306705"/>
          </a:xfrm>
          <a:prstGeom prst="rect">
            <a:avLst/>
          </a:prstGeom>
          <a:noFill/>
        </p:spPr>
        <p:txBody>
          <a:bodyPr wrap="square" rtlCol="0" anchor="ctr" anchorCtr="1">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2024.12</a:t>
            </a:r>
            <a:endParaRPr kumimoji="0" lang="en-US" altLang="zh-CN"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17" name="组合 16"/>
          <p:cNvGrpSpPr/>
          <p:nvPr/>
        </p:nvGrpSpPr>
        <p:grpSpPr>
          <a:xfrm>
            <a:off x="6211922" y="5107767"/>
            <a:ext cx="2833264" cy="1489498"/>
            <a:chOff x="285311" y="3736154"/>
            <a:chExt cx="5650682" cy="1731933"/>
          </a:xfrm>
        </p:grpSpPr>
        <p:sp>
          <p:nvSpPr>
            <p:cNvPr id="18" name="矩形 17"/>
            <p:cNvSpPr/>
            <p:nvPr/>
          </p:nvSpPr>
          <p:spPr>
            <a:xfrm rot="16200000">
              <a:off x="2244685" y="1776779"/>
              <a:ext cx="1731933" cy="5650682"/>
            </a:xfrm>
            <a:prstGeom prst="rect">
              <a:avLst/>
            </a:prstGeom>
            <a:solidFill>
              <a:srgbClr val="0062A6">
                <a:alpha val="5000"/>
              </a:srgbClr>
            </a:solidFill>
            <a:ln w="9525" cap="flat" cmpd="sng" algn="ctr">
              <a:solidFill>
                <a:srgbClr val="0062A6"/>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323645" y="3793568"/>
              <a:ext cx="5568796" cy="1608874"/>
            </a:xfrm>
            <a:prstGeom prst="rect">
              <a:avLst/>
            </a:prstGeom>
            <a:noFill/>
          </p:spPr>
          <p:txBody>
            <a:bodyPr wrap="square" rtlCol="0">
              <a:spAutoFit/>
            </a:bodyPr>
            <a:lstStyle/>
            <a:p>
              <a:pPr marL="285750" indent="-285750">
                <a:spcAft>
                  <a:spcPts val="600"/>
                </a:spcAft>
                <a:buFont typeface="Wingdings" panose="05000000000000000000" pitchFamily="2" charset="2"/>
                <a:buChar char="u"/>
              </a:pPr>
              <a:r>
                <a:rPr lang="en-US" altLang="zh-CN" sz="1400" b="1" dirty="0">
                  <a:solidFill>
                    <a:srgbClr val="0062A6"/>
                  </a:solidFill>
                  <a:latin typeface="微软雅黑" panose="020B0503020204020204" pitchFamily="34" charset="-122"/>
                  <a:ea typeface="微软雅黑" panose="020B0503020204020204" pitchFamily="34" charset="-122"/>
                </a:rPr>
                <a:t>11</a:t>
              </a:r>
              <a:r>
                <a:rPr lang="zh-CN" altLang="en-US" sz="1400" b="1" dirty="0">
                  <a:solidFill>
                    <a:srgbClr val="0062A6"/>
                  </a:solidFill>
                  <a:latin typeface="微软雅黑" panose="020B0503020204020204" pitchFamily="34" charset="-122"/>
                  <a:ea typeface="微软雅黑" panose="020B0503020204020204" pitchFamily="34" charset="-122"/>
                </a:rPr>
                <a:t>月：</a:t>
              </a:r>
              <a:r>
                <a:rPr lang="zh-CN" altLang="en-US" sz="1400" dirty="0">
                  <a:solidFill>
                    <a:srgbClr val="262626"/>
                  </a:solidFill>
                  <a:latin typeface="微软雅黑" panose="020B0503020204020204" pitchFamily="34" charset="-122"/>
                  <a:ea typeface="微软雅黑" panose="020B0503020204020204" pitchFamily="34" charset="-122"/>
                </a:rPr>
                <a:t>华中能源监管局发布了</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b="1" dirty="0">
                  <a:solidFill>
                    <a:srgbClr val="262626"/>
                  </a:solidFill>
                  <a:latin typeface="微软雅黑" panose="020B0503020204020204" pitchFamily="34" charset="-122"/>
                  <a:ea typeface="微软雅黑" panose="020B0503020204020204" pitchFamily="34" charset="-122"/>
                </a:rPr>
                <a:t>湖北、江西、重庆电力调频辅助服务市场运行规则（征求意见稿）</a:t>
              </a:r>
              <a:r>
                <a:rPr lang="en-US" altLang="zh-CN" sz="1400" b="1" dirty="0">
                  <a:solidFill>
                    <a:srgbClr val="262626"/>
                  </a:solidFill>
                  <a:latin typeface="微软雅黑" panose="020B0503020204020204" pitchFamily="34" charset="-122"/>
                  <a:ea typeface="微软雅黑" panose="020B0503020204020204" pitchFamily="34" charset="-122"/>
                </a:rPr>
                <a:t>》</a:t>
              </a:r>
              <a:r>
                <a:rPr lang="zh-CN" altLang="en-US" sz="1400" dirty="0">
                  <a:solidFill>
                    <a:srgbClr val="262626"/>
                  </a:solidFill>
                  <a:latin typeface="微软雅黑" panose="020B0503020204020204" pitchFamily="34" charset="-122"/>
                  <a:ea typeface="微软雅黑" panose="020B0503020204020204" pitchFamily="34" charset="-122"/>
                </a:rPr>
                <a:t>，</a:t>
              </a:r>
              <a:r>
                <a:rPr lang="zh-CN" altLang="en-US" sz="1400" b="1" dirty="0">
                  <a:solidFill>
                    <a:srgbClr val="F27900"/>
                  </a:solidFill>
                  <a:latin typeface="微软雅黑" panose="020B0503020204020204" pitchFamily="34" charset="-122"/>
                  <a:ea typeface="微软雅黑" panose="020B0503020204020204" pitchFamily="34" charset="-122"/>
                </a:rPr>
                <a:t>明确参与市场的主体包括储能企业、虚拟电厂、负荷聚合商等</a:t>
              </a:r>
              <a:r>
                <a:rPr lang="zh-CN" altLang="en-US" sz="1400" dirty="0">
                  <a:solidFill>
                    <a:srgbClr val="262626"/>
                  </a:solidFill>
                  <a:latin typeface="微软雅黑" panose="020B0503020204020204" pitchFamily="34" charset="-122"/>
                  <a:ea typeface="微软雅黑" panose="020B0503020204020204" pitchFamily="34" charset="-122"/>
                </a:rPr>
                <a:t>。</a:t>
              </a:r>
              <a:endParaRPr lang="en-US" altLang="zh-CN" sz="1400" dirty="0">
                <a:solidFill>
                  <a:srgbClr val="262626"/>
                </a:solidFill>
                <a:latin typeface="微软雅黑" panose="020B0503020204020204" pitchFamily="34" charset="-122"/>
                <a:ea typeface="微软雅黑" panose="020B0503020204020204" pitchFamily="34" charset="-122"/>
              </a:endParaRPr>
            </a:p>
          </p:txBody>
        </p:sp>
      </p:grpSp>
      <p:cxnSp>
        <p:nvCxnSpPr>
          <p:cNvPr id="22" name="直接箭头连接符 21"/>
          <p:cNvCxnSpPr>
            <a:stCxn id="18" idx="3"/>
            <a:endCxn id="26657" idx="6"/>
          </p:cNvCxnSpPr>
          <p:nvPr/>
        </p:nvCxnSpPr>
        <p:spPr bwMode="auto">
          <a:xfrm flipH="1" flipV="1">
            <a:off x="6540799" y="4653106"/>
            <a:ext cx="1088390" cy="454025"/>
          </a:xfrm>
          <a:prstGeom prst="straightConnector1">
            <a:avLst/>
          </a:prstGeom>
          <a:solidFill>
            <a:schemeClr val="accent1"/>
          </a:solidFill>
          <a:ln w="9525" cap="flat" cmpd="sng" algn="ctr">
            <a:solidFill>
              <a:schemeClr val="tx1"/>
            </a:solidFill>
            <a:prstDash val="solid"/>
            <a:round/>
            <a:headEnd type="none" w="med" len="med"/>
            <a:tailEnd type="triangle"/>
          </a:ln>
        </p:spPr>
      </p:cxn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6628"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6629" name="Content Placeholder 3"/>
          <p:cNvSpPr>
            <a:spLocks noGrp="1"/>
          </p:cNvSpPr>
          <p:nvPr>
            <p:ph sz="quarter" idx="1"/>
          </p:nvPr>
        </p:nvSpPr>
        <p:spPr>
          <a:xfrm>
            <a:off x="228600" y="1214438"/>
            <a:ext cx="8794750"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34290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2</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虚拟电厂参与电力系统调峰调频服务的调控策略及经济性分析</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26630" name="Rectangle 7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31" name="Rectangle 8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32" name="Rectangle 84"/>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53" name="矩形 26652"/>
          <p:cNvSpPr/>
          <p:nvPr/>
        </p:nvSpPr>
        <p:spPr>
          <a:xfrm>
            <a:off x="228600" y="1501835"/>
            <a:ext cx="8027035" cy="48958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研究内容：</a:t>
            </a: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59" name="圆角矩形 2"/>
          <p:cNvSpPr/>
          <p:nvPr/>
        </p:nvSpPr>
        <p:spPr>
          <a:xfrm>
            <a:off x="1583751" y="1988245"/>
            <a:ext cx="5976498" cy="399127"/>
          </a:xfrm>
          <a:prstGeom prst="roundRect">
            <a:avLst/>
          </a:prstGeom>
          <a:ln>
            <a:headEnd type="none" w="med" len="med"/>
            <a:tailEnd type="none" w="med" len="med"/>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lvl="0" algn="ctr" eaLnBrk="1" hangingPunct="1">
              <a:defRPr/>
            </a:pPr>
            <a:r>
              <a:rPr lang="zh-CN" altLang="en-US" dirty="0">
                <a:latin typeface="Arial" panose="020B0604020202020204" pitchFamily="34" charset="0"/>
                <a:ea typeface="宋体" panose="02010600030101010101" pitchFamily="2" charset="-122"/>
              </a:rPr>
              <a:t>虚拟电厂参与调峰调频市场政策规则与机制梳理</a:t>
            </a:r>
            <a:endParaRPr kumimoji="0" lang="zh-CN" altLang="zh-CN" sz="1600" b="1" i="0" u="none" strike="noStrike" kern="1200" cap="none" spc="0" normalizeH="0" baseline="0" noProof="0" dirty="0">
              <a:ln>
                <a:noFill/>
              </a:ln>
              <a:solidFill>
                <a:schemeClr val="accent2">
                  <a:lumMod val="60000"/>
                  <a:lumOff val="40000"/>
                </a:schemeClr>
              </a:solidFill>
              <a:effectLst/>
              <a:uLnTx/>
              <a:uFillTx/>
              <a:latin typeface="Arial" panose="020B0604020202020204" pitchFamily="34" charset="0"/>
              <a:ea typeface="宋体" panose="02010600030101010101" pitchFamily="2" charset="-122"/>
              <a:cs typeface="+mn-cs"/>
            </a:endParaRPr>
          </a:p>
        </p:txBody>
      </p:sp>
      <p:sp>
        <p:nvSpPr>
          <p:cNvPr id="10" name="箭头: 虚尾 9"/>
          <p:cNvSpPr/>
          <p:nvPr/>
        </p:nvSpPr>
        <p:spPr bwMode="auto">
          <a:xfrm rot="5400000">
            <a:off x="4372436" y="2520943"/>
            <a:ext cx="399127" cy="349730"/>
          </a:xfrm>
          <a:prstGeom prst="stripedRightArrow">
            <a:avLst>
              <a:gd name="adj1" fmla="val 38754"/>
              <a:gd name="adj2" fmla="val 52811"/>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60" name="箭头: 虚尾 59"/>
          <p:cNvSpPr/>
          <p:nvPr/>
        </p:nvSpPr>
        <p:spPr bwMode="auto">
          <a:xfrm rot="5400000">
            <a:off x="3954277" y="2520943"/>
            <a:ext cx="399127" cy="349730"/>
          </a:xfrm>
          <a:prstGeom prst="stripedRightArrow">
            <a:avLst>
              <a:gd name="adj1" fmla="val 38754"/>
              <a:gd name="adj2" fmla="val 52811"/>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64" name="箭头: 虚尾 63"/>
          <p:cNvSpPr/>
          <p:nvPr/>
        </p:nvSpPr>
        <p:spPr bwMode="auto">
          <a:xfrm rot="5400000">
            <a:off x="4790594" y="2520943"/>
            <a:ext cx="399127" cy="349730"/>
          </a:xfrm>
          <a:prstGeom prst="stripedRightArrow">
            <a:avLst>
              <a:gd name="adj1" fmla="val 38754"/>
              <a:gd name="adj2" fmla="val 52811"/>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65" name="圆角矩形 2"/>
          <p:cNvSpPr/>
          <p:nvPr/>
        </p:nvSpPr>
        <p:spPr>
          <a:xfrm>
            <a:off x="1413506" y="3863049"/>
            <a:ext cx="2808234" cy="733140"/>
          </a:xfrm>
          <a:prstGeom prst="roundRect">
            <a:avLst/>
          </a:prstGeom>
          <a:ln>
            <a:headEnd type="none" w="med" len="med"/>
            <a:tailEnd type="none" w="med" len="med"/>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lvl="0" algn="ctr" eaLnBrk="1" hangingPunct="1">
              <a:defRPr/>
            </a:pPr>
            <a:r>
              <a:rPr lang="zh-CN" altLang="en-US" dirty="0">
                <a:solidFill>
                  <a:srgbClr val="FF0000"/>
                </a:solidFill>
                <a:latin typeface="Arial" panose="020B0604020202020204" pitchFamily="34" charset="0"/>
                <a:ea typeface="宋体" panose="02010600030101010101" pitchFamily="2" charset="-122"/>
              </a:rPr>
              <a:t>现有</a:t>
            </a:r>
            <a:r>
              <a:rPr lang="zh-CN" altLang="en-US" dirty="0">
                <a:latin typeface="Arial" panose="020B0604020202020204" pitchFamily="34" charset="0"/>
                <a:ea typeface="宋体" panose="02010600030101010101" pitchFamily="2" charset="-122"/>
              </a:rPr>
              <a:t>调峰调频市场机制下虚拟电厂调控策略研究</a:t>
            </a:r>
            <a:endParaRPr kumimoji="0" lang="zh-CN" altLang="zh-CN" sz="1600" b="1" i="0" u="none" strike="noStrike" kern="1200" cap="none" spc="0" normalizeH="0" baseline="0" noProof="0" dirty="0">
              <a:ln>
                <a:noFill/>
              </a:ln>
              <a:solidFill>
                <a:schemeClr val="accent2">
                  <a:lumMod val="60000"/>
                  <a:lumOff val="40000"/>
                </a:schemeClr>
              </a:solidFill>
              <a:effectLst/>
              <a:uLnTx/>
              <a:uFillTx/>
              <a:latin typeface="Arial" panose="020B0604020202020204" pitchFamily="34" charset="0"/>
              <a:ea typeface="宋体" panose="02010600030101010101" pitchFamily="2" charset="-122"/>
              <a:cs typeface="+mn-cs"/>
            </a:endParaRPr>
          </a:p>
        </p:txBody>
      </p:sp>
      <p:sp>
        <p:nvSpPr>
          <p:cNvPr id="66" name="圆角矩形 15"/>
          <p:cNvSpPr/>
          <p:nvPr/>
        </p:nvSpPr>
        <p:spPr>
          <a:xfrm>
            <a:off x="2816387" y="2945840"/>
            <a:ext cx="3511223" cy="442913"/>
          </a:xfrm>
          <a:prstGeom prst="roundRect">
            <a:avLst/>
          </a:prstGeom>
          <a:ln>
            <a:solidFill>
              <a:schemeClr val="accent6"/>
            </a:solidFill>
            <a:headEnd type="none" w="med" len="med"/>
            <a:tailEnd type="none" w="med" len="med"/>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协调流程、关键变量、典型场景</a:t>
            </a:r>
            <a:endParaRPr kumimoji="0" lang="zh-CN"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 name="圆角矩形 2"/>
          <p:cNvSpPr/>
          <p:nvPr/>
        </p:nvSpPr>
        <p:spPr>
          <a:xfrm>
            <a:off x="4922260" y="3858131"/>
            <a:ext cx="2808234" cy="733140"/>
          </a:xfrm>
          <a:prstGeom prst="roundRect">
            <a:avLst/>
          </a:prstGeom>
          <a:ln>
            <a:headEnd type="none" w="med" len="med"/>
            <a:tailEnd type="none" w="med" len="med"/>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lvl="0" algn="ctr" eaLnBrk="1" hangingPunct="1">
              <a:defRPr/>
            </a:pPr>
            <a:r>
              <a:rPr lang="zh-CN" altLang="en-US" dirty="0">
                <a:latin typeface="Arial" panose="020B0604020202020204" pitchFamily="34" charset="0"/>
                <a:ea typeface="宋体" panose="02010600030101010101" pitchFamily="2" charset="-122"/>
              </a:rPr>
              <a:t>面向调峰调频市场的虚拟电厂调控策略</a:t>
            </a:r>
            <a:r>
              <a:rPr lang="zh-CN" altLang="en-US" dirty="0">
                <a:solidFill>
                  <a:srgbClr val="FF0000"/>
                </a:solidFill>
                <a:latin typeface="Arial" panose="020B0604020202020204" pitchFamily="34" charset="0"/>
                <a:ea typeface="宋体" panose="02010600030101010101" pitchFamily="2" charset="-122"/>
              </a:rPr>
              <a:t>创新</a:t>
            </a:r>
            <a:r>
              <a:rPr lang="zh-CN" altLang="en-US" dirty="0">
                <a:latin typeface="Arial" panose="020B0604020202020204" pitchFamily="34" charset="0"/>
                <a:ea typeface="宋体" panose="02010600030101010101" pitchFamily="2" charset="-122"/>
              </a:rPr>
              <a:t>性研究</a:t>
            </a:r>
            <a:endParaRPr kumimoji="0" lang="zh-CN" altLang="zh-CN" sz="1600" b="1" i="0" u="none" strike="noStrike" kern="1200" cap="none" spc="0" normalizeH="0" baseline="0" noProof="0" dirty="0">
              <a:ln>
                <a:noFill/>
              </a:ln>
              <a:solidFill>
                <a:schemeClr val="accent2">
                  <a:lumMod val="60000"/>
                  <a:lumOff val="40000"/>
                </a:schemeClr>
              </a:solidFill>
              <a:effectLst/>
              <a:uLnTx/>
              <a:uFillTx/>
              <a:latin typeface="Arial" panose="020B0604020202020204" pitchFamily="34" charset="0"/>
              <a:ea typeface="宋体" panose="02010600030101010101" pitchFamily="2" charset="-122"/>
              <a:cs typeface="+mn-cs"/>
            </a:endParaRPr>
          </a:p>
        </p:txBody>
      </p:sp>
      <p:sp>
        <p:nvSpPr>
          <p:cNvPr id="11" name="箭头: 左弧形 10"/>
          <p:cNvSpPr/>
          <p:nvPr/>
        </p:nvSpPr>
        <p:spPr bwMode="auto">
          <a:xfrm rot="1800000">
            <a:off x="3497436" y="3404937"/>
            <a:ext cx="188742" cy="399127"/>
          </a:xfrm>
          <a:prstGeom prst="curved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箭头: 右弧形 11"/>
          <p:cNvSpPr/>
          <p:nvPr/>
        </p:nvSpPr>
        <p:spPr bwMode="auto">
          <a:xfrm rot="19800000">
            <a:off x="5457823" y="3404936"/>
            <a:ext cx="188742" cy="399127"/>
          </a:xfrm>
          <a:prstGeom prst="curvedLef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0" name="圆角矩形 12"/>
          <p:cNvSpPr/>
          <p:nvPr/>
        </p:nvSpPr>
        <p:spPr>
          <a:xfrm>
            <a:off x="1961779" y="5152893"/>
            <a:ext cx="5220437" cy="431800"/>
          </a:xfrm>
          <a:prstGeom prst="roundRect">
            <a:avLst/>
          </a:prstGeom>
          <a:ln>
            <a:headEnd type="none" w="med" len="med"/>
            <a:tailEnd type="none" w="med" len="med"/>
          </a:ln>
        </p:spPr>
        <p:style>
          <a:lnRef idx="2">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lstStyle/>
          <a:p>
            <a:pPr lvl="0" algn="ctr" eaLnBrk="1" hangingPunct="1">
              <a:defRPr/>
            </a:pPr>
            <a:r>
              <a:rPr lang="zh-CN" altLang="zh-CN" dirty="0"/>
              <a:t>不同典型场景下虚拟电厂调控策略经济性分析</a:t>
            </a:r>
            <a:endParaRPr lang="zh-CN" altLang="zh-CN" sz="1600" b="1" dirty="0">
              <a:solidFill>
                <a:schemeClr val="accent2">
                  <a:lumMod val="60000"/>
                  <a:lumOff val="40000"/>
                </a:schemeClr>
              </a:solidFill>
              <a:latin typeface="Arial" panose="020B0604020202020204" pitchFamily="34" charset="0"/>
              <a:ea typeface="宋体" panose="02010600030101010101" pitchFamily="2" charset="-122"/>
            </a:endParaRPr>
          </a:p>
        </p:txBody>
      </p:sp>
      <p:sp>
        <p:nvSpPr>
          <p:cNvPr id="13" name="箭头: 燕尾形 12"/>
          <p:cNvSpPr/>
          <p:nvPr/>
        </p:nvSpPr>
        <p:spPr bwMode="auto">
          <a:xfrm>
            <a:off x="4328706" y="4077054"/>
            <a:ext cx="486586" cy="288024"/>
          </a:xfrm>
          <a:prstGeom prst="notched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矩形 13"/>
          <p:cNvSpPr/>
          <p:nvPr/>
        </p:nvSpPr>
        <p:spPr>
          <a:xfrm>
            <a:off x="4304023" y="4340106"/>
            <a:ext cx="538480" cy="306705"/>
          </a:xfrm>
          <a:prstGeom prst="rect">
            <a:avLst/>
          </a:prstGeom>
        </p:spPr>
        <p:txBody>
          <a:bodyPr wrap="none">
            <a:spAutoFit/>
          </a:bodyPr>
          <a:lstStyle/>
          <a:p>
            <a:r>
              <a:rPr lang="zh-CN" altLang="en-US" sz="1400" dirty="0"/>
              <a:t>基础</a:t>
            </a:r>
            <a:endParaRPr lang="zh-CN" altLang="en-US" sz="1400" dirty="0"/>
          </a:p>
        </p:txBody>
      </p:sp>
      <p:cxnSp>
        <p:nvCxnSpPr>
          <p:cNvPr id="25" name="连接符: 肘形 24"/>
          <p:cNvCxnSpPr>
            <a:stCxn id="65" idx="2"/>
            <a:endCxn id="70" idx="0"/>
          </p:cNvCxnSpPr>
          <p:nvPr/>
        </p:nvCxnSpPr>
        <p:spPr bwMode="auto">
          <a:xfrm rot="16200000" flipH="1">
            <a:off x="3416458" y="3997353"/>
            <a:ext cx="556704" cy="1754375"/>
          </a:xfrm>
          <a:prstGeom prst="bentConnector3">
            <a:avLst/>
          </a:prstGeom>
          <a:solidFill>
            <a:schemeClr val="accent1"/>
          </a:solidFill>
          <a:ln w="9525" cap="flat" cmpd="sng" algn="ctr">
            <a:solidFill>
              <a:srgbClr val="0062A6"/>
            </a:solidFill>
            <a:prstDash val="solid"/>
            <a:round/>
            <a:headEnd type="none" w="med" len="med"/>
            <a:tailEnd type="triangle"/>
          </a:ln>
        </p:spPr>
      </p:cxnSp>
      <p:cxnSp>
        <p:nvCxnSpPr>
          <p:cNvPr id="34" name="连接符: 肘形 33"/>
          <p:cNvCxnSpPr>
            <a:stCxn id="67" idx="2"/>
            <a:endCxn id="70" idx="0"/>
          </p:cNvCxnSpPr>
          <p:nvPr/>
        </p:nvCxnSpPr>
        <p:spPr bwMode="auto">
          <a:xfrm rot="5400000">
            <a:off x="5168377" y="3994893"/>
            <a:ext cx="561622" cy="1754379"/>
          </a:xfrm>
          <a:prstGeom prst="bentConnector3">
            <a:avLst/>
          </a:prstGeom>
          <a:solidFill>
            <a:schemeClr val="accent1"/>
          </a:solidFill>
          <a:ln w="9525" cap="flat" cmpd="sng" algn="ctr">
            <a:solidFill>
              <a:srgbClr val="0062A6"/>
            </a:solidFill>
            <a:prstDash val="solid"/>
            <a:round/>
            <a:headEnd type="none" w="med" len="med"/>
            <a:tailEnd type="triangle"/>
          </a:ln>
        </p:spPr>
      </p:cxnSp>
      <p:grpSp>
        <p:nvGrpSpPr>
          <p:cNvPr id="36" name="组合 35"/>
          <p:cNvGrpSpPr/>
          <p:nvPr/>
        </p:nvGrpSpPr>
        <p:grpSpPr>
          <a:xfrm>
            <a:off x="2938838" y="5577970"/>
            <a:ext cx="3289300" cy="803276"/>
            <a:chOff x="2938838" y="5577970"/>
            <a:chExt cx="3289300" cy="803276"/>
          </a:xfrm>
        </p:grpSpPr>
        <p:sp>
          <p:nvSpPr>
            <p:cNvPr id="78" name="圆角矩形 15"/>
            <p:cNvSpPr/>
            <p:nvPr/>
          </p:nvSpPr>
          <p:spPr>
            <a:xfrm>
              <a:off x="2938838" y="5938333"/>
              <a:ext cx="939800" cy="442913"/>
            </a:xfrm>
            <a:prstGeom prst="roundRect">
              <a:avLst/>
            </a:prstGeom>
            <a:ln>
              <a:solidFill>
                <a:schemeClr val="accent6"/>
              </a:solidFill>
              <a:headEnd type="none" w="med" len="med"/>
              <a:tailEnd type="none" w="med" len="med"/>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成本</a:t>
              </a:r>
              <a:endParaRPr kumimoji="0" lang="zh-CN"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9" name="圆角矩形 16"/>
            <p:cNvSpPr/>
            <p:nvPr/>
          </p:nvSpPr>
          <p:spPr>
            <a:xfrm>
              <a:off x="5288338" y="5927220"/>
              <a:ext cx="939800" cy="442913"/>
            </a:xfrm>
            <a:prstGeom prst="roundRect">
              <a:avLst/>
            </a:prstGeom>
            <a:ln>
              <a:solidFill>
                <a:schemeClr val="accent6"/>
              </a:solidFill>
              <a:headEnd type="none" w="med" len="med"/>
              <a:tailEnd type="none" w="med" len="med"/>
            </a:ln>
          </p:spPr>
          <p:style>
            <a:lnRef idx="3">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收益</a:t>
              </a:r>
              <a:endParaRPr kumimoji="0" lang="zh-CN"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80" name="直接箭头连接符 79"/>
            <p:cNvCxnSpPr>
              <a:stCxn id="78" idx="3"/>
            </p:cNvCxnSpPr>
            <p:nvPr/>
          </p:nvCxnSpPr>
          <p:spPr>
            <a:xfrm flipV="1">
              <a:off x="3878638" y="5577970"/>
              <a:ext cx="679450" cy="582613"/>
            </a:xfrm>
            <a:prstGeom prst="straightConnector1">
              <a:avLst/>
            </a:prstGeom>
            <a:solidFill>
              <a:schemeClr val="accent1"/>
            </a:solidFill>
            <a:ln w="12700" cap="flat" cmpd="sng" algn="ctr">
              <a:solidFill>
                <a:schemeClr val="accent6"/>
              </a:solidFill>
              <a:prstDash val="solid"/>
              <a:round/>
              <a:headEnd type="none" w="med" len="med"/>
              <a:tailEnd type="arrow" w="med" len="med"/>
            </a:ln>
          </p:spPr>
        </p:cxnSp>
        <p:cxnSp>
          <p:nvCxnSpPr>
            <p:cNvPr id="81" name="直接箭头连接符 80"/>
            <p:cNvCxnSpPr>
              <a:stCxn id="79" idx="1"/>
            </p:cNvCxnSpPr>
            <p:nvPr/>
          </p:nvCxnSpPr>
          <p:spPr>
            <a:xfrm flipH="1" flipV="1">
              <a:off x="4521576" y="5577970"/>
              <a:ext cx="766763" cy="571500"/>
            </a:xfrm>
            <a:prstGeom prst="straightConnector1">
              <a:avLst/>
            </a:prstGeom>
            <a:solidFill>
              <a:schemeClr val="accent1"/>
            </a:solidFill>
            <a:ln w="12700" cap="flat" cmpd="sng" algn="ctr">
              <a:solidFill>
                <a:schemeClr val="accent6"/>
              </a:solidFill>
              <a:prstDash val="solid"/>
              <a:round/>
              <a:headEnd type="none" w="med" len="med"/>
              <a:tailEnd type="arrow" w="med" len="med"/>
            </a:ln>
          </p:spPr>
        </p:cxnSp>
      </p:gr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6628"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6629" name="Content Placeholder 3"/>
          <p:cNvSpPr>
            <a:spLocks noGrp="1"/>
          </p:cNvSpPr>
          <p:nvPr>
            <p:ph sz="quarter" idx="1"/>
          </p:nvPr>
        </p:nvSpPr>
        <p:spPr>
          <a:xfrm>
            <a:off x="228600" y="1214438"/>
            <a:ext cx="8794750"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34290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2</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虚拟电厂参与电力系统调峰调频服务的调控策略及经济性分析</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26630" name="Rectangle 7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31" name="Rectangle 8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32" name="Rectangle 84"/>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6653" name="矩形 26652"/>
          <p:cNvSpPr/>
          <p:nvPr/>
        </p:nvSpPr>
        <p:spPr>
          <a:xfrm>
            <a:off x="251460" y="1484690"/>
            <a:ext cx="8027035" cy="48958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创新研究思路：</a:t>
            </a: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28" name="图片 27" descr="/data/temp/ef9489d4-21b9-11f0-bd75-ae5b8d3c962e.jpg@base@tag=imgScale&amp;m=1&amp;w=869&amp;h=1204&amp;q=95ef9489d4-21b9-11f0-bd75-ae5b8d3c962e"/>
          <p:cNvPicPr>
            <a:picLocks noChangeAspect="1"/>
          </p:cNvPicPr>
          <p:nvPr>
            <p:custDataLst>
              <p:tags r:id="rId1"/>
            </p:custDataLst>
          </p:nvPr>
        </p:nvPicPr>
        <p:blipFill rotWithShape="1">
          <a:blip r:embed="rId2">
            <a:lum bright="-6000" contrast="12000"/>
          </a:blip>
          <a:srcRect l="19805" r="19805"/>
          <a:stretch>
            <a:fillRect/>
          </a:stretch>
        </p:blipFill>
        <p:spPr>
          <a:xfrm>
            <a:off x="395652" y="1988245"/>
            <a:ext cx="3130874" cy="4337762"/>
          </a:xfrm>
          <a:prstGeom prst="round2DiagRect">
            <a:avLst>
              <a:gd name="adj1" fmla="val 27364"/>
              <a:gd name="adj2" fmla="val 0"/>
            </a:avLst>
          </a:prstGeom>
          <a:ln w="9525" cap="flat" cmpd="sng" algn="ctr">
            <a:solidFill>
              <a:schemeClr val="dk1">
                <a:lumMod val="40000"/>
                <a:lumOff val="60000"/>
                <a:alpha val="50000"/>
              </a:schemeClr>
            </a:solidFill>
            <a:prstDash val="solid"/>
            <a:round/>
            <a:headEnd type="none" w="med" len="med"/>
            <a:tailEnd type="none" w="med" len="med"/>
          </a:ln>
          <a:effectLst>
            <a:softEdge rad="63500"/>
          </a:effectLst>
        </p:spPr>
      </p:pic>
      <p:sp>
        <p:nvSpPr>
          <p:cNvPr id="29" name="平行四边形 28"/>
          <p:cNvSpPr/>
          <p:nvPr>
            <p:custDataLst>
              <p:tags r:id="rId3"/>
            </p:custDataLst>
          </p:nvPr>
        </p:nvSpPr>
        <p:spPr>
          <a:xfrm>
            <a:off x="3635922" y="2071491"/>
            <a:ext cx="3490561" cy="161290"/>
          </a:xfrm>
          <a:prstGeom prst="parallelogram">
            <a:avLst>
              <a:gd name="adj" fmla="val 38188"/>
            </a:avLst>
          </a:prstGeom>
          <a:gradFill>
            <a:gsLst>
              <a:gs pos="100000">
                <a:schemeClr val="accent1">
                  <a:alpha val="48000"/>
                </a:schemeClr>
              </a:gs>
              <a:gs pos="2300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矩形 29"/>
          <p:cNvSpPr/>
          <p:nvPr>
            <p:custDataLst>
              <p:tags r:id="rId4"/>
            </p:custDataLst>
          </p:nvPr>
        </p:nvSpPr>
        <p:spPr>
          <a:xfrm>
            <a:off x="3884842" y="1916874"/>
            <a:ext cx="4372239" cy="316246"/>
          </a:xfrm>
          <a:prstGeom prst="rect">
            <a:avLst/>
          </a:prstGeom>
          <a:noFill/>
        </p:spPr>
        <p:txBody>
          <a:bodyPr wrap="square" lIns="0" tIns="0" rIns="0" bIns="0" rtlCol="0" anchor="b">
            <a:noAutofit/>
          </a:bodyPr>
          <a:lstStyle/>
          <a:p>
            <a:pPr>
              <a:spcBef>
                <a:spcPct val="0"/>
              </a:spcBef>
              <a:spcAft>
                <a:spcPct val="0"/>
              </a:spcAft>
            </a:pPr>
            <a:r>
              <a:rPr lang="zh-CN" altLang="en-US" sz="2000" b="1" dirty="0">
                <a:solidFill>
                  <a:schemeClr val="tx1"/>
                </a:solidFill>
                <a:latin typeface="+mn-ea"/>
                <a:cs typeface="+mn-ea"/>
              </a:rPr>
              <a:t>同时参与多类辅助市场的交易策略</a:t>
            </a:r>
            <a:endParaRPr lang="zh-CN" altLang="en-US" sz="2000" b="1" dirty="0">
              <a:solidFill>
                <a:schemeClr val="tx1"/>
              </a:solidFill>
              <a:latin typeface="+mn-ea"/>
              <a:cs typeface="+mn-ea"/>
            </a:endParaRPr>
          </a:p>
        </p:txBody>
      </p:sp>
      <p:sp>
        <p:nvSpPr>
          <p:cNvPr id="31" name="平行四边形 30"/>
          <p:cNvSpPr/>
          <p:nvPr>
            <p:custDataLst>
              <p:tags r:id="rId5"/>
            </p:custDataLst>
          </p:nvPr>
        </p:nvSpPr>
        <p:spPr>
          <a:xfrm>
            <a:off x="3635922" y="4231671"/>
            <a:ext cx="3683261" cy="161290"/>
          </a:xfrm>
          <a:prstGeom prst="parallelogram">
            <a:avLst>
              <a:gd name="adj" fmla="val 38188"/>
            </a:avLst>
          </a:prstGeom>
          <a:gradFill>
            <a:gsLst>
              <a:gs pos="100000">
                <a:schemeClr val="accent1">
                  <a:alpha val="48000"/>
                </a:schemeClr>
              </a:gs>
              <a:gs pos="2300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矩形 31"/>
          <p:cNvSpPr/>
          <p:nvPr>
            <p:custDataLst>
              <p:tags r:id="rId6"/>
            </p:custDataLst>
          </p:nvPr>
        </p:nvSpPr>
        <p:spPr>
          <a:xfrm>
            <a:off x="3884842" y="4077054"/>
            <a:ext cx="4613613" cy="316246"/>
          </a:xfrm>
          <a:prstGeom prst="rect">
            <a:avLst/>
          </a:prstGeom>
          <a:noFill/>
        </p:spPr>
        <p:txBody>
          <a:bodyPr wrap="square" lIns="0" tIns="0" rIns="0" bIns="0" rtlCol="0" anchor="b">
            <a:noAutofit/>
          </a:bodyPr>
          <a:lstStyle/>
          <a:p>
            <a:pPr>
              <a:spcBef>
                <a:spcPct val="0"/>
              </a:spcBef>
              <a:spcAft>
                <a:spcPct val="0"/>
              </a:spcAft>
            </a:pPr>
            <a:r>
              <a:rPr lang="zh-CN" altLang="en-US" sz="2000" b="1" dirty="0">
                <a:solidFill>
                  <a:schemeClr val="tx1"/>
                </a:solidFill>
                <a:latin typeface="+mn-ea"/>
                <a:cs typeface="+mn-ea"/>
              </a:rPr>
              <a:t>多厂合作策略及利益分配</a:t>
            </a:r>
            <a:endParaRPr lang="zh-CN" altLang="en-US" sz="2000" b="1" dirty="0">
              <a:solidFill>
                <a:schemeClr val="tx1"/>
              </a:solidFill>
              <a:latin typeface="+mn-ea"/>
              <a:cs typeface="+mn-ea"/>
            </a:endParaRPr>
          </a:p>
        </p:txBody>
      </p:sp>
      <p:sp>
        <p:nvSpPr>
          <p:cNvPr id="2" name="矩形 1"/>
          <p:cNvSpPr/>
          <p:nvPr/>
        </p:nvSpPr>
        <p:spPr>
          <a:xfrm>
            <a:off x="3635922" y="2218525"/>
            <a:ext cx="4824402" cy="1889760"/>
          </a:xfrm>
          <a:prstGeom prst="rect">
            <a:avLst/>
          </a:prstGeom>
        </p:spPr>
        <p:txBody>
          <a:bodyPr wrap="square">
            <a:spAutoFit/>
          </a:bodyPr>
          <a:lstStyle/>
          <a:p>
            <a:pPr lvl="0" indent="457200">
              <a:lnSpc>
                <a:spcPct val="130000"/>
              </a:lnSpc>
              <a:defRPr/>
            </a:pPr>
            <a:r>
              <a:rPr lang="zh-CN" altLang="en-US" dirty="0">
                <a:latin typeface="微软雅黑" panose="020B0503020204020204" pitchFamily="34" charset="-122"/>
                <a:ea typeface="微软雅黑" panose="020B0503020204020204" pitchFamily="34" charset="-122"/>
              </a:rPr>
              <a:t>当前虚拟电厂聚焦于单一辅助服务，导致收益依赖</a:t>
            </a:r>
            <a:r>
              <a:rPr lang="zh-CN" altLang="en-US" b="1" u="sng" dirty="0">
                <a:solidFill>
                  <a:srgbClr val="0062A6"/>
                </a:solidFill>
                <a:latin typeface="微软雅黑" panose="020B0503020204020204" pitchFamily="34" charset="-122"/>
                <a:ea typeface="微软雅黑" panose="020B0503020204020204" pitchFamily="34" charset="-122"/>
              </a:rPr>
              <a:t>单一市场价格，抗风险能力弱</a:t>
            </a:r>
            <a:r>
              <a:rPr lang="zh-CN" altLang="en-US" dirty="0">
                <a:latin typeface="微软雅黑" panose="020B0503020204020204" pitchFamily="34" charset="-122"/>
                <a:ea typeface="微软雅黑" panose="020B0503020204020204" pitchFamily="34" charset="-122"/>
              </a:rPr>
              <a:t>。构建“</a:t>
            </a:r>
            <a:r>
              <a:rPr lang="zh-CN" altLang="en-US" b="1" u="sng" dirty="0">
                <a:solidFill>
                  <a:srgbClr val="0062A6"/>
                </a:solidFill>
                <a:latin typeface="微软雅黑" panose="020B0503020204020204" pitchFamily="34" charset="-122"/>
                <a:ea typeface="微软雅黑" panose="020B0503020204020204" pitchFamily="34" charset="-122"/>
              </a:rPr>
              <a:t>多服务协同调控框架</a:t>
            </a:r>
            <a:r>
              <a:rPr lang="zh-CN" altLang="en-US" dirty="0">
                <a:latin typeface="微软雅黑" panose="020B0503020204020204" pitchFamily="34" charset="-122"/>
                <a:ea typeface="微软雅黑" panose="020B0503020204020204" pitchFamily="34" charset="-122"/>
              </a:rPr>
              <a:t>”，动态分配资源参与调峰调频服务，避免资源闲置、冲突。最终实现“</a:t>
            </a:r>
            <a:r>
              <a:rPr lang="zh-CN" altLang="en-US" b="1" u="sng" dirty="0">
                <a:solidFill>
                  <a:srgbClr val="0062A6"/>
                </a:solidFill>
                <a:latin typeface="微软雅黑" panose="020B0503020204020204" pitchFamily="34" charset="-122"/>
                <a:ea typeface="微软雅黑" panose="020B0503020204020204" pitchFamily="34" charset="-122"/>
              </a:rPr>
              <a:t>资源利用率最大化 </a:t>
            </a:r>
            <a:r>
              <a:rPr lang="en-US" altLang="zh-CN" b="1" u="sng" dirty="0">
                <a:solidFill>
                  <a:srgbClr val="0062A6"/>
                </a:solidFill>
                <a:latin typeface="微软雅黑" panose="020B0503020204020204" pitchFamily="34" charset="-122"/>
                <a:ea typeface="微软雅黑" panose="020B0503020204020204" pitchFamily="34" charset="-122"/>
              </a:rPr>
              <a:t>+ </a:t>
            </a:r>
            <a:r>
              <a:rPr lang="zh-CN" altLang="en-US" b="1" u="sng" dirty="0">
                <a:solidFill>
                  <a:srgbClr val="0062A6"/>
                </a:solidFill>
                <a:latin typeface="微软雅黑" panose="020B0503020204020204" pitchFamily="34" charset="-122"/>
                <a:ea typeface="微软雅黑" panose="020B0503020204020204" pitchFamily="34" charset="-122"/>
              </a:rPr>
              <a:t>收益结构多元化</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35" name="矩形 34"/>
          <p:cNvSpPr/>
          <p:nvPr/>
        </p:nvSpPr>
        <p:spPr>
          <a:xfrm>
            <a:off x="3635922" y="4392961"/>
            <a:ext cx="4824402" cy="1889760"/>
          </a:xfrm>
          <a:prstGeom prst="rect">
            <a:avLst/>
          </a:prstGeom>
        </p:spPr>
        <p:txBody>
          <a:bodyPr wrap="square">
            <a:spAutoFit/>
          </a:bodyPr>
          <a:lstStyle/>
          <a:p>
            <a:pPr lvl="0" indent="457200">
              <a:lnSpc>
                <a:spcPct val="130000"/>
              </a:lnSpc>
              <a:defRPr/>
            </a:pPr>
            <a:r>
              <a:rPr lang="zh-CN" altLang="en-US" dirty="0">
                <a:latin typeface="微软雅黑" panose="020B0503020204020204" pitchFamily="34" charset="-122"/>
                <a:ea typeface="微软雅黑" panose="020B0503020204020204" pitchFamily="34" charset="-122"/>
              </a:rPr>
              <a:t>单虚拟电厂受资源分布、规模大小的影响，独立运营时易出现 “</a:t>
            </a:r>
            <a:r>
              <a:rPr lang="zh-CN" altLang="en-US" b="1" u="sng" dirty="0">
                <a:solidFill>
                  <a:srgbClr val="0062A6"/>
                </a:solidFill>
                <a:latin typeface="微软雅黑" panose="020B0503020204020204" pitchFamily="34" charset="-122"/>
                <a:ea typeface="微软雅黑" panose="020B0503020204020204" pitchFamily="34" charset="-122"/>
              </a:rPr>
              <a:t>局部过调、全局失衡</a:t>
            </a:r>
            <a:r>
              <a:rPr lang="zh-CN" altLang="en-US" dirty="0">
                <a:latin typeface="微软雅黑" panose="020B0503020204020204" pitchFamily="34" charset="-122"/>
                <a:ea typeface="微软雅黑" panose="020B0503020204020204" pitchFamily="34" charset="-122"/>
              </a:rPr>
              <a:t>” 问题。提出 “</a:t>
            </a:r>
            <a:r>
              <a:rPr lang="zh-CN" altLang="en-US" b="1" u="sng" dirty="0">
                <a:solidFill>
                  <a:srgbClr val="0062A6"/>
                </a:solidFill>
                <a:latin typeface="微软雅黑" panose="020B0503020204020204" pitchFamily="34" charset="-122"/>
                <a:ea typeface="微软雅黑" panose="020B0503020204020204" pitchFamily="34" charset="-122"/>
              </a:rPr>
              <a:t>多 </a:t>
            </a:r>
            <a:r>
              <a:rPr lang="en-US" altLang="zh-CN" b="1" u="sng" dirty="0">
                <a:solidFill>
                  <a:srgbClr val="0062A6"/>
                </a:solidFill>
                <a:latin typeface="微软雅黑" panose="020B0503020204020204" pitchFamily="34" charset="-122"/>
                <a:ea typeface="微软雅黑" panose="020B0503020204020204" pitchFamily="34" charset="-122"/>
              </a:rPr>
              <a:t>VPP </a:t>
            </a:r>
            <a:r>
              <a:rPr lang="zh-CN" altLang="en-US" b="1" u="sng" dirty="0">
                <a:solidFill>
                  <a:srgbClr val="0062A6"/>
                </a:solidFill>
                <a:latin typeface="微软雅黑" panose="020B0503020204020204" pitchFamily="34" charset="-122"/>
                <a:ea typeface="微软雅黑" panose="020B0503020204020204" pitchFamily="34" charset="-122"/>
              </a:rPr>
              <a:t>联合运营体</a:t>
            </a:r>
            <a:r>
              <a:rPr lang="zh-CN" altLang="en-US" dirty="0">
                <a:latin typeface="微软雅黑" panose="020B0503020204020204" pitchFamily="34" charset="-122"/>
                <a:ea typeface="微软雅黑" panose="020B0503020204020204" pitchFamily="34" charset="-122"/>
              </a:rPr>
              <a:t>” 模式，联合优化总需求量，配套“</a:t>
            </a:r>
            <a:r>
              <a:rPr lang="zh-CN" altLang="en-US" b="1" u="sng" dirty="0">
                <a:solidFill>
                  <a:srgbClr val="0062A6"/>
                </a:solidFill>
                <a:latin typeface="微软雅黑" panose="020B0503020204020204" pitchFamily="34" charset="-122"/>
                <a:ea typeface="微软雅黑" panose="020B0503020204020204" pitchFamily="34" charset="-122"/>
              </a:rPr>
              <a:t>利益共享机制</a:t>
            </a:r>
            <a:r>
              <a:rPr lang="zh-CN" altLang="en-US" dirty="0">
                <a:latin typeface="微软雅黑" panose="020B0503020204020204" pitchFamily="34" charset="-122"/>
                <a:ea typeface="微软雅黑" panose="020B0503020204020204" pitchFamily="34" charset="-122"/>
              </a:rPr>
              <a:t>”。最终实现“</a:t>
            </a:r>
            <a:r>
              <a:rPr lang="en-US" altLang="zh-CN" b="1" u="sng" dirty="0">
                <a:solidFill>
                  <a:srgbClr val="0062A6"/>
                </a:solidFill>
                <a:latin typeface="微软雅黑" panose="020B0503020204020204" pitchFamily="34" charset="-122"/>
                <a:ea typeface="微软雅黑" panose="020B0503020204020204" pitchFamily="34" charset="-122"/>
              </a:rPr>
              <a:t>1+1</a:t>
            </a:r>
            <a:r>
              <a:rPr lang="zh-CN" altLang="en-US" b="1" u="sng" dirty="0">
                <a:solidFill>
                  <a:srgbClr val="0062A6"/>
                </a:solidFill>
                <a:latin typeface="微软雅黑" panose="020B0503020204020204" pitchFamily="34" charset="-122"/>
                <a:ea typeface="微软雅黑" panose="020B0503020204020204" pitchFamily="34" charset="-122"/>
              </a:rPr>
              <a:t>＞</a:t>
            </a:r>
            <a:r>
              <a:rPr lang="en-US" altLang="zh-CN" b="1" u="sng" dirty="0">
                <a:solidFill>
                  <a:srgbClr val="0062A6"/>
                </a:solidFill>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”的规模效应。</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7651"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7652" name="Content Placeholder 3"/>
          <p:cNvSpPr>
            <a:spLocks noGrp="1"/>
          </p:cNvSpPr>
          <p:nvPr>
            <p:ph sz="quarter" idx="1"/>
          </p:nvPr>
        </p:nvSpPr>
        <p:spPr>
          <a:xfrm>
            <a:off x="250825" y="1125538"/>
            <a:ext cx="8569325"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3</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：虚拟电厂参与省间电力现货市场机制研究</a:t>
            </a:r>
            <a:endParaRPr lang="zh-CN" altLang="en-US" sz="2000" dirty="0"/>
          </a:p>
        </p:txBody>
      </p:sp>
      <p:sp>
        <p:nvSpPr>
          <p:cNvPr id="27653"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4"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5"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 name="矩形 1"/>
          <p:cNvSpPr/>
          <p:nvPr/>
        </p:nvSpPr>
        <p:spPr>
          <a:xfrm>
            <a:off x="323215" y="1483995"/>
            <a:ext cx="8027035" cy="48958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相关政策以及现有</a:t>
            </a:r>
            <a:r>
              <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运行规则梳理：</a:t>
            </a: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17" name="组合 16"/>
          <p:cNvGrpSpPr/>
          <p:nvPr/>
        </p:nvGrpSpPr>
        <p:grpSpPr>
          <a:xfrm>
            <a:off x="344170" y="2172335"/>
            <a:ext cx="2651760" cy="1367790"/>
            <a:chOff x="623" y="3828"/>
            <a:chExt cx="4176" cy="2154"/>
          </a:xfrm>
        </p:grpSpPr>
        <p:grpSp>
          <p:nvGrpSpPr>
            <p:cNvPr id="9" name="组合 8"/>
            <p:cNvGrpSpPr/>
            <p:nvPr/>
          </p:nvGrpSpPr>
          <p:grpSpPr>
            <a:xfrm>
              <a:off x="623" y="3828"/>
              <a:ext cx="4177" cy="2154"/>
              <a:chOff x="2324" y="3926"/>
              <a:chExt cx="5783" cy="2154"/>
            </a:xfrm>
            <a:gradFill>
              <a:gsLst>
                <a:gs pos="10000">
                  <a:srgbClr val="A6DC85">
                    <a:alpha val="20000"/>
                  </a:srgbClr>
                </a:gs>
                <a:gs pos="97000">
                  <a:srgbClr val="E4EDA6"/>
                </a:gs>
              </a:gsLst>
              <a:lin ang="2700000" scaled="1"/>
            </a:gradFill>
          </p:grpSpPr>
          <p:sp>
            <p:nvSpPr>
              <p:cNvPr id="6" name="圆角矩形 5"/>
              <p:cNvSpPr/>
              <p:nvPr/>
            </p:nvSpPr>
            <p:spPr>
              <a:xfrm>
                <a:off x="2324" y="3926"/>
                <a:ext cx="5783" cy="2154"/>
              </a:xfrm>
              <a:prstGeom prst="roundRect">
                <a:avLst/>
              </a:prstGeom>
              <a:grp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 name="直角三角形 6"/>
              <p:cNvSpPr/>
              <p:nvPr/>
            </p:nvSpPr>
            <p:spPr>
              <a:xfrm>
                <a:off x="2324" y="5287"/>
                <a:ext cx="2835" cy="793"/>
              </a:xfrm>
              <a:prstGeom prst="rtTriangle">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 name="直角三角形 7"/>
              <p:cNvSpPr/>
              <p:nvPr/>
            </p:nvSpPr>
            <p:spPr>
              <a:xfrm rot="10800000" flipV="1">
                <a:off x="5118" y="5288"/>
                <a:ext cx="2989" cy="792"/>
              </a:xfrm>
              <a:prstGeom prst="rtTriangle">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10" name="文本框 9"/>
            <p:cNvSpPr txBox="1"/>
            <p:nvPr/>
          </p:nvSpPr>
          <p:spPr>
            <a:xfrm>
              <a:off x="1984" y="3926"/>
              <a:ext cx="1506" cy="431"/>
            </a:xfrm>
            <a:prstGeom prst="rect">
              <a:avLst/>
            </a:prstGeom>
            <a:noFill/>
          </p:spPr>
          <p:txBody>
            <a:bodyPr wrap="square" rtlCol="0">
              <a:noAutofit/>
            </a:bodyPr>
            <a:p>
              <a:r>
                <a:rPr lang="zh-CN" altLang="en-US" sz="1400" b="1">
                  <a:solidFill>
                    <a:srgbClr val="00B050"/>
                  </a:solidFill>
                </a:rPr>
                <a:t>省间市场</a:t>
              </a:r>
              <a:endParaRPr lang="zh-CN" altLang="en-US" sz="1400" b="1">
                <a:solidFill>
                  <a:srgbClr val="00B050"/>
                </a:solidFill>
              </a:endParaRPr>
            </a:p>
          </p:txBody>
        </p:sp>
        <p:sp>
          <p:nvSpPr>
            <p:cNvPr id="11" name="圆角矩形 10"/>
            <p:cNvSpPr/>
            <p:nvPr/>
          </p:nvSpPr>
          <p:spPr>
            <a:xfrm>
              <a:off x="1190" y="4493"/>
              <a:ext cx="1361" cy="724"/>
            </a:xfrm>
            <a:prstGeom prst="roundRect">
              <a:avLst/>
            </a:prstGeom>
            <a:solidFill>
              <a:schemeClr val="bg1">
                <a:alpha val="42000"/>
              </a:schemeClr>
            </a:solidFill>
            <a:ln w="19050" cap="flat" cmpd="sng" algn="ctr">
              <a:solidFill>
                <a:srgbClr val="00B050"/>
              </a:solidFill>
              <a:prstDash val="dash"/>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200" b="1" i="0" u="none" strike="noStrike" cap="none" normalizeH="0" baseline="0" smtClean="0">
                  <a:ln>
                    <a:noFill/>
                  </a:ln>
                  <a:solidFill>
                    <a:srgbClr val="00B050"/>
                  </a:solidFill>
                  <a:effectLst/>
                  <a:latin typeface="Arial" panose="020B0604020202020204" pitchFamily="34" charset="0"/>
                  <a:ea typeface="宋体" panose="02010600030101010101" pitchFamily="2" charset="-122"/>
                </a:rPr>
                <a:t>省间中长期交易</a:t>
              </a:r>
              <a:endParaRPr kumimoji="0" lang="zh-CN" altLang="zh-CN" sz="1200" b="1" i="0" u="none" strike="noStrike" cap="none" normalizeH="0" baseline="0" smtClean="0">
                <a:ln>
                  <a:noFill/>
                </a:ln>
                <a:solidFill>
                  <a:srgbClr val="00B050"/>
                </a:solidFill>
                <a:effectLst/>
                <a:latin typeface="Arial" panose="020B0604020202020204" pitchFamily="34" charset="0"/>
                <a:ea typeface="宋体" panose="02010600030101010101" pitchFamily="2" charset="-122"/>
              </a:endParaRPr>
            </a:p>
          </p:txBody>
        </p:sp>
        <p:sp>
          <p:nvSpPr>
            <p:cNvPr id="12" name="圆角矩形 11"/>
            <p:cNvSpPr/>
            <p:nvPr/>
          </p:nvSpPr>
          <p:spPr>
            <a:xfrm>
              <a:off x="2891" y="4482"/>
              <a:ext cx="1361" cy="724"/>
            </a:xfrm>
            <a:prstGeom prst="roundRect">
              <a:avLst/>
            </a:prstGeom>
            <a:solidFill>
              <a:schemeClr val="bg1">
                <a:alpha val="55000"/>
              </a:schemeClr>
            </a:solidFill>
            <a:ln w="19050" cap="flat" cmpd="sng" algn="ctr">
              <a:solidFill>
                <a:srgbClr val="00B050"/>
              </a:solidFill>
              <a:prstDash val="dash"/>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200" b="1" i="0" u="none" strike="noStrike" cap="none" normalizeH="0" baseline="0" smtClean="0">
                  <a:ln>
                    <a:noFill/>
                  </a:ln>
                  <a:solidFill>
                    <a:srgbClr val="00B050"/>
                  </a:solidFill>
                  <a:effectLst/>
                  <a:latin typeface="Arial" panose="020B0604020202020204" pitchFamily="34" charset="0"/>
                  <a:ea typeface="宋体" panose="02010600030101010101" pitchFamily="2" charset="-122"/>
                </a:rPr>
                <a:t>省间</a:t>
              </a:r>
              <a:r>
                <a:rPr kumimoji="0" lang="zh-CN" altLang="zh-CN" sz="1200" b="1" i="0" u="none" strike="noStrike" cap="none" normalizeH="0" baseline="0" smtClean="0">
                  <a:ln>
                    <a:noFill/>
                  </a:ln>
                  <a:solidFill>
                    <a:srgbClr val="00B050"/>
                  </a:solidFill>
                  <a:effectLst/>
                  <a:latin typeface="Arial" panose="020B0604020202020204" pitchFamily="34" charset="0"/>
                  <a:ea typeface="宋体" panose="02010600030101010101" pitchFamily="2" charset="-122"/>
                </a:rPr>
                <a:t>现货交易</a:t>
              </a:r>
              <a:endParaRPr kumimoji="0" lang="zh-CN" altLang="zh-CN" sz="1200" b="1" i="0" u="none" strike="noStrike" cap="none" normalizeH="0" baseline="0" smtClean="0">
                <a:ln>
                  <a:noFill/>
                </a:ln>
                <a:solidFill>
                  <a:srgbClr val="00B050"/>
                </a:solidFill>
                <a:effectLst/>
                <a:latin typeface="Arial" panose="020B0604020202020204" pitchFamily="34" charset="0"/>
                <a:ea typeface="宋体" panose="02010600030101010101" pitchFamily="2" charset="-122"/>
              </a:endParaRPr>
            </a:p>
          </p:txBody>
        </p:sp>
      </p:grpSp>
      <p:grpSp>
        <p:nvGrpSpPr>
          <p:cNvPr id="22" name="组合 21"/>
          <p:cNvGrpSpPr/>
          <p:nvPr/>
        </p:nvGrpSpPr>
        <p:grpSpPr>
          <a:xfrm>
            <a:off x="234950" y="3879215"/>
            <a:ext cx="2813050" cy="1318260"/>
            <a:chOff x="451" y="6800"/>
            <a:chExt cx="4430" cy="2076"/>
          </a:xfrm>
        </p:grpSpPr>
        <p:grpSp>
          <p:nvGrpSpPr>
            <p:cNvPr id="13" name="组合 12"/>
            <p:cNvGrpSpPr/>
            <p:nvPr/>
          </p:nvGrpSpPr>
          <p:grpSpPr>
            <a:xfrm rot="10800000">
              <a:off x="451" y="6800"/>
              <a:ext cx="4431" cy="2077"/>
              <a:chOff x="2211" y="3913"/>
              <a:chExt cx="6134" cy="2182"/>
            </a:xfrm>
            <a:gradFill>
              <a:gsLst>
                <a:gs pos="0">
                  <a:srgbClr val="F6EED9">
                    <a:alpha val="91000"/>
                  </a:srgbClr>
                </a:gs>
                <a:gs pos="100000">
                  <a:srgbClr val="F51313">
                    <a:alpha val="0"/>
                  </a:srgbClr>
                </a:gs>
              </a:gsLst>
              <a:lin ang="5400000" scaled="1"/>
            </a:gradFill>
          </p:grpSpPr>
          <p:sp>
            <p:nvSpPr>
              <p:cNvPr id="14" name="圆角矩形 13"/>
              <p:cNvSpPr/>
              <p:nvPr/>
            </p:nvSpPr>
            <p:spPr>
              <a:xfrm>
                <a:off x="2325" y="3913"/>
                <a:ext cx="5782" cy="2167"/>
              </a:xfrm>
              <a:prstGeom prst="roundRect">
                <a:avLst/>
              </a:prstGeom>
              <a:grp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 name="直角三角形 14"/>
              <p:cNvSpPr/>
              <p:nvPr/>
            </p:nvSpPr>
            <p:spPr>
              <a:xfrm flipH="1">
                <a:off x="2211" y="5302"/>
                <a:ext cx="2948" cy="793"/>
              </a:xfrm>
              <a:prstGeom prst="rtTriangle">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 name="直角三角形 15"/>
              <p:cNvSpPr/>
              <p:nvPr/>
            </p:nvSpPr>
            <p:spPr>
              <a:xfrm rot="10800000" flipH="1" flipV="1">
                <a:off x="5159" y="5303"/>
                <a:ext cx="3186" cy="776"/>
              </a:xfrm>
              <a:prstGeom prst="rtTriangle">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18" name="圆角矩形 17"/>
            <p:cNvSpPr/>
            <p:nvPr/>
          </p:nvSpPr>
          <p:spPr>
            <a:xfrm>
              <a:off x="1190" y="7653"/>
              <a:ext cx="1361" cy="724"/>
            </a:xfrm>
            <a:prstGeom prst="roundRect">
              <a:avLst/>
            </a:prstGeom>
            <a:solidFill>
              <a:schemeClr val="bg1">
                <a:alpha val="67000"/>
              </a:schemeClr>
            </a:solidFill>
            <a:ln w="19050" cap="flat" cmpd="sng" algn="ctr">
              <a:solidFill>
                <a:schemeClr val="accent2">
                  <a:lumMod val="60000"/>
                  <a:lumOff val="40000"/>
                </a:schemeClr>
              </a:solidFill>
              <a:prstDash val="dash"/>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200" b="1" i="0" u="none" strike="noStrike" cap="none" normalizeH="0" baseline="0" smtClean="0">
                  <a:ln>
                    <a:noFill/>
                  </a:ln>
                  <a:solidFill>
                    <a:schemeClr val="accent2">
                      <a:lumMod val="60000"/>
                      <a:lumOff val="40000"/>
                    </a:schemeClr>
                  </a:solidFill>
                  <a:effectLst/>
                  <a:latin typeface="Arial" panose="020B0604020202020204" pitchFamily="34" charset="0"/>
                  <a:ea typeface="宋体" panose="02010600030101010101" pitchFamily="2" charset="-122"/>
                </a:rPr>
                <a:t>省内中长期交易</a:t>
              </a:r>
              <a:endParaRPr kumimoji="0" lang="zh-CN" altLang="zh-CN" sz="1200" b="1" i="0" u="none" strike="noStrike" cap="none" normalizeH="0" baseline="0" smtClean="0">
                <a:ln>
                  <a:noFill/>
                </a:ln>
                <a:solidFill>
                  <a:schemeClr val="accent2">
                    <a:lumMod val="60000"/>
                    <a:lumOff val="40000"/>
                  </a:schemeClr>
                </a:solidFill>
                <a:effectLst/>
                <a:latin typeface="Arial" panose="020B0604020202020204" pitchFamily="34" charset="0"/>
                <a:ea typeface="宋体" panose="02010600030101010101" pitchFamily="2" charset="-122"/>
              </a:endParaRPr>
            </a:p>
          </p:txBody>
        </p:sp>
        <p:sp>
          <p:nvSpPr>
            <p:cNvPr id="19" name="文本框 18"/>
            <p:cNvSpPr txBox="1"/>
            <p:nvPr/>
          </p:nvSpPr>
          <p:spPr>
            <a:xfrm>
              <a:off x="1984" y="8384"/>
              <a:ext cx="1506" cy="431"/>
            </a:xfrm>
            <a:prstGeom prst="rect">
              <a:avLst/>
            </a:prstGeom>
            <a:noFill/>
          </p:spPr>
          <p:txBody>
            <a:bodyPr wrap="square" rtlCol="0">
              <a:noAutofit/>
            </a:bodyPr>
            <a:p>
              <a:r>
                <a:rPr lang="zh-CN" altLang="en-US" sz="1400" b="1">
                  <a:solidFill>
                    <a:schemeClr val="accent2">
                      <a:lumMod val="60000"/>
                      <a:lumOff val="40000"/>
                    </a:schemeClr>
                  </a:solidFill>
                </a:rPr>
                <a:t>省内市场</a:t>
              </a:r>
              <a:endParaRPr lang="zh-CN" altLang="en-US" sz="1400" b="1">
                <a:solidFill>
                  <a:schemeClr val="accent2">
                    <a:lumMod val="60000"/>
                    <a:lumOff val="40000"/>
                  </a:schemeClr>
                </a:solidFill>
              </a:endParaRPr>
            </a:p>
          </p:txBody>
        </p:sp>
        <p:sp>
          <p:nvSpPr>
            <p:cNvPr id="20" name="圆角矩形 19"/>
            <p:cNvSpPr/>
            <p:nvPr/>
          </p:nvSpPr>
          <p:spPr>
            <a:xfrm>
              <a:off x="2891" y="7641"/>
              <a:ext cx="1361" cy="724"/>
            </a:xfrm>
            <a:prstGeom prst="roundRect">
              <a:avLst/>
            </a:prstGeom>
            <a:solidFill>
              <a:schemeClr val="bg1">
                <a:alpha val="52000"/>
              </a:schemeClr>
            </a:solidFill>
            <a:ln w="19050" cap="flat" cmpd="sng" algn="ctr">
              <a:solidFill>
                <a:schemeClr val="accent2">
                  <a:lumMod val="60000"/>
                  <a:lumOff val="40000"/>
                </a:schemeClr>
              </a:solidFill>
              <a:prstDash val="dash"/>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200" b="1" i="0" u="none" strike="noStrike" cap="none" normalizeH="0" baseline="0" smtClean="0">
                  <a:ln>
                    <a:noFill/>
                  </a:ln>
                  <a:solidFill>
                    <a:schemeClr val="accent2">
                      <a:lumMod val="60000"/>
                      <a:lumOff val="40000"/>
                    </a:schemeClr>
                  </a:solidFill>
                  <a:effectLst/>
                  <a:latin typeface="Arial" panose="020B0604020202020204" pitchFamily="34" charset="0"/>
                  <a:ea typeface="宋体" panose="02010600030101010101" pitchFamily="2" charset="-122"/>
                </a:rPr>
                <a:t>省内</a:t>
              </a:r>
              <a:r>
                <a:rPr kumimoji="0" lang="zh-CN" altLang="zh-CN" sz="1200" b="1" i="0" u="none" strike="noStrike" cap="none" normalizeH="0" baseline="0" smtClean="0">
                  <a:ln>
                    <a:noFill/>
                  </a:ln>
                  <a:solidFill>
                    <a:schemeClr val="accent2">
                      <a:lumMod val="60000"/>
                      <a:lumOff val="40000"/>
                    </a:schemeClr>
                  </a:solidFill>
                  <a:effectLst/>
                  <a:latin typeface="Arial" panose="020B0604020202020204" pitchFamily="34" charset="0"/>
                  <a:ea typeface="宋体" panose="02010600030101010101" pitchFamily="2" charset="-122"/>
                </a:rPr>
                <a:t>现货交易</a:t>
              </a:r>
              <a:endParaRPr kumimoji="0" lang="zh-CN" altLang="zh-CN" sz="1200" b="1" i="0" u="none" strike="noStrike" cap="none" normalizeH="0" baseline="0" smtClean="0">
                <a:ln>
                  <a:noFill/>
                </a:ln>
                <a:solidFill>
                  <a:schemeClr val="accent2">
                    <a:lumMod val="60000"/>
                    <a:lumOff val="40000"/>
                  </a:schemeClr>
                </a:solidFill>
                <a:effectLst/>
                <a:latin typeface="Arial" panose="020B0604020202020204" pitchFamily="34" charset="0"/>
                <a:ea typeface="宋体" panose="02010600030101010101" pitchFamily="2" charset="-122"/>
              </a:endParaRPr>
            </a:p>
          </p:txBody>
        </p:sp>
      </p:grpSp>
      <p:sp>
        <p:nvSpPr>
          <p:cNvPr id="21" name="下箭头 20"/>
          <p:cNvSpPr/>
          <p:nvPr/>
        </p:nvSpPr>
        <p:spPr>
          <a:xfrm>
            <a:off x="1064260" y="3170555"/>
            <a:ext cx="215900" cy="1154430"/>
          </a:xfrm>
          <a:prstGeom prst="downArrow">
            <a:avLst/>
          </a:prstGeom>
          <a:solidFill>
            <a:srgbClr val="92D050"/>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 name="文本框 22"/>
          <p:cNvSpPr txBox="1"/>
          <p:nvPr/>
        </p:nvSpPr>
        <p:spPr>
          <a:xfrm>
            <a:off x="271780" y="3386455"/>
            <a:ext cx="875665" cy="542925"/>
          </a:xfrm>
          <a:prstGeom prst="rect">
            <a:avLst/>
          </a:prstGeom>
          <a:noFill/>
        </p:spPr>
        <p:txBody>
          <a:bodyPr wrap="square" rtlCol="0">
            <a:noAutofit/>
          </a:bodyPr>
          <a:p>
            <a:pPr algn="ctr"/>
            <a:r>
              <a:rPr lang="zh-CN" altLang="en-US" sz="1200" b="1"/>
              <a:t>中长期</a:t>
            </a:r>
            <a:endParaRPr lang="zh-CN" altLang="en-US" sz="1200" b="1"/>
          </a:p>
          <a:p>
            <a:pPr algn="ctr"/>
            <a:r>
              <a:rPr lang="zh-CN" altLang="en-US" sz="1200" b="1"/>
              <a:t>交易结果</a:t>
            </a:r>
            <a:endParaRPr lang="zh-CN" altLang="en-US" sz="1200" b="1"/>
          </a:p>
        </p:txBody>
      </p:sp>
      <p:sp>
        <p:nvSpPr>
          <p:cNvPr id="24" name="下箭头 23"/>
          <p:cNvSpPr/>
          <p:nvPr/>
        </p:nvSpPr>
        <p:spPr>
          <a:xfrm>
            <a:off x="2144395" y="3152775"/>
            <a:ext cx="215900" cy="1154430"/>
          </a:xfrm>
          <a:prstGeom prst="downArrow">
            <a:avLst/>
          </a:prstGeom>
          <a:solidFill>
            <a:srgbClr val="92D050"/>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5" name="文本框 24"/>
          <p:cNvSpPr txBox="1"/>
          <p:nvPr/>
        </p:nvSpPr>
        <p:spPr>
          <a:xfrm>
            <a:off x="2164715" y="3359785"/>
            <a:ext cx="1027430" cy="464820"/>
          </a:xfrm>
          <a:prstGeom prst="rect">
            <a:avLst/>
          </a:prstGeom>
          <a:noFill/>
        </p:spPr>
        <p:txBody>
          <a:bodyPr wrap="square" rtlCol="0">
            <a:noAutofit/>
          </a:bodyPr>
          <a:p>
            <a:pPr algn="ctr"/>
            <a:r>
              <a:rPr lang="zh-CN" altLang="en-US" sz="1200" b="1"/>
              <a:t>日前、日内</a:t>
            </a:r>
            <a:r>
              <a:rPr lang="zh-CN" altLang="en-US" sz="1200" b="1"/>
              <a:t>交易结果</a:t>
            </a:r>
            <a:endParaRPr lang="zh-CN" altLang="en-US" sz="1200" b="1"/>
          </a:p>
        </p:txBody>
      </p:sp>
      <p:sp>
        <p:nvSpPr>
          <p:cNvPr id="27" name="下箭头 26"/>
          <p:cNvSpPr/>
          <p:nvPr/>
        </p:nvSpPr>
        <p:spPr>
          <a:xfrm rot="10800000">
            <a:off x="1948815" y="3152775"/>
            <a:ext cx="215900" cy="1154430"/>
          </a:xfrm>
          <a:prstGeom prst="downArrow">
            <a:avLst/>
          </a:prstGeom>
          <a:solidFill>
            <a:schemeClr val="accent2">
              <a:lumMod val="60000"/>
              <a:lumOff val="40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 name="文本框 27"/>
          <p:cNvSpPr txBox="1"/>
          <p:nvPr/>
        </p:nvSpPr>
        <p:spPr>
          <a:xfrm>
            <a:off x="1424305" y="3608070"/>
            <a:ext cx="670560" cy="373380"/>
          </a:xfrm>
          <a:prstGeom prst="rect">
            <a:avLst/>
          </a:prstGeom>
          <a:noFill/>
        </p:spPr>
        <p:txBody>
          <a:bodyPr wrap="square" rtlCol="0">
            <a:noAutofit/>
          </a:bodyPr>
          <a:p>
            <a:pPr algn="ctr"/>
            <a:r>
              <a:rPr lang="zh-CN" altLang="en-US" sz="1200" b="1"/>
              <a:t>日前</a:t>
            </a:r>
            <a:endParaRPr lang="zh-CN" altLang="en-US" sz="1200" b="1"/>
          </a:p>
          <a:p>
            <a:pPr algn="ctr"/>
            <a:r>
              <a:rPr lang="zh-CN" altLang="en-US" sz="1200" b="1"/>
              <a:t>日</a:t>
            </a:r>
            <a:r>
              <a:rPr lang="zh-CN" altLang="en-US" sz="1200" b="1"/>
              <a:t>平衡</a:t>
            </a:r>
            <a:endParaRPr lang="zh-CN" altLang="en-US" sz="1200" b="1"/>
          </a:p>
        </p:txBody>
      </p:sp>
      <p:grpSp>
        <p:nvGrpSpPr>
          <p:cNvPr id="33" name="组合 32" descr="7b0a202020202274657874626f78223a20227b5c2269645c223a32303334383534392c5c227469645c223a5c225c227d220a7d0a"/>
          <p:cNvGrpSpPr/>
          <p:nvPr/>
        </p:nvGrpSpPr>
        <p:grpSpPr>
          <a:xfrm>
            <a:off x="344170" y="5415915"/>
            <a:ext cx="2588895" cy="606425"/>
            <a:chOff x="5348" y="3278"/>
            <a:chExt cx="8504" cy="4243"/>
          </a:xfrm>
        </p:grpSpPr>
        <p:sp>
          <p:nvSpPr>
            <p:cNvPr id="34" name="圆角矩形 7"/>
            <p:cNvSpPr/>
            <p:nvPr/>
          </p:nvSpPr>
          <p:spPr>
            <a:xfrm>
              <a:off x="5348" y="3278"/>
              <a:ext cx="8504" cy="4243"/>
            </a:xfrm>
            <a:prstGeom prst="roundRect">
              <a:avLst>
                <a:gd name="adj" fmla="val 4703"/>
              </a:avLst>
            </a:prstGeom>
            <a:solidFill>
              <a:srgbClr val="F3F6FC"/>
            </a:solidFill>
            <a:ln w="6350">
              <a:solidFill>
                <a:srgbClr val="4472C4"/>
              </a:solidFill>
            </a:ln>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5" name="文本框 34"/>
            <p:cNvSpPr txBox="1"/>
            <p:nvPr/>
          </p:nvSpPr>
          <p:spPr>
            <a:xfrm>
              <a:off x="5646" y="3425"/>
              <a:ext cx="7832" cy="3803"/>
            </a:xfrm>
            <a:prstGeom prst="rect">
              <a:avLst/>
            </a:prstGeom>
            <a:noFill/>
          </p:spPr>
          <p:txBody>
            <a:bodyPr wrap="square" rtlCol="0" anchor="ctr" anchorCtr="0"/>
            <a:p>
              <a:pPr indent="0" algn="ctr" fontAlgn="ctr">
                <a:lnSpc>
                  <a:spcPct val="150000"/>
                </a:lnSpc>
                <a:spcBef>
                  <a:spcPts val="0"/>
                </a:spcBef>
                <a:spcAft>
                  <a:spcPts val="0"/>
                </a:spcAft>
              </a:pPr>
              <a:r>
                <a:rPr lang="zh-CN" altLang="en-US" sz="1200" dirty="0">
                  <a:solidFill>
                    <a:srgbClr val="000000"/>
                  </a:solidFill>
                  <a:latin typeface="微软雅黑" panose="020B0503020204020204" pitchFamily="34" charset="-122"/>
                  <a:ea typeface="微软雅黑" panose="020B0503020204020204" pitchFamily="34" charset="-122"/>
                </a:rPr>
                <a:t>省间电力现货市场从</a:t>
              </a:r>
              <a:r>
                <a:rPr lang="zh-CN" altLang="en-US" sz="1200" b="1" dirty="0">
                  <a:solidFill>
                    <a:srgbClr val="000000"/>
                  </a:solidFill>
                  <a:latin typeface="微软雅黑" panose="020B0503020204020204" pitchFamily="34" charset="-122"/>
                  <a:ea typeface="微软雅黑" panose="020B0503020204020204" pitchFamily="34" charset="-122"/>
                </a:rPr>
                <a:t>跨区域省间富余可再生能源现货交易</a:t>
              </a:r>
              <a:r>
                <a:rPr lang="zh-CN" altLang="en-US" sz="1200" dirty="0">
                  <a:solidFill>
                    <a:srgbClr val="000000"/>
                  </a:solidFill>
                  <a:latin typeface="微软雅黑" panose="020B0503020204020204" pitchFamily="34" charset="-122"/>
                  <a:ea typeface="微软雅黑" panose="020B0503020204020204" pitchFamily="34" charset="-122"/>
                </a:rPr>
                <a:t>起步</a:t>
              </a:r>
              <a:endParaRPr lang="zh-CN" altLang="en-US" sz="1200" dirty="0">
                <a:solidFill>
                  <a:srgbClr val="000000"/>
                </a:solidFill>
                <a:effectLst/>
                <a:latin typeface="微软雅黑" panose="020B0503020204020204" pitchFamily="34" charset="-122"/>
                <a:ea typeface="微软雅黑" panose="020B0503020204020204" pitchFamily="34" charset="-122"/>
              </a:endParaRPr>
            </a:p>
          </p:txBody>
        </p:sp>
      </p:grpSp>
      <p:graphicFrame>
        <p:nvGraphicFramePr>
          <p:cNvPr id="37" name="图示 36"/>
          <p:cNvGraphicFramePr/>
          <p:nvPr/>
        </p:nvGraphicFramePr>
        <p:xfrm>
          <a:off x="3474720" y="2115185"/>
          <a:ext cx="5347335" cy="13811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38" name="图示 37"/>
          <p:cNvGraphicFramePr/>
          <p:nvPr/>
        </p:nvGraphicFramePr>
        <p:xfrm>
          <a:off x="3017520" y="4220845"/>
          <a:ext cx="6114415" cy="187452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9" name="文本框 38"/>
          <p:cNvSpPr txBox="1"/>
          <p:nvPr/>
        </p:nvSpPr>
        <p:spPr>
          <a:xfrm>
            <a:off x="6788785" y="5805170"/>
            <a:ext cx="1113790" cy="666115"/>
          </a:xfrm>
          <a:prstGeom prst="rect">
            <a:avLst/>
          </a:prstGeom>
          <a:ln w="12700" cmpd="sng">
            <a:solidFill>
              <a:schemeClr val="accent2">
                <a:lumMod val="40000"/>
                <a:lumOff val="60000"/>
              </a:schemeClr>
            </a:solidFill>
            <a:prstDash val="lgDashDot"/>
          </a:ln>
        </p:spPr>
        <p:txBody>
          <a:bodyPr>
            <a:noAutofit/>
          </a:bodyPr>
          <a:p>
            <a:r>
              <a:rPr lang="zh-CN" altLang="en-US" sz="1200">
                <a:latin typeface="楷体" panose="02010609060101010101" charset="-122"/>
                <a:ea typeface="楷体" panose="02010609060101010101" charset="-122"/>
              </a:rPr>
              <a:t>明确新增虚拟电厂作为电力交易主体</a:t>
            </a:r>
            <a:endParaRPr lang="zh-CN" altLang="en-US" sz="1200">
              <a:latin typeface="楷体" panose="02010609060101010101" charset="-122"/>
              <a:ea typeface="楷体" panose="02010609060101010101" charset="-122"/>
            </a:endParaRPr>
          </a:p>
        </p:txBody>
      </p:sp>
      <p:sp>
        <p:nvSpPr>
          <p:cNvPr id="40" name="文本框 39"/>
          <p:cNvSpPr txBox="1"/>
          <p:nvPr/>
        </p:nvSpPr>
        <p:spPr>
          <a:xfrm>
            <a:off x="5469890" y="3990975"/>
            <a:ext cx="1209040" cy="467360"/>
          </a:xfrm>
          <a:prstGeom prst="rect">
            <a:avLst/>
          </a:prstGeom>
          <a:ln w="12700" cmpd="sng">
            <a:solidFill>
              <a:schemeClr val="accent2">
                <a:lumMod val="40000"/>
                <a:lumOff val="60000"/>
              </a:schemeClr>
            </a:solidFill>
            <a:prstDash val="lgDashDot"/>
          </a:ln>
        </p:spPr>
        <p:txBody>
          <a:bodyPr>
            <a:noAutofit/>
          </a:bodyPr>
          <a:p>
            <a:r>
              <a:rPr lang="zh-CN" altLang="en-US" sz="1200">
                <a:latin typeface="楷体" panose="02010609060101010101" charset="-122"/>
                <a:ea typeface="楷体" panose="02010609060101010101" charset="-122"/>
              </a:rPr>
              <a:t>鼓励新型主体参与电力市场</a:t>
            </a:r>
            <a:endParaRPr lang="zh-CN" altLang="en-US" sz="1200">
              <a:latin typeface="楷体" panose="02010609060101010101" charset="-122"/>
              <a:ea typeface="楷体" panose="02010609060101010101" charset="-122"/>
            </a:endParaRPr>
          </a:p>
        </p:txBody>
      </p:sp>
      <p:sp>
        <p:nvSpPr>
          <p:cNvPr id="41" name="文本框 40"/>
          <p:cNvSpPr txBox="1"/>
          <p:nvPr/>
        </p:nvSpPr>
        <p:spPr>
          <a:xfrm>
            <a:off x="4010660" y="5805170"/>
            <a:ext cx="1561465" cy="829945"/>
          </a:xfrm>
          <a:prstGeom prst="rect">
            <a:avLst/>
          </a:prstGeom>
          <a:ln w="12700" cmpd="sng">
            <a:solidFill>
              <a:schemeClr val="accent2">
                <a:lumMod val="40000"/>
                <a:lumOff val="60000"/>
              </a:schemeClr>
            </a:solidFill>
            <a:prstDash val="dashDot"/>
          </a:ln>
        </p:spPr>
        <p:txBody>
          <a:bodyPr wrap="square">
            <a:spAutoFit/>
          </a:bodyPr>
          <a:p>
            <a:r>
              <a:rPr lang="zh-CN" altLang="en-US" sz="1200">
                <a:latin typeface="楷体" panose="02010609060101010101" charset="-122"/>
                <a:ea typeface="楷体" panose="02010609060101010101" charset="-122"/>
                <a:cs typeface="楷体" panose="02010609060101010101" charset="-122"/>
              </a:rPr>
              <a:t>通过虚拟电厂等一体化聚合模式， 参与电力中长期、辅助服务、</a:t>
            </a:r>
            <a:r>
              <a:rPr lang="zh-CN" altLang="en-US" sz="1200" b="1">
                <a:latin typeface="楷体" panose="02010609060101010101" charset="-122"/>
                <a:ea typeface="楷体" panose="02010609060101010101" charset="-122"/>
                <a:cs typeface="楷体" panose="02010609060101010101" charset="-122"/>
              </a:rPr>
              <a:t>现货</a:t>
            </a:r>
            <a:r>
              <a:rPr lang="zh-CN" altLang="en-US" sz="1200">
                <a:latin typeface="楷体" panose="02010609060101010101" charset="-122"/>
                <a:ea typeface="楷体" panose="02010609060101010101" charset="-122"/>
                <a:cs typeface="楷体" panose="02010609060101010101" charset="-122"/>
              </a:rPr>
              <a:t>等市场交易</a:t>
            </a:r>
            <a:endParaRPr lang="zh-CN" altLang="en-US" sz="1200">
              <a:latin typeface="楷体" panose="02010609060101010101" charset="-122"/>
              <a:ea typeface="楷体" panose="02010609060101010101" charset="-122"/>
              <a:cs typeface="楷体" panose="02010609060101010101" charset="-122"/>
            </a:endParaRPr>
          </a:p>
        </p:txBody>
      </p:sp>
      <p:sp>
        <p:nvSpPr>
          <p:cNvPr id="42" name="文本框 41"/>
          <p:cNvSpPr txBox="1"/>
          <p:nvPr/>
        </p:nvSpPr>
        <p:spPr>
          <a:xfrm>
            <a:off x="3074035" y="3664585"/>
            <a:ext cx="1102995" cy="660400"/>
          </a:xfrm>
          <a:prstGeom prst="rect">
            <a:avLst/>
          </a:prstGeom>
          <a:ln w="12700" cmpd="sng">
            <a:solidFill>
              <a:schemeClr val="accent2">
                <a:lumMod val="40000"/>
                <a:lumOff val="60000"/>
              </a:schemeClr>
            </a:solidFill>
            <a:prstDash val="dashDot"/>
          </a:ln>
        </p:spPr>
        <p:txBody>
          <a:bodyPr wrap="square">
            <a:noAutofit/>
          </a:bodyPr>
          <a:p>
            <a:r>
              <a:rPr lang="zh-CN" altLang="en-US" sz="1200">
                <a:latin typeface="楷体" panose="02010609060101010101" charset="-122"/>
                <a:ea typeface="楷体" panose="02010609060101010101" charset="-122"/>
              </a:rPr>
              <a:t>依托虚拟电厂等重点领域的商业模式创新</a:t>
            </a:r>
            <a:endParaRPr lang="zh-CN" altLang="en-US" sz="1200">
              <a:latin typeface="楷体" panose="02010609060101010101" charset="-122"/>
              <a:ea typeface="楷体" panose="02010609060101010101" charset="-122"/>
            </a:endParaRPr>
          </a:p>
        </p:txBody>
      </p:sp>
      <p:sp>
        <p:nvSpPr>
          <p:cNvPr id="43" name="文本框 42"/>
          <p:cNvSpPr txBox="1"/>
          <p:nvPr/>
        </p:nvSpPr>
        <p:spPr>
          <a:xfrm>
            <a:off x="7345680" y="3637915"/>
            <a:ext cx="1720215" cy="789940"/>
          </a:xfrm>
          <a:prstGeom prst="rect">
            <a:avLst/>
          </a:prstGeom>
          <a:noFill/>
          <a:ln w="12700" cmpd="sng">
            <a:solidFill>
              <a:schemeClr val="accent2">
                <a:lumMod val="40000"/>
                <a:lumOff val="60000"/>
              </a:schemeClr>
            </a:solidFill>
            <a:prstDash val="lgDashDot"/>
          </a:ln>
        </p:spPr>
        <p:txBody>
          <a:bodyPr wrap="square" rtlCol="0">
            <a:noAutofit/>
          </a:bodyPr>
          <a:p>
            <a:r>
              <a:rPr lang="zh-CN" altLang="en-US" sz="1200">
                <a:solidFill>
                  <a:srgbClr val="FF0000"/>
                </a:solidFill>
                <a:latin typeface="楷体" panose="02010609060101010101" charset="-122"/>
                <a:ea typeface="楷体" panose="02010609060101010101" charset="-122"/>
                <a:sym typeface="+mn-ea"/>
              </a:rPr>
              <a:t>健全参与电能量市场的机制。在具备条件的地区，积极探索虚拟电厂参与</a:t>
            </a:r>
            <a:r>
              <a:rPr lang="zh-CN" altLang="en-US" sz="1200" b="1">
                <a:solidFill>
                  <a:srgbClr val="FF0000"/>
                </a:solidFill>
                <a:latin typeface="楷体" panose="02010609060101010101" charset="-122"/>
                <a:ea typeface="楷体" panose="02010609060101010101" charset="-122"/>
                <a:sym typeface="+mn-ea"/>
              </a:rPr>
              <a:t>跨省电力交易</a:t>
            </a:r>
            <a:r>
              <a:rPr lang="zh-CN" altLang="en-US" sz="1200">
                <a:solidFill>
                  <a:srgbClr val="FF0000"/>
                </a:solidFill>
                <a:latin typeface="楷体" panose="02010609060101010101" charset="-122"/>
                <a:ea typeface="楷体" panose="02010609060101010101" charset="-122"/>
                <a:sym typeface="+mn-ea"/>
              </a:rPr>
              <a:t>。</a:t>
            </a:r>
            <a:endParaRPr lang="zh-CN" altLang="en-US" sz="1200">
              <a:solidFill>
                <a:srgbClr val="FF0000"/>
              </a:solidFill>
              <a:latin typeface="楷体" panose="02010609060101010101" charset="-122"/>
              <a:ea typeface="楷体" panose="02010609060101010101" charset="-122"/>
              <a:sym typeface="+mn-ea"/>
            </a:endParaRPr>
          </a:p>
        </p:txBody>
      </p:sp>
      <p:cxnSp>
        <p:nvCxnSpPr>
          <p:cNvPr id="44" name="直接箭头连接符 43"/>
          <p:cNvCxnSpPr>
            <a:endCxn id="42" idx="2"/>
          </p:cNvCxnSpPr>
          <p:nvPr/>
        </p:nvCxnSpPr>
        <p:spPr>
          <a:xfrm flipH="1" flipV="1">
            <a:off x="3625850" y="4324985"/>
            <a:ext cx="10160" cy="472440"/>
          </a:xfrm>
          <a:prstGeom prst="straightConnector1">
            <a:avLst/>
          </a:prstGeom>
          <a:solidFill>
            <a:schemeClr val="accent1"/>
          </a:solidFill>
          <a:ln w="12700" cap="flat" cmpd="sng" algn="ctr">
            <a:solidFill>
              <a:schemeClr val="accent2">
                <a:lumMod val="50000"/>
              </a:schemeClr>
            </a:solidFill>
            <a:prstDash val="solid"/>
            <a:round/>
            <a:headEnd type="none" w="med" len="med"/>
            <a:tailEnd type="triangle" w="med" len="med"/>
          </a:ln>
        </p:spPr>
      </p:cxnSp>
      <p:cxnSp>
        <p:nvCxnSpPr>
          <p:cNvPr id="46" name="直接箭头连接符 45"/>
          <p:cNvCxnSpPr>
            <a:endCxn id="41" idx="0"/>
          </p:cNvCxnSpPr>
          <p:nvPr/>
        </p:nvCxnSpPr>
        <p:spPr>
          <a:xfrm>
            <a:off x="4787900" y="5516880"/>
            <a:ext cx="3810" cy="288290"/>
          </a:xfrm>
          <a:prstGeom prst="straightConnector1">
            <a:avLst/>
          </a:prstGeom>
          <a:solidFill>
            <a:schemeClr val="accent1"/>
          </a:solidFill>
          <a:ln w="12700" cap="flat" cmpd="sng" algn="ctr">
            <a:solidFill>
              <a:schemeClr val="accent2">
                <a:lumMod val="50000"/>
              </a:schemeClr>
            </a:solidFill>
            <a:prstDash val="solid"/>
            <a:round/>
            <a:headEnd type="none" w="med" len="med"/>
            <a:tailEnd type="triangle" w="med" len="med"/>
          </a:ln>
        </p:spPr>
      </p:cxnSp>
      <p:cxnSp>
        <p:nvCxnSpPr>
          <p:cNvPr id="47" name="直接箭头连接符 46"/>
          <p:cNvCxnSpPr>
            <a:endCxn id="40" idx="2"/>
          </p:cNvCxnSpPr>
          <p:nvPr/>
        </p:nvCxnSpPr>
        <p:spPr>
          <a:xfrm flipH="1" flipV="1">
            <a:off x="6074410" y="4458335"/>
            <a:ext cx="9525" cy="339090"/>
          </a:xfrm>
          <a:prstGeom prst="straightConnector1">
            <a:avLst/>
          </a:prstGeom>
          <a:solidFill>
            <a:schemeClr val="accent1"/>
          </a:solidFill>
          <a:ln w="12700" cap="flat" cmpd="sng" algn="ctr">
            <a:solidFill>
              <a:schemeClr val="accent2">
                <a:lumMod val="50000"/>
              </a:schemeClr>
            </a:solidFill>
            <a:prstDash val="solid"/>
            <a:round/>
            <a:headEnd type="none" w="med" len="med"/>
            <a:tailEnd type="triangle" w="med" len="med"/>
          </a:ln>
        </p:spPr>
      </p:cxnSp>
      <p:cxnSp>
        <p:nvCxnSpPr>
          <p:cNvPr id="48" name="直接箭头连接符 47"/>
          <p:cNvCxnSpPr>
            <a:endCxn id="39" idx="0"/>
          </p:cNvCxnSpPr>
          <p:nvPr/>
        </p:nvCxnSpPr>
        <p:spPr>
          <a:xfrm flipH="1">
            <a:off x="7345680" y="5523865"/>
            <a:ext cx="6350" cy="281305"/>
          </a:xfrm>
          <a:prstGeom prst="straightConnector1">
            <a:avLst/>
          </a:prstGeom>
          <a:solidFill>
            <a:schemeClr val="accent1"/>
          </a:solidFill>
          <a:ln w="12700" cap="flat" cmpd="sng" algn="ctr">
            <a:solidFill>
              <a:schemeClr val="accent2">
                <a:lumMod val="50000"/>
              </a:schemeClr>
            </a:solidFill>
            <a:prstDash val="solid"/>
            <a:round/>
            <a:headEnd type="none" w="med" len="med"/>
            <a:tailEnd type="triangle" w="med" len="med"/>
          </a:ln>
        </p:spPr>
      </p:cxnSp>
      <p:cxnSp>
        <p:nvCxnSpPr>
          <p:cNvPr id="49" name="直接箭头连接符 48"/>
          <p:cNvCxnSpPr>
            <a:endCxn id="43" idx="2"/>
          </p:cNvCxnSpPr>
          <p:nvPr/>
        </p:nvCxnSpPr>
        <p:spPr>
          <a:xfrm flipH="1" flipV="1">
            <a:off x="8206105" y="4427855"/>
            <a:ext cx="398145" cy="369570"/>
          </a:xfrm>
          <a:prstGeom prst="straightConnector1">
            <a:avLst/>
          </a:prstGeom>
          <a:solidFill>
            <a:schemeClr val="accent1"/>
          </a:solidFill>
          <a:ln w="12700" cap="flat" cmpd="sng" algn="ctr">
            <a:solidFill>
              <a:schemeClr val="accent2">
                <a:lumMod val="50000"/>
              </a:schemeClr>
            </a:solidFill>
            <a:prstDash val="solid"/>
            <a:round/>
            <a:headEnd type="none" w="med" len="med"/>
            <a:tailEnd type="triangle" w="med" len="med"/>
          </a:ln>
        </p:spPr>
      </p:cxnSp>
      <p:sp>
        <p:nvSpPr>
          <p:cNvPr id="3" name="文本框 2"/>
          <p:cNvSpPr txBox="1"/>
          <p:nvPr/>
        </p:nvSpPr>
        <p:spPr>
          <a:xfrm>
            <a:off x="7092315" y="1250950"/>
            <a:ext cx="1873885" cy="679450"/>
          </a:xfrm>
          <a:prstGeom prst="rect">
            <a:avLst/>
          </a:prstGeom>
          <a:ln w="12700" cmpd="sng">
            <a:solidFill>
              <a:schemeClr val="tx2"/>
            </a:solidFill>
            <a:prstDash val="dashDot"/>
          </a:ln>
        </p:spPr>
        <p:txBody>
          <a:bodyPr>
            <a:noAutofit/>
          </a:bodyPr>
          <a:p>
            <a:pPr algn="l">
              <a:buClrTx/>
              <a:buSzTx/>
              <a:buFontTx/>
            </a:pPr>
            <a:r>
              <a:rPr lang="zh-CN" altLang="en-US" sz="1000">
                <a:latin typeface="楷体" panose="02010609060101010101" charset="-122"/>
                <a:ea typeface="楷体" panose="02010609060101010101" charset="-122"/>
                <a:cs typeface="楷体" panose="02010609060101010101" charset="-122"/>
              </a:rPr>
              <a:t>省间现货市场要实现发电企业参与省间现货购电，并加紧研究售电公司、电力用户直接参与省间现货交易的机制</a:t>
            </a:r>
            <a:endParaRPr lang="zh-CN" altLang="en-US" sz="1000">
              <a:latin typeface="楷体" panose="02010609060101010101" charset="-122"/>
              <a:ea typeface="楷体" panose="02010609060101010101" charset="-122"/>
              <a:cs typeface="楷体" panose="02010609060101010101" charset="-122"/>
            </a:endParaRPr>
          </a:p>
        </p:txBody>
      </p:sp>
      <p:cxnSp>
        <p:nvCxnSpPr>
          <p:cNvPr id="4" name="直接箭头连接符 3"/>
          <p:cNvCxnSpPr/>
          <p:nvPr/>
        </p:nvCxnSpPr>
        <p:spPr>
          <a:xfrm flipH="1" flipV="1">
            <a:off x="8172450" y="1917065"/>
            <a:ext cx="20320" cy="603885"/>
          </a:xfrm>
          <a:prstGeom prst="straightConnector1">
            <a:avLst/>
          </a:prstGeom>
          <a:solidFill>
            <a:schemeClr val="accent1"/>
          </a:solidFill>
          <a:ln w="9525" cap="flat" cmpd="sng" algn="ctr">
            <a:solidFill>
              <a:schemeClr val="accent5">
                <a:lumMod val="50000"/>
              </a:schemeClr>
            </a:solidFill>
            <a:prstDash val="solid"/>
            <a:round/>
            <a:headEnd type="none" w="med" len="med"/>
            <a:tailEnd type="triangle" w="med" len="lg"/>
          </a:ln>
        </p:spPr>
      </p:cxnSp>
      <p:sp>
        <p:nvSpPr>
          <p:cNvPr id="29" name="矩形: 圆角 25616"/>
          <p:cNvSpPr/>
          <p:nvPr/>
        </p:nvSpPr>
        <p:spPr>
          <a:xfrm>
            <a:off x="3347720" y="1973580"/>
            <a:ext cx="1502410" cy="260985"/>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accen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省间现货</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30" name="矩形: 圆角 25616"/>
          <p:cNvSpPr/>
          <p:nvPr/>
        </p:nvSpPr>
        <p:spPr>
          <a:xfrm>
            <a:off x="3347720" y="3347085"/>
            <a:ext cx="1502410" cy="260985"/>
          </a:xfrm>
          <a:prstGeom prst="roundRect">
            <a:avLst/>
          </a:prstGeom>
          <a:solidFill>
            <a:schemeClr val="accent6">
              <a:lumMod val="20000"/>
              <a:lumOff val="80000"/>
            </a:schemeClr>
          </a:solidFill>
          <a:ln>
            <a:noFill/>
          </a:ln>
        </p:spPr>
        <p:style>
          <a:lnRef idx="0">
            <a:scrgbClr r="0" g="0" b="0"/>
          </a:lnRef>
          <a:fillRef idx="0">
            <a:scrgbClr r="0" g="0" b="0"/>
          </a:fillRef>
          <a:effectRef idx="0">
            <a:scrgbClr r="0" g="0" b="0"/>
          </a:effectRef>
          <a:fontRef idx="minor">
            <a:schemeClr val="accen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accent6">
                    <a:lumMod val="50000"/>
                  </a:schemeClr>
                </a:solidFill>
                <a:effectLst/>
                <a:uLnTx/>
                <a:uFillTx/>
                <a:latin typeface="微软雅黑" panose="020B0503020204020204" pitchFamily="34" charset="-122"/>
                <a:ea typeface="微软雅黑" panose="020B0503020204020204" pitchFamily="34" charset="-122"/>
                <a:cs typeface="+mn-cs"/>
              </a:rPr>
              <a:t>虚拟电厂参与现货</a:t>
            </a:r>
            <a:endParaRPr kumimoji="0" lang="zh-CN" altLang="en-US" sz="1200" b="1" i="0" u="none" strike="noStrike" kern="1200" cap="none" spc="0" normalizeH="0" baseline="0" noProof="0" dirty="0">
              <a:ln>
                <a:noFill/>
              </a:ln>
              <a:solidFill>
                <a:schemeClr val="accent6">
                  <a:lumMod val="50000"/>
                </a:scheme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8675"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8676" name="Content Placeholder 3"/>
          <p:cNvSpPr>
            <a:spLocks noGrp="1"/>
          </p:cNvSpPr>
          <p:nvPr>
            <p:ph sz="quarter" idx="1"/>
          </p:nvPr>
        </p:nvSpPr>
        <p:spPr>
          <a:xfrm>
            <a:off x="250825" y="1214438"/>
            <a:ext cx="8569325"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3</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：虚拟电厂参与省间电力现货市场机制研究</a:t>
            </a:r>
            <a:endParaRPr lang="zh-CN" altLang="en-US" sz="2000" dirty="0"/>
          </a:p>
        </p:txBody>
      </p:sp>
      <p:sp>
        <p:nvSpPr>
          <p:cNvPr id="28677"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8678"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8679"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7" name="圆角矩形 6"/>
          <p:cNvSpPr/>
          <p:nvPr>
            <p:custDataLst>
              <p:tags r:id="rId1"/>
            </p:custDataLst>
          </p:nvPr>
        </p:nvSpPr>
        <p:spPr>
          <a:xfrm>
            <a:off x="539750" y="2421255"/>
            <a:ext cx="2808605" cy="864235"/>
          </a:xfrm>
          <a:prstGeom prst="roundRect">
            <a:avLst/>
          </a:prstGeom>
          <a:ln>
            <a:headEnd type="none" w="med" len="med"/>
            <a:tailEnd type="none" w="med" len="med"/>
          </a:ln>
        </p:spPr>
        <p:style>
          <a:lnRef idx="0">
            <a:srgbClr val="FFFFFF"/>
          </a:lnRef>
          <a:fillRef idx="2">
            <a:schemeClr val="accent1"/>
          </a:fillRef>
          <a:effectRef idx="0">
            <a:srgbClr val="FFFFFF"/>
          </a:effectRef>
          <a:fontRef idx="minor">
            <a:schemeClr val="lt1"/>
          </a:fontRef>
        </p:style>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noProof="0" dirty="0">
                <a:ln>
                  <a:noFill/>
                </a:ln>
                <a:effectLst/>
                <a:uLnTx/>
                <a:uFillTx/>
                <a:latin typeface="微软雅黑" panose="020B0503020204020204" pitchFamily="34" charset="-122"/>
                <a:ea typeface="微软雅黑" panose="020B0503020204020204" pitchFamily="34" charset="-122"/>
                <a:sym typeface="+mn-ea"/>
              </a:rPr>
              <a:t>完善虚拟电厂的市场</a:t>
            </a:r>
            <a:r>
              <a:rPr lang="zh-CN" altLang="en-US" sz="1600" b="1" noProof="0" dirty="0">
                <a:ln>
                  <a:noFill/>
                </a:ln>
                <a:effectLst/>
                <a:uLnTx/>
                <a:uFillTx/>
                <a:latin typeface="微软雅黑" panose="020B0503020204020204" pitchFamily="34" charset="-122"/>
                <a:ea typeface="微软雅黑" panose="020B0503020204020204" pitchFamily="34" charset="-122"/>
                <a:sym typeface="+mn-ea"/>
              </a:rPr>
              <a:t>准入和退出机制</a:t>
            </a:r>
            <a:endParaRPr kumimoji="0" lang="zh-CN" altLang="en-US" sz="1600" b="1" i="0" u="none" strike="noStrike" cap="none"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9" name="圆角矩形 8"/>
          <p:cNvSpPr/>
          <p:nvPr>
            <p:custDataLst>
              <p:tags r:id="rId2"/>
            </p:custDataLst>
          </p:nvPr>
        </p:nvSpPr>
        <p:spPr>
          <a:xfrm>
            <a:off x="539750" y="3645535"/>
            <a:ext cx="2808605" cy="864235"/>
          </a:xfrm>
          <a:prstGeom prst="roundRect">
            <a:avLst/>
          </a:prstGeom>
          <a:ln>
            <a:headEnd type="none" w="med" len="med"/>
            <a:tailEnd type="none" w="med" len="med"/>
          </a:ln>
        </p:spPr>
        <p:style>
          <a:lnRef idx="0">
            <a:srgbClr val="FFFFFF"/>
          </a:lnRef>
          <a:fillRef idx="2">
            <a:schemeClr val="accent1"/>
          </a:fillRef>
          <a:effectRef idx="0">
            <a:srgbClr val="FFFFFF"/>
          </a:effectRef>
          <a:fontRef idx="minor">
            <a:schemeClr val="lt1"/>
          </a:fontRef>
        </p:style>
        <p:txBody>
          <a:bodyPr vert="horz" wrap="square" lIns="91440" tIns="45720" rIns="91440" bIns="45720" numCol="1" anchor="ctr" anchorCtr="0" compatLnSpc="1"/>
          <a:p>
            <a:pPr marL="0" marR="0" algn="ctr" defTabSz="914400" rtl="0" eaLnBrk="1" fontAlgn="base" latinLnBrk="0" hangingPunct="1">
              <a:lnSpc>
                <a:spcPct val="100000"/>
              </a:lnSpc>
              <a:buClrTx/>
              <a:buSzTx/>
              <a:buFont typeface="Arial" panose="020B0604020202020204" pitchFamily="34" charset="0"/>
              <a:buNone/>
            </a:pPr>
            <a:r>
              <a:rPr lang="zh-CN" altLang="en-US" sz="1600" noProof="0" dirty="0">
                <a:ln>
                  <a:noFill/>
                </a:ln>
                <a:effectLst/>
                <a:uLnTx/>
                <a:uFillTx/>
                <a:latin typeface="微软雅黑" panose="020B0503020204020204" pitchFamily="34" charset="-122"/>
                <a:ea typeface="微软雅黑" panose="020B0503020204020204" pitchFamily="34" charset="-122"/>
                <a:sym typeface="+mn-ea"/>
              </a:rPr>
              <a:t>设计虚拟电厂参与省间现货市场的</a:t>
            </a:r>
            <a:r>
              <a:rPr lang="zh-CN" altLang="en-US" sz="1600" b="1" noProof="0" dirty="0">
                <a:ln>
                  <a:noFill/>
                </a:ln>
                <a:effectLst/>
                <a:uLnTx/>
                <a:uFillTx/>
                <a:latin typeface="微软雅黑" panose="020B0503020204020204" pitchFamily="34" charset="-122"/>
                <a:ea typeface="微软雅黑" panose="020B0503020204020204" pitchFamily="34" charset="-122"/>
                <a:sym typeface="+mn-ea"/>
              </a:rPr>
              <a:t>交易规则</a:t>
            </a:r>
            <a:endParaRPr kumimoji="0" lang="zh-CN" altLang="en-US" sz="1600" b="1" i="0" u="none" strike="noStrike" cap="none"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10" name="圆角矩形 9"/>
          <p:cNvSpPr/>
          <p:nvPr>
            <p:custDataLst>
              <p:tags r:id="rId3"/>
            </p:custDataLst>
          </p:nvPr>
        </p:nvSpPr>
        <p:spPr>
          <a:xfrm>
            <a:off x="539750" y="5013325"/>
            <a:ext cx="2808605" cy="864235"/>
          </a:xfrm>
          <a:prstGeom prst="roundRect">
            <a:avLst/>
          </a:prstGeom>
          <a:ln>
            <a:headEnd type="none" w="med" len="med"/>
            <a:tailEnd type="none" w="med" len="med"/>
          </a:ln>
        </p:spPr>
        <p:style>
          <a:lnRef idx="0">
            <a:srgbClr val="FFFFFF"/>
          </a:lnRef>
          <a:fillRef idx="2">
            <a:schemeClr val="accent1"/>
          </a:fillRef>
          <a:effectRef idx="0">
            <a:srgbClr val="FFFFFF"/>
          </a:effectRef>
          <a:fontRef idx="minor">
            <a:schemeClr val="lt1"/>
          </a:fontRef>
        </p:style>
        <p:txBody>
          <a:bodyPr vert="horz" wrap="square" lIns="91440" tIns="45720" rIns="91440" bIns="45720" numCol="1" anchor="ctr" anchorCtr="0" compatLnSpc="1"/>
          <a:p>
            <a:pPr marL="0" marR="0" algn="ctr" defTabSz="914400" rtl="0" eaLnBrk="1" fontAlgn="base" latinLnBrk="0" hangingPunct="1">
              <a:lnSpc>
                <a:spcPct val="100000"/>
              </a:lnSpc>
              <a:buClrTx/>
              <a:buSzTx/>
              <a:buFont typeface="Arial" panose="020B0604020202020204" pitchFamily="34" charset="0"/>
              <a:buNone/>
            </a:pPr>
            <a:r>
              <a:rPr lang="zh-CN" altLang="en-US" sz="1600" noProof="0" dirty="0">
                <a:ln>
                  <a:noFill/>
                </a:ln>
                <a:effectLst/>
                <a:uLnTx/>
                <a:uFillTx/>
                <a:latin typeface="微软雅黑" panose="020B0503020204020204" pitchFamily="34" charset="-122"/>
                <a:ea typeface="微软雅黑" panose="020B0503020204020204" pitchFamily="34" charset="-122"/>
                <a:sym typeface="+mn-ea"/>
              </a:rPr>
              <a:t>完善虚拟电厂参与省间现货市场的</a:t>
            </a:r>
            <a:r>
              <a:rPr lang="zh-CN" altLang="en-US" sz="1600" b="1" noProof="0" dirty="0">
                <a:ln>
                  <a:noFill/>
                </a:ln>
                <a:effectLst/>
                <a:uLnTx/>
                <a:uFillTx/>
                <a:latin typeface="微软雅黑" panose="020B0503020204020204" pitchFamily="34" charset="-122"/>
                <a:ea typeface="微软雅黑" panose="020B0503020204020204" pitchFamily="34" charset="-122"/>
                <a:sym typeface="+mn-ea"/>
              </a:rPr>
              <a:t>技术标准与管理规范</a:t>
            </a:r>
            <a:endParaRPr kumimoji="0" lang="zh-CN" altLang="en-US" sz="1600" b="1" i="0" u="none" strike="noStrike" cap="none"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12" name="圆角矩形 11"/>
          <p:cNvSpPr/>
          <p:nvPr>
            <p:custDataLst>
              <p:tags r:id="rId4"/>
            </p:custDataLst>
          </p:nvPr>
        </p:nvSpPr>
        <p:spPr>
          <a:xfrm>
            <a:off x="4211955" y="2327910"/>
            <a:ext cx="4421505" cy="942975"/>
          </a:xfrm>
          <a:prstGeom prst="roundRect">
            <a:avLst/>
          </a:prstGeom>
          <a:ln w="6350" cap="flat" cmpd="sng" algn="ctr">
            <a:solidFill>
              <a:schemeClr val="accent1"/>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noProof="0" dirty="0">
                <a:ln>
                  <a:noFill/>
                </a:ln>
                <a:effectLst/>
                <a:uLnTx/>
                <a:uFillTx/>
                <a:latin typeface="微软雅黑" panose="020B0503020204020204" pitchFamily="34" charset="-122"/>
                <a:ea typeface="微软雅黑" panose="020B0503020204020204" pitchFamily="34" charset="-122"/>
                <a:sym typeface="+mn-ea"/>
              </a:rPr>
              <a:t>分析现有省内虚拟电厂参与电能量市场的准入与退出规则，进行对比分析</a:t>
            </a:r>
            <a:endParaRPr kumimoji="0" lang="zh-CN" altLang="en-US" sz="1600" b="0" i="0" u="none" strike="noStrike" cap="none"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14" name="圆角矩形 13"/>
          <p:cNvSpPr/>
          <p:nvPr>
            <p:custDataLst>
              <p:tags r:id="rId5"/>
            </p:custDataLst>
          </p:nvPr>
        </p:nvSpPr>
        <p:spPr>
          <a:xfrm>
            <a:off x="4211955" y="3645535"/>
            <a:ext cx="4421505" cy="942975"/>
          </a:xfrm>
          <a:prstGeom prst="roundRect">
            <a:avLst/>
          </a:prstGeom>
          <a:ln w="6350" cap="flat" cmpd="sng" algn="ctr">
            <a:solidFill>
              <a:schemeClr val="accent1"/>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noProof="0" dirty="0">
                <a:ln>
                  <a:noFill/>
                </a:ln>
                <a:effectLst/>
                <a:uLnTx/>
                <a:uFillTx/>
                <a:latin typeface="微软雅黑" panose="020B0503020204020204" pitchFamily="34" charset="-122"/>
                <a:ea typeface="微软雅黑" panose="020B0503020204020204" pitchFamily="34" charset="-122"/>
                <a:sym typeface="+mn-ea"/>
              </a:rPr>
              <a:t>包括报价机制、出清规则、结算方式等</a:t>
            </a:r>
            <a:endParaRPr lang="zh-CN" altLang="en-US" sz="1600" noProof="0" dirty="0">
              <a:ln>
                <a:noFill/>
              </a:ln>
              <a:effectLst/>
              <a:uLnTx/>
              <a:uFillTx/>
              <a:latin typeface="微软雅黑" panose="020B0503020204020204" pitchFamily="34" charset="-122"/>
              <a:ea typeface="微软雅黑" panose="020B0503020204020204" pitchFamily="34" charset="-122"/>
              <a:sym typeface="+mn-ea"/>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noProof="0" dirty="0">
                <a:ln>
                  <a:noFill/>
                </a:ln>
                <a:effectLst/>
                <a:uLnTx/>
                <a:uFillTx/>
                <a:latin typeface="微软雅黑" panose="020B0503020204020204" pitchFamily="34" charset="-122"/>
                <a:ea typeface="微软雅黑" panose="020B0503020204020204" pitchFamily="34" charset="-122"/>
                <a:sym typeface="+mn-ea"/>
              </a:rPr>
              <a:t>涉及技术：</a:t>
            </a:r>
            <a:r>
              <a:rPr lang="zh-CN" altLang="en-US" sz="1600" b="1" noProof="0" dirty="0">
                <a:ln>
                  <a:noFill/>
                </a:ln>
                <a:effectLst/>
                <a:uLnTx/>
                <a:uFillTx/>
                <a:latin typeface="微软雅黑" panose="020B0503020204020204" pitchFamily="34" charset="-122"/>
                <a:ea typeface="微软雅黑" panose="020B0503020204020204" pitchFamily="34" charset="-122"/>
                <a:sym typeface="+mn-ea"/>
              </a:rPr>
              <a:t>虚拟电厂出力预测；参与省间市场调度</a:t>
            </a:r>
            <a:r>
              <a:rPr lang="zh-CN" altLang="en-US" sz="1600" b="1" noProof="0" dirty="0">
                <a:ln>
                  <a:noFill/>
                </a:ln>
                <a:effectLst/>
                <a:uLnTx/>
                <a:uFillTx/>
                <a:latin typeface="微软雅黑" panose="020B0503020204020204" pitchFamily="34" charset="-122"/>
                <a:ea typeface="微软雅黑" panose="020B0503020204020204" pitchFamily="34" charset="-122"/>
                <a:sym typeface="+mn-ea"/>
              </a:rPr>
              <a:t>约束模型</a:t>
            </a:r>
            <a:endParaRPr lang="zh-CN" altLang="en-US" sz="1600" b="1"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16" name="右箭头 15"/>
          <p:cNvSpPr/>
          <p:nvPr>
            <p:custDataLst>
              <p:tags r:id="rId6"/>
            </p:custDataLst>
          </p:nvPr>
        </p:nvSpPr>
        <p:spPr>
          <a:xfrm>
            <a:off x="3456305" y="2708910"/>
            <a:ext cx="648335" cy="288290"/>
          </a:xfrm>
          <a:prstGeom prst="rightArrow">
            <a:avLst/>
          </a:prstGeom>
          <a:solidFill>
            <a:schemeClr val="accent6">
              <a:lumMod val="20000"/>
              <a:lumOff val="80000"/>
            </a:schemeClr>
          </a:solidFill>
          <a:ln w="9525" cap="flat" cmpd="sng" algn="ctr">
            <a:solidFill>
              <a:schemeClr val="accent6">
                <a:lumMod val="75000"/>
              </a:schemeClr>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 name="右箭头 17"/>
          <p:cNvSpPr/>
          <p:nvPr>
            <p:custDataLst>
              <p:tags r:id="rId7"/>
            </p:custDataLst>
          </p:nvPr>
        </p:nvSpPr>
        <p:spPr>
          <a:xfrm>
            <a:off x="3455670" y="3933190"/>
            <a:ext cx="648335" cy="288290"/>
          </a:xfrm>
          <a:prstGeom prst="rightArrow">
            <a:avLst/>
          </a:prstGeom>
          <a:solidFill>
            <a:schemeClr val="accent6">
              <a:lumMod val="20000"/>
              <a:lumOff val="80000"/>
            </a:schemeClr>
          </a:solidFill>
          <a:ln w="9525" cap="flat" cmpd="sng" algn="ctr">
            <a:solidFill>
              <a:schemeClr val="accent6">
                <a:lumMod val="75000"/>
              </a:schemeClr>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 name="右箭头 19"/>
          <p:cNvSpPr/>
          <p:nvPr>
            <p:custDataLst>
              <p:tags r:id="rId8"/>
            </p:custDataLst>
          </p:nvPr>
        </p:nvSpPr>
        <p:spPr>
          <a:xfrm>
            <a:off x="3456305" y="5300980"/>
            <a:ext cx="648335" cy="288290"/>
          </a:xfrm>
          <a:prstGeom prst="rightArrow">
            <a:avLst/>
          </a:prstGeom>
          <a:solidFill>
            <a:schemeClr val="accent6">
              <a:lumMod val="20000"/>
              <a:lumOff val="80000"/>
            </a:schemeClr>
          </a:solidFill>
          <a:ln w="9525" cap="flat" cmpd="sng" algn="ctr">
            <a:solidFill>
              <a:schemeClr val="accent6">
                <a:lumMod val="75000"/>
              </a:schemeClr>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 name="矩形: 圆角 25616"/>
          <p:cNvSpPr/>
          <p:nvPr/>
        </p:nvSpPr>
        <p:spPr>
          <a:xfrm>
            <a:off x="984250" y="1772920"/>
            <a:ext cx="1854200" cy="381000"/>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accen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研究内容</a:t>
            </a:r>
            <a:endParaRPr kumimoji="0" lang="zh-CN" altLang="en-US" sz="14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24" name="矩形: 圆角 25616"/>
          <p:cNvSpPr/>
          <p:nvPr/>
        </p:nvSpPr>
        <p:spPr>
          <a:xfrm>
            <a:off x="5559425" y="1772920"/>
            <a:ext cx="1831340" cy="381635"/>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accen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预期研究方案</a:t>
            </a:r>
            <a:endParaRPr kumimoji="0" lang="zh-CN" altLang="en-US" sz="14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pic>
        <p:nvPicPr>
          <p:cNvPr id="25" name="图片 24"/>
          <p:cNvPicPr/>
          <p:nvPr/>
        </p:nvPicPr>
        <p:blipFill>
          <a:blip r:embed="rId9"/>
          <a:stretch>
            <a:fillRect/>
          </a:stretch>
        </p:blipFill>
        <p:spPr>
          <a:xfrm>
            <a:off x="3995420" y="5670550"/>
            <a:ext cx="1419860" cy="1120140"/>
          </a:xfrm>
          <a:prstGeom prst="rect">
            <a:avLst/>
          </a:prstGeom>
          <a:ln w="28575" cmpd="dbl">
            <a:solidFill>
              <a:schemeClr val="accent6">
                <a:lumMod val="75000"/>
              </a:schemeClr>
            </a:solidFill>
          </a:ln>
        </p:spPr>
      </p:pic>
      <p:pic>
        <p:nvPicPr>
          <p:cNvPr id="27" name="图片 26"/>
          <p:cNvPicPr/>
          <p:nvPr/>
        </p:nvPicPr>
        <p:blipFill>
          <a:blip r:embed="rId10"/>
          <a:srcRect r="-3577" b="41973"/>
          <a:stretch>
            <a:fillRect/>
          </a:stretch>
        </p:blipFill>
        <p:spPr>
          <a:xfrm>
            <a:off x="7524115" y="5661025"/>
            <a:ext cx="1370330" cy="1172845"/>
          </a:xfrm>
          <a:prstGeom prst="rect">
            <a:avLst/>
          </a:prstGeom>
          <a:ln w="28575" cmpd="dbl">
            <a:solidFill>
              <a:schemeClr val="accent6">
                <a:lumMod val="75000"/>
              </a:schemeClr>
            </a:solidFill>
          </a:ln>
        </p:spPr>
      </p:pic>
      <p:sp>
        <p:nvSpPr>
          <p:cNvPr id="15" name="圆角矩形 14"/>
          <p:cNvSpPr/>
          <p:nvPr>
            <p:custDataLst>
              <p:tags r:id="rId11"/>
            </p:custDataLst>
          </p:nvPr>
        </p:nvSpPr>
        <p:spPr>
          <a:xfrm>
            <a:off x="4211955" y="5007610"/>
            <a:ext cx="4422140" cy="942975"/>
          </a:xfrm>
          <a:prstGeom prst="roundRect">
            <a:avLst/>
          </a:prstGeom>
          <a:ln w="6350" cap="flat" cmpd="sng" algn="ctr">
            <a:solidFill>
              <a:schemeClr val="accent1"/>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noProof="0" dirty="0">
                <a:ln>
                  <a:noFill/>
                </a:ln>
                <a:effectLst/>
                <a:uLnTx/>
                <a:uFillTx/>
                <a:latin typeface="微软雅黑" panose="020B0503020204020204" pitchFamily="34" charset="-122"/>
                <a:ea typeface="微软雅黑" panose="020B0503020204020204" pitchFamily="34" charset="-122"/>
                <a:sym typeface="+mn-ea"/>
              </a:rPr>
              <a:t>参考《虚拟电厂管理规范》《虚拟电厂资源配置与评估技术规范》等国家标准，提出跨省</a:t>
            </a:r>
            <a:r>
              <a:rPr lang="en-US" altLang="zh-CN" sz="1600" noProof="0" dirty="0">
                <a:ln>
                  <a:noFill/>
                </a:ln>
                <a:effectLst/>
                <a:uLnTx/>
                <a:uFillTx/>
                <a:latin typeface="微软雅黑" panose="020B0503020204020204" pitchFamily="34" charset="-122"/>
                <a:ea typeface="微软雅黑" panose="020B0503020204020204" pitchFamily="34" charset="-122"/>
                <a:sym typeface="+mn-ea"/>
              </a:rPr>
              <a:t>VPP</a:t>
            </a:r>
            <a:r>
              <a:rPr lang="zh-CN" altLang="en-US" sz="1600" noProof="0" dirty="0">
                <a:ln>
                  <a:noFill/>
                </a:ln>
                <a:effectLst/>
                <a:uLnTx/>
                <a:uFillTx/>
                <a:latin typeface="微软雅黑" panose="020B0503020204020204" pitchFamily="34" charset="-122"/>
                <a:ea typeface="微软雅黑" panose="020B0503020204020204" pitchFamily="34" charset="-122"/>
                <a:sym typeface="+mn-ea"/>
              </a:rPr>
              <a:t>的协同调度框架</a:t>
            </a:r>
            <a:endParaRPr kumimoji="0" lang="zh-CN" altLang="en-US" sz="1600" b="0" i="0" u="none" strike="noStrike" cap="none"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7651"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7652" name="Content Placeholder 3"/>
          <p:cNvSpPr>
            <a:spLocks noGrp="1"/>
          </p:cNvSpPr>
          <p:nvPr>
            <p:ph sz="quarter" idx="1"/>
          </p:nvPr>
        </p:nvSpPr>
        <p:spPr>
          <a:xfrm>
            <a:off x="250825" y="1125538"/>
            <a:ext cx="8569325"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3</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：虚拟电厂参与省间电力现货市场机制研究</a:t>
            </a:r>
            <a:endParaRPr lang="zh-CN" altLang="en-US" sz="2000" dirty="0"/>
          </a:p>
        </p:txBody>
      </p:sp>
      <p:sp>
        <p:nvSpPr>
          <p:cNvPr id="27653"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4"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7655"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 name="矩形 1"/>
          <p:cNvSpPr/>
          <p:nvPr/>
        </p:nvSpPr>
        <p:spPr>
          <a:xfrm>
            <a:off x="342900" y="1484630"/>
            <a:ext cx="8496300" cy="1791970"/>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技术基础迁移：</a:t>
            </a:r>
            <a:endParaRPr kumimoji="0" lang="en-US" altLang="zh-CN"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华中区域省间富裕</a:t>
            </a:r>
            <a:r>
              <a:rPr kumimoji="0" lang="zh-CN" altLang="en-US"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可再生资源</a:t>
            </a:r>
            <a:r>
              <a:rPr kumimoji="0" lang="zh-CN" altLang="en-US"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交易市场机制设计 → 负荷型虚拟电厂参与省间市场</a:t>
            </a:r>
            <a:endParaRPr kumimoji="0" lang="en-US" altLang="zh-CN"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914400" rtl="0" eaLnBrk="0" fontAlgn="base" latinLnBrk="0" hangingPunct="0">
              <a:lnSpc>
                <a:spcPct val="13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该交易发生在</a:t>
            </a:r>
            <a:r>
              <a:rPr kumimoji="0" lang="zh-CN" altLang="en-US" sz="1600" b="1" i="0" u="sng"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需求侧资源匮乏省份与需求侧资源富余省份之间</a:t>
            </a: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。需求侧资源富裕省份在满足本省的基础上，若仍存在部分可深度挖掘的资源，也即存在所谓的</a:t>
            </a:r>
            <a:r>
              <a:rPr kumimoji="0" lang="zh-CN" altLang="en-US" sz="1600" b="1" i="0" u="sng"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富裕</a:t>
            </a:r>
            <a:r>
              <a:rPr kumimoji="0" lang="zh-CN" altLang="en-US" sz="1600" b="1" i="0" u="sng"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可再生资源，则可参与省间</a:t>
            </a:r>
            <a:r>
              <a:rPr lang="zh-CN" altLang="en-US" sz="1600" b="1" u="sng"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富裕可再生资源交易</a:t>
            </a: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27657" name="图片 2"/>
          <p:cNvPicPr>
            <a:picLocks noChangeAspect="1"/>
          </p:cNvPicPr>
          <p:nvPr/>
        </p:nvPicPr>
        <p:blipFill>
          <a:blip r:embed="rId1"/>
          <a:stretch>
            <a:fillRect/>
          </a:stretch>
        </p:blipFill>
        <p:spPr>
          <a:xfrm>
            <a:off x="342900" y="3356928"/>
            <a:ext cx="3600450" cy="3167062"/>
          </a:xfrm>
          <a:prstGeom prst="rect">
            <a:avLst/>
          </a:prstGeom>
          <a:noFill/>
          <a:ln w="9525">
            <a:noFill/>
          </a:ln>
        </p:spPr>
      </p:pic>
      <p:pic>
        <p:nvPicPr>
          <p:cNvPr id="27658" name="图片 29"/>
          <p:cNvPicPr>
            <a:picLocks noChangeAspect="1"/>
          </p:cNvPicPr>
          <p:nvPr/>
        </p:nvPicPr>
        <p:blipFill>
          <a:blip r:embed="rId2"/>
          <a:stretch>
            <a:fillRect/>
          </a:stretch>
        </p:blipFill>
        <p:spPr>
          <a:xfrm>
            <a:off x="4086225" y="3694430"/>
            <a:ext cx="4752975" cy="2349500"/>
          </a:xfrm>
          <a:prstGeom prst="rect">
            <a:avLst/>
          </a:prstGeom>
          <a:noFill/>
          <a:ln w="9525">
            <a:noFill/>
          </a:ln>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8675"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8676" name="Content Placeholder 3"/>
          <p:cNvSpPr>
            <a:spLocks noGrp="1"/>
          </p:cNvSpPr>
          <p:nvPr>
            <p:ph sz="quarter" idx="1"/>
          </p:nvPr>
        </p:nvSpPr>
        <p:spPr>
          <a:xfrm>
            <a:off x="250825" y="1214438"/>
            <a:ext cx="8569325"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3</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：虚拟电厂参与省间电力现货市场机制研究</a:t>
            </a:r>
            <a:endParaRPr lang="zh-CN" altLang="en-US" sz="2000" dirty="0"/>
          </a:p>
        </p:txBody>
      </p:sp>
      <p:sp>
        <p:nvSpPr>
          <p:cNvPr id="28677"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8678"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8679"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4" name="矩形 3"/>
          <p:cNvSpPr/>
          <p:nvPr/>
        </p:nvSpPr>
        <p:spPr>
          <a:xfrm>
            <a:off x="323850" y="1557020"/>
            <a:ext cx="8352155" cy="161480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algn="l" defTabSz="914400" rtl="0" eaLnBrk="0" fontAlgn="base" latinLnBrk="0" hangingPunct="0">
              <a:lnSpc>
                <a:spcPct val="130000"/>
              </a:lnSpc>
              <a:buClrTx/>
              <a:buSzTx/>
              <a:buFontTx/>
              <a:buNone/>
              <a:defRPr/>
            </a:pPr>
            <a:r>
              <a:rPr kumimoji="0" lang="zh-CN" altLang="en-US"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可行思路：</a:t>
            </a:r>
            <a:endParaRPr kumimoji="0" lang="zh-CN" altLang="en-US" sz="18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30000"/>
              </a:lnSpc>
              <a:spcBef>
                <a:spcPct val="0"/>
              </a:spcBef>
              <a:spcAft>
                <a:spcPct val="0"/>
              </a:spcAft>
              <a:buClrTx/>
              <a:buSzTx/>
              <a:buFont typeface="Wingdings" panose="05000000000000000000" pitchFamily="2" charset="2"/>
              <a:buChar char="p"/>
              <a:defRPr/>
            </a:pP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虚拟电厂内部平衡后，以</a:t>
            </a:r>
            <a:r>
              <a:rPr kumimoji="0" lang="zh-CN" altLang="en-US" sz="16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整体形态参与</a:t>
            </a: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现货市场；</a:t>
            </a:r>
            <a:endPar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30000"/>
              </a:lnSpc>
              <a:spcBef>
                <a:spcPct val="0"/>
              </a:spcBef>
              <a:spcAft>
                <a:spcPct val="0"/>
              </a:spcAft>
              <a:buClrTx/>
              <a:buSzTx/>
              <a:buFont typeface="Wingdings" panose="05000000000000000000" pitchFamily="2" charset="2"/>
              <a:buChar char="p"/>
              <a:defRPr/>
            </a:pP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参与现货市场的虚拟电厂所聚合资源原则上应位于</a:t>
            </a:r>
            <a:r>
              <a:rPr kumimoji="0" lang="zh-CN" altLang="en-US" sz="16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同一市场出清节点</a:t>
            </a: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，电网条件和市场规则允许的情况下，</a:t>
            </a:r>
            <a:r>
              <a:rPr kumimoji="0" lang="zh-CN" altLang="en-US" sz="1600" b="0" i="0" u="sng"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也可跨节点聚合资源</a:t>
            </a: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。单一资源不能同时被两个及以上虚拟电厂聚合。</a:t>
            </a:r>
            <a:endPar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5" name="组合 4"/>
          <p:cNvGrpSpPr/>
          <p:nvPr/>
        </p:nvGrpSpPr>
        <p:grpSpPr>
          <a:xfrm>
            <a:off x="6212840" y="3300730"/>
            <a:ext cx="2254250" cy="2995930"/>
            <a:chOff x="5738" y="5334"/>
            <a:chExt cx="3550" cy="4718"/>
          </a:xfrm>
        </p:grpSpPr>
        <p:sp>
          <p:nvSpPr>
            <p:cNvPr id="8" name="矩形 7"/>
            <p:cNvSpPr/>
            <p:nvPr/>
          </p:nvSpPr>
          <p:spPr>
            <a:xfrm>
              <a:off x="6025" y="5937"/>
              <a:ext cx="3168" cy="4115"/>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8703" name="组合 33"/>
            <p:cNvGrpSpPr/>
            <p:nvPr/>
          </p:nvGrpSpPr>
          <p:grpSpPr>
            <a:xfrm>
              <a:off x="6285" y="6134"/>
              <a:ext cx="3003" cy="1002"/>
              <a:chOff x="3143946" y="277062"/>
              <a:chExt cx="1907642" cy="634978"/>
            </a:xfrm>
          </p:grpSpPr>
          <p:sp>
            <p:nvSpPr>
              <p:cNvPr id="25651" name="文本框 25650"/>
              <p:cNvSpPr txBox="1"/>
              <p:nvPr/>
            </p:nvSpPr>
            <p:spPr>
              <a:xfrm>
                <a:off x="3143946" y="277062"/>
                <a:ext cx="1327884" cy="252183"/>
              </a:xfrm>
              <a:prstGeom prst="rect">
                <a:avLst/>
              </a:prstGeom>
              <a:noFill/>
            </p:spPr>
            <p:txBody>
              <a:bodyPr>
                <a:spAutoFit/>
              </a:bodyPr>
              <a:lstStyle/>
              <a:p>
                <a:pPr marR="0" defTabSz="914400">
                  <a:buClrTx/>
                  <a:buSzTx/>
                  <a:buFontTx/>
                  <a:buNone/>
                  <a:defRPr/>
                </a:pPr>
                <a:r>
                  <a:rPr kumimoji="0" lang="zh-CN" altLang="en-US" sz="1050" b="1" kern="1200" cap="none" spc="0" normalizeH="0" baseline="0" noProof="0" dirty="0">
                    <a:latin typeface="Arial" panose="020B0604020202020204" pitchFamily="34" charset="0"/>
                    <a:ea typeface="宋体" panose="02010600030101010101" pitchFamily="2" charset="-122"/>
                    <a:cs typeface="+mn-cs"/>
                  </a:rPr>
                  <a:t>需求响应市场</a:t>
                </a:r>
                <a:endParaRPr kumimoji="0" lang="zh-CN" altLang="en-US" sz="1050" b="1" kern="1200" cap="none" spc="0" normalizeH="0" baseline="0" noProof="0" dirty="0">
                  <a:latin typeface="Arial" panose="020B0604020202020204" pitchFamily="34" charset="0"/>
                  <a:ea typeface="宋体" panose="02010600030101010101" pitchFamily="2" charset="-122"/>
                  <a:cs typeface="+mn-cs"/>
                </a:endParaRPr>
              </a:p>
            </p:txBody>
          </p:sp>
          <p:sp>
            <p:nvSpPr>
              <p:cNvPr id="28756" name="文本框 25651"/>
              <p:cNvSpPr txBox="1"/>
              <p:nvPr/>
            </p:nvSpPr>
            <p:spPr>
              <a:xfrm>
                <a:off x="3156623" y="452662"/>
                <a:ext cx="1894965" cy="45937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调减负荷，参与削峰响应；</a:t>
                </a:r>
                <a:endParaRPr lang="en-US" altLang="zh-CN" sz="800" dirty="0">
                  <a:latin typeface="Arial" panose="020B0604020202020204" pitchFamily="34" charset="0"/>
                </a:endParaRPr>
              </a:p>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调增负荷，进行填谷；</a:t>
                </a:r>
                <a:endParaRPr lang="zh-CN" altLang="en-US" sz="800" dirty="0">
                  <a:latin typeface="Arial" panose="020B0604020202020204" pitchFamily="34" charset="0"/>
                </a:endParaRPr>
              </a:p>
            </p:txBody>
          </p:sp>
        </p:grpSp>
        <p:grpSp>
          <p:nvGrpSpPr>
            <p:cNvPr id="28704" name="组合 34"/>
            <p:cNvGrpSpPr/>
            <p:nvPr/>
          </p:nvGrpSpPr>
          <p:grpSpPr>
            <a:xfrm>
              <a:off x="6343" y="9177"/>
              <a:ext cx="2557" cy="776"/>
              <a:chOff x="3127420" y="2800909"/>
              <a:chExt cx="2107523" cy="492113"/>
            </a:xfrm>
          </p:grpSpPr>
          <p:sp>
            <p:nvSpPr>
              <p:cNvPr id="25649" name="文本框 25648"/>
              <p:cNvSpPr txBox="1"/>
              <p:nvPr/>
            </p:nvSpPr>
            <p:spPr>
              <a:xfrm>
                <a:off x="3236607" y="2800909"/>
                <a:ext cx="1328791" cy="252533"/>
              </a:xfrm>
              <a:prstGeom prst="rect">
                <a:avLst/>
              </a:prstGeom>
              <a:noFill/>
            </p:spPr>
            <p:txBody>
              <a:bodyPr>
                <a:spAutoFit/>
              </a:bodyPr>
              <a:lstStyle/>
              <a:p>
                <a:pPr marR="0" defTabSz="914400">
                  <a:buClrTx/>
                  <a:buSzTx/>
                  <a:buFontTx/>
                  <a:buNone/>
                  <a:defRPr/>
                </a:pPr>
                <a:r>
                  <a:rPr kumimoji="0" lang="zh-CN" altLang="en-US" sz="1050" b="1" kern="1200" cap="none" spc="0" normalizeH="0" baseline="0" noProof="0" dirty="0">
                    <a:latin typeface="Arial" panose="020B0604020202020204" pitchFamily="34" charset="0"/>
                    <a:ea typeface="宋体" panose="02010600030101010101" pitchFamily="2" charset="-122"/>
                    <a:cs typeface="+mn-cs"/>
                  </a:rPr>
                  <a:t>辅助服务市场</a:t>
                </a:r>
                <a:endParaRPr kumimoji="0" lang="zh-CN" altLang="en-US" sz="1050" b="1" kern="1200" cap="none" spc="0" normalizeH="0" baseline="0" noProof="0" dirty="0">
                  <a:latin typeface="Arial" panose="020B0604020202020204" pitchFamily="34" charset="0"/>
                  <a:ea typeface="宋体" panose="02010600030101010101" pitchFamily="2" charset="-122"/>
                  <a:cs typeface="+mn-cs"/>
                </a:endParaRPr>
              </a:p>
            </p:txBody>
          </p:sp>
          <p:sp>
            <p:nvSpPr>
              <p:cNvPr id="28754" name="文本框 25649"/>
              <p:cNvSpPr txBox="1"/>
              <p:nvPr/>
            </p:nvSpPr>
            <p:spPr>
              <a:xfrm>
                <a:off x="3127420" y="3017647"/>
                <a:ext cx="2107523" cy="2753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以调峰为主，能力可拓展；</a:t>
                </a:r>
                <a:endParaRPr lang="zh-CN" altLang="en-US" sz="800" dirty="0">
                  <a:latin typeface="Arial" panose="020B0604020202020204" pitchFamily="34" charset="0"/>
                </a:endParaRPr>
              </a:p>
            </p:txBody>
          </p:sp>
        </p:grpSp>
        <p:grpSp>
          <p:nvGrpSpPr>
            <p:cNvPr id="28705" name="组合 35"/>
            <p:cNvGrpSpPr/>
            <p:nvPr/>
          </p:nvGrpSpPr>
          <p:grpSpPr>
            <a:xfrm>
              <a:off x="6295" y="7242"/>
              <a:ext cx="2605" cy="1949"/>
              <a:chOff x="3008078" y="1306082"/>
              <a:chExt cx="1708476" cy="1247429"/>
            </a:xfrm>
          </p:grpSpPr>
          <p:sp>
            <p:nvSpPr>
              <p:cNvPr id="25647" name="文本框 25646"/>
              <p:cNvSpPr txBox="1"/>
              <p:nvPr/>
            </p:nvSpPr>
            <p:spPr>
              <a:xfrm>
                <a:off x="3008078" y="1306082"/>
                <a:ext cx="1329726" cy="254772"/>
              </a:xfrm>
              <a:prstGeom prst="rect">
                <a:avLst/>
              </a:prstGeom>
              <a:noFill/>
            </p:spPr>
            <p:txBody>
              <a:bodyPr>
                <a:spAutoFit/>
              </a:bodyPr>
              <a:lstStyle/>
              <a:p>
                <a:pPr marR="0" defTabSz="914400">
                  <a:buClrTx/>
                  <a:buSzTx/>
                  <a:buFontTx/>
                  <a:buNone/>
                  <a:defRPr/>
                </a:pPr>
                <a:r>
                  <a:rPr kumimoji="0" lang="zh-CN" altLang="en-US" sz="1050" b="1" kern="1200" cap="none" spc="0" normalizeH="0" baseline="0" noProof="0" dirty="0">
                    <a:latin typeface="Arial" panose="020B0604020202020204" pitchFamily="34" charset="0"/>
                    <a:ea typeface="宋体" panose="02010600030101010101" pitchFamily="2" charset="-122"/>
                    <a:cs typeface="+mn-cs"/>
                  </a:rPr>
                  <a:t>电能量市场</a:t>
                </a:r>
                <a:endParaRPr kumimoji="0" lang="zh-CN" altLang="en-US" sz="1050" b="1" kern="1200" cap="none" spc="0" normalizeH="0" baseline="0" noProof="0" dirty="0">
                  <a:latin typeface="Arial" panose="020B0604020202020204" pitchFamily="34" charset="0"/>
                  <a:ea typeface="宋体" panose="02010600030101010101" pitchFamily="2" charset="-122"/>
                  <a:cs typeface="+mn-cs"/>
                </a:endParaRPr>
              </a:p>
            </p:txBody>
          </p:sp>
          <p:sp>
            <p:nvSpPr>
              <p:cNvPr id="28752" name="文本框 25647"/>
              <p:cNvSpPr txBox="1"/>
              <p:nvPr/>
            </p:nvSpPr>
            <p:spPr>
              <a:xfrm>
                <a:off x="3029769" y="1530583"/>
                <a:ext cx="1686785" cy="102292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利用储能资源，调增</a:t>
                </a:r>
                <a:r>
                  <a:rPr lang="en-US" altLang="zh-CN" sz="800" dirty="0">
                    <a:latin typeface="Arial" panose="020B0604020202020204" pitchFamily="34" charset="0"/>
                  </a:rPr>
                  <a:t>/</a:t>
                </a:r>
                <a:r>
                  <a:rPr lang="zh-CN" altLang="en-US" sz="800" dirty="0">
                    <a:latin typeface="Arial" panose="020B0604020202020204" pitchFamily="34" charset="0"/>
                  </a:rPr>
                  <a:t>调减可再生能源出力，平滑曲线；</a:t>
                </a:r>
                <a:endParaRPr lang="en-US" altLang="zh-CN" sz="800" dirty="0">
                  <a:latin typeface="Arial" panose="020B0604020202020204" pitchFamily="34" charset="0"/>
                </a:endParaRPr>
              </a:p>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调增</a:t>
                </a:r>
                <a:r>
                  <a:rPr lang="en-US" altLang="zh-CN" sz="800" dirty="0">
                    <a:latin typeface="Arial" panose="020B0604020202020204" pitchFamily="34" charset="0"/>
                  </a:rPr>
                  <a:t>/</a:t>
                </a:r>
                <a:r>
                  <a:rPr lang="zh-CN" altLang="en-US" sz="800" dirty="0">
                    <a:latin typeface="Arial" panose="020B0604020202020204" pitchFamily="34" charset="0"/>
                  </a:rPr>
                  <a:t>调减负荷，错峰用电，降低成本；</a:t>
                </a:r>
                <a:endParaRPr lang="en-US" altLang="zh-CN" sz="800" dirty="0">
                  <a:latin typeface="Arial" panose="020B0604020202020204" pitchFamily="34" charset="0"/>
                </a:endParaRPr>
              </a:p>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实时电价套利；</a:t>
                </a:r>
                <a:endParaRPr lang="zh-CN" altLang="en-US" sz="800" dirty="0">
                  <a:latin typeface="Arial" panose="020B0604020202020204" pitchFamily="34" charset="0"/>
                </a:endParaRPr>
              </a:p>
            </p:txBody>
          </p:sp>
        </p:grpSp>
        <p:grpSp>
          <p:nvGrpSpPr>
            <p:cNvPr id="28706" name="组合 36"/>
            <p:cNvGrpSpPr/>
            <p:nvPr/>
          </p:nvGrpSpPr>
          <p:grpSpPr>
            <a:xfrm>
              <a:off x="5738" y="6059"/>
              <a:ext cx="565" cy="555"/>
              <a:chOff x="2583204" y="707512"/>
              <a:chExt cx="380305" cy="369332"/>
            </a:xfrm>
          </p:grpSpPr>
          <p:sp>
            <p:nvSpPr>
              <p:cNvPr id="25645" name="流程图: 接点 25644"/>
              <p:cNvSpPr/>
              <p:nvPr/>
            </p:nvSpPr>
            <p:spPr>
              <a:xfrm>
                <a:off x="2583204" y="707512"/>
                <a:ext cx="380305" cy="369332"/>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pic>
            <p:nvPicPr>
              <p:cNvPr id="28750" name="图形 25645"/>
              <p:cNvPicPr>
                <a:picLocks noChangeAspect="1"/>
              </p:cNvPicPr>
              <p:nvPr/>
            </p:nvPicPr>
            <p:blipFill>
              <a:blip r:embed="rId1"/>
              <a:stretch>
                <a:fillRect/>
              </a:stretch>
            </p:blipFill>
            <p:spPr>
              <a:xfrm>
                <a:off x="2637052" y="755759"/>
                <a:ext cx="272608" cy="272840"/>
              </a:xfrm>
              <a:prstGeom prst="rect">
                <a:avLst/>
              </a:prstGeom>
              <a:noFill/>
              <a:ln w="9525">
                <a:noFill/>
              </a:ln>
            </p:spPr>
          </p:pic>
        </p:grpSp>
        <p:grpSp>
          <p:nvGrpSpPr>
            <p:cNvPr id="28707" name="组合 37"/>
            <p:cNvGrpSpPr/>
            <p:nvPr/>
          </p:nvGrpSpPr>
          <p:grpSpPr>
            <a:xfrm>
              <a:off x="5748" y="7174"/>
              <a:ext cx="525" cy="493"/>
              <a:chOff x="2263033" y="1675417"/>
              <a:chExt cx="380305" cy="369332"/>
            </a:xfrm>
          </p:grpSpPr>
          <p:sp>
            <p:nvSpPr>
              <p:cNvPr id="25643" name="流程图: 接点 25642"/>
              <p:cNvSpPr/>
              <p:nvPr/>
            </p:nvSpPr>
            <p:spPr>
              <a:xfrm>
                <a:off x="2263033" y="1675417"/>
                <a:ext cx="380305" cy="369332"/>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748" name="图形 25643"/>
              <p:cNvPicPr>
                <a:picLocks noChangeAspect="1"/>
              </p:cNvPicPr>
              <p:nvPr/>
            </p:nvPicPr>
            <p:blipFill>
              <a:blip r:embed="rId2"/>
              <a:stretch>
                <a:fillRect/>
              </a:stretch>
            </p:blipFill>
            <p:spPr>
              <a:xfrm>
                <a:off x="2290197" y="1690415"/>
                <a:ext cx="325976" cy="314963"/>
              </a:xfrm>
              <a:prstGeom prst="rect">
                <a:avLst/>
              </a:prstGeom>
              <a:noFill/>
              <a:ln w="9525">
                <a:noFill/>
              </a:ln>
            </p:spPr>
          </p:pic>
        </p:grpSp>
        <p:grpSp>
          <p:nvGrpSpPr>
            <p:cNvPr id="28708" name="组合 38"/>
            <p:cNvGrpSpPr/>
            <p:nvPr/>
          </p:nvGrpSpPr>
          <p:grpSpPr>
            <a:xfrm>
              <a:off x="5763" y="9142"/>
              <a:ext cx="520" cy="517"/>
              <a:chOff x="2177013" y="2182457"/>
              <a:chExt cx="380305" cy="369332"/>
            </a:xfrm>
          </p:grpSpPr>
          <p:sp>
            <p:nvSpPr>
              <p:cNvPr id="25641" name="流程图: 接点 25640"/>
              <p:cNvSpPr/>
              <p:nvPr/>
            </p:nvSpPr>
            <p:spPr>
              <a:xfrm>
                <a:off x="2177013" y="2182457"/>
                <a:ext cx="380305" cy="369332"/>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746" name="图形 25641"/>
              <p:cNvPicPr>
                <a:picLocks noChangeAspect="1"/>
              </p:cNvPicPr>
              <p:nvPr/>
            </p:nvPicPr>
            <p:blipFill>
              <a:blip r:embed="rId3"/>
              <a:stretch>
                <a:fillRect/>
              </a:stretch>
            </p:blipFill>
            <p:spPr>
              <a:xfrm>
                <a:off x="2211752" y="2196731"/>
                <a:ext cx="314483" cy="314022"/>
              </a:xfrm>
              <a:prstGeom prst="rect">
                <a:avLst/>
              </a:prstGeom>
              <a:noFill/>
              <a:ln w="9525">
                <a:noFill/>
              </a:ln>
            </p:spPr>
          </p:pic>
        </p:grpSp>
        <p:sp>
          <p:nvSpPr>
            <p:cNvPr id="25616" name="矩形: 圆角 25615"/>
            <p:cNvSpPr/>
            <p:nvPr/>
          </p:nvSpPr>
          <p:spPr>
            <a:xfrm>
              <a:off x="6025" y="5334"/>
              <a:ext cx="3168" cy="525"/>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accen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电力市场</a:t>
              </a:r>
              <a:endParaRPr kumimoji="0" lang="zh-CN" altLang="en-US" sz="12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grpSp>
      <p:grpSp>
        <p:nvGrpSpPr>
          <p:cNvPr id="3" name="组合 2"/>
          <p:cNvGrpSpPr/>
          <p:nvPr/>
        </p:nvGrpSpPr>
        <p:grpSpPr>
          <a:xfrm>
            <a:off x="740410" y="3323590"/>
            <a:ext cx="1955800" cy="2973705"/>
            <a:chOff x="1098" y="5369"/>
            <a:chExt cx="3080" cy="4683"/>
          </a:xfrm>
        </p:grpSpPr>
        <p:sp>
          <p:nvSpPr>
            <p:cNvPr id="26" name="矩形 25"/>
            <p:cNvSpPr/>
            <p:nvPr/>
          </p:nvSpPr>
          <p:spPr>
            <a:xfrm>
              <a:off x="1485" y="5937"/>
              <a:ext cx="2693" cy="4115"/>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pic>
          <p:nvPicPr>
            <p:cNvPr id="28697" name="图片 26"/>
            <p:cNvPicPr>
              <a:picLocks noChangeAspect="1"/>
            </p:cNvPicPr>
            <p:nvPr/>
          </p:nvPicPr>
          <p:blipFill>
            <a:blip r:embed="rId4"/>
            <a:srcRect l="22702" t="19479" r="64793" b="60123"/>
            <a:stretch>
              <a:fillRect/>
            </a:stretch>
          </p:blipFill>
          <p:spPr>
            <a:xfrm>
              <a:off x="1098" y="6079"/>
              <a:ext cx="707" cy="643"/>
            </a:xfrm>
            <a:prstGeom prst="rect">
              <a:avLst/>
            </a:prstGeom>
            <a:noFill/>
            <a:ln w="9525">
              <a:noFill/>
            </a:ln>
          </p:spPr>
        </p:pic>
        <p:grpSp>
          <p:nvGrpSpPr>
            <p:cNvPr id="28698" name="组合 27"/>
            <p:cNvGrpSpPr/>
            <p:nvPr/>
          </p:nvGrpSpPr>
          <p:grpSpPr>
            <a:xfrm>
              <a:off x="1643" y="6187"/>
              <a:ext cx="2432" cy="1068"/>
              <a:chOff x="1237215" y="141267"/>
              <a:chExt cx="2509944" cy="678395"/>
            </a:xfrm>
          </p:grpSpPr>
          <p:sp>
            <p:nvSpPr>
              <p:cNvPr id="25659" name="文本框 25658"/>
              <p:cNvSpPr txBox="1"/>
              <p:nvPr/>
            </p:nvSpPr>
            <p:spPr>
              <a:xfrm>
                <a:off x="1342978" y="141267"/>
                <a:ext cx="2290679" cy="252766"/>
              </a:xfrm>
              <a:prstGeom prst="rect">
                <a:avLst/>
              </a:prstGeom>
              <a:noFill/>
              <a:ln>
                <a:noFill/>
              </a:ln>
            </p:spPr>
            <p:txBody>
              <a:bodyPr>
                <a:spAutoFit/>
              </a:bodyPr>
              <a:lstStyle/>
              <a:p>
                <a:pPr marR="0" defTabSz="914400">
                  <a:buClrTx/>
                  <a:buSzTx/>
                  <a:buFontTx/>
                  <a:buNone/>
                  <a:defRPr/>
                </a:pPr>
                <a:r>
                  <a:rPr kumimoji="0" lang="zh-CN" altLang="en-US" sz="1050" b="1" kern="1200" cap="none" spc="0" normalizeH="0" baseline="0" noProof="0" dirty="0">
                    <a:latin typeface="Arial" panose="020B0604020202020204" pitchFamily="34" charset="0"/>
                    <a:ea typeface="宋体" panose="02010600030101010101" pitchFamily="2" charset="-122"/>
                    <a:cs typeface="+mn-cs"/>
                  </a:rPr>
                  <a:t>可调节负荷</a:t>
                </a:r>
                <a:endParaRPr kumimoji="0" lang="zh-CN" altLang="en-US" sz="1050" b="1" kern="1200" cap="none" spc="0" normalizeH="0" baseline="0" noProof="0" dirty="0">
                  <a:latin typeface="Arial" panose="020B0604020202020204" pitchFamily="34" charset="0"/>
                  <a:ea typeface="宋体" panose="02010600030101010101" pitchFamily="2" charset="-122"/>
                  <a:cs typeface="+mn-cs"/>
                </a:endParaRPr>
              </a:p>
            </p:txBody>
          </p:sp>
          <p:sp>
            <p:nvSpPr>
              <p:cNvPr id="28764" name="文本框 25659"/>
              <p:cNvSpPr txBox="1"/>
              <p:nvPr/>
            </p:nvSpPr>
            <p:spPr>
              <a:xfrm>
                <a:off x="1237215" y="359222"/>
                <a:ext cx="2509944" cy="46044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居民负荷、工商业负荷；</a:t>
                </a:r>
                <a:endParaRPr lang="en-US" altLang="zh-CN" sz="800" dirty="0">
                  <a:latin typeface="Arial" panose="020B0604020202020204" pitchFamily="34" charset="0"/>
                </a:endParaRPr>
              </a:p>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空调负荷、照明负荷</a:t>
                </a:r>
                <a:r>
                  <a:rPr lang="en-US" altLang="zh-CN" sz="800" dirty="0">
                    <a:latin typeface="Arial" panose="020B0604020202020204" pitchFamily="34" charset="0"/>
                  </a:rPr>
                  <a:t>…….</a:t>
                </a:r>
                <a:endParaRPr lang="zh-CN" altLang="en-US" sz="800" dirty="0">
                  <a:latin typeface="Arial" panose="020B0604020202020204" pitchFamily="34" charset="0"/>
                </a:endParaRPr>
              </a:p>
            </p:txBody>
          </p:sp>
        </p:grpSp>
        <p:grpSp>
          <p:nvGrpSpPr>
            <p:cNvPr id="28699" name="组合 28"/>
            <p:cNvGrpSpPr/>
            <p:nvPr/>
          </p:nvGrpSpPr>
          <p:grpSpPr>
            <a:xfrm>
              <a:off x="1643" y="8549"/>
              <a:ext cx="2525" cy="1360"/>
              <a:chOff x="1207736" y="2818179"/>
              <a:chExt cx="1860724" cy="863764"/>
            </a:xfrm>
          </p:grpSpPr>
          <p:sp>
            <p:nvSpPr>
              <p:cNvPr id="25657" name="文本框 25656"/>
              <p:cNvSpPr txBox="1"/>
              <p:nvPr/>
            </p:nvSpPr>
            <p:spPr>
              <a:xfrm>
                <a:off x="1248267" y="2818179"/>
                <a:ext cx="1820193" cy="252836"/>
              </a:xfrm>
              <a:prstGeom prst="rect">
                <a:avLst/>
              </a:prstGeom>
              <a:noFill/>
              <a:ln>
                <a:noFill/>
              </a:ln>
            </p:spPr>
            <p:txBody>
              <a:bodyPr>
                <a:spAutoFit/>
              </a:bodyPr>
              <a:lstStyle/>
              <a:p>
                <a:pPr marR="0" defTabSz="914400">
                  <a:buClrTx/>
                  <a:buSzTx/>
                  <a:buFontTx/>
                  <a:buNone/>
                  <a:defRPr/>
                </a:pPr>
                <a:r>
                  <a:rPr kumimoji="0" lang="zh-CN" altLang="en-US" sz="1050" b="1" kern="1200" cap="none" spc="0" normalizeH="0" baseline="0" noProof="0" dirty="0">
                    <a:latin typeface="Arial" panose="020B0604020202020204" pitchFamily="34" charset="0"/>
                    <a:ea typeface="宋体" panose="02010600030101010101" pitchFamily="2" charset="-122"/>
                    <a:cs typeface="+mn-cs"/>
                  </a:rPr>
                  <a:t>分布式电源</a:t>
                </a:r>
                <a:endParaRPr kumimoji="0" lang="zh-CN" altLang="en-US" sz="1050" b="1" kern="1200" cap="none" spc="0" normalizeH="0" baseline="0" noProof="0" dirty="0">
                  <a:latin typeface="Arial" panose="020B0604020202020204" pitchFamily="34" charset="0"/>
                  <a:ea typeface="宋体" panose="02010600030101010101" pitchFamily="2" charset="-122"/>
                  <a:cs typeface="+mn-cs"/>
                </a:endParaRPr>
              </a:p>
            </p:txBody>
          </p:sp>
          <p:sp>
            <p:nvSpPr>
              <p:cNvPr id="28762" name="文本框 25657"/>
              <p:cNvSpPr txBox="1"/>
              <p:nvPr/>
            </p:nvSpPr>
            <p:spPr>
              <a:xfrm>
                <a:off x="1207736" y="3036513"/>
                <a:ext cx="1860724" cy="64543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分布式光伏、风电（主要为户用光伏）；</a:t>
                </a:r>
                <a:endParaRPr lang="en-US" altLang="zh-CN" sz="800" dirty="0">
                  <a:latin typeface="Arial" panose="020B0604020202020204" pitchFamily="34" charset="0"/>
                </a:endParaRPr>
              </a:p>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光储一体化资源；</a:t>
                </a:r>
                <a:endParaRPr lang="zh-CN" altLang="en-US" sz="800" dirty="0">
                  <a:latin typeface="Arial" panose="020B0604020202020204" pitchFamily="34" charset="0"/>
                </a:endParaRPr>
              </a:p>
            </p:txBody>
          </p:sp>
        </p:grpSp>
        <p:grpSp>
          <p:nvGrpSpPr>
            <p:cNvPr id="28700" name="组合 30"/>
            <p:cNvGrpSpPr/>
            <p:nvPr/>
          </p:nvGrpSpPr>
          <p:grpSpPr>
            <a:xfrm>
              <a:off x="1618" y="7389"/>
              <a:ext cx="2410" cy="1102"/>
              <a:chOff x="1054512" y="1239234"/>
              <a:chExt cx="2029814" cy="700006"/>
            </a:xfrm>
          </p:grpSpPr>
          <p:sp>
            <p:nvSpPr>
              <p:cNvPr id="25655" name="文本框 25654"/>
              <p:cNvSpPr txBox="1"/>
              <p:nvPr/>
            </p:nvSpPr>
            <p:spPr>
              <a:xfrm>
                <a:off x="1191376" y="1239234"/>
                <a:ext cx="1328644" cy="252910"/>
              </a:xfrm>
              <a:prstGeom prst="rect">
                <a:avLst/>
              </a:prstGeom>
              <a:noFill/>
              <a:ln>
                <a:noFill/>
              </a:ln>
            </p:spPr>
            <p:txBody>
              <a:bodyPr>
                <a:spAutoFit/>
              </a:bodyPr>
              <a:lstStyle/>
              <a:p>
                <a:pPr marR="0" defTabSz="914400">
                  <a:buClrTx/>
                  <a:buSzTx/>
                  <a:buFontTx/>
                  <a:buNone/>
                  <a:defRPr/>
                </a:pPr>
                <a:r>
                  <a:rPr kumimoji="0" lang="zh-CN" altLang="en-US" sz="1050" b="1" kern="1200" cap="none" spc="0" normalizeH="0" baseline="0" noProof="0" dirty="0">
                    <a:latin typeface="Arial" panose="020B0604020202020204" pitchFamily="34" charset="0"/>
                    <a:ea typeface="宋体" panose="02010600030101010101" pitchFamily="2" charset="-122"/>
                    <a:cs typeface="+mn-cs"/>
                  </a:rPr>
                  <a:t>储能资源</a:t>
                </a:r>
                <a:endParaRPr kumimoji="0" lang="zh-CN" altLang="en-US" sz="1050" b="1" kern="1200" cap="none" spc="0" normalizeH="0" baseline="0" noProof="0" dirty="0">
                  <a:latin typeface="Arial" panose="020B0604020202020204" pitchFamily="34" charset="0"/>
                  <a:ea typeface="宋体" panose="02010600030101010101" pitchFamily="2" charset="-122"/>
                  <a:cs typeface="+mn-cs"/>
                </a:endParaRPr>
              </a:p>
            </p:txBody>
          </p:sp>
          <p:sp>
            <p:nvSpPr>
              <p:cNvPr id="28760" name="文本框 25655"/>
              <p:cNvSpPr txBox="1"/>
              <p:nvPr/>
            </p:nvSpPr>
            <p:spPr>
              <a:xfrm>
                <a:off x="1054512" y="1478536"/>
                <a:ext cx="2029814" cy="460704"/>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171450" lvl="0" indent="-171450">
                  <a:lnSpc>
                    <a:spcPct val="150000"/>
                  </a:lnSpc>
                  <a:spcBef>
                    <a:spcPct val="0"/>
                  </a:spcBef>
                  <a:buFont typeface="Wingdings" panose="05000000000000000000" pitchFamily="2" charset="2"/>
                  <a:buChar char="ü"/>
                </a:pPr>
                <a:r>
                  <a:rPr lang="zh-CN" altLang="en-US" sz="800" dirty="0">
                    <a:latin typeface="Arial" panose="020B0604020202020204" pitchFamily="34" charset="0"/>
                  </a:rPr>
                  <a:t>家用电化学储能；</a:t>
                </a:r>
                <a:endParaRPr lang="en-US" altLang="zh-CN" sz="800" dirty="0">
                  <a:latin typeface="Arial" panose="020B0604020202020204" pitchFamily="34" charset="0"/>
                </a:endParaRPr>
              </a:p>
              <a:p>
                <a:pPr marL="171450" lvl="0" indent="-171450">
                  <a:lnSpc>
                    <a:spcPct val="150000"/>
                  </a:lnSpc>
                  <a:spcBef>
                    <a:spcPct val="0"/>
                  </a:spcBef>
                  <a:buFont typeface="Wingdings" panose="05000000000000000000" pitchFamily="2" charset="2"/>
                  <a:buChar char="ü"/>
                </a:pPr>
                <a:r>
                  <a:rPr lang="en-US" altLang="zh-CN" sz="800" dirty="0">
                    <a:latin typeface="Arial" panose="020B0604020202020204" pitchFamily="34" charset="0"/>
                  </a:rPr>
                  <a:t>5G</a:t>
                </a:r>
                <a:r>
                  <a:rPr lang="zh-CN" altLang="en-US" sz="800" dirty="0">
                    <a:latin typeface="Arial" panose="020B0604020202020204" pitchFamily="34" charset="0"/>
                  </a:rPr>
                  <a:t>基站储能</a:t>
                </a:r>
                <a:r>
                  <a:rPr lang="en-US" altLang="zh-CN" sz="800" dirty="0">
                    <a:latin typeface="Arial" panose="020B0604020202020204" pitchFamily="34" charset="0"/>
                  </a:rPr>
                  <a:t>……</a:t>
                </a:r>
                <a:endParaRPr lang="en-US" altLang="zh-CN" sz="800" dirty="0">
                  <a:latin typeface="Arial" panose="020B0604020202020204" pitchFamily="34" charset="0"/>
                </a:endParaRPr>
              </a:p>
            </p:txBody>
          </p:sp>
        </p:grpSp>
        <p:grpSp>
          <p:nvGrpSpPr>
            <p:cNvPr id="28701" name="组合 31"/>
            <p:cNvGrpSpPr/>
            <p:nvPr/>
          </p:nvGrpSpPr>
          <p:grpSpPr>
            <a:xfrm>
              <a:off x="1163" y="8627"/>
              <a:ext cx="600" cy="582"/>
              <a:chOff x="320492" y="2998062"/>
              <a:chExt cx="320968" cy="320748"/>
            </a:xfrm>
          </p:grpSpPr>
          <p:sp>
            <p:nvSpPr>
              <p:cNvPr id="25653" name="流程图: 接点 25652"/>
              <p:cNvSpPr/>
              <p:nvPr/>
            </p:nvSpPr>
            <p:spPr>
              <a:xfrm>
                <a:off x="320492" y="2998062"/>
                <a:ext cx="320968" cy="320748"/>
              </a:xfrm>
              <a:prstGeom prst="flowChartConnector">
                <a:avLst/>
              </a:prstGeom>
              <a:solidFill>
                <a:srgbClr val="70AA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758" name="图形 25653"/>
              <p:cNvPicPr>
                <a:picLocks noChangeAspect="1"/>
              </p:cNvPicPr>
              <p:nvPr/>
            </p:nvPicPr>
            <p:blipFill>
              <a:blip r:embed="rId5"/>
              <a:stretch>
                <a:fillRect/>
              </a:stretch>
            </p:blipFill>
            <p:spPr>
              <a:xfrm>
                <a:off x="341890" y="3071022"/>
                <a:ext cx="254100" cy="191348"/>
              </a:xfrm>
              <a:prstGeom prst="rect">
                <a:avLst/>
              </a:prstGeom>
              <a:noFill/>
              <a:ln w="9525">
                <a:noFill/>
              </a:ln>
            </p:spPr>
          </p:pic>
        </p:grpSp>
        <p:pic>
          <p:nvPicPr>
            <p:cNvPr id="28702" name="图片 32"/>
            <p:cNvPicPr>
              <a:picLocks noChangeAspect="1"/>
            </p:cNvPicPr>
            <p:nvPr/>
          </p:nvPicPr>
          <p:blipFill>
            <a:blip r:embed="rId4"/>
            <a:srcRect l="43091" t="1875" r="45032" b="76768"/>
            <a:stretch>
              <a:fillRect/>
            </a:stretch>
          </p:blipFill>
          <p:spPr>
            <a:xfrm>
              <a:off x="1108" y="7432"/>
              <a:ext cx="597" cy="600"/>
            </a:xfrm>
            <a:prstGeom prst="rect">
              <a:avLst/>
            </a:prstGeom>
            <a:noFill/>
            <a:ln w="9525">
              <a:noFill/>
            </a:ln>
          </p:spPr>
        </p:pic>
        <p:sp>
          <p:nvSpPr>
            <p:cNvPr id="25617" name="矩形: 圆角 25616"/>
            <p:cNvSpPr/>
            <p:nvPr/>
          </p:nvSpPr>
          <p:spPr>
            <a:xfrm>
              <a:off x="1458" y="5369"/>
              <a:ext cx="2720" cy="528"/>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accen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虚拟电厂</a:t>
              </a:r>
              <a:r>
                <a:rPr kumimoji="0" lang="zh-CN" altLang="en-US" sz="12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整合资源</a:t>
              </a:r>
              <a:endParaRPr kumimoji="0" lang="zh-CN" altLang="en-US" sz="12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grpSp>
      <p:grpSp>
        <p:nvGrpSpPr>
          <p:cNvPr id="2" name="组合 1"/>
          <p:cNvGrpSpPr/>
          <p:nvPr/>
        </p:nvGrpSpPr>
        <p:grpSpPr>
          <a:xfrm>
            <a:off x="3618230" y="3300730"/>
            <a:ext cx="1647825" cy="2995930"/>
            <a:chOff x="10615" y="5334"/>
            <a:chExt cx="2595" cy="4718"/>
          </a:xfrm>
        </p:grpSpPr>
        <p:sp>
          <p:nvSpPr>
            <p:cNvPr id="6" name="矩形 5"/>
            <p:cNvSpPr/>
            <p:nvPr/>
          </p:nvSpPr>
          <p:spPr>
            <a:xfrm>
              <a:off x="10615" y="5937"/>
              <a:ext cx="2570" cy="4115"/>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683" name="图形 12"/>
            <p:cNvPicPr>
              <a:picLocks noChangeAspect="1"/>
            </p:cNvPicPr>
            <p:nvPr/>
          </p:nvPicPr>
          <p:blipFill>
            <a:blip r:embed="rId6"/>
            <a:stretch>
              <a:fillRect/>
            </a:stretch>
          </p:blipFill>
          <p:spPr>
            <a:xfrm>
              <a:off x="12250" y="8979"/>
              <a:ext cx="605" cy="608"/>
            </a:xfrm>
            <a:prstGeom prst="rect">
              <a:avLst/>
            </a:prstGeom>
            <a:noFill/>
            <a:ln w="9525">
              <a:noFill/>
            </a:ln>
          </p:spPr>
        </p:pic>
        <p:sp>
          <p:nvSpPr>
            <p:cNvPr id="28684" name="文本框 13"/>
            <p:cNvSpPr txBox="1"/>
            <p:nvPr/>
          </p:nvSpPr>
          <p:spPr>
            <a:xfrm>
              <a:off x="12085" y="6859"/>
              <a:ext cx="938" cy="386"/>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1000" b="1" dirty="0">
                  <a:latin typeface="Arial" panose="020B0604020202020204" pitchFamily="34" charset="0"/>
                </a:rPr>
                <a:t>负荷型</a:t>
              </a:r>
              <a:endParaRPr lang="zh-CN" altLang="en-US" sz="1000" b="1" dirty="0">
                <a:latin typeface="Arial" panose="020B0604020202020204" pitchFamily="34" charset="0"/>
              </a:endParaRPr>
            </a:p>
          </p:txBody>
        </p:sp>
        <p:pic>
          <p:nvPicPr>
            <p:cNvPr id="28685" name="图片 14"/>
            <p:cNvPicPr>
              <a:picLocks noChangeAspect="1"/>
            </p:cNvPicPr>
            <p:nvPr/>
          </p:nvPicPr>
          <p:blipFill>
            <a:blip r:embed="rId4"/>
            <a:srcRect l="39035" t="32573" r="39771" b="30875"/>
            <a:stretch>
              <a:fillRect/>
            </a:stretch>
          </p:blipFill>
          <p:spPr>
            <a:xfrm>
              <a:off x="12223" y="6247"/>
              <a:ext cx="635" cy="607"/>
            </a:xfrm>
            <a:prstGeom prst="rect">
              <a:avLst/>
            </a:prstGeom>
            <a:noFill/>
            <a:ln w="9525">
              <a:noFill/>
            </a:ln>
          </p:spPr>
        </p:pic>
        <p:pic>
          <p:nvPicPr>
            <p:cNvPr id="28686" name="图形 15"/>
            <p:cNvPicPr>
              <a:picLocks noChangeAspect="1"/>
            </p:cNvPicPr>
            <p:nvPr/>
          </p:nvPicPr>
          <p:blipFill>
            <a:blip r:embed="rId7"/>
            <a:stretch>
              <a:fillRect/>
            </a:stretch>
          </p:blipFill>
          <p:spPr>
            <a:xfrm>
              <a:off x="11393" y="6269"/>
              <a:ext cx="227" cy="228"/>
            </a:xfrm>
            <a:prstGeom prst="rect">
              <a:avLst/>
            </a:prstGeom>
            <a:noFill/>
            <a:ln w="9525">
              <a:noFill/>
            </a:ln>
          </p:spPr>
        </p:pic>
        <p:sp>
          <p:nvSpPr>
            <p:cNvPr id="17" name="矩形 16"/>
            <p:cNvSpPr/>
            <p:nvPr/>
          </p:nvSpPr>
          <p:spPr>
            <a:xfrm>
              <a:off x="11173" y="6277"/>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688" name="图形 17"/>
            <p:cNvPicPr>
              <a:picLocks noChangeAspect="1"/>
            </p:cNvPicPr>
            <p:nvPr/>
          </p:nvPicPr>
          <p:blipFill>
            <a:blip r:embed="rId7"/>
            <a:stretch>
              <a:fillRect/>
            </a:stretch>
          </p:blipFill>
          <p:spPr>
            <a:xfrm>
              <a:off x="11393" y="6569"/>
              <a:ext cx="227" cy="230"/>
            </a:xfrm>
            <a:prstGeom prst="rect">
              <a:avLst/>
            </a:prstGeom>
            <a:noFill/>
            <a:ln w="9525">
              <a:noFill/>
            </a:ln>
          </p:spPr>
        </p:pic>
        <p:sp>
          <p:nvSpPr>
            <p:cNvPr id="19" name="矩形 18"/>
            <p:cNvSpPr/>
            <p:nvPr/>
          </p:nvSpPr>
          <p:spPr>
            <a:xfrm>
              <a:off x="11173" y="6579"/>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690" name="图形 19"/>
            <p:cNvPicPr>
              <a:picLocks noChangeAspect="1"/>
            </p:cNvPicPr>
            <p:nvPr/>
          </p:nvPicPr>
          <p:blipFill>
            <a:blip r:embed="rId7"/>
            <a:stretch>
              <a:fillRect/>
            </a:stretch>
          </p:blipFill>
          <p:spPr>
            <a:xfrm>
              <a:off x="11388" y="6944"/>
              <a:ext cx="230" cy="228"/>
            </a:xfrm>
            <a:prstGeom prst="rect">
              <a:avLst/>
            </a:prstGeom>
            <a:noFill/>
            <a:ln w="9525">
              <a:noFill/>
            </a:ln>
          </p:spPr>
        </p:pic>
        <p:sp>
          <p:nvSpPr>
            <p:cNvPr id="21" name="矩形 20"/>
            <p:cNvSpPr/>
            <p:nvPr/>
          </p:nvSpPr>
          <p:spPr>
            <a:xfrm>
              <a:off x="11170" y="6952"/>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文本框 21"/>
            <p:cNvSpPr txBox="1"/>
            <p:nvPr/>
          </p:nvSpPr>
          <p:spPr>
            <a:xfrm>
              <a:off x="11573" y="6714"/>
              <a:ext cx="542" cy="135"/>
            </a:xfrm>
            <a:prstGeom prst="rect">
              <a:avLst/>
            </a:prstGeom>
            <a:noFill/>
          </p:spPr>
          <p:txBody>
            <a:bodyPr vert="eaVert">
              <a:spAutoFit/>
            </a:bodyPr>
            <a:lstStyle/>
            <a:p>
              <a:pPr marR="0" defTabSz="914400">
                <a:buClrTx/>
                <a:buSzTx/>
                <a:buFontTx/>
                <a:buNone/>
                <a:defRPr/>
              </a:pPr>
              <a:r>
                <a:rPr kumimoji="0" lang="en-US" altLang="zh-CN" sz="1050" kern="1200" cap="none" spc="0" normalizeH="0" baseline="0" noProof="0" dirty="0">
                  <a:latin typeface="Arial" panose="020B0604020202020204" pitchFamily="34" charset="0"/>
                  <a:ea typeface="宋体" panose="02010600030101010101" pitchFamily="2" charset="-122"/>
                  <a:cs typeface="+mn-cs"/>
                </a:rPr>
                <a:t>…</a:t>
              </a:r>
              <a:endParaRPr kumimoji="0" lang="zh-CN" altLang="en-US" sz="1050" kern="1200" cap="none" spc="0" normalizeH="0" baseline="0" noProof="0" dirty="0">
                <a:latin typeface="Arial" panose="020B0604020202020204" pitchFamily="34" charset="0"/>
                <a:ea typeface="宋体" panose="02010600030101010101" pitchFamily="2" charset="-122"/>
                <a:cs typeface="+mn-cs"/>
              </a:endParaRPr>
            </a:p>
          </p:txBody>
        </p:sp>
        <p:sp>
          <p:nvSpPr>
            <p:cNvPr id="28693" name="文本框 22"/>
            <p:cNvSpPr txBox="1"/>
            <p:nvPr/>
          </p:nvSpPr>
          <p:spPr>
            <a:xfrm>
              <a:off x="11535" y="6192"/>
              <a:ext cx="983"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用户</a:t>
              </a:r>
              <a:r>
                <a:rPr lang="en-US" altLang="zh-CN" sz="800" dirty="0">
                  <a:latin typeface="Arial" panose="020B0604020202020204" pitchFamily="34" charset="0"/>
                </a:rPr>
                <a:t>1</a:t>
              </a:r>
              <a:endParaRPr lang="zh-CN" altLang="en-US" sz="800" dirty="0">
                <a:latin typeface="Arial" panose="020B0604020202020204" pitchFamily="34" charset="0"/>
              </a:endParaRPr>
            </a:p>
          </p:txBody>
        </p:sp>
        <p:sp>
          <p:nvSpPr>
            <p:cNvPr id="28694" name="文本框 23"/>
            <p:cNvSpPr txBox="1"/>
            <p:nvPr/>
          </p:nvSpPr>
          <p:spPr>
            <a:xfrm>
              <a:off x="11565" y="6879"/>
              <a:ext cx="985"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用户</a:t>
              </a:r>
              <a:r>
                <a:rPr lang="en-US" altLang="zh-CN" sz="800" dirty="0">
                  <a:latin typeface="Arial" panose="020B0604020202020204" pitchFamily="34" charset="0"/>
                </a:rPr>
                <a:t>N</a:t>
              </a:r>
              <a:endParaRPr lang="zh-CN" altLang="en-US" sz="800" dirty="0">
                <a:latin typeface="Arial" panose="020B0604020202020204" pitchFamily="34" charset="0"/>
              </a:endParaRPr>
            </a:p>
          </p:txBody>
        </p:sp>
        <p:sp>
          <p:nvSpPr>
            <p:cNvPr id="28695" name="文本框 24"/>
            <p:cNvSpPr txBox="1"/>
            <p:nvPr/>
          </p:nvSpPr>
          <p:spPr>
            <a:xfrm>
              <a:off x="11535" y="6504"/>
              <a:ext cx="738"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用户</a:t>
              </a:r>
              <a:r>
                <a:rPr lang="en-US" altLang="zh-CN" sz="800" dirty="0">
                  <a:latin typeface="Arial" panose="020B0604020202020204" pitchFamily="34" charset="0"/>
                </a:rPr>
                <a:t>2</a:t>
              </a:r>
              <a:endParaRPr lang="zh-CN" altLang="en-US" sz="800" dirty="0">
                <a:latin typeface="Arial" panose="020B0604020202020204" pitchFamily="34" charset="0"/>
              </a:endParaRPr>
            </a:p>
          </p:txBody>
        </p:sp>
        <p:sp>
          <p:nvSpPr>
            <p:cNvPr id="42" name="矩形: 圆角 41"/>
            <p:cNvSpPr/>
            <p:nvPr/>
          </p:nvSpPr>
          <p:spPr>
            <a:xfrm>
              <a:off x="10953" y="6117"/>
              <a:ext cx="2070" cy="1200"/>
            </a:xfrm>
            <a:prstGeom prst="round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710" name="文本框 42"/>
            <p:cNvSpPr txBox="1"/>
            <p:nvPr/>
          </p:nvSpPr>
          <p:spPr>
            <a:xfrm>
              <a:off x="12085" y="8199"/>
              <a:ext cx="938" cy="386"/>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1000" b="1" dirty="0">
                  <a:latin typeface="Arial" panose="020B0604020202020204" pitchFamily="34" charset="0"/>
                </a:rPr>
                <a:t>综合型</a:t>
              </a:r>
              <a:endParaRPr lang="zh-CN" altLang="en-US" sz="1000" b="1" dirty="0">
                <a:latin typeface="Arial" panose="020B0604020202020204" pitchFamily="34" charset="0"/>
              </a:endParaRPr>
            </a:p>
          </p:txBody>
        </p:sp>
        <p:pic>
          <p:nvPicPr>
            <p:cNvPr id="28711" name="图形 43"/>
            <p:cNvPicPr>
              <a:picLocks noChangeAspect="1"/>
            </p:cNvPicPr>
            <p:nvPr/>
          </p:nvPicPr>
          <p:blipFill>
            <a:blip r:embed="rId7"/>
            <a:stretch>
              <a:fillRect/>
            </a:stretch>
          </p:blipFill>
          <p:spPr>
            <a:xfrm>
              <a:off x="11393" y="7609"/>
              <a:ext cx="227" cy="228"/>
            </a:xfrm>
            <a:prstGeom prst="rect">
              <a:avLst/>
            </a:prstGeom>
            <a:noFill/>
            <a:ln w="9525">
              <a:noFill/>
            </a:ln>
          </p:spPr>
        </p:pic>
        <p:sp>
          <p:nvSpPr>
            <p:cNvPr id="45" name="矩形 44"/>
            <p:cNvSpPr/>
            <p:nvPr/>
          </p:nvSpPr>
          <p:spPr>
            <a:xfrm>
              <a:off x="11173" y="7619"/>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713" name="图形 45"/>
            <p:cNvPicPr>
              <a:picLocks noChangeAspect="1"/>
            </p:cNvPicPr>
            <p:nvPr/>
          </p:nvPicPr>
          <p:blipFill>
            <a:blip r:embed="rId7"/>
            <a:stretch>
              <a:fillRect/>
            </a:stretch>
          </p:blipFill>
          <p:spPr>
            <a:xfrm>
              <a:off x="11393" y="7912"/>
              <a:ext cx="227" cy="227"/>
            </a:xfrm>
            <a:prstGeom prst="rect">
              <a:avLst/>
            </a:prstGeom>
            <a:noFill/>
            <a:ln w="9525">
              <a:noFill/>
            </a:ln>
          </p:spPr>
        </p:pic>
        <p:sp>
          <p:nvSpPr>
            <p:cNvPr id="47" name="矩形 46"/>
            <p:cNvSpPr/>
            <p:nvPr/>
          </p:nvSpPr>
          <p:spPr>
            <a:xfrm>
              <a:off x="11173" y="7919"/>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715" name="图形 47"/>
            <p:cNvPicPr>
              <a:picLocks noChangeAspect="1"/>
            </p:cNvPicPr>
            <p:nvPr/>
          </p:nvPicPr>
          <p:blipFill>
            <a:blip r:embed="rId7"/>
            <a:stretch>
              <a:fillRect/>
            </a:stretch>
          </p:blipFill>
          <p:spPr>
            <a:xfrm>
              <a:off x="11388" y="8284"/>
              <a:ext cx="230" cy="230"/>
            </a:xfrm>
            <a:prstGeom prst="rect">
              <a:avLst/>
            </a:prstGeom>
            <a:noFill/>
            <a:ln w="9525">
              <a:noFill/>
            </a:ln>
          </p:spPr>
        </p:pic>
        <p:sp>
          <p:nvSpPr>
            <p:cNvPr id="49" name="矩形 48"/>
            <p:cNvSpPr/>
            <p:nvPr/>
          </p:nvSpPr>
          <p:spPr>
            <a:xfrm>
              <a:off x="11170" y="8294"/>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0" name="文本框 49"/>
            <p:cNvSpPr txBox="1"/>
            <p:nvPr/>
          </p:nvSpPr>
          <p:spPr>
            <a:xfrm>
              <a:off x="11573" y="8054"/>
              <a:ext cx="542" cy="135"/>
            </a:xfrm>
            <a:prstGeom prst="rect">
              <a:avLst/>
            </a:prstGeom>
            <a:noFill/>
          </p:spPr>
          <p:txBody>
            <a:bodyPr vert="eaVert">
              <a:spAutoFit/>
            </a:bodyPr>
            <a:lstStyle/>
            <a:p>
              <a:pPr marR="0" defTabSz="914400">
                <a:buClrTx/>
                <a:buSzTx/>
                <a:buFontTx/>
                <a:buNone/>
                <a:defRPr/>
              </a:pPr>
              <a:r>
                <a:rPr kumimoji="0" lang="en-US" altLang="zh-CN" sz="1050" kern="1200" cap="none" spc="0" normalizeH="0" baseline="0" noProof="0" dirty="0">
                  <a:latin typeface="Arial" panose="020B0604020202020204" pitchFamily="34" charset="0"/>
                  <a:ea typeface="宋体" panose="02010600030101010101" pitchFamily="2" charset="-122"/>
                  <a:cs typeface="+mn-cs"/>
                </a:rPr>
                <a:t>…</a:t>
              </a:r>
              <a:endParaRPr kumimoji="0" lang="zh-CN" altLang="en-US" sz="1050" kern="1200" cap="none" spc="0" normalizeH="0" baseline="0" noProof="0" dirty="0">
                <a:latin typeface="Arial" panose="020B0604020202020204" pitchFamily="34" charset="0"/>
                <a:ea typeface="宋体" panose="02010600030101010101" pitchFamily="2" charset="-122"/>
                <a:cs typeface="+mn-cs"/>
              </a:endParaRPr>
            </a:p>
          </p:txBody>
        </p:sp>
        <p:sp>
          <p:nvSpPr>
            <p:cNvPr id="28718" name="文本框 50"/>
            <p:cNvSpPr txBox="1"/>
            <p:nvPr/>
          </p:nvSpPr>
          <p:spPr>
            <a:xfrm>
              <a:off x="11535" y="7534"/>
              <a:ext cx="983"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用户</a:t>
              </a:r>
              <a:r>
                <a:rPr lang="en-US" altLang="zh-CN" sz="800" dirty="0">
                  <a:latin typeface="Arial" panose="020B0604020202020204" pitchFamily="34" charset="0"/>
                </a:rPr>
                <a:t>1</a:t>
              </a:r>
              <a:endParaRPr lang="zh-CN" altLang="en-US" sz="800" dirty="0">
                <a:latin typeface="Arial" panose="020B0604020202020204" pitchFamily="34" charset="0"/>
              </a:endParaRPr>
            </a:p>
          </p:txBody>
        </p:sp>
        <p:sp>
          <p:nvSpPr>
            <p:cNvPr id="28719" name="文本框 51"/>
            <p:cNvSpPr txBox="1"/>
            <p:nvPr/>
          </p:nvSpPr>
          <p:spPr>
            <a:xfrm>
              <a:off x="11565" y="8219"/>
              <a:ext cx="985"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光伏</a:t>
              </a:r>
              <a:r>
                <a:rPr lang="en-US" altLang="zh-CN" sz="800" dirty="0">
                  <a:latin typeface="Arial" panose="020B0604020202020204" pitchFamily="34" charset="0"/>
                </a:rPr>
                <a:t>N</a:t>
              </a:r>
              <a:endParaRPr lang="zh-CN" altLang="en-US" sz="800" dirty="0">
                <a:latin typeface="Arial" panose="020B0604020202020204" pitchFamily="34" charset="0"/>
              </a:endParaRPr>
            </a:p>
          </p:txBody>
        </p:sp>
        <p:sp>
          <p:nvSpPr>
            <p:cNvPr id="28720" name="文本框 52"/>
            <p:cNvSpPr txBox="1"/>
            <p:nvPr/>
          </p:nvSpPr>
          <p:spPr>
            <a:xfrm>
              <a:off x="11535" y="7849"/>
              <a:ext cx="738"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电源</a:t>
              </a:r>
              <a:r>
                <a:rPr lang="en-US" altLang="zh-CN" sz="800" dirty="0">
                  <a:latin typeface="Arial" panose="020B0604020202020204" pitchFamily="34" charset="0"/>
                </a:rPr>
                <a:t>1</a:t>
              </a:r>
              <a:endParaRPr lang="zh-CN" altLang="en-US" sz="800" dirty="0">
                <a:latin typeface="Arial" panose="020B0604020202020204" pitchFamily="34" charset="0"/>
              </a:endParaRPr>
            </a:p>
          </p:txBody>
        </p:sp>
        <p:sp>
          <p:nvSpPr>
            <p:cNvPr id="54" name="矩形: 圆角 53"/>
            <p:cNvSpPr/>
            <p:nvPr/>
          </p:nvSpPr>
          <p:spPr>
            <a:xfrm>
              <a:off x="10953" y="7459"/>
              <a:ext cx="2070" cy="1200"/>
            </a:xfrm>
            <a:prstGeom prst="round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722" name="图形 54"/>
            <p:cNvPicPr>
              <a:picLocks noChangeAspect="1"/>
            </p:cNvPicPr>
            <p:nvPr/>
          </p:nvPicPr>
          <p:blipFill>
            <a:blip r:embed="rId8"/>
            <a:stretch>
              <a:fillRect/>
            </a:stretch>
          </p:blipFill>
          <p:spPr>
            <a:xfrm>
              <a:off x="12253" y="7602"/>
              <a:ext cx="617" cy="610"/>
            </a:xfrm>
            <a:prstGeom prst="rect">
              <a:avLst/>
            </a:prstGeom>
            <a:noFill/>
            <a:ln w="9525">
              <a:noFill/>
            </a:ln>
          </p:spPr>
        </p:pic>
        <p:sp>
          <p:nvSpPr>
            <p:cNvPr id="28723" name="文本框 61"/>
            <p:cNvSpPr txBox="1"/>
            <p:nvPr/>
          </p:nvSpPr>
          <p:spPr>
            <a:xfrm>
              <a:off x="12085" y="9529"/>
              <a:ext cx="938" cy="386"/>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1000" b="1" dirty="0">
                  <a:latin typeface="Arial" panose="020B0604020202020204" pitchFamily="34" charset="0"/>
                </a:rPr>
                <a:t>发电型</a:t>
              </a:r>
              <a:endParaRPr lang="zh-CN" altLang="en-US" sz="1000" b="1" dirty="0">
                <a:latin typeface="Arial" panose="020B0604020202020204" pitchFamily="34" charset="0"/>
              </a:endParaRPr>
            </a:p>
          </p:txBody>
        </p:sp>
        <p:pic>
          <p:nvPicPr>
            <p:cNvPr id="28724" name="图形 62"/>
            <p:cNvPicPr>
              <a:picLocks noChangeAspect="1"/>
            </p:cNvPicPr>
            <p:nvPr/>
          </p:nvPicPr>
          <p:blipFill>
            <a:blip r:embed="rId7"/>
            <a:stretch>
              <a:fillRect/>
            </a:stretch>
          </p:blipFill>
          <p:spPr>
            <a:xfrm>
              <a:off x="11393" y="8939"/>
              <a:ext cx="227" cy="228"/>
            </a:xfrm>
            <a:prstGeom prst="rect">
              <a:avLst/>
            </a:prstGeom>
            <a:noFill/>
            <a:ln w="9525">
              <a:noFill/>
            </a:ln>
          </p:spPr>
        </p:pic>
        <p:sp>
          <p:nvSpPr>
            <p:cNvPr id="25600" name="矩形 25599"/>
            <p:cNvSpPr/>
            <p:nvPr/>
          </p:nvSpPr>
          <p:spPr>
            <a:xfrm>
              <a:off x="11173" y="8949"/>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726" name="图形 25600"/>
            <p:cNvPicPr>
              <a:picLocks noChangeAspect="1"/>
            </p:cNvPicPr>
            <p:nvPr/>
          </p:nvPicPr>
          <p:blipFill>
            <a:blip r:embed="rId7"/>
            <a:stretch>
              <a:fillRect/>
            </a:stretch>
          </p:blipFill>
          <p:spPr>
            <a:xfrm>
              <a:off x="11393" y="9242"/>
              <a:ext cx="227" cy="227"/>
            </a:xfrm>
            <a:prstGeom prst="rect">
              <a:avLst/>
            </a:prstGeom>
            <a:noFill/>
            <a:ln w="9525">
              <a:noFill/>
            </a:ln>
          </p:spPr>
        </p:pic>
        <p:sp>
          <p:nvSpPr>
            <p:cNvPr id="25608" name="矩形 25607"/>
            <p:cNvSpPr/>
            <p:nvPr/>
          </p:nvSpPr>
          <p:spPr>
            <a:xfrm>
              <a:off x="11173" y="9249"/>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8728" name="图形 25608"/>
            <p:cNvPicPr>
              <a:picLocks noChangeAspect="1"/>
            </p:cNvPicPr>
            <p:nvPr/>
          </p:nvPicPr>
          <p:blipFill>
            <a:blip r:embed="rId7"/>
            <a:stretch>
              <a:fillRect/>
            </a:stretch>
          </p:blipFill>
          <p:spPr>
            <a:xfrm>
              <a:off x="11388" y="9614"/>
              <a:ext cx="230" cy="228"/>
            </a:xfrm>
            <a:prstGeom prst="rect">
              <a:avLst/>
            </a:prstGeom>
            <a:noFill/>
            <a:ln w="9525">
              <a:noFill/>
            </a:ln>
          </p:spPr>
        </p:pic>
        <p:sp>
          <p:nvSpPr>
            <p:cNvPr id="25610" name="矩形 25609"/>
            <p:cNvSpPr/>
            <p:nvPr/>
          </p:nvSpPr>
          <p:spPr>
            <a:xfrm>
              <a:off x="11170" y="9624"/>
              <a:ext cx="173" cy="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611" name="文本框 25610"/>
            <p:cNvSpPr txBox="1"/>
            <p:nvPr/>
          </p:nvSpPr>
          <p:spPr>
            <a:xfrm>
              <a:off x="11573" y="9384"/>
              <a:ext cx="542" cy="135"/>
            </a:xfrm>
            <a:prstGeom prst="rect">
              <a:avLst/>
            </a:prstGeom>
            <a:noFill/>
          </p:spPr>
          <p:txBody>
            <a:bodyPr vert="eaVert">
              <a:spAutoFit/>
            </a:bodyPr>
            <a:lstStyle/>
            <a:p>
              <a:pPr marR="0" defTabSz="914400">
                <a:buClrTx/>
                <a:buSzTx/>
                <a:buFontTx/>
                <a:buNone/>
                <a:defRPr/>
              </a:pPr>
              <a:r>
                <a:rPr kumimoji="0" lang="en-US" altLang="zh-CN" sz="1050" kern="1200" cap="none" spc="0" normalizeH="0" baseline="0" noProof="0" dirty="0">
                  <a:latin typeface="Arial" panose="020B0604020202020204" pitchFamily="34" charset="0"/>
                  <a:ea typeface="宋体" panose="02010600030101010101" pitchFamily="2" charset="-122"/>
                  <a:cs typeface="+mn-cs"/>
                </a:rPr>
                <a:t>…</a:t>
              </a:r>
              <a:endParaRPr kumimoji="0" lang="zh-CN" altLang="en-US" sz="1050" kern="1200" cap="none" spc="0" normalizeH="0" baseline="0" noProof="0" dirty="0">
                <a:latin typeface="Arial" panose="020B0604020202020204" pitchFamily="34" charset="0"/>
                <a:ea typeface="宋体" panose="02010600030101010101" pitchFamily="2" charset="-122"/>
                <a:cs typeface="+mn-cs"/>
              </a:endParaRPr>
            </a:p>
          </p:txBody>
        </p:sp>
        <p:sp>
          <p:nvSpPr>
            <p:cNvPr id="28731" name="文本框 25611"/>
            <p:cNvSpPr txBox="1"/>
            <p:nvPr/>
          </p:nvSpPr>
          <p:spPr>
            <a:xfrm>
              <a:off x="11535" y="8862"/>
              <a:ext cx="983"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光伏</a:t>
              </a:r>
              <a:r>
                <a:rPr lang="en-US" altLang="zh-CN" sz="800" dirty="0">
                  <a:latin typeface="Arial" panose="020B0604020202020204" pitchFamily="34" charset="0"/>
                </a:rPr>
                <a:t>1</a:t>
              </a:r>
              <a:endParaRPr lang="zh-CN" altLang="en-US" sz="800" dirty="0">
                <a:latin typeface="Arial" panose="020B0604020202020204" pitchFamily="34" charset="0"/>
              </a:endParaRPr>
            </a:p>
          </p:txBody>
        </p:sp>
        <p:sp>
          <p:nvSpPr>
            <p:cNvPr id="28732" name="文本框 25612"/>
            <p:cNvSpPr txBox="1"/>
            <p:nvPr/>
          </p:nvSpPr>
          <p:spPr>
            <a:xfrm>
              <a:off x="11565" y="9549"/>
              <a:ext cx="985"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光伏</a:t>
              </a:r>
              <a:r>
                <a:rPr lang="en-US" altLang="zh-CN" sz="800" dirty="0">
                  <a:latin typeface="Arial" panose="020B0604020202020204" pitchFamily="34" charset="0"/>
                </a:rPr>
                <a:t>N</a:t>
              </a:r>
              <a:endParaRPr lang="zh-CN" altLang="en-US" sz="800" dirty="0">
                <a:latin typeface="Arial" panose="020B0604020202020204" pitchFamily="34" charset="0"/>
              </a:endParaRPr>
            </a:p>
          </p:txBody>
        </p:sp>
        <p:sp>
          <p:nvSpPr>
            <p:cNvPr id="28733" name="文本框 25613"/>
            <p:cNvSpPr txBox="1"/>
            <p:nvPr/>
          </p:nvSpPr>
          <p:spPr>
            <a:xfrm>
              <a:off x="11535" y="9177"/>
              <a:ext cx="738" cy="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800" dirty="0">
                  <a:latin typeface="Arial" panose="020B0604020202020204" pitchFamily="34" charset="0"/>
                </a:rPr>
                <a:t>储能</a:t>
              </a:r>
              <a:r>
                <a:rPr lang="en-US" altLang="zh-CN" sz="800" dirty="0">
                  <a:latin typeface="Arial" panose="020B0604020202020204" pitchFamily="34" charset="0"/>
                </a:rPr>
                <a:t>1</a:t>
              </a:r>
              <a:endParaRPr lang="zh-CN" altLang="en-US" sz="800" dirty="0">
                <a:latin typeface="Arial" panose="020B0604020202020204" pitchFamily="34" charset="0"/>
              </a:endParaRPr>
            </a:p>
          </p:txBody>
        </p:sp>
        <p:sp>
          <p:nvSpPr>
            <p:cNvPr id="25615" name="矩形: 圆角 25614"/>
            <p:cNvSpPr/>
            <p:nvPr/>
          </p:nvSpPr>
          <p:spPr>
            <a:xfrm>
              <a:off x="10953" y="8789"/>
              <a:ext cx="2070" cy="1198"/>
            </a:xfrm>
            <a:prstGeom prst="round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619" name="矩形: 圆角 25618"/>
            <p:cNvSpPr/>
            <p:nvPr/>
          </p:nvSpPr>
          <p:spPr>
            <a:xfrm>
              <a:off x="10615" y="5334"/>
              <a:ext cx="2595" cy="525"/>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accen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虚拟电厂内部平衡后</a:t>
              </a:r>
              <a:endParaRPr kumimoji="0" lang="zh-CN" altLang="en-US" sz="12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grpSp>
      <p:sp>
        <p:nvSpPr>
          <p:cNvPr id="25630" name="箭头: 右 25629"/>
          <p:cNvSpPr/>
          <p:nvPr/>
        </p:nvSpPr>
        <p:spPr>
          <a:xfrm>
            <a:off x="5420360" y="4965700"/>
            <a:ext cx="852805" cy="207645"/>
          </a:xfrm>
          <a:prstGeom prst="rightArrow">
            <a:avLst/>
          </a:prstGeom>
          <a:ln w="12700"/>
        </p:spPr>
        <p:style>
          <a:lnRef idx="2">
            <a:schemeClr val="dk1"/>
          </a:lnRef>
          <a:fillRef idx="1">
            <a:schemeClr val="lt1"/>
          </a:fillRef>
          <a:effectRef idx="0">
            <a:schemeClr val="dk1"/>
          </a:effectRef>
          <a:fontRef idx="minor">
            <a:schemeClr val="dk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dk1"/>
              </a:solidFill>
              <a:effectLst/>
              <a:uLnTx/>
              <a:uFillTx/>
              <a:latin typeface="+mn-lt"/>
              <a:ea typeface="+mn-ea"/>
              <a:cs typeface="+mn-cs"/>
            </a:endParaRPr>
          </a:p>
        </p:txBody>
      </p:sp>
      <p:sp>
        <p:nvSpPr>
          <p:cNvPr id="25634" name="箭头: 右 25633"/>
          <p:cNvSpPr/>
          <p:nvPr/>
        </p:nvSpPr>
        <p:spPr>
          <a:xfrm>
            <a:off x="2841625" y="4954905"/>
            <a:ext cx="699770" cy="153035"/>
          </a:xfrm>
          <a:prstGeom prst="rightArrow">
            <a:avLst/>
          </a:prstGeom>
          <a:ln w="12700"/>
        </p:spPr>
        <p:style>
          <a:lnRef idx="2">
            <a:schemeClr val="dk1"/>
          </a:lnRef>
          <a:fillRef idx="1">
            <a:schemeClr val="lt1"/>
          </a:fillRef>
          <a:effectRef idx="0">
            <a:schemeClr val="dk1"/>
          </a:effectRef>
          <a:fontRef idx="minor">
            <a:schemeClr val="dk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dk1"/>
              </a:solidFill>
              <a:effectLst/>
              <a:uLnTx/>
              <a:uFillTx/>
              <a:latin typeface="+mn-lt"/>
              <a:ea typeface="+mn-ea"/>
              <a:cs typeface="+mn-cs"/>
            </a:endParaRPr>
          </a:p>
        </p:txBody>
      </p:sp>
      <p:sp>
        <p:nvSpPr>
          <p:cNvPr id="28742" name="文本框 25665"/>
          <p:cNvSpPr txBox="1"/>
          <p:nvPr/>
        </p:nvSpPr>
        <p:spPr>
          <a:xfrm>
            <a:off x="5492750" y="4467860"/>
            <a:ext cx="685800"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gn="ctr">
              <a:spcBef>
                <a:spcPct val="0"/>
              </a:spcBef>
              <a:buFontTx/>
              <a:buNone/>
            </a:pPr>
            <a:r>
              <a:rPr lang="zh-CN" altLang="en-US" sz="1100" dirty="0">
                <a:latin typeface="微软雅黑" panose="020B0503020204020204" pitchFamily="34" charset="-122"/>
                <a:ea typeface="微软雅黑" panose="020B0503020204020204" pitchFamily="34" charset="-122"/>
              </a:rPr>
              <a:t>以整体参与</a:t>
            </a:r>
            <a:endParaRPr lang="zh-CN" altLang="en-US" sz="1100" dirty="0">
              <a:latin typeface="微软雅黑" panose="020B0503020204020204" pitchFamily="34" charset="-122"/>
              <a:ea typeface="微软雅黑" panose="020B0503020204020204" pitchFamily="34" charset="-122"/>
            </a:endParaRPr>
          </a:p>
        </p:txBody>
      </p:sp>
      <p:sp>
        <p:nvSpPr>
          <p:cNvPr id="25668" name="矩形 25667"/>
          <p:cNvSpPr/>
          <p:nvPr/>
        </p:nvSpPr>
        <p:spPr>
          <a:xfrm>
            <a:off x="740410" y="6222683"/>
            <a:ext cx="7991475" cy="509588"/>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R="0" lvl="0" algn="l" defTabSz="914400" rtl="0" eaLnBrk="1" fontAlgn="base" latinLnBrk="0" hangingPunct="1">
              <a:lnSpc>
                <a:spcPct val="125000"/>
              </a:lnSpc>
              <a:spcBef>
                <a:spcPct val="0"/>
              </a:spcBef>
              <a:spcAft>
                <a:spcPct val="0"/>
              </a:spcAft>
              <a:buClrTx/>
              <a:buSzTx/>
              <a:buFont typeface="Arial" panose="020B0604020202020204" pitchFamily="34" charset="0"/>
            </a:pPr>
            <a:r>
              <a:rPr kumimoji="0" lang="zh-CN" altLang="en-US" sz="1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重点探讨准入和退出机制、并入现有电力市场规则可行性、</a:t>
            </a:r>
            <a:r>
              <a:rPr kumimoji="0" lang="zh-CN" altLang="en-US" sz="1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交易规则等。</a:t>
            </a:r>
            <a:endParaRPr kumimoji="0" lang="zh-CN" altLang="en-US" sz="1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右箭头 37"/>
          <p:cNvSpPr/>
          <p:nvPr/>
        </p:nvSpPr>
        <p:spPr>
          <a:xfrm>
            <a:off x="250825" y="4843145"/>
            <a:ext cx="7757795" cy="1668145"/>
          </a:xfrm>
          <a:prstGeom prst="rightArrow">
            <a:avLst/>
          </a:prstGeom>
          <a:solidFill>
            <a:schemeClr val="bg2">
              <a:lumMod val="9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9698"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9699"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9700" name="Content Placeholder 3"/>
          <p:cNvSpPr>
            <a:spLocks noGrp="1"/>
          </p:cNvSpPr>
          <p:nvPr>
            <p:ph sz="quarter" idx="1"/>
          </p:nvPr>
        </p:nvSpPr>
        <p:spPr>
          <a:xfrm>
            <a:off x="250825" y="1125538"/>
            <a:ext cx="8569325"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4</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虚拟电厂对电网运行的风险评估及应对管理策略</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29701"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9702"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9703"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 name="矩形 1"/>
          <p:cNvSpPr/>
          <p:nvPr/>
        </p:nvSpPr>
        <p:spPr>
          <a:xfrm>
            <a:off x="-37147" y="2714625"/>
            <a:ext cx="8496300" cy="1460500"/>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nvSpPr>
        <p:spPr>
          <a:xfrm>
            <a:off x="250825" y="1628775"/>
            <a:ext cx="8353425" cy="411162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287655" y="1557020"/>
            <a:ext cx="8027035" cy="48958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相关政策梳理：</a:t>
            </a: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右箭头 3"/>
          <p:cNvSpPr/>
          <p:nvPr/>
        </p:nvSpPr>
        <p:spPr>
          <a:xfrm>
            <a:off x="323215" y="2060575"/>
            <a:ext cx="7632700" cy="1466850"/>
          </a:xfrm>
          <a:prstGeom prst="rightArrow">
            <a:avLst/>
          </a:prstGeom>
          <a:ln>
            <a:headEnd type="none" w="med" len="med"/>
            <a:tailEnd type="none" w="med" len="med"/>
          </a:ln>
        </p:spPr>
        <p:style>
          <a:lnRef idx="2">
            <a:schemeClr val="accent1"/>
          </a:lnRef>
          <a:fillRef idx="2">
            <a:schemeClr val="accent1"/>
          </a:fillRef>
          <a:effectRef idx="0">
            <a:srgbClr val="FFFFFF"/>
          </a:effectRef>
          <a:fontRef idx="minor">
            <a:schemeClr val="lt1"/>
          </a:fontRef>
        </p:style>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 name="圆角矩形 5"/>
          <p:cNvSpPr/>
          <p:nvPr>
            <p:custDataLst>
              <p:tags r:id="rId1"/>
            </p:custDataLst>
          </p:nvPr>
        </p:nvSpPr>
        <p:spPr>
          <a:xfrm>
            <a:off x="487680" y="2228215"/>
            <a:ext cx="1364615" cy="1047750"/>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 name="圆角矩形 7"/>
          <p:cNvSpPr/>
          <p:nvPr>
            <p:custDataLst>
              <p:tags r:id="rId2"/>
            </p:custDataLst>
          </p:nvPr>
        </p:nvSpPr>
        <p:spPr>
          <a:xfrm>
            <a:off x="3805555" y="2228850"/>
            <a:ext cx="1475105" cy="1040765"/>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 name="文本框 9"/>
          <p:cNvSpPr txBox="1"/>
          <p:nvPr>
            <p:custDataLst>
              <p:tags r:id="rId3"/>
            </p:custDataLst>
          </p:nvPr>
        </p:nvSpPr>
        <p:spPr>
          <a:xfrm>
            <a:off x="520065" y="2335530"/>
            <a:ext cx="1332230" cy="923925"/>
          </a:xfrm>
          <a:prstGeom prst="rect">
            <a:avLst/>
          </a:prstGeom>
          <a:noFill/>
        </p:spPr>
        <p:txBody>
          <a:bodyPr wrap="square" rtlCol="0">
            <a:noAutofit/>
          </a:bodyPr>
          <a:p>
            <a:pPr latinLnBrk="1"/>
            <a:r>
              <a:rPr lang="en-US" altLang="zh-CN" sz="1200">
                <a:solidFill>
                  <a:schemeClr val="bg1"/>
                </a:solidFill>
                <a:latin typeface="宋体" panose="02010600030101010101" pitchFamily="2" charset="-122"/>
                <a:cs typeface="宋体" panose="02010600030101010101" pitchFamily="2" charset="-122"/>
              </a:rPr>
              <a:t>2024.7--</a:t>
            </a:r>
            <a:r>
              <a:rPr lang="zh-CN" altLang="en-US" sz="1200">
                <a:solidFill>
                  <a:schemeClr val="bg1"/>
                </a:solidFill>
                <a:latin typeface="宋体" panose="02010600030101010101" pitchFamily="2" charset="-122"/>
                <a:cs typeface="宋体" panose="02010600030101010101" pitchFamily="2" charset="-122"/>
              </a:rPr>
              <a:t>加快构建新型电力系统行动方案（</a:t>
            </a:r>
            <a:r>
              <a:rPr lang="en-US" altLang="zh-CN" sz="1200">
                <a:solidFill>
                  <a:schemeClr val="bg1"/>
                </a:solidFill>
                <a:latin typeface="宋体" panose="02010600030101010101" pitchFamily="2" charset="-122"/>
                <a:cs typeface="宋体" panose="02010600030101010101" pitchFamily="2" charset="-122"/>
              </a:rPr>
              <a:t>2024—2027</a:t>
            </a:r>
            <a:r>
              <a:rPr lang="zh-CN" altLang="en-US" sz="1200">
                <a:solidFill>
                  <a:schemeClr val="bg1"/>
                </a:solidFill>
                <a:latin typeface="宋体" panose="02010600030101010101" pitchFamily="2" charset="-122"/>
                <a:cs typeface="宋体" panose="02010600030101010101" pitchFamily="2" charset="-122"/>
              </a:rPr>
              <a:t>年</a:t>
            </a:r>
            <a:r>
              <a:rPr lang="zh-CN" altLang="en-US" sz="1400">
                <a:solidFill>
                  <a:schemeClr val="bg1"/>
                </a:solidFill>
                <a:latin typeface="宋体" panose="02010600030101010101" pitchFamily="2" charset="-122"/>
                <a:cs typeface="宋体" panose="02010600030101010101" pitchFamily="2" charset="-122"/>
              </a:rPr>
              <a:t>）</a:t>
            </a:r>
            <a:endParaRPr lang="zh-CN" altLang="en-US" sz="1400">
              <a:solidFill>
                <a:schemeClr val="bg1"/>
              </a:solidFill>
              <a:latin typeface="宋体" panose="02010600030101010101" pitchFamily="2" charset="-122"/>
              <a:cs typeface="宋体" panose="02010600030101010101" pitchFamily="2" charset="-122"/>
            </a:endParaRPr>
          </a:p>
        </p:txBody>
      </p:sp>
      <p:sp>
        <p:nvSpPr>
          <p:cNvPr id="12" name="文本框 11"/>
          <p:cNvSpPr txBox="1"/>
          <p:nvPr>
            <p:custDataLst>
              <p:tags r:id="rId4"/>
            </p:custDataLst>
          </p:nvPr>
        </p:nvSpPr>
        <p:spPr>
          <a:xfrm>
            <a:off x="3840480" y="2246630"/>
            <a:ext cx="1367155" cy="1014730"/>
          </a:xfrm>
          <a:prstGeom prst="rect">
            <a:avLst/>
          </a:prstGeom>
          <a:noFill/>
        </p:spPr>
        <p:txBody>
          <a:bodyPr wrap="square" rtlCol="0">
            <a:spAutoFit/>
          </a:bodyPr>
          <a:p>
            <a:r>
              <a:rPr lang="en-US" altLang="zh-CN" sz="1200">
                <a:solidFill>
                  <a:schemeClr val="bg1"/>
                </a:solidFill>
                <a:latin typeface="宋体" panose="02010600030101010101" pitchFamily="2" charset="-122"/>
                <a:cs typeface="宋体" panose="02010600030101010101" pitchFamily="2" charset="-122"/>
              </a:rPr>
              <a:t>2024.12--</a:t>
            </a:r>
            <a:r>
              <a:rPr lang="zh-CN" altLang="en-US" sz="1200">
                <a:solidFill>
                  <a:schemeClr val="bg1"/>
                </a:solidFill>
                <a:latin typeface="宋体" panose="02010600030101010101" pitchFamily="2" charset="-122"/>
                <a:cs typeface="宋体" panose="02010600030101010101" pitchFamily="2" charset="-122"/>
              </a:rPr>
              <a:t>《电力系统调节能力优化专项行动实施方案（</a:t>
            </a:r>
            <a:r>
              <a:rPr lang="en-US" altLang="zh-CN" sz="1200">
                <a:solidFill>
                  <a:schemeClr val="bg1"/>
                </a:solidFill>
                <a:latin typeface="宋体" panose="02010600030101010101" pitchFamily="2" charset="-122"/>
                <a:cs typeface="宋体" panose="02010600030101010101" pitchFamily="2" charset="-122"/>
              </a:rPr>
              <a:t>2025—2027</a:t>
            </a:r>
            <a:r>
              <a:rPr lang="zh-CN" altLang="en-US" sz="1200">
                <a:solidFill>
                  <a:schemeClr val="bg1"/>
                </a:solidFill>
                <a:latin typeface="宋体" panose="02010600030101010101" pitchFamily="2" charset="-122"/>
                <a:cs typeface="宋体" panose="02010600030101010101" pitchFamily="2" charset="-122"/>
              </a:rPr>
              <a:t>年）》</a:t>
            </a:r>
            <a:endParaRPr lang="zh-CN" altLang="en-US" sz="1200">
              <a:solidFill>
                <a:schemeClr val="bg1"/>
              </a:solidFill>
              <a:latin typeface="宋体" panose="02010600030101010101" pitchFamily="2" charset="-122"/>
              <a:cs typeface="宋体" panose="02010600030101010101" pitchFamily="2" charset="-122"/>
            </a:endParaRPr>
          </a:p>
        </p:txBody>
      </p:sp>
      <p:sp>
        <p:nvSpPr>
          <p:cNvPr id="13" name="矩形 12"/>
          <p:cNvSpPr/>
          <p:nvPr/>
        </p:nvSpPr>
        <p:spPr>
          <a:xfrm>
            <a:off x="7884160" y="2060575"/>
            <a:ext cx="1109345" cy="1198880"/>
          </a:xfrm>
          <a:prstGeom prst="rect">
            <a:avLst/>
          </a:prstGeom>
          <a:noFill/>
          <a:ln>
            <a:noFill/>
          </a:ln>
        </p:spPr>
        <p:txBody>
          <a:bodyPr wrap="square" rtlCol="0" anchor="t">
            <a:spAutoFit/>
          </a:bodyPr>
          <a:p>
            <a:pPr algn="ctr"/>
            <a:r>
              <a:rPr lang="zh-CN" altLang="en-US" sz="36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国家政策</a:t>
            </a:r>
            <a:endParaRPr lang="zh-CN" altLang="en-US" sz="3600"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4" name="下箭头 13"/>
          <p:cNvSpPr/>
          <p:nvPr>
            <p:custDataLst>
              <p:tags r:id="rId5"/>
            </p:custDataLst>
          </p:nvPr>
        </p:nvSpPr>
        <p:spPr>
          <a:xfrm>
            <a:off x="971550" y="3448050"/>
            <a:ext cx="447040" cy="1412240"/>
          </a:xfrm>
          <a:prstGeom prst="downArrow">
            <a:avLst/>
          </a:prstGeom>
          <a:solidFill>
            <a:schemeClr val="accent6">
              <a:lumMod val="20000"/>
              <a:lumOff val="80000"/>
            </a:schemeClr>
          </a:solidFill>
          <a:ln>
            <a:headEnd type="none" w="med" len="med"/>
            <a:tailEnd type="none" w="med" len="med"/>
          </a:ln>
        </p:spPr>
        <p:style>
          <a:lnRef idx="0">
            <a:srgbClr val="FFFFFF"/>
          </a:lnRef>
          <a:fillRef idx="2">
            <a:schemeClr val="accent6"/>
          </a:fillRef>
          <a:effectRef idx="0">
            <a:srgbClr val="FFFFFF"/>
          </a:effectRef>
          <a:fontRef idx="minor">
            <a:schemeClr val="lt1"/>
          </a:fontRef>
        </p:style>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20" name="组合 19"/>
          <p:cNvGrpSpPr/>
          <p:nvPr>
            <p:custDataLst>
              <p:tags r:id="rId6"/>
            </p:custDataLst>
          </p:nvPr>
        </p:nvGrpSpPr>
        <p:grpSpPr>
          <a:xfrm>
            <a:off x="487045" y="5165090"/>
            <a:ext cx="1471930" cy="983615"/>
            <a:chOff x="1780" y="8008"/>
            <a:chExt cx="1939" cy="2027"/>
          </a:xfrm>
        </p:grpSpPr>
        <p:sp>
          <p:nvSpPr>
            <p:cNvPr id="18" name="圆角矩形 17"/>
            <p:cNvSpPr/>
            <p:nvPr>
              <p:custDataLst>
                <p:tags r:id="rId7"/>
              </p:custDataLst>
            </p:nvPr>
          </p:nvSpPr>
          <p:spPr>
            <a:xfrm>
              <a:off x="1780" y="8008"/>
              <a:ext cx="1905" cy="2027"/>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 name="文本框 18"/>
            <p:cNvSpPr txBox="1"/>
            <p:nvPr>
              <p:custDataLst>
                <p:tags r:id="rId8"/>
              </p:custDataLst>
            </p:nvPr>
          </p:nvSpPr>
          <p:spPr>
            <a:xfrm>
              <a:off x="1780" y="8077"/>
              <a:ext cx="1939" cy="1690"/>
            </a:xfrm>
            <a:prstGeom prst="rect">
              <a:avLst/>
            </a:prstGeom>
            <a:noFill/>
          </p:spPr>
          <p:txBody>
            <a:bodyPr wrap="square" rtlCol="0">
              <a:noAutofit/>
            </a:bodyPr>
            <a:p>
              <a:r>
                <a:rPr lang="zh-CN" altLang="en-US" sz="1400">
                  <a:solidFill>
                    <a:schemeClr val="bg1"/>
                  </a:solidFill>
                  <a:latin typeface="宋体" panose="02010600030101010101" pitchFamily="2" charset="-122"/>
                  <a:cs typeface="宋体" panose="02010600030101010101" pitchFamily="2" charset="-122"/>
                </a:rPr>
                <a:t>广东电力市场运行规则</a:t>
              </a:r>
              <a:r>
                <a:rPr lang="en-US" altLang="zh-CN" sz="1400">
                  <a:solidFill>
                    <a:schemeClr val="bg1"/>
                  </a:solidFill>
                  <a:latin typeface="宋体" panose="02010600030101010101" pitchFamily="2" charset="-122"/>
                  <a:cs typeface="宋体" panose="02010600030101010101" pitchFamily="2" charset="-122"/>
                </a:rPr>
                <a:t> (</a:t>
              </a:r>
              <a:r>
                <a:rPr lang="zh-CN" altLang="en-US" sz="1400">
                  <a:solidFill>
                    <a:schemeClr val="bg1"/>
                  </a:solidFill>
                  <a:latin typeface="宋体" panose="02010600030101010101" pitchFamily="2" charset="-122"/>
                  <a:cs typeface="宋体" panose="02010600030101010101" pitchFamily="2" charset="-122"/>
                </a:rPr>
                <a:t>南方监能市场〔</a:t>
              </a:r>
              <a:r>
                <a:rPr lang="en-US" altLang="zh-CN" sz="1400">
                  <a:solidFill>
                    <a:schemeClr val="bg1"/>
                  </a:solidFill>
                  <a:latin typeface="宋体" panose="02010600030101010101" pitchFamily="2" charset="-122"/>
                  <a:cs typeface="宋体" panose="02010600030101010101" pitchFamily="2" charset="-122"/>
                </a:rPr>
                <a:t>2025</a:t>
              </a:r>
              <a:r>
                <a:rPr lang="zh-CN" altLang="en-US" sz="1400">
                  <a:solidFill>
                    <a:schemeClr val="bg1"/>
                  </a:solidFill>
                  <a:latin typeface="宋体" panose="02010600030101010101" pitchFamily="2" charset="-122"/>
                  <a:cs typeface="宋体" panose="02010600030101010101" pitchFamily="2" charset="-122"/>
                </a:rPr>
                <a:t>〕</a:t>
              </a:r>
              <a:r>
                <a:rPr lang="en-US" altLang="zh-CN" sz="1400">
                  <a:solidFill>
                    <a:schemeClr val="bg1"/>
                  </a:solidFill>
                  <a:latin typeface="宋体" panose="02010600030101010101" pitchFamily="2" charset="-122"/>
                  <a:cs typeface="宋体" panose="02010600030101010101" pitchFamily="2" charset="-122"/>
                </a:rPr>
                <a:t>13</a:t>
              </a:r>
              <a:r>
                <a:rPr lang="zh-CN" altLang="en-US" sz="1400">
                  <a:solidFill>
                    <a:schemeClr val="bg1"/>
                  </a:solidFill>
                  <a:latin typeface="宋体" panose="02010600030101010101" pitchFamily="2" charset="-122"/>
                  <a:cs typeface="宋体" panose="02010600030101010101" pitchFamily="2" charset="-122"/>
                </a:rPr>
                <a:t>号</a:t>
              </a:r>
              <a:r>
                <a:rPr lang="en-US" altLang="zh-CN" sz="1400">
                  <a:solidFill>
                    <a:schemeClr val="bg1"/>
                  </a:solidFill>
                  <a:latin typeface="宋体" panose="02010600030101010101" pitchFamily="2" charset="-122"/>
                  <a:cs typeface="宋体" panose="02010600030101010101" pitchFamily="2" charset="-122"/>
                </a:rPr>
                <a:t>)</a:t>
              </a:r>
              <a:endParaRPr lang="en-US" altLang="zh-CN" sz="1400">
                <a:solidFill>
                  <a:schemeClr val="bg1"/>
                </a:solidFill>
                <a:latin typeface="宋体" panose="02010600030101010101" pitchFamily="2" charset="-122"/>
                <a:cs typeface="宋体" panose="02010600030101010101" pitchFamily="2" charset="-122"/>
              </a:endParaRPr>
            </a:p>
          </p:txBody>
        </p:sp>
      </p:grpSp>
      <p:grpSp>
        <p:nvGrpSpPr>
          <p:cNvPr id="24" name="组合 23"/>
          <p:cNvGrpSpPr/>
          <p:nvPr>
            <p:custDataLst>
              <p:tags r:id="rId9"/>
            </p:custDataLst>
          </p:nvPr>
        </p:nvGrpSpPr>
        <p:grpSpPr>
          <a:xfrm>
            <a:off x="2123440" y="5156835"/>
            <a:ext cx="1501775" cy="991235"/>
            <a:chOff x="1780" y="8008"/>
            <a:chExt cx="2554" cy="1302"/>
          </a:xfrm>
        </p:grpSpPr>
        <p:sp>
          <p:nvSpPr>
            <p:cNvPr id="25" name="圆角矩形 24"/>
            <p:cNvSpPr/>
            <p:nvPr>
              <p:custDataLst>
                <p:tags r:id="rId10"/>
              </p:custDataLst>
            </p:nvPr>
          </p:nvSpPr>
          <p:spPr>
            <a:xfrm>
              <a:off x="1780" y="8008"/>
              <a:ext cx="2539" cy="1302"/>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 name="文本框 25"/>
            <p:cNvSpPr txBox="1"/>
            <p:nvPr>
              <p:custDataLst>
                <p:tags r:id="rId11"/>
              </p:custDataLst>
            </p:nvPr>
          </p:nvSpPr>
          <p:spPr>
            <a:xfrm>
              <a:off x="1780" y="8063"/>
              <a:ext cx="2554" cy="968"/>
            </a:xfrm>
            <a:prstGeom prst="rect">
              <a:avLst/>
            </a:prstGeom>
            <a:noFill/>
          </p:spPr>
          <p:txBody>
            <a:bodyPr wrap="square" rtlCol="0">
              <a:spAutoFit/>
            </a:bodyPr>
            <a:p>
              <a:r>
                <a:rPr lang="zh-CN" altLang="en-US" sz="1400">
                  <a:solidFill>
                    <a:schemeClr val="bg1"/>
                  </a:solidFill>
                  <a:latin typeface="宋体" panose="02010600030101010101" pitchFamily="2" charset="-122"/>
                  <a:cs typeface="宋体" panose="02010600030101010101" pitchFamily="2" charset="-122"/>
                </a:rPr>
                <a:t>《河南省电力市场运营基本规则（试行）》</a:t>
              </a:r>
              <a:endParaRPr lang="zh-CN" altLang="en-US" sz="1400">
                <a:solidFill>
                  <a:schemeClr val="bg1"/>
                </a:solidFill>
                <a:latin typeface="宋体" panose="02010600030101010101" pitchFamily="2" charset="-122"/>
                <a:cs typeface="宋体" panose="02010600030101010101" pitchFamily="2" charset="-122"/>
              </a:endParaRPr>
            </a:p>
          </p:txBody>
        </p:sp>
      </p:grpSp>
      <p:grpSp>
        <p:nvGrpSpPr>
          <p:cNvPr id="28" name="组合 27"/>
          <p:cNvGrpSpPr/>
          <p:nvPr>
            <p:custDataLst>
              <p:tags r:id="rId12"/>
            </p:custDataLst>
          </p:nvPr>
        </p:nvGrpSpPr>
        <p:grpSpPr>
          <a:xfrm>
            <a:off x="3847465" y="5165725"/>
            <a:ext cx="1482090" cy="983615"/>
            <a:chOff x="1391" y="8008"/>
            <a:chExt cx="2578" cy="1302"/>
          </a:xfrm>
        </p:grpSpPr>
        <p:sp>
          <p:nvSpPr>
            <p:cNvPr id="29" name="圆角矩形 28"/>
            <p:cNvSpPr/>
            <p:nvPr>
              <p:custDataLst>
                <p:tags r:id="rId13"/>
              </p:custDataLst>
            </p:nvPr>
          </p:nvSpPr>
          <p:spPr>
            <a:xfrm>
              <a:off x="1448" y="8008"/>
              <a:ext cx="2433" cy="1302"/>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30" name="文本框 29"/>
            <p:cNvSpPr txBox="1"/>
            <p:nvPr>
              <p:custDataLst>
                <p:tags r:id="rId14"/>
              </p:custDataLst>
            </p:nvPr>
          </p:nvSpPr>
          <p:spPr>
            <a:xfrm>
              <a:off x="1391" y="8063"/>
              <a:ext cx="2578" cy="976"/>
            </a:xfrm>
            <a:prstGeom prst="rect">
              <a:avLst/>
            </a:prstGeom>
            <a:noFill/>
          </p:spPr>
          <p:txBody>
            <a:bodyPr wrap="square" rtlCol="0">
              <a:spAutoFit/>
            </a:bodyPr>
            <a:p>
              <a:r>
                <a:rPr lang="zh-CN" altLang="en-US" sz="1400">
                  <a:solidFill>
                    <a:schemeClr val="bg1"/>
                  </a:solidFill>
                  <a:latin typeface="宋体" panose="02010600030101010101" pitchFamily="2" charset="-122"/>
                  <a:cs typeface="宋体" panose="02010600030101010101" pitchFamily="2" charset="-122"/>
                </a:rPr>
                <a:t>《湖北省电力现货市场交易实施细则（</a:t>
              </a:r>
              <a:r>
                <a:rPr lang="en-US" altLang="zh-CN" sz="1400">
                  <a:solidFill>
                    <a:schemeClr val="bg1"/>
                  </a:solidFill>
                  <a:latin typeface="宋体" panose="02010600030101010101" pitchFamily="2" charset="-122"/>
                  <a:cs typeface="宋体" panose="02010600030101010101" pitchFamily="2" charset="-122"/>
                </a:rPr>
                <a:t>V3.0</a:t>
              </a:r>
              <a:r>
                <a:rPr lang="zh-CN" altLang="en-US" sz="1400">
                  <a:solidFill>
                    <a:schemeClr val="bg1"/>
                  </a:solidFill>
                  <a:latin typeface="宋体" panose="02010600030101010101" pitchFamily="2" charset="-122"/>
                  <a:cs typeface="宋体" panose="02010600030101010101" pitchFamily="2" charset="-122"/>
                </a:rPr>
                <a:t>）</a:t>
              </a:r>
              <a:endParaRPr lang="zh-CN" altLang="en-US" sz="1400">
                <a:solidFill>
                  <a:schemeClr val="bg1"/>
                </a:solidFill>
                <a:latin typeface="宋体" panose="02010600030101010101" pitchFamily="2" charset="-122"/>
                <a:cs typeface="宋体" panose="02010600030101010101" pitchFamily="2" charset="-122"/>
              </a:endParaRPr>
            </a:p>
          </p:txBody>
        </p:sp>
      </p:grpSp>
      <p:sp>
        <p:nvSpPr>
          <p:cNvPr id="31" name="矩形 30"/>
          <p:cNvSpPr/>
          <p:nvPr/>
        </p:nvSpPr>
        <p:spPr>
          <a:xfrm>
            <a:off x="8008620" y="5013325"/>
            <a:ext cx="1109345" cy="1198880"/>
          </a:xfrm>
          <a:prstGeom prst="rect">
            <a:avLst/>
          </a:prstGeom>
          <a:noFill/>
          <a:ln>
            <a:noFill/>
          </a:ln>
        </p:spPr>
        <p:txBody>
          <a:bodyPr wrap="square" rtlCol="0" anchor="t">
            <a:spAutoFit/>
          </a:bodyPr>
          <a:p>
            <a:pPr algn="ctr"/>
            <a:r>
              <a:rPr lang="zh-CN" altLang="en-US" sz="36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地区政策</a:t>
            </a:r>
            <a:endParaRPr lang="zh-CN" altLang="en-US" sz="3600"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32" name="圆角矩形 31"/>
          <p:cNvSpPr/>
          <p:nvPr>
            <p:custDataLst>
              <p:tags r:id="rId15"/>
            </p:custDataLst>
          </p:nvPr>
        </p:nvSpPr>
        <p:spPr>
          <a:xfrm>
            <a:off x="2123440" y="2228850"/>
            <a:ext cx="1410970" cy="1040765"/>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200">
                <a:solidFill>
                  <a:schemeClr val="bg1"/>
                </a:solidFill>
                <a:latin typeface="宋体" panose="02010600030101010101" pitchFamily="2" charset="-122"/>
                <a:cs typeface="宋体" panose="02010600030101010101" pitchFamily="2" charset="-122"/>
                <a:sym typeface="+mn-ea"/>
              </a:rPr>
              <a:t>2024.11--国家能源局关于支持电力领域新型经营主体创新发展的指导意见</a:t>
            </a:r>
            <a:endParaRPr lang="en-US" altLang="zh-CN" sz="1200">
              <a:solidFill>
                <a:schemeClr val="bg1"/>
              </a:solidFill>
              <a:latin typeface="宋体" panose="02010600030101010101" pitchFamily="2" charset="-122"/>
              <a:cs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1200" b="0" i="0" u="none" strike="noStrike" cap="none" normalizeH="0" baseline="0">
              <a:solidFill>
                <a:schemeClr val="bg1"/>
              </a:solidFill>
              <a:latin typeface="宋体" panose="02010600030101010101" pitchFamily="2" charset="-122"/>
              <a:ea typeface="宋体" panose="02010600030101010101" pitchFamily="2" charset="-122"/>
              <a:cs typeface="宋体" panose="02010600030101010101" pitchFamily="2" charset="-122"/>
            </a:endParaRPr>
          </a:p>
        </p:txBody>
      </p:sp>
      <p:sp>
        <p:nvSpPr>
          <p:cNvPr id="33" name="圆角矩形 32"/>
          <p:cNvSpPr/>
          <p:nvPr>
            <p:custDataLst>
              <p:tags r:id="rId16"/>
            </p:custDataLst>
          </p:nvPr>
        </p:nvSpPr>
        <p:spPr>
          <a:xfrm>
            <a:off x="5619750" y="2233930"/>
            <a:ext cx="1410970" cy="1040765"/>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200">
                <a:solidFill>
                  <a:schemeClr val="bg1"/>
                </a:solidFill>
                <a:latin typeface="宋体" panose="02010600030101010101" pitchFamily="2" charset="-122"/>
                <a:cs typeface="宋体" panose="02010600030101010101" pitchFamily="2" charset="-122"/>
                <a:sym typeface="+mn-ea"/>
              </a:rPr>
              <a:t>2025.03--</a:t>
            </a:r>
            <a:r>
              <a:rPr kumimoji="0" lang="zh-CN" altLang="en-US" sz="1200" b="0" i="0" u="none" strike="noStrike" cap="none" normalizeH="0" baseline="0">
                <a:solidFill>
                  <a:schemeClr val="bg1"/>
                </a:solidFill>
                <a:latin typeface="宋体" panose="02010600030101010101" pitchFamily="2" charset="-122"/>
                <a:ea typeface="宋体" panose="02010600030101010101" pitchFamily="2" charset="-122"/>
                <a:cs typeface="宋体" panose="02010600030101010101" pitchFamily="2" charset="-122"/>
              </a:rPr>
              <a:t>国家能源局关于加快推进虚拟电厂发展的指导意见</a:t>
            </a:r>
            <a:endParaRPr kumimoji="0" lang="zh-CN" altLang="en-US" sz="1200" b="0" i="0" u="none" strike="noStrike" cap="none" normalizeH="0" baseline="0">
              <a:solidFill>
                <a:schemeClr val="bg1"/>
              </a:solidFill>
              <a:latin typeface="宋体" panose="02010600030101010101" pitchFamily="2" charset="-122"/>
              <a:ea typeface="宋体" panose="02010600030101010101" pitchFamily="2" charset="-122"/>
              <a:cs typeface="宋体" panose="02010600030101010101" pitchFamily="2" charset="-122"/>
            </a:endParaRPr>
          </a:p>
        </p:txBody>
      </p:sp>
      <p:sp>
        <p:nvSpPr>
          <p:cNvPr id="34" name="下箭头 33"/>
          <p:cNvSpPr/>
          <p:nvPr>
            <p:custDataLst>
              <p:tags r:id="rId17"/>
            </p:custDataLst>
          </p:nvPr>
        </p:nvSpPr>
        <p:spPr>
          <a:xfrm>
            <a:off x="6228080" y="3439160"/>
            <a:ext cx="447040" cy="1391920"/>
          </a:xfrm>
          <a:prstGeom prst="downArrow">
            <a:avLst/>
          </a:prstGeom>
          <a:solidFill>
            <a:schemeClr val="accent6">
              <a:lumMod val="20000"/>
              <a:lumOff val="80000"/>
            </a:schemeClr>
          </a:solidFill>
          <a:ln>
            <a:headEnd type="none" w="med" len="med"/>
            <a:tailEnd type="none" w="med" len="med"/>
          </a:ln>
        </p:spPr>
        <p:style>
          <a:lnRef idx="0">
            <a:srgbClr val="FFFFFF"/>
          </a:lnRef>
          <a:fillRef idx="2">
            <a:schemeClr val="accent6"/>
          </a:fillRef>
          <a:effectRef idx="0">
            <a:srgbClr val="FFFFFF"/>
          </a:effectRef>
          <a:fontRef idx="minor">
            <a:schemeClr val="lt1"/>
          </a:fontRef>
        </p:style>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35" name="组合 34"/>
          <p:cNvGrpSpPr/>
          <p:nvPr>
            <p:custDataLst>
              <p:tags r:id="rId18"/>
            </p:custDataLst>
          </p:nvPr>
        </p:nvGrpSpPr>
        <p:grpSpPr>
          <a:xfrm>
            <a:off x="5551805" y="5156835"/>
            <a:ext cx="1482090" cy="994211"/>
            <a:chOff x="1391" y="8008"/>
            <a:chExt cx="2578" cy="1322"/>
          </a:xfrm>
        </p:grpSpPr>
        <p:sp>
          <p:nvSpPr>
            <p:cNvPr id="36" name="圆角矩形 35"/>
            <p:cNvSpPr/>
            <p:nvPr>
              <p:custDataLst>
                <p:tags r:id="rId19"/>
              </p:custDataLst>
            </p:nvPr>
          </p:nvSpPr>
          <p:spPr>
            <a:xfrm>
              <a:off x="1448" y="8008"/>
              <a:ext cx="2433" cy="1302"/>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37" name="文本框 36"/>
            <p:cNvSpPr txBox="1"/>
            <p:nvPr>
              <p:custDataLst>
                <p:tags r:id="rId20"/>
              </p:custDataLst>
            </p:nvPr>
          </p:nvSpPr>
          <p:spPr>
            <a:xfrm>
              <a:off x="1391" y="8063"/>
              <a:ext cx="2578" cy="1267"/>
            </a:xfrm>
            <a:prstGeom prst="rect">
              <a:avLst/>
            </a:prstGeom>
            <a:noFill/>
          </p:spPr>
          <p:txBody>
            <a:bodyPr wrap="square" rtlCol="0">
              <a:spAutoFit/>
            </a:bodyPr>
            <a:p>
              <a:r>
                <a:rPr lang="zh-CN" altLang="en-US" sz="1400">
                  <a:solidFill>
                    <a:schemeClr val="bg1"/>
                  </a:solidFill>
                  <a:latin typeface="宋体" panose="02010600030101010101" pitchFamily="2" charset="-122"/>
                  <a:cs typeface="宋体" panose="02010600030101010101" pitchFamily="2" charset="-122"/>
                </a:rPr>
                <a:t>《虚拟电厂参与湖南电力市场交易实施细则（试行）》</a:t>
              </a:r>
              <a:endParaRPr lang="zh-CN" altLang="en-US" sz="1400">
                <a:solidFill>
                  <a:schemeClr val="bg1"/>
                </a:solidFill>
                <a:latin typeface="宋体" panose="02010600030101010101" pitchFamily="2" charset="-122"/>
                <a:cs typeface="宋体" panose="02010600030101010101" pitchFamily="2" charset="-122"/>
              </a:endParaRPr>
            </a:p>
          </p:txBody>
        </p:sp>
      </p:grpSp>
      <p:sp>
        <p:nvSpPr>
          <p:cNvPr id="39" name="右箭头 38"/>
          <p:cNvSpPr/>
          <p:nvPr/>
        </p:nvSpPr>
        <p:spPr>
          <a:xfrm>
            <a:off x="1475740" y="3501390"/>
            <a:ext cx="720090" cy="215900"/>
          </a:xfrm>
          <a:prstGeom prst="rightArrow">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0" name="右箭头 39"/>
          <p:cNvSpPr/>
          <p:nvPr/>
        </p:nvSpPr>
        <p:spPr>
          <a:xfrm>
            <a:off x="1475740" y="3915410"/>
            <a:ext cx="720090" cy="215900"/>
          </a:xfrm>
          <a:prstGeom prst="rightArrow">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1" name="右箭头 40"/>
          <p:cNvSpPr/>
          <p:nvPr/>
        </p:nvSpPr>
        <p:spPr>
          <a:xfrm>
            <a:off x="1475740" y="4329430"/>
            <a:ext cx="720090" cy="215900"/>
          </a:xfrm>
          <a:prstGeom prst="rightArrow">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2" name="左箭头 41"/>
          <p:cNvSpPr/>
          <p:nvPr/>
        </p:nvSpPr>
        <p:spPr>
          <a:xfrm>
            <a:off x="5507990" y="3503295"/>
            <a:ext cx="648335" cy="226060"/>
          </a:xfrm>
          <a:prstGeom prst="leftArrow">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3" name="左箭头 42"/>
          <p:cNvSpPr/>
          <p:nvPr/>
        </p:nvSpPr>
        <p:spPr>
          <a:xfrm>
            <a:off x="5507990" y="3893820"/>
            <a:ext cx="648335" cy="226060"/>
          </a:xfrm>
          <a:prstGeom prst="leftArrow">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4" name="左箭头 43"/>
          <p:cNvSpPr/>
          <p:nvPr/>
        </p:nvSpPr>
        <p:spPr>
          <a:xfrm>
            <a:off x="5551805" y="4319270"/>
            <a:ext cx="648335" cy="226060"/>
          </a:xfrm>
          <a:prstGeom prst="leftArrow">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5" name="圆角矩形 44"/>
          <p:cNvSpPr/>
          <p:nvPr/>
        </p:nvSpPr>
        <p:spPr>
          <a:xfrm>
            <a:off x="2312035" y="3580765"/>
            <a:ext cx="3124200" cy="950595"/>
          </a:xfrm>
          <a:prstGeom prst="roundRect">
            <a:avLst/>
          </a:prstGeom>
          <a:ln>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8" name="文本框 47"/>
          <p:cNvSpPr txBox="1"/>
          <p:nvPr/>
        </p:nvSpPr>
        <p:spPr>
          <a:xfrm>
            <a:off x="2327910" y="3641090"/>
            <a:ext cx="3246120" cy="829945"/>
          </a:xfrm>
          <a:prstGeom prst="rect">
            <a:avLst/>
          </a:prstGeom>
          <a:noFill/>
        </p:spPr>
        <p:txBody>
          <a:bodyPr wrap="square" rtlCol="0">
            <a:spAutoFit/>
          </a:bodyPr>
          <a:p>
            <a:pPr marL="285750" indent="-285750">
              <a:buFont typeface="Arial" panose="020B0604020202020204" pitchFamily="34" charset="0"/>
              <a:buChar char="•"/>
            </a:pPr>
            <a:r>
              <a:rPr lang="zh-CN" altLang="en-US" sz="1600"/>
              <a:t>提升虚拟电厂参与电力系统运行的安全水平</a:t>
            </a:r>
            <a:endParaRPr lang="zh-CN" altLang="en-US" sz="1600"/>
          </a:p>
          <a:p>
            <a:pPr marL="285750" indent="-285750">
              <a:buFont typeface="Arial" panose="020B0604020202020204" pitchFamily="34" charset="0"/>
              <a:buChar char="•"/>
            </a:pPr>
            <a:r>
              <a:rPr lang="zh-CN" altLang="en-US" sz="1600"/>
              <a:t>提升虚拟电厂自身安全水平</a:t>
            </a:r>
            <a:endParaRPr lang="zh-CN" altLang="en-US" sz="1600"/>
          </a:p>
        </p:txBody>
      </p:sp>
      <p:sp>
        <p:nvSpPr>
          <p:cNvPr id="49" name="左右箭头 48"/>
          <p:cNvSpPr/>
          <p:nvPr/>
        </p:nvSpPr>
        <p:spPr>
          <a:xfrm>
            <a:off x="6732270" y="3957320"/>
            <a:ext cx="1094740" cy="191770"/>
          </a:xfrm>
          <a:prstGeom prst="lef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0" name="矩形 49"/>
          <p:cNvSpPr/>
          <p:nvPr/>
        </p:nvSpPr>
        <p:spPr>
          <a:xfrm>
            <a:off x="7881620" y="3636645"/>
            <a:ext cx="1111885" cy="922020"/>
          </a:xfrm>
          <a:prstGeom prst="rect">
            <a:avLst/>
          </a:prstGeom>
          <a:noFill/>
          <a:ln>
            <a:noFill/>
          </a:ln>
        </p:spPr>
        <p:txBody>
          <a:bodyPr wrap="square" rtlCol="0" anchor="t">
            <a:spAutoFit/>
          </a:bodyPr>
          <a:p>
            <a:pPr algn="ctr"/>
            <a:r>
              <a:rPr lang="zh-CN" altLang="en-US" sz="1800" b="1">
                <a:ln w="6600">
                  <a:solidFill>
                    <a:schemeClr val="accent2"/>
                  </a:solidFill>
                  <a:prstDash val="solid"/>
                </a:ln>
                <a:solidFill>
                  <a:srgbClr val="FFFFFF"/>
                </a:solidFill>
                <a:effectLst>
                  <a:outerShdw dist="38100" dir="2700000" algn="tl" rotWithShape="0">
                    <a:schemeClr val="accent2"/>
                  </a:outerShdw>
                </a:effectLst>
              </a:rPr>
              <a:t>风险评估</a:t>
            </a:r>
            <a:r>
              <a:rPr lang="en-US" altLang="zh-CN" sz="1800" b="1">
                <a:ln w="6600">
                  <a:solidFill>
                    <a:schemeClr val="accent2"/>
                  </a:solidFill>
                  <a:prstDash val="solid"/>
                </a:ln>
                <a:solidFill>
                  <a:srgbClr val="FFFFFF"/>
                </a:solidFill>
                <a:effectLst>
                  <a:outerShdw dist="38100" dir="2700000" algn="tl" rotWithShape="0">
                    <a:schemeClr val="accent2"/>
                  </a:outerShdw>
                </a:effectLst>
              </a:rPr>
              <a:t>+</a:t>
            </a:r>
            <a:endParaRPr lang="en-US" altLang="zh-CN" sz="1800" b="1">
              <a:ln w="6600">
                <a:solidFill>
                  <a:schemeClr val="accent2"/>
                </a:solidFill>
                <a:prstDash val="solid"/>
              </a:ln>
              <a:solidFill>
                <a:srgbClr val="FFFFFF"/>
              </a:solidFill>
              <a:effectLst>
                <a:outerShdw dist="38100" dir="2700000" algn="tl" rotWithShape="0">
                  <a:schemeClr val="accent2"/>
                </a:outerShdw>
              </a:effectLst>
            </a:endParaRPr>
          </a:p>
          <a:p>
            <a:pPr algn="ctr"/>
            <a:r>
              <a:rPr lang="zh-CN" altLang="en-US" sz="1800" b="1">
                <a:ln w="6600">
                  <a:solidFill>
                    <a:schemeClr val="accent2"/>
                  </a:solidFill>
                  <a:prstDash val="solid"/>
                </a:ln>
                <a:solidFill>
                  <a:srgbClr val="FFFFFF"/>
                </a:solidFill>
                <a:effectLst>
                  <a:outerShdw dist="38100" dir="2700000" algn="tl" rotWithShape="0">
                    <a:schemeClr val="accent2"/>
                  </a:outerShdw>
                </a:effectLst>
              </a:rPr>
              <a:t>管理策略</a:t>
            </a:r>
            <a:endParaRPr lang="zh-CN" altLang="en-US" sz="1800" b="1">
              <a:ln w="6600">
                <a:solidFill>
                  <a:schemeClr val="accent2"/>
                </a:solidFill>
                <a:prstDash val="solid"/>
              </a:ln>
              <a:solidFill>
                <a:srgbClr val="FFFFFF"/>
              </a:solidFill>
              <a:effectLst>
                <a:outerShdw dist="38100" dir="2700000" algn="tl" rotWithShape="0">
                  <a:schemeClr val="accent2"/>
                </a:outerShdw>
              </a:effectLst>
            </a:endParaRPr>
          </a:p>
        </p:txBody>
      </p:sp>
      <p:sp>
        <p:nvSpPr>
          <p:cNvPr id="51" name="文本框 50"/>
          <p:cNvSpPr txBox="1"/>
          <p:nvPr/>
        </p:nvSpPr>
        <p:spPr>
          <a:xfrm>
            <a:off x="6732270" y="3632200"/>
            <a:ext cx="1107440" cy="368300"/>
          </a:xfrm>
          <a:prstGeom prst="rect">
            <a:avLst/>
          </a:prstGeom>
          <a:noFill/>
        </p:spPr>
        <p:txBody>
          <a:bodyPr wrap="square" rtlCol="0">
            <a:spAutoFit/>
          </a:bodyPr>
          <a:p>
            <a:r>
              <a:rPr lang="zh-CN" altLang="en-US" b="1"/>
              <a:t>虚拟电厂</a:t>
            </a:r>
            <a:endParaRPr lang="zh-CN" altLang="en-US" b="1"/>
          </a:p>
        </p:txBody>
      </p:sp>
      <p:sp>
        <p:nvSpPr>
          <p:cNvPr id="52" name="文本框 51"/>
          <p:cNvSpPr txBox="1"/>
          <p:nvPr/>
        </p:nvSpPr>
        <p:spPr>
          <a:xfrm>
            <a:off x="6732270" y="4098290"/>
            <a:ext cx="1107440" cy="368300"/>
          </a:xfrm>
          <a:prstGeom prst="rect">
            <a:avLst/>
          </a:prstGeom>
          <a:noFill/>
        </p:spPr>
        <p:txBody>
          <a:bodyPr wrap="square" rtlCol="0">
            <a:spAutoFit/>
          </a:bodyPr>
          <a:p>
            <a:r>
              <a:rPr lang="zh-CN" altLang="en-US" b="1"/>
              <a:t>电网运行</a:t>
            </a:r>
            <a:endParaRPr lang="zh-CN" altLang="en-US" b="1"/>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29699"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29700" name="Content Placeholder 3"/>
          <p:cNvSpPr>
            <a:spLocks noGrp="1"/>
          </p:cNvSpPr>
          <p:nvPr>
            <p:ph sz="quarter" idx="1"/>
          </p:nvPr>
        </p:nvSpPr>
        <p:spPr>
          <a:xfrm>
            <a:off x="250825" y="1125538"/>
            <a:ext cx="8569325"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4</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虚拟电厂对电网运行的风险评估及应对管理策略</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29701"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9702"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9703"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 name="矩形 1"/>
          <p:cNvSpPr/>
          <p:nvPr/>
        </p:nvSpPr>
        <p:spPr>
          <a:xfrm>
            <a:off x="179388" y="2714625"/>
            <a:ext cx="8496300" cy="1460500"/>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nvSpPr>
        <p:spPr>
          <a:xfrm>
            <a:off x="250825" y="1628775"/>
            <a:ext cx="8353425" cy="411162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产生风险内因：</a:t>
            </a:r>
            <a:r>
              <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虚拟电厂和电网以及分布式资源之间可以组成“云、边、端”的框架。虚拟电厂与电网系统的上层协同运行机制，主要涉及虚拟电厂聚合商与电网调度机构在调控指令响应、市场竞价交易及辅助服务供给等方面的双向交互。而虚拟电厂的</a:t>
            </a:r>
            <a:r>
              <a:rPr kumimoji="0" lang="zh-CN" altLang="en-US" sz="1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sym typeface="+mn-ea"/>
              </a:rPr>
              <a:t>下层操作</a:t>
            </a:r>
            <a:r>
              <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主要解决主要解决规模化的虚拟电厂或者下属的分布式</a:t>
            </a:r>
            <a:r>
              <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资源之间的多目标冲突，包括调度策略差异、利益分配优化及市场竞争博弈等交互问题。</a:t>
            </a: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4400" rtl="0" eaLnBrk="0" fontAlgn="base" latinLnBrk="0" hangingPunct="0">
              <a:lnSpc>
                <a:spcPct val="130000"/>
              </a:lnSpc>
              <a:spcBef>
                <a:spcPct val="0"/>
              </a:spcBef>
              <a:spcAft>
                <a:spcPct val="0"/>
              </a:spcAft>
              <a:buClrTx/>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上层操作</a:t>
            </a: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0" fontAlgn="base" latinLnBrk="0" hangingPunct="0">
              <a:lnSpc>
                <a:spcPct val="130000"/>
              </a:lnSpc>
              <a:spcBef>
                <a:spcPct val="0"/>
              </a:spcBef>
              <a:spcAft>
                <a:spcPct val="0"/>
              </a:spcAft>
              <a:buClrTx/>
              <a:buSzTx/>
              <a:buFontTx/>
              <a:buNone/>
              <a:defRPr/>
            </a:pPr>
            <a:r>
              <a:rPr lang="zh-CN" altLang="en-US" sz="18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虚拟电厂与电网系统的上层协同运行机制</a:t>
            </a:r>
            <a:endParaRPr kumimoji="0" lang="zh-CN" altLang="en-US" sz="1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4400" rtl="0" eaLnBrk="0" fontAlgn="base" latinLnBrk="0" hangingPunct="0">
              <a:lnSpc>
                <a:spcPct val="130000"/>
              </a:lnSpc>
              <a:spcBef>
                <a:spcPct val="0"/>
              </a:spcBef>
              <a:spcAft>
                <a:spcPct val="0"/>
              </a:spcAft>
              <a:buClrTx/>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下层操作</a:t>
            </a: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虚拟电厂之间或者是与分布式资源之间的</a:t>
            </a:r>
            <a:r>
              <a:rPr lang="zh-CN" altLang="en-US" sz="18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竞争博弈</a:t>
            </a:r>
            <a:endParaRPr kumimoji="0" lang="zh-CN" altLang="en-US" sz="1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30723"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30724" name="Content Placeholder 3"/>
          <p:cNvSpPr>
            <a:spLocks noGrp="1"/>
          </p:cNvSpPr>
          <p:nvPr>
            <p:ph sz="quarter" idx="1"/>
          </p:nvPr>
        </p:nvSpPr>
        <p:spPr>
          <a:xfrm>
            <a:off x="250825" y="1214438"/>
            <a:ext cx="8569325"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4</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sym typeface="+mn-ea"/>
              </a:rPr>
              <a:t>虚拟电厂对电网运行的风险评估及应对管理策略</a:t>
            </a:r>
            <a:endParaRPr lang="zh-CN" altLang="en-US" sz="2000" dirty="0"/>
          </a:p>
        </p:txBody>
      </p:sp>
      <p:sp>
        <p:nvSpPr>
          <p:cNvPr id="30725"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30726"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30727"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25668" name="矩形 25667"/>
          <p:cNvSpPr/>
          <p:nvPr/>
        </p:nvSpPr>
        <p:spPr>
          <a:xfrm>
            <a:off x="755650" y="6015038"/>
            <a:ext cx="7991475" cy="509588"/>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pic>
        <p:nvPicPr>
          <p:cNvPr id="30729" name="图片 2"/>
          <p:cNvPicPr>
            <a:picLocks noChangeAspect="1"/>
          </p:cNvPicPr>
          <p:nvPr/>
        </p:nvPicPr>
        <p:blipFill>
          <a:blip r:embed="rId1"/>
          <a:stretch>
            <a:fillRect/>
          </a:stretch>
        </p:blipFill>
        <p:spPr>
          <a:xfrm>
            <a:off x="1270635" y="1666875"/>
            <a:ext cx="5798185" cy="4930775"/>
          </a:xfrm>
          <a:prstGeom prst="rect">
            <a:avLst/>
          </a:prstGeom>
          <a:noFill/>
          <a:ln w="9525">
            <a:noFill/>
          </a:ln>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Line 8"/>
          <p:cNvSpPr/>
          <p:nvPr/>
        </p:nvSpPr>
        <p:spPr>
          <a:xfrm>
            <a:off x="228600" y="1066800"/>
            <a:ext cx="8610600" cy="0"/>
          </a:xfrm>
          <a:prstGeom prst="line">
            <a:avLst/>
          </a:prstGeom>
          <a:ln w="57150" cap="flat" cmpd="sng">
            <a:solidFill>
              <a:srgbClr val="0033CC"/>
            </a:solidFill>
            <a:prstDash val="solid"/>
            <a:bevel/>
            <a:headEnd type="none" w="med" len="med"/>
            <a:tailEnd type="none" w="med" len="med"/>
          </a:ln>
        </p:spPr>
      </p:sp>
      <p:sp>
        <p:nvSpPr>
          <p:cNvPr id="31747" name="Text Box 2"/>
          <p:cNvSpPr/>
          <p:nvPr/>
        </p:nvSpPr>
        <p:spPr>
          <a:xfrm>
            <a:off x="287338" y="228600"/>
            <a:ext cx="730885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r>
              <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rPr>
              <a:t>技术路线</a:t>
            </a:r>
            <a:endParaRPr lang="zh-CN" altLang="en-US" sz="4000" b="1" dirty="0">
              <a:solidFill>
                <a:srgbClr val="FF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31748" name="Content Placeholder 3"/>
          <p:cNvSpPr>
            <a:spLocks noGrp="1"/>
          </p:cNvSpPr>
          <p:nvPr>
            <p:ph sz="quarter" idx="1"/>
          </p:nvPr>
        </p:nvSpPr>
        <p:spPr>
          <a:xfrm>
            <a:off x="250825" y="1125538"/>
            <a:ext cx="8569325" cy="488950"/>
          </a:xfrm>
        </p:spPr>
        <p:txBody>
          <a:bodyPr vert="horz" wrap="square" lIns="91440" tIns="45720" rIns="91440" bIns="45720"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spcBef>
                <a:spcPct val="50000"/>
              </a:spcBef>
              <a:buNone/>
            </a:pP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内容</a:t>
            </a:r>
            <a:r>
              <a:rPr lang="en-US" altLang="zh-CN" sz="2000" b="1" dirty="0">
                <a:solidFill>
                  <a:srgbClr val="FF0000"/>
                </a:solidFill>
                <a:latin typeface="Arial" panose="020B0604020202020204" pitchFamily="34" charset="0"/>
                <a:ea typeface="黑体" panose="02010609060101010101" pitchFamily="49" charset="-122"/>
                <a:sym typeface="Arial" panose="020B0604020202020204" pitchFamily="34" charset="0"/>
              </a:rPr>
              <a:t>4</a:t>
            </a:r>
            <a:r>
              <a:rPr lang="zh-CN" altLang="en-US" sz="2000" b="1" dirty="0">
                <a:solidFill>
                  <a:srgbClr val="FF0000"/>
                </a:solidFill>
                <a:latin typeface="Arial" panose="020B0604020202020204" pitchFamily="34" charset="0"/>
                <a:ea typeface="黑体" panose="02010609060101010101" pitchFamily="49" charset="-122"/>
                <a:sym typeface="Arial" panose="020B0604020202020204" pitchFamily="34" charset="0"/>
              </a:rPr>
              <a:t>：</a:t>
            </a:r>
            <a:r>
              <a:rPr lang="zh-CN" altLang="en-US" sz="2000" b="1" dirty="0">
                <a:solidFill>
                  <a:srgbClr val="FF0000"/>
                </a:solidFill>
                <a:latin typeface="Arial" panose="020B0604020202020204" pitchFamily="34" charset="0"/>
                <a:ea typeface="黑体" panose="02010609060101010101" pitchFamily="49" charset="-122"/>
              </a:rPr>
              <a:t>虚拟电厂对电网运行的风险评估及应对管理策略</a:t>
            </a:r>
            <a:endParaRPr lang="zh-CN" altLang="en-US" sz="2000" b="1" dirty="0">
              <a:solidFill>
                <a:srgbClr val="FF0000"/>
              </a:solidFill>
              <a:latin typeface="Arial" panose="020B0604020202020204" pitchFamily="34" charset="0"/>
              <a:ea typeface="黑体" panose="02010609060101010101" pitchFamily="49" charset="-122"/>
            </a:endParaRPr>
          </a:p>
        </p:txBody>
      </p:sp>
      <p:sp>
        <p:nvSpPr>
          <p:cNvPr id="31749" name="Rectangle 85"/>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31750" name="Rectangle 88"/>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31751" name="Rectangle 90"/>
          <p:cNvSpPr/>
          <p:nvPr/>
        </p:nvSpPr>
        <p:spPr>
          <a:xfrm>
            <a:off x="0" y="-184150"/>
            <a:ext cx="30988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spcBef>
                <a:spcPct val="0"/>
              </a:spcBef>
              <a:buFontTx/>
              <a:buNone/>
            </a:pPr>
            <a:endParaRPr lang="zh-CN" altLang="zh-CN" sz="1800" dirty="0">
              <a:solidFill>
                <a:srgbClr val="000000"/>
              </a:solidFill>
              <a:sym typeface="宋体" panose="02010600030101010101" pitchFamily="2" charset="-122"/>
            </a:endParaRPr>
          </a:p>
        </p:txBody>
      </p:sp>
      <p:sp>
        <p:nvSpPr>
          <p:cNvPr id="5" name="文本框 4"/>
          <p:cNvSpPr txBox="1"/>
          <p:nvPr/>
        </p:nvSpPr>
        <p:spPr>
          <a:xfrm>
            <a:off x="395605" y="1555750"/>
            <a:ext cx="7650480" cy="2929255"/>
          </a:xfrm>
          <a:prstGeom prst="rect">
            <a:avLst/>
          </a:prstGeom>
          <a:noFill/>
        </p:spPr>
        <p:txBody>
          <a:bodyPr/>
          <a:lstStyle/>
          <a:p>
            <a:pPr marR="0" defTabSz="914400">
              <a:lnSpc>
                <a:spcPct val="130000"/>
              </a:lnSpc>
              <a:buClrTx/>
              <a:buSzTx/>
              <a:buFontTx/>
              <a:buNone/>
              <a:defRPr/>
            </a:pPr>
            <a:r>
              <a:rPr kumimoji="0" lang="zh-CN" altLang="en-US" b="1" kern="1200" cap="none" spc="0" normalizeH="0" baseline="0" noProof="0" dirty="0">
                <a:solidFill>
                  <a:srgbClr val="0070C0"/>
                </a:solidFill>
                <a:latin typeface="微软雅黑" panose="020B0503020204020204" pitchFamily="34" charset="-122"/>
                <a:ea typeface="微软雅黑" panose="020B0503020204020204" pitchFamily="34" charset="-122"/>
                <a:cs typeface="+mn-cs"/>
                <a:sym typeface="+mn-ea"/>
              </a:rPr>
              <a:t>上层操作中的风险评估</a:t>
            </a:r>
            <a:endParaRPr kumimoji="0" lang="zh-CN" altLang="en-US" b="1" kern="1200" cap="none" spc="0" normalizeH="0" baseline="0" noProof="0" dirty="0">
              <a:solidFill>
                <a:srgbClr val="0070C0"/>
              </a:solidFill>
              <a:latin typeface="微软雅黑" panose="020B0503020204020204" pitchFamily="34" charset="-122"/>
              <a:ea typeface="微软雅黑" panose="020B0503020204020204" pitchFamily="34" charset="-122"/>
              <a:cs typeface="+mn-cs"/>
              <a:sym typeface="+mn-ea"/>
            </a:endParaRPr>
          </a:p>
          <a:p>
            <a:pPr marR="0" indent="457200" defTabSz="914400">
              <a:lnSpc>
                <a:spcPct val="130000"/>
              </a:lnSpc>
              <a:buClrTx/>
              <a:buSzTx/>
              <a:buFontTx/>
              <a:buNone/>
              <a:defRPr/>
            </a:pPr>
            <a:r>
              <a:rPr kumimoji="0" lang="en-US" altLang="zh-CN" sz="1400" b="1" kern="1200" cap="none" spc="0" normalizeH="0" baseline="0" noProof="0" dirty="0">
                <a:solidFill>
                  <a:srgbClr val="0070C0"/>
                </a:solidFill>
                <a:latin typeface="微软雅黑" panose="020B0503020204020204" pitchFamily="34" charset="-122"/>
                <a:ea typeface="微软雅黑" panose="020B0503020204020204" pitchFamily="34" charset="-122"/>
                <a:cs typeface="+mn-cs"/>
                <a:sym typeface="+mn-ea"/>
              </a:rPr>
              <a:t> </a:t>
            </a:r>
            <a:r>
              <a:rPr kumimoji="0" lang="zh-CN" altLang="en-US" sz="1400" b="1" kern="1200" cap="none" spc="0" normalizeH="0" baseline="0" noProof="0" dirty="0">
                <a:latin typeface="微软雅黑" panose="020B0503020204020204" pitchFamily="34" charset="-122"/>
                <a:ea typeface="微软雅黑" panose="020B0503020204020204" pitchFamily="34" charset="-122"/>
                <a:cs typeface="+mn-cs"/>
                <a:sym typeface="+mn-ea"/>
              </a:rPr>
              <a:t>虚拟电厂参与电网调控与市场运营对电网安全稳定运行的潜在风险分析</a:t>
            </a:r>
            <a:endParaRPr kumimoji="0" lang="zh-CN" altLang="en-US" sz="1400" b="1" kern="1200" cap="none" spc="0" normalizeH="0" baseline="0" noProof="0" dirty="0">
              <a:latin typeface="微软雅黑" panose="020B0503020204020204" pitchFamily="34" charset="-122"/>
              <a:ea typeface="微软雅黑" panose="020B0503020204020204" pitchFamily="34" charset="-122"/>
              <a:cs typeface="+mn-cs"/>
              <a:sym typeface="+mn-ea"/>
            </a:endParaRPr>
          </a:p>
          <a:p>
            <a:pPr marR="0" algn="just" defTabSz="914400">
              <a:lnSpc>
                <a:spcPct val="130000"/>
              </a:lnSpc>
              <a:buClrTx/>
              <a:buSzTx/>
              <a:buFontTx/>
              <a:buNone/>
              <a:defRPr/>
            </a:pPr>
            <a:r>
              <a:rPr kumimoji="0" lang="en-US" altLang="zh-CN" kern="1200" cap="none" spc="0" normalizeH="0" baseline="0" noProof="0" dirty="0">
                <a:latin typeface="微软雅黑" panose="020B0503020204020204" pitchFamily="34" charset="-122"/>
                <a:ea typeface="微软雅黑" panose="020B0503020204020204" pitchFamily="34" charset="-122"/>
                <a:cs typeface="+mn-cs"/>
                <a:sym typeface="+mn-ea"/>
              </a:rPr>
              <a:t> </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sym typeface="+mn-ea"/>
              </a:rPr>
              <a:t>(1) 虚拟电厂聚合的分布式资源若响应不及时或出力偏差过大，可能导致电网调频、调峰容量不足，影响系统频率和电压稳定性，增加电网平衡压力，尤其在可再生能源高占比场景下风险更突出</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sym typeface="+mn-ea"/>
              </a:rPr>
              <a:t>；</a:t>
            </a:r>
            <a:endParaRPr kumimoji="0" lang="zh-CN" altLang="en-US" sz="1400" kern="1200" cap="none" spc="0" normalizeH="0" baseline="0" noProof="0" dirty="0">
              <a:latin typeface="微软雅黑" panose="020B0503020204020204" pitchFamily="34" charset="-122"/>
              <a:ea typeface="微软雅黑" panose="020B0503020204020204" pitchFamily="34" charset="-122"/>
              <a:cs typeface="+mn-cs"/>
              <a:sym typeface="+mn-ea"/>
            </a:endParaRPr>
          </a:p>
          <a:p>
            <a:pPr marR="0" algn="just" defTabSz="914400">
              <a:lnSpc>
                <a:spcPct val="130000"/>
              </a:lnSpc>
              <a:buClrTx/>
              <a:buSzTx/>
              <a:buFontTx/>
              <a:buNone/>
              <a:defRPr/>
            </a:pP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sym typeface="+mn-ea"/>
              </a:rPr>
              <a:t> (2) </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sym typeface="+mn-ea"/>
              </a:rPr>
              <a:t>虚拟电厂通过集中报价参与电力市场时，若市场力滥用或策略性竞价行为导致电价异常波动，可能扰乱市场出清秩序，影响电网经济运行，需加强市场监管与竞价规则设计。</a:t>
            </a:r>
            <a:endParaRPr kumimoji="0" lang="zh-CN" altLang="en-US" sz="1400" kern="1200" cap="none" spc="0" normalizeH="0" baseline="0" noProof="0" dirty="0">
              <a:latin typeface="微软雅黑" panose="020B0503020204020204" pitchFamily="34" charset="-122"/>
              <a:ea typeface="微软雅黑" panose="020B0503020204020204" pitchFamily="34" charset="-122"/>
              <a:cs typeface="+mn-cs"/>
              <a:sym typeface="+mn-ea"/>
            </a:endParaRPr>
          </a:p>
          <a:p>
            <a:pPr marR="0" algn="just" defTabSz="914400">
              <a:lnSpc>
                <a:spcPct val="130000"/>
              </a:lnSpc>
              <a:buClrTx/>
              <a:buSzTx/>
              <a:buFontTx/>
              <a:buNone/>
              <a:defRPr/>
            </a:pP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sym typeface="+mn-ea"/>
              </a:rPr>
              <a:t> (</a:t>
            </a: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sym typeface="+mn-ea"/>
              </a:rPr>
              <a:t>3</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sym typeface="+mn-ea"/>
              </a:rPr>
              <a:t>) </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rPr>
              <a:t>虚拟</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rPr>
              <a:t>电厂与电网调度系统间若存在通信延迟、数据失真或控制指令冲突，可能引发调控指令执行偏差，导致局部潮流越限或保护误动作，威胁电网安全运行，需强化通信协议标准化与协同控制验证。</a:t>
            </a:r>
            <a:endParaRPr kumimoji="0" lang="zh-CN" altLang="en-US" sz="1400" kern="1200" cap="none" spc="0" normalizeH="0" baseline="0" noProof="0" dirty="0">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394653" y="4508818"/>
            <a:ext cx="7650163" cy="2522538"/>
          </a:xfrm>
          <a:prstGeom prst="rect">
            <a:avLst/>
          </a:prstGeom>
          <a:noFill/>
        </p:spPr>
        <p:txBody>
          <a:bodyPr/>
          <a:lstStyle/>
          <a:p>
            <a:pPr marR="0" defTabSz="914400">
              <a:lnSpc>
                <a:spcPct val="130000"/>
              </a:lnSpc>
              <a:buClrTx/>
              <a:buSzTx/>
              <a:buFontTx/>
              <a:buNone/>
              <a:defRPr/>
            </a:pPr>
            <a:r>
              <a:rPr kumimoji="0" lang="zh-CN" altLang="en-US" b="1" kern="1200" cap="none" spc="0" normalizeH="0" baseline="0" noProof="0" dirty="0">
                <a:solidFill>
                  <a:srgbClr val="0070C0"/>
                </a:solidFill>
                <a:latin typeface="微软雅黑" panose="020B0503020204020204" pitchFamily="34" charset="-122"/>
                <a:ea typeface="微软雅黑" panose="020B0503020204020204" pitchFamily="34" charset="-122"/>
                <a:cs typeface="+mn-cs"/>
                <a:sym typeface="+mn-ea"/>
              </a:rPr>
              <a:t>下层操作中的风险评估</a:t>
            </a:r>
            <a:endParaRPr kumimoji="0" lang="zh-CN" altLang="en-US" b="1" kern="1200" cap="none" spc="0" normalizeH="0" baseline="0" noProof="0" dirty="0">
              <a:solidFill>
                <a:srgbClr val="0070C0"/>
              </a:solidFill>
              <a:latin typeface="微软雅黑" panose="020B0503020204020204" pitchFamily="34" charset="-122"/>
              <a:ea typeface="微软雅黑" panose="020B0503020204020204" pitchFamily="34" charset="-122"/>
              <a:cs typeface="+mn-cs"/>
              <a:sym typeface="+mn-ea"/>
            </a:endParaRPr>
          </a:p>
          <a:p>
            <a:pPr marR="0" indent="457200" defTabSz="914400">
              <a:lnSpc>
                <a:spcPct val="130000"/>
              </a:lnSpc>
              <a:buClrTx/>
              <a:buSzTx/>
              <a:buFontTx/>
              <a:buNone/>
              <a:defRPr/>
            </a:pPr>
            <a:r>
              <a:rPr kumimoji="0" lang="en-US" altLang="zh-CN" sz="1400" b="1" kern="1200" cap="none" spc="0" normalizeH="0" baseline="0" noProof="0" dirty="0">
                <a:solidFill>
                  <a:srgbClr val="0070C0"/>
                </a:solidFill>
                <a:latin typeface="微软雅黑" panose="020B0503020204020204" pitchFamily="34" charset="-122"/>
                <a:ea typeface="微软雅黑" panose="020B0503020204020204" pitchFamily="34" charset="-122"/>
                <a:cs typeface="+mn-cs"/>
                <a:sym typeface="+mn-ea"/>
              </a:rPr>
              <a:t> </a:t>
            </a:r>
            <a:r>
              <a:rPr kumimoji="0" lang="zh-CN" altLang="en-US" sz="1400" b="1" kern="1200" cap="none" spc="0" normalizeH="0" baseline="0" noProof="0" dirty="0">
                <a:latin typeface="微软雅黑" panose="020B0503020204020204" pitchFamily="34" charset="-122"/>
                <a:ea typeface="微软雅黑" panose="020B0503020204020204" pitchFamily="34" charset="-122"/>
                <a:cs typeface="+mn-cs"/>
                <a:sym typeface="+mn-ea"/>
              </a:rPr>
              <a:t>虚拟电厂和分布式资源之间的关系就更加复杂，一方面，它们之间需要通过合作达到双赢，另一方面又会存在利益上的竞争。</a:t>
            </a:r>
            <a:endParaRPr kumimoji="0" lang="zh-CN" altLang="en-US" sz="1400" b="1" kern="1200" cap="none" spc="0" normalizeH="0" baseline="0" noProof="0" dirty="0">
              <a:latin typeface="微软雅黑" panose="020B0503020204020204" pitchFamily="34" charset="-122"/>
              <a:ea typeface="微软雅黑" panose="020B0503020204020204" pitchFamily="34" charset="-122"/>
              <a:cs typeface="+mn-cs"/>
              <a:sym typeface="+mn-ea"/>
            </a:endParaRPr>
          </a:p>
          <a:p>
            <a:pPr marR="0" algn="just" defTabSz="914400">
              <a:lnSpc>
                <a:spcPct val="130000"/>
              </a:lnSpc>
              <a:buClrTx/>
              <a:buSzTx/>
              <a:buFontTx/>
              <a:buNone/>
              <a:defRPr/>
            </a:pP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sym typeface="+mn-ea"/>
              </a:rPr>
              <a:t> (1) 若虚拟电厂和分布式资源未能有效协调，可能导致供需失衡加剧，增加电网管理难度；</a:t>
            </a:r>
            <a:endParaRPr kumimoji="0" lang="en-US" altLang="zh-CN" sz="1400" kern="1200" cap="none" spc="0" normalizeH="0" baseline="0" noProof="0" dirty="0">
              <a:latin typeface="微软雅黑" panose="020B0503020204020204" pitchFamily="34" charset="-122"/>
              <a:ea typeface="微软雅黑" panose="020B0503020204020204" pitchFamily="34" charset="-122"/>
              <a:cs typeface="+mn-cs"/>
              <a:sym typeface="+mn-ea"/>
            </a:endParaRPr>
          </a:p>
          <a:p>
            <a:pPr marR="0" algn="just" defTabSz="914400">
              <a:lnSpc>
                <a:spcPct val="130000"/>
              </a:lnSpc>
              <a:buClrTx/>
              <a:buSzTx/>
              <a:buFontTx/>
              <a:buNone/>
              <a:defRPr/>
            </a:pP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sym typeface="+mn-ea"/>
              </a:rPr>
              <a:t> (2) </a:t>
            </a:r>
            <a:r>
              <a:rPr kumimoji="0" lang="en-US" altLang="zh-CN" sz="1400" kern="1200" cap="none" spc="0" normalizeH="0" baseline="0" noProof="0" dirty="0" err="1">
                <a:latin typeface="微软雅黑" panose="020B0503020204020204" pitchFamily="34" charset="-122"/>
                <a:ea typeface="微软雅黑" panose="020B0503020204020204" pitchFamily="34" charset="-122"/>
                <a:cs typeface="+mn-cs"/>
                <a:sym typeface="+mn-ea"/>
              </a:rPr>
              <a:t>若虚拟电厂过度依赖某些类型的分布式资源，</a:t>
            </a:r>
            <a:r>
              <a:rPr kumimoji="0" lang="en-US" altLang="zh-CN" sz="1400" kern="1200" cap="none" spc="0" normalizeH="0" baseline="0" noProof="0" dirty="0" err="1">
                <a:latin typeface="微软雅黑" panose="020B0503020204020204" pitchFamily="34" charset="-122"/>
                <a:ea typeface="微软雅黑" panose="020B0503020204020204" pitchFamily="34" charset="-122"/>
                <a:cs typeface="+mn-cs"/>
              </a:rPr>
              <a:t>可能会影响电网的整体稳定性</a:t>
            </a: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rPr>
              <a:t>；</a:t>
            </a:r>
            <a:endParaRPr kumimoji="0" lang="en-US" altLang="zh-CN" sz="1400" kern="1200" cap="none" spc="0" normalizeH="0" baseline="0" noProof="0" dirty="0">
              <a:latin typeface="微软雅黑" panose="020B0503020204020204" pitchFamily="34" charset="-122"/>
              <a:ea typeface="微软雅黑" panose="020B0503020204020204" pitchFamily="34" charset="-122"/>
              <a:cs typeface="+mn-cs"/>
            </a:endParaRPr>
          </a:p>
          <a:p>
            <a:pPr marR="0" algn="just" defTabSz="914400">
              <a:lnSpc>
                <a:spcPct val="130000"/>
              </a:lnSpc>
              <a:buClrTx/>
              <a:buSzTx/>
              <a:buFontTx/>
              <a:buNone/>
              <a:defRPr/>
            </a:pP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sym typeface="+mn-ea"/>
              </a:rPr>
              <a:t> (3) </a:t>
            </a: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rPr>
              <a:t>由于虚拟电厂涉及到复杂的算法和技术，可能存在信息不透明的问题，引发分布式资源和其他市场参与者之间的信任危机。</a:t>
            </a:r>
            <a:endParaRPr kumimoji="0" lang="en-US" altLang="zh-CN" sz="1400" kern="1200" cap="none" spc="0" normalizeH="0" baseline="0" noProof="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连接符 3"/>
          <p:cNvCxnSpPr/>
          <p:nvPr/>
        </p:nvCxnSpPr>
        <p:spPr bwMode="auto">
          <a:xfrm>
            <a:off x="323850" y="1125538"/>
            <a:ext cx="8424863" cy="0"/>
          </a:xfrm>
          <a:prstGeom prst="line">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38100" cap="flat" cmpd="sng" algn="ctr">
            <a:solidFill>
              <a:srgbClr val="0000FF"/>
            </a:solidFill>
            <a:prstDash val="solid"/>
            <a:round/>
            <a:headEnd type="none" w="med" len="med"/>
            <a:tailEnd type="none" w="med" len="med"/>
          </a:ln>
          <a:effectLst/>
        </p:spPr>
      </p:cxnSp>
      <p:sp>
        <p:nvSpPr>
          <p:cNvPr id="5" name="Rectangle 2"/>
          <p:cNvSpPr>
            <a:spLocks noGrp="1" noChangeArrowheads="1"/>
          </p:cNvSpPr>
          <p:nvPr>
            <p:ph type="title"/>
          </p:nvPr>
        </p:nvSpPr>
        <p:spPr>
          <a:xfrm>
            <a:off x="323850" y="115888"/>
            <a:ext cx="7597775" cy="838200"/>
          </a:xfrm>
        </p:spPr>
        <p:txBody>
          <a:bodyPr vert="horz" wrap="square" lIns="91440" tIns="45720" rIns="91440" bIns="45720" numCol="1" anchor="ctr" anchorCtr="0" compatLnSpc="1">
            <a:normAutofit/>
          </a:bodyPr>
          <a:lstStyle/>
          <a:p>
            <a:pPr marL="914400" marR="0" lvl="0" indent="-914400" algn="l" defTabSz="914400" rtl="0" eaLnBrk="0" fontAlgn="base" latinLnBrk="0" hangingPunct="0">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sym typeface="Calibri" panose="020F0502020204030204" pitchFamily="34" charset="0"/>
              </a:rPr>
              <a:t>汇报提纲</a:t>
            </a:r>
            <a:endParaRPr kumimoji="0" lang="zh-CN" altLang="en-US" sz="40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sym typeface="Calibri" panose="020F0502020204030204" pitchFamily="34" charset="0"/>
            </a:endParaRPr>
          </a:p>
        </p:txBody>
      </p:sp>
      <p:sp>
        <p:nvSpPr>
          <p:cNvPr id="43012" name="Slide Number Placeholder 1"/>
          <p:cNvSpPr txBox="1">
            <a:spLocks noGrp="1"/>
          </p:cNvSpPr>
          <p:nvPr>
            <p:ph type="sldNum" sz="quarter" idx="12"/>
          </p:nvPr>
        </p:nvSpPr>
        <p:spPr>
          <a:xfrm>
            <a:off x="7005638" y="6492875"/>
            <a:ext cx="2133600" cy="365125"/>
          </a:xfrm>
        </p:spPr>
        <p:txBody>
          <a:bodyPr anchor="ctr" anchorCtr="0"/>
          <a:p>
            <a:pPr marL="0" indent="0" algn="r" eaLnBrk="1" hangingPunct="1">
              <a:spcBef>
                <a:spcPct val="0"/>
              </a:spcBef>
              <a:buNone/>
            </a:pPr>
            <a:fld id="{9A0DB2DC-4C9A-4742-B13C-FB6460FD3503}" type="slidenum">
              <a:rPr lang="zh-CN" altLang="en-US" sz="1600" b="1" dirty="0">
                <a:latin typeface="Times New Roman" panose="02020603050405020304" pitchFamily="18" charset="0"/>
                <a:ea typeface="黑体" panose="02010609060101010101" pitchFamily="49" charset="-122"/>
                <a:sym typeface="黑体" panose="02010609060101010101" pitchFamily="49" charset="-122"/>
              </a:rPr>
            </a:fld>
            <a:endParaRPr lang="zh-CN" altLang="en-US" sz="1600" b="1" dirty="0">
              <a:latin typeface="Times New Roman" panose="02020603050405020304" pitchFamily="18" charset="0"/>
              <a:ea typeface="黑体" panose="02010609060101010101" pitchFamily="49" charset="-122"/>
              <a:sym typeface="黑体" panose="02010609060101010101" pitchFamily="49" charset="-122"/>
            </a:endParaRPr>
          </a:p>
        </p:txBody>
      </p:sp>
      <p:sp>
        <p:nvSpPr>
          <p:cNvPr id="43013" name="TextBox 19"/>
          <p:cNvSpPr txBox="1"/>
          <p:nvPr/>
        </p:nvSpPr>
        <p:spPr>
          <a:xfrm>
            <a:off x="395288" y="1196975"/>
            <a:ext cx="7777162" cy="501586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项目背景及目标</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研究内容</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0000FF"/>
                </a:solidFill>
                <a:latin typeface="微软雅黑" panose="020B0503020204020204" pitchFamily="34" charset="-122"/>
                <a:ea typeface="微软雅黑" panose="020B0503020204020204" pitchFamily="34" charset="-122"/>
              </a:rPr>
              <a:t> 技术路线及调研工作</a:t>
            </a:r>
            <a:endParaRPr lang="en-US" altLang="zh-CN" sz="3600" b="1" dirty="0">
              <a:solidFill>
                <a:srgbClr val="0000FF"/>
              </a:solidFill>
              <a:latin typeface="微软雅黑" panose="020B0503020204020204" pitchFamily="34" charset="-122"/>
              <a:ea typeface="微软雅黑" panose="020B0503020204020204" pitchFamily="34" charset="-122"/>
            </a:endParaRPr>
          </a:p>
          <a:p>
            <a:pPr marL="0" lvl="0" indent="0">
              <a:lnSpc>
                <a:spcPct val="200000"/>
              </a:lnSpc>
              <a:spcBef>
                <a:spcPct val="0"/>
              </a:spcBef>
              <a:buFont typeface="Wingdings" panose="05000000000000000000" pitchFamily="2" charset="2"/>
              <a:buChar char="n"/>
            </a:pPr>
            <a:r>
              <a:rPr lang="zh-CN" altLang="en-US" sz="3600" b="1" dirty="0">
                <a:solidFill>
                  <a:srgbClr val="FF0000"/>
                </a:solidFill>
                <a:latin typeface="微软雅黑" panose="020B0503020204020204" pitchFamily="34" charset="-122"/>
                <a:ea typeface="微软雅黑" panose="020B0503020204020204" pitchFamily="34" charset="-122"/>
              </a:rPr>
              <a:t> 进度安排</a:t>
            </a:r>
            <a:endParaRPr lang="en-US" altLang="zh-CN" sz="3600" b="1" dirty="0">
              <a:solidFill>
                <a:srgbClr val="FF0000"/>
              </a:solidFill>
              <a:latin typeface="Arial" panose="020B0604020202020204" pitchFamily="34" charset="0"/>
            </a:endParaRPr>
          </a:p>
          <a:p>
            <a:pPr marL="0" lvl="0" indent="0">
              <a:spcBef>
                <a:spcPct val="0"/>
              </a:spcBef>
              <a:buFontTx/>
              <a:buNone/>
            </a:pPr>
            <a:endParaRPr lang="en-US" altLang="zh-CN" b="1" dirty="0">
              <a:solidFill>
                <a:srgbClr val="FF0000"/>
              </a:solidFill>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直接连接符 3"/>
          <p:cNvSpPr/>
          <p:nvPr/>
        </p:nvSpPr>
        <p:spPr>
          <a:xfrm>
            <a:off x="323850" y="1125538"/>
            <a:ext cx="8424863" cy="1587"/>
          </a:xfrm>
          <a:prstGeom prst="line">
            <a:avLst/>
          </a:prstGeom>
          <a:ln w="38100" cap="flat" cmpd="sng">
            <a:solidFill>
              <a:srgbClr val="0000FF"/>
            </a:solidFill>
            <a:prstDash val="solid"/>
            <a:bevel/>
            <a:headEnd type="none" w="med" len="med"/>
            <a:tailEnd type="none" w="med" len="med"/>
          </a:ln>
        </p:spPr>
      </p:sp>
      <p:sp>
        <p:nvSpPr>
          <p:cNvPr id="45059" name="Rectangle 2"/>
          <p:cNvSpPr>
            <a:spLocks noGrp="1"/>
          </p:cNvSpPr>
          <p:nvPr>
            <p:ph type="title"/>
          </p:nvPr>
        </p:nvSpPr>
        <p:spPr>
          <a:xfrm>
            <a:off x="323850" y="115888"/>
            <a:ext cx="8820150" cy="838200"/>
          </a:xfrm>
        </p:spPr>
        <p:txBody>
          <a:bodyPr vert="horz" wrap="square" lIns="91440" tIns="45720" rIns="91440" bIns="45720" anchor="ctr" anchorCtr="0"/>
          <a:p>
            <a:pPr algn="l"/>
            <a:r>
              <a:rPr lang="zh-CN" altLang="zh-CN" sz="4000" b="1" dirty="0">
                <a:solidFill>
                  <a:srgbClr val="FF0000"/>
                </a:solidFill>
                <a:latin typeface="黑体" panose="02010609060101010101" pitchFamily="49" charset="-122"/>
                <a:ea typeface="黑体" panose="02010609060101010101" pitchFamily="49" charset="-122"/>
                <a:sym typeface="宋体" panose="02010600030101010101" pitchFamily="2" charset="-122"/>
              </a:rPr>
              <a:t>进度安排</a:t>
            </a:r>
            <a:endParaRPr lang="zh-CN" altLang="zh-CN" sz="4000" b="1" dirty="0">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graphicFrame>
        <p:nvGraphicFramePr>
          <p:cNvPr id="3" name="表格 2"/>
          <p:cNvGraphicFramePr/>
          <p:nvPr>
            <p:custDataLst>
              <p:tags r:id="rId1"/>
            </p:custDataLst>
          </p:nvPr>
        </p:nvGraphicFramePr>
        <p:xfrm>
          <a:off x="611505" y="1196975"/>
          <a:ext cx="7897495" cy="5486400"/>
        </p:xfrm>
        <a:graphic>
          <a:graphicData uri="http://schemas.openxmlformats.org/drawingml/2006/table">
            <a:tbl>
              <a:tblPr firstRow="1" bandRow="1">
                <a:tableStyleId>{2B8C28C4-22F4-4A2A-ABE2-610BF05FE7CF}</a:tableStyleId>
              </a:tblPr>
              <a:tblGrid>
                <a:gridCol w="2607945"/>
                <a:gridCol w="5289550"/>
              </a:tblGrid>
              <a:tr h="365760">
                <a:tc>
                  <a:txBody>
                    <a:bodyPr/>
                    <a:p>
                      <a:pPr marL="0" indent="0" algn="ctr">
                        <a:lnSpc>
                          <a:spcPts val="1500"/>
                        </a:lnSpc>
                        <a:spcBef>
                          <a:spcPct val="0"/>
                        </a:spcBef>
                        <a:spcAft>
                          <a:spcPct val="0"/>
                        </a:spcAft>
                      </a:pPr>
                      <a:r>
                        <a:rPr lang="zh-CN" sz="1100"/>
                        <a:t>时间段</a:t>
                      </a:r>
                      <a:endParaRPr lang="zh-CN" sz="1100"/>
                    </a:p>
                  </a:txBody>
                  <a:tcPr marL="68580" marR="68580" marT="0" marB="0" anchor="ctr" anchorCtr="0"/>
                </a:tc>
                <a:tc>
                  <a:txBody>
                    <a:bodyPr/>
                    <a:p>
                      <a:pPr marL="0" indent="0" algn="ctr">
                        <a:lnSpc>
                          <a:spcPts val="1500"/>
                        </a:lnSpc>
                        <a:spcBef>
                          <a:spcPct val="0"/>
                        </a:spcBef>
                        <a:spcAft>
                          <a:spcPct val="0"/>
                        </a:spcAft>
                      </a:pPr>
                      <a:r>
                        <a:rPr lang="zh-CN" sz="1100"/>
                        <a:t>主要内容</a:t>
                      </a:r>
                      <a:endParaRPr lang="zh-CN" sz="1100"/>
                    </a:p>
                  </a:txBody>
                  <a:tcPr marL="68580" marR="68580" marT="0" marB="0" anchor="ctr" anchorCtr="0"/>
                </a:tc>
              </a:tr>
              <a:tr h="960120">
                <a:tc>
                  <a:txBody>
                    <a:bodyPr/>
                    <a:p>
                      <a:pPr marL="0" indent="0" algn="ctr">
                        <a:lnSpc>
                          <a:spcPts val="1500"/>
                        </a:lnSpc>
                        <a:spcBef>
                          <a:spcPct val="0"/>
                        </a:spcBef>
                        <a:spcAft>
                          <a:spcPct val="0"/>
                        </a:spcAft>
                      </a:pPr>
                      <a:r>
                        <a:rPr lang="zh-CN" sz="1400"/>
                        <a:t>合同签订</a:t>
                      </a:r>
                      <a:r>
                        <a:rPr lang="en-US" altLang="zh-CN" sz="1400"/>
                        <a:t>—2025</a:t>
                      </a:r>
                      <a:r>
                        <a:rPr lang="zh-CN" sz="1400"/>
                        <a:t>年</a:t>
                      </a:r>
                      <a:r>
                        <a:rPr lang="en-US" altLang="zh-CN" sz="1400"/>
                        <a:t>5</a:t>
                      </a:r>
                      <a:r>
                        <a:rPr lang="zh-CN" sz="1400"/>
                        <a:t>月</a:t>
                      </a:r>
                      <a:endParaRPr lang="zh-CN" sz="1400"/>
                    </a:p>
                  </a:txBody>
                  <a:tcPr marL="68580" marR="68580" marT="0" marB="0" anchor="ctr" anchorCtr="0"/>
                </a:tc>
                <a:tc>
                  <a:txBody>
                    <a:bodyPr/>
                    <a:p>
                      <a:pPr indent="0" algn="l" fontAlgn="auto">
                        <a:lnSpc>
                          <a:spcPct val="150000"/>
                        </a:lnSpc>
                        <a:spcBef>
                          <a:spcPct val="0"/>
                        </a:spcBef>
                        <a:spcAft>
                          <a:spcPct val="0"/>
                        </a:spcAft>
                      </a:pPr>
                      <a:r>
                        <a:rPr lang="zh-CN" sz="1400"/>
                        <a:t>（</a:t>
                      </a:r>
                      <a:r>
                        <a:rPr lang="en-US" altLang="zh-CN" sz="1400"/>
                        <a:t>1</a:t>
                      </a:r>
                      <a:r>
                        <a:rPr lang="zh-CN" sz="1400"/>
                        <a:t>）研究目标与方向的确定；</a:t>
                      </a:r>
                      <a:endParaRPr lang="zh-CN" sz="1400"/>
                    </a:p>
                    <a:p>
                      <a:pPr indent="0" algn="l" fontAlgn="auto">
                        <a:lnSpc>
                          <a:spcPct val="150000"/>
                        </a:lnSpc>
                        <a:spcBef>
                          <a:spcPct val="0"/>
                        </a:spcBef>
                        <a:spcAft>
                          <a:spcPct val="0"/>
                        </a:spcAft>
                      </a:pPr>
                      <a:r>
                        <a:rPr lang="zh-CN" sz="1400"/>
                        <a:t>（</a:t>
                      </a:r>
                      <a:r>
                        <a:rPr lang="en-US" altLang="zh-CN" sz="1400"/>
                        <a:t>2</a:t>
                      </a:r>
                      <a:r>
                        <a:rPr lang="zh-CN" sz="1400"/>
                        <a:t>）</a:t>
                      </a:r>
                      <a:r>
                        <a:rPr lang="zh-CN" sz="1400">
                          <a:sym typeface="+mn-ea"/>
                        </a:rPr>
                        <a:t>基础政策的收集与分析</a:t>
                      </a:r>
                      <a:r>
                        <a:rPr lang="zh-CN" sz="1400"/>
                        <a:t>；</a:t>
                      </a:r>
                      <a:endParaRPr lang="zh-CN" sz="1400"/>
                    </a:p>
                    <a:p>
                      <a:pPr indent="0" algn="l" fontAlgn="auto">
                        <a:lnSpc>
                          <a:spcPct val="150000"/>
                        </a:lnSpc>
                        <a:spcBef>
                          <a:spcPct val="0"/>
                        </a:spcBef>
                        <a:spcAft>
                          <a:spcPct val="0"/>
                        </a:spcAft>
                      </a:pPr>
                      <a:r>
                        <a:rPr lang="zh-CN" sz="1400"/>
                        <a:t>（</a:t>
                      </a:r>
                      <a:r>
                        <a:rPr lang="en-US" altLang="zh-CN" sz="1400"/>
                        <a:t>3</a:t>
                      </a:r>
                      <a:r>
                        <a:rPr lang="zh-CN" sz="1400"/>
                        <a:t>）研究方案设计</a:t>
                      </a:r>
                      <a:endParaRPr lang="zh-CN" sz="1400"/>
                    </a:p>
                  </a:txBody>
                  <a:tcPr marL="68580" marR="68580" marT="0" marB="0" anchor="ctr" anchorCtr="0"/>
                </a:tc>
              </a:tr>
              <a:tr h="1280160">
                <a:tc>
                  <a:txBody>
                    <a:bodyPr/>
                    <a:p>
                      <a:pPr marL="0" indent="0" algn="ctr">
                        <a:lnSpc>
                          <a:spcPts val="1500"/>
                        </a:lnSpc>
                        <a:spcBef>
                          <a:spcPct val="0"/>
                        </a:spcBef>
                        <a:spcAft>
                          <a:spcPct val="0"/>
                        </a:spcAft>
                      </a:pPr>
                      <a:r>
                        <a:rPr lang="en-US" altLang="zh-CN" sz="1400"/>
                        <a:t>2025</a:t>
                      </a:r>
                      <a:r>
                        <a:rPr lang="zh-CN" sz="1400"/>
                        <a:t>年</a:t>
                      </a:r>
                      <a:r>
                        <a:rPr lang="en-US" altLang="zh-CN" sz="1400"/>
                        <a:t>5</a:t>
                      </a:r>
                      <a:r>
                        <a:rPr lang="zh-CN" sz="1400"/>
                        <a:t>月—</a:t>
                      </a:r>
                      <a:r>
                        <a:rPr lang="en-US" altLang="zh-CN" sz="1400"/>
                        <a:t>2025</a:t>
                      </a:r>
                      <a:r>
                        <a:rPr lang="zh-CN" sz="1400"/>
                        <a:t>年</a:t>
                      </a:r>
                      <a:r>
                        <a:rPr lang="en-US" altLang="zh-CN" sz="1400"/>
                        <a:t>6</a:t>
                      </a:r>
                      <a:r>
                        <a:rPr lang="zh-CN" sz="1400"/>
                        <a:t>月</a:t>
                      </a:r>
                      <a:endParaRPr lang="zh-CN" sz="1400"/>
                    </a:p>
                  </a:txBody>
                  <a:tcPr marL="68580" marR="68580" marT="0" marB="0" anchor="ctr" anchorCtr="0"/>
                </a:tc>
                <a:tc>
                  <a:txBody>
                    <a:bodyPr/>
                    <a:p>
                      <a:pPr indent="0" algn="l" fontAlgn="auto">
                        <a:lnSpc>
                          <a:spcPct val="150000"/>
                        </a:lnSpc>
                        <a:spcBef>
                          <a:spcPct val="0"/>
                        </a:spcBef>
                        <a:spcAft>
                          <a:spcPct val="0"/>
                        </a:spcAft>
                      </a:pPr>
                      <a:r>
                        <a:rPr lang="zh-CN" sz="1400"/>
                        <a:t>（</a:t>
                      </a:r>
                      <a:r>
                        <a:rPr lang="en-US" altLang="zh-CN" sz="1400"/>
                        <a:t>1</a:t>
                      </a:r>
                      <a:r>
                        <a:rPr lang="zh-CN" sz="1400"/>
                        <a:t>）开题报告；</a:t>
                      </a:r>
                      <a:endParaRPr lang="zh-CN" sz="1400"/>
                    </a:p>
                    <a:p>
                      <a:pPr indent="0" algn="l" fontAlgn="auto">
                        <a:lnSpc>
                          <a:spcPct val="150000"/>
                        </a:lnSpc>
                        <a:spcBef>
                          <a:spcPct val="0"/>
                        </a:spcBef>
                        <a:spcAft>
                          <a:spcPct val="0"/>
                        </a:spcAft>
                      </a:pPr>
                      <a:r>
                        <a:rPr lang="zh-CN" sz="1400"/>
                        <a:t>（</a:t>
                      </a:r>
                      <a:r>
                        <a:rPr lang="en-US" altLang="zh-CN" sz="1400"/>
                        <a:t>2</a:t>
                      </a:r>
                      <a:r>
                        <a:rPr lang="zh-CN" sz="1400"/>
                        <a:t>）四个专题分工与研究方案；</a:t>
                      </a:r>
                      <a:endParaRPr lang="zh-CN" sz="1400"/>
                    </a:p>
                    <a:p>
                      <a:pPr indent="0" algn="l" fontAlgn="auto">
                        <a:lnSpc>
                          <a:spcPct val="150000"/>
                        </a:lnSpc>
                        <a:spcBef>
                          <a:spcPct val="0"/>
                        </a:spcBef>
                        <a:spcAft>
                          <a:spcPct val="0"/>
                        </a:spcAft>
                      </a:pPr>
                      <a:r>
                        <a:rPr lang="zh-CN" sz="1400"/>
                        <a:t>（</a:t>
                      </a:r>
                      <a:r>
                        <a:rPr lang="en-US" altLang="zh-CN" sz="1400"/>
                        <a:t>3</a:t>
                      </a:r>
                      <a:r>
                        <a:rPr lang="zh-CN" sz="1400"/>
                        <a:t>）项目调研；</a:t>
                      </a:r>
                      <a:endParaRPr lang="zh-CN" sz="1400"/>
                    </a:p>
                    <a:p>
                      <a:pPr indent="0" algn="l" fontAlgn="auto">
                        <a:lnSpc>
                          <a:spcPct val="150000"/>
                        </a:lnSpc>
                        <a:spcBef>
                          <a:spcPct val="0"/>
                        </a:spcBef>
                        <a:spcAft>
                          <a:spcPct val="0"/>
                        </a:spcAft>
                      </a:pPr>
                      <a:r>
                        <a:rPr lang="zh-CN" sz="1400"/>
                        <a:t>（</a:t>
                      </a:r>
                      <a:r>
                        <a:rPr lang="en-US" altLang="zh-CN" sz="1400"/>
                        <a:t>4</a:t>
                      </a:r>
                      <a:r>
                        <a:rPr lang="zh-CN" sz="1400"/>
                        <a:t>）</a:t>
                      </a:r>
                      <a:r>
                        <a:rPr lang="zh-CN" sz="1400">
                          <a:sym typeface="+mn-ea"/>
                        </a:rPr>
                        <a:t>国内外相关数据、资料收集与整理，形成文献综述</a:t>
                      </a:r>
                      <a:endParaRPr lang="zh-CN" sz="1400">
                        <a:sym typeface="+mn-ea"/>
                      </a:endParaRPr>
                    </a:p>
                  </a:txBody>
                  <a:tcPr marL="68580" marR="68580" marT="0" marB="0" anchor="ctr" anchorCtr="0"/>
                </a:tc>
              </a:tr>
              <a:tr h="960120">
                <a:tc>
                  <a:txBody>
                    <a:bodyPr/>
                    <a:p>
                      <a:pPr marL="0" indent="0" algn="ctr">
                        <a:lnSpc>
                          <a:spcPts val="1500"/>
                        </a:lnSpc>
                        <a:spcBef>
                          <a:spcPct val="0"/>
                        </a:spcBef>
                        <a:spcAft>
                          <a:spcPct val="0"/>
                        </a:spcAft>
                      </a:pPr>
                      <a:r>
                        <a:rPr lang="en-US" altLang="zh-CN" sz="1400"/>
                        <a:t>2025</a:t>
                      </a:r>
                      <a:r>
                        <a:rPr lang="zh-CN" sz="1400"/>
                        <a:t>年</a:t>
                      </a:r>
                      <a:r>
                        <a:rPr lang="en-US" altLang="zh-CN" sz="1400"/>
                        <a:t>6</a:t>
                      </a:r>
                      <a:r>
                        <a:rPr lang="zh-CN" sz="1400"/>
                        <a:t>月—</a:t>
                      </a:r>
                      <a:r>
                        <a:rPr lang="en-US" altLang="zh-CN" sz="1400"/>
                        <a:t>2025</a:t>
                      </a:r>
                      <a:r>
                        <a:rPr lang="zh-CN" sz="1400"/>
                        <a:t>年</a:t>
                      </a:r>
                      <a:r>
                        <a:rPr lang="en-US" altLang="zh-CN" sz="1400"/>
                        <a:t>7</a:t>
                      </a:r>
                      <a:r>
                        <a:rPr lang="zh-CN" sz="1400"/>
                        <a:t>月</a:t>
                      </a:r>
                      <a:endParaRPr lang="zh-CN" sz="1400"/>
                    </a:p>
                  </a:txBody>
                  <a:tcPr marL="68580" marR="68580" marT="0" marB="0" anchor="ctr" anchorCtr="0"/>
                </a:tc>
                <a:tc>
                  <a:txBody>
                    <a:bodyPr/>
                    <a:p>
                      <a:pPr indent="0" algn="l" fontAlgn="auto">
                        <a:lnSpc>
                          <a:spcPct val="150000"/>
                        </a:lnSpc>
                        <a:spcBef>
                          <a:spcPct val="0"/>
                        </a:spcBef>
                        <a:spcAft>
                          <a:spcPct val="0"/>
                        </a:spcAft>
                      </a:pPr>
                      <a:r>
                        <a:rPr lang="zh-CN" sz="1400"/>
                        <a:t>（</a:t>
                      </a:r>
                      <a:r>
                        <a:rPr lang="en-US" altLang="zh-CN" sz="1400"/>
                        <a:t>1</a:t>
                      </a:r>
                      <a:r>
                        <a:rPr lang="zh-CN" sz="1400"/>
                        <a:t>）四个专题报告初稿（框架与专题的部分核心内容）；</a:t>
                      </a:r>
                      <a:r>
                        <a:rPr lang="zh-CN" altLang="en-US" sz="1400"/>
                        <a:t> </a:t>
                      </a:r>
                      <a:endParaRPr lang="zh-CN" altLang="en-US" sz="1400"/>
                    </a:p>
                    <a:p>
                      <a:pPr indent="0" algn="l" fontAlgn="auto">
                        <a:lnSpc>
                          <a:spcPct val="150000"/>
                        </a:lnSpc>
                        <a:spcBef>
                          <a:spcPct val="0"/>
                        </a:spcBef>
                        <a:spcAft>
                          <a:spcPct val="0"/>
                        </a:spcAft>
                      </a:pPr>
                      <a:r>
                        <a:rPr lang="zh-CN" sz="1400"/>
                        <a:t>（</a:t>
                      </a:r>
                      <a:r>
                        <a:rPr lang="en-US" altLang="zh-CN" sz="1400"/>
                        <a:t>2</a:t>
                      </a:r>
                      <a:r>
                        <a:rPr lang="zh-CN" sz="1400"/>
                        <a:t>）项目调研；</a:t>
                      </a:r>
                      <a:endParaRPr lang="zh-CN" sz="1400"/>
                    </a:p>
                    <a:p>
                      <a:pPr indent="0" algn="l" fontAlgn="auto">
                        <a:lnSpc>
                          <a:spcPct val="150000"/>
                        </a:lnSpc>
                        <a:spcBef>
                          <a:spcPct val="0"/>
                        </a:spcBef>
                        <a:spcAft>
                          <a:spcPct val="0"/>
                        </a:spcAft>
                      </a:pPr>
                      <a:r>
                        <a:rPr lang="zh-CN" sz="1400"/>
                        <a:t>（</a:t>
                      </a:r>
                      <a:r>
                        <a:rPr lang="en-US" altLang="zh-CN" sz="1400"/>
                        <a:t>3</a:t>
                      </a:r>
                      <a:r>
                        <a:rPr lang="zh-CN" sz="1400"/>
                        <a:t>）第一次专家咨询研讨会</a:t>
                      </a:r>
                      <a:endParaRPr lang="zh-CN" sz="1400"/>
                    </a:p>
                  </a:txBody>
                  <a:tcPr marL="68580" marR="68580" marT="0" marB="0" anchor="ctr" anchorCtr="0"/>
                </a:tc>
              </a:tr>
              <a:tr h="640080">
                <a:tc>
                  <a:txBody>
                    <a:bodyPr/>
                    <a:p>
                      <a:pPr marL="0" indent="0" algn="ctr">
                        <a:lnSpc>
                          <a:spcPts val="1500"/>
                        </a:lnSpc>
                        <a:spcBef>
                          <a:spcPct val="0"/>
                        </a:spcBef>
                        <a:spcAft>
                          <a:spcPct val="0"/>
                        </a:spcAft>
                      </a:pPr>
                      <a:r>
                        <a:rPr lang="en-US" altLang="zh-CN" sz="1400"/>
                        <a:t>2025</a:t>
                      </a:r>
                      <a:r>
                        <a:rPr lang="zh-CN" sz="1400"/>
                        <a:t>年</a:t>
                      </a:r>
                      <a:r>
                        <a:rPr lang="en-US" altLang="zh-CN" sz="1400"/>
                        <a:t>7</a:t>
                      </a:r>
                      <a:r>
                        <a:rPr lang="zh-CN" sz="1400"/>
                        <a:t>月—</a:t>
                      </a:r>
                      <a:r>
                        <a:rPr lang="en-US" altLang="zh-CN" sz="1400"/>
                        <a:t>2025</a:t>
                      </a:r>
                      <a:r>
                        <a:rPr lang="zh-CN" sz="1400"/>
                        <a:t>年</a:t>
                      </a:r>
                      <a:r>
                        <a:rPr lang="en-US" altLang="zh-CN" sz="1400"/>
                        <a:t>8</a:t>
                      </a:r>
                      <a:r>
                        <a:rPr lang="zh-CN" sz="1400"/>
                        <a:t>月</a:t>
                      </a:r>
                      <a:endParaRPr lang="zh-CN" sz="1400"/>
                    </a:p>
                  </a:txBody>
                  <a:tcPr marL="68580" marR="68580" marT="0" marB="0" anchor="ctr" anchorCtr="0"/>
                </a:tc>
                <a:tc>
                  <a:txBody>
                    <a:bodyPr/>
                    <a:p>
                      <a:pPr indent="0" algn="l" fontAlgn="auto">
                        <a:lnSpc>
                          <a:spcPct val="150000"/>
                        </a:lnSpc>
                        <a:spcBef>
                          <a:spcPct val="0"/>
                        </a:spcBef>
                        <a:spcAft>
                          <a:spcPct val="0"/>
                        </a:spcAft>
                      </a:pPr>
                      <a:r>
                        <a:rPr lang="zh-CN" sz="1400"/>
                        <a:t>（</a:t>
                      </a:r>
                      <a:r>
                        <a:rPr lang="en-US" altLang="zh-CN" sz="1400"/>
                        <a:t>1</a:t>
                      </a:r>
                      <a:r>
                        <a:rPr lang="zh-CN" sz="1400"/>
                        <a:t>）中期专家检查会；</a:t>
                      </a:r>
                      <a:endParaRPr lang="zh-CN" sz="1400"/>
                    </a:p>
                    <a:p>
                      <a:pPr indent="0" algn="l" fontAlgn="auto">
                        <a:lnSpc>
                          <a:spcPct val="150000"/>
                        </a:lnSpc>
                        <a:spcBef>
                          <a:spcPct val="0"/>
                        </a:spcBef>
                        <a:spcAft>
                          <a:spcPct val="0"/>
                        </a:spcAft>
                      </a:pPr>
                      <a:r>
                        <a:rPr lang="zh-CN" sz="1400"/>
                        <a:t>（</a:t>
                      </a:r>
                      <a:r>
                        <a:rPr lang="en-US" altLang="zh-CN" sz="1400"/>
                        <a:t>2</a:t>
                      </a:r>
                      <a:r>
                        <a:rPr lang="zh-CN" sz="1400"/>
                        <a:t>）确定研究报告修改方案</a:t>
                      </a:r>
                      <a:endParaRPr lang="zh-CN" sz="1400"/>
                    </a:p>
                  </a:txBody>
                  <a:tcPr marL="68580" marR="68580" marT="0" marB="0" anchor="ctr" anchorCtr="0"/>
                </a:tc>
              </a:tr>
              <a:tr h="640080">
                <a:tc>
                  <a:txBody>
                    <a:bodyPr/>
                    <a:p>
                      <a:pPr marL="0" indent="0" algn="ctr">
                        <a:lnSpc>
                          <a:spcPts val="1500"/>
                        </a:lnSpc>
                        <a:spcBef>
                          <a:spcPct val="0"/>
                        </a:spcBef>
                        <a:spcAft>
                          <a:spcPct val="0"/>
                        </a:spcAft>
                      </a:pPr>
                      <a:r>
                        <a:rPr lang="en-US" altLang="zh-CN" sz="1400"/>
                        <a:t>2025</a:t>
                      </a:r>
                      <a:r>
                        <a:rPr lang="zh-CN" sz="1400"/>
                        <a:t>年</a:t>
                      </a:r>
                      <a:r>
                        <a:rPr lang="en-US" altLang="zh-CN" sz="1400"/>
                        <a:t>8</a:t>
                      </a:r>
                      <a:r>
                        <a:rPr lang="zh-CN" sz="1400"/>
                        <a:t>月—</a:t>
                      </a:r>
                      <a:r>
                        <a:rPr lang="en-US" altLang="zh-CN" sz="1400"/>
                        <a:t>2025</a:t>
                      </a:r>
                      <a:r>
                        <a:rPr lang="zh-CN" sz="1400"/>
                        <a:t>年</a:t>
                      </a:r>
                      <a:r>
                        <a:rPr lang="en-US" altLang="zh-CN" sz="1400"/>
                        <a:t>10</a:t>
                      </a:r>
                      <a:r>
                        <a:rPr lang="zh-CN" sz="1400"/>
                        <a:t>月</a:t>
                      </a:r>
                      <a:endParaRPr lang="zh-CN" sz="1400"/>
                    </a:p>
                  </a:txBody>
                  <a:tcPr marL="68580" marR="68580" marT="0" marB="0" anchor="ctr" anchorCtr="0"/>
                </a:tc>
                <a:tc>
                  <a:txBody>
                    <a:bodyPr/>
                    <a:p>
                      <a:pPr indent="0" algn="l" fontAlgn="auto">
                        <a:lnSpc>
                          <a:spcPct val="150000"/>
                        </a:lnSpc>
                        <a:spcBef>
                          <a:spcPct val="0"/>
                        </a:spcBef>
                        <a:spcAft>
                          <a:spcPct val="0"/>
                        </a:spcAft>
                      </a:pPr>
                      <a:r>
                        <a:rPr lang="zh-CN" sz="1400"/>
                        <a:t>（</a:t>
                      </a:r>
                      <a:r>
                        <a:rPr lang="en-US" altLang="zh-CN" sz="1400"/>
                        <a:t>1</a:t>
                      </a:r>
                      <a:r>
                        <a:rPr lang="zh-CN" sz="1400"/>
                        <a:t>）完成研究报告稿修改稿；</a:t>
                      </a:r>
                      <a:endParaRPr lang="zh-CN" sz="1400"/>
                    </a:p>
                    <a:p>
                      <a:pPr indent="0" algn="l" fontAlgn="auto">
                        <a:lnSpc>
                          <a:spcPct val="150000"/>
                        </a:lnSpc>
                        <a:spcBef>
                          <a:spcPct val="0"/>
                        </a:spcBef>
                        <a:spcAft>
                          <a:spcPct val="0"/>
                        </a:spcAft>
                      </a:pPr>
                      <a:r>
                        <a:rPr lang="zh-CN" sz="1400"/>
                        <a:t>（</a:t>
                      </a:r>
                      <a:r>
                        <a:rPr lang="en-US" altLang="zh-CN" sz="1400"/>
                        <a:t>2</a:t>
                      </a:r>
                      <a:r>
                        <a:rPr lang="zh-CN" sz="1400"/>
                        <a:t>）第二次专家咨询研讨会</a:t>
                      </a:r>
                      <a:endParaRPr lang="zh-CN" sz="1400"/>
                    </a:p>
                  </a:txBody>
                  <a:tcPr marL="68580" marR="68580" marT="0" marB="0" anchor="ctr" anchorCtr="0"/>
                </a:tc>
              </a:tr>
              <a:tr h="640080">
                <a:tc>
                  <a:txBody>
                    <a:bodyPr/>
                    <a:p>
                      <a:pPr marL="0" indent="0" algn="ctr">
                        <a:lnSpc>
                          <a:spcPts val="1500"/>
                        </a:lnSpc>
                        <a:spcBef>
                          <a:spcPct val="0"/>
                        </a:spcBef>
                        <a:spcAft>
                          <a:spcPct val="0"/>
                        </a:spcAft>
                      </a:pPr>
                      <a:r>
                        <a:rPr lang="en-US" altLang="zh-CN" sz="1400"/>
                        <a:t>2025</a:t>
                      </a:r>
                      <a:r>
                        <a:rPr lang="zh-CN" sz="1400"/>
                        <a:t>年</a:t>
                      </a:r>
                      <a:r>
                        <a:rPr lang="en-US" altLang="zh-CN" sz="1400"/>
                        <a:t>10</a:t>
                      </a:r>
                      <a:r>
                        <a:rPr lang="zh-CN" sz="1400"/>
                        <a:t>月</a:t>
                      </a:r>
                      <a:r>
                        <a:rPr lang="en-US" altLang="zh-CN" sz="1400"/>
                        <a:t>—2025</a:t>
                      </a:r>
                      <a:r>
                        <a:rPr lang="zh-CN" sz="1400"/>
                        <a:t>年</a:t>
                      </a:r>
                      <a:r>
                        <a:rPr lang="en-US" altLang="zh-CN" sz="1400"/>
                        <a:t>11</a:t>
                      </a:r>
                      <a:r>
                        <a:rPr lang="zh-CN" sz="1400"/>
                        <a:t>月</a:t>
                      </a:r>
                      <a:endParaRPr lang="zh-CN" sz="1400"/>
                    </a:p>
                  </a:txBody>
                  <a:tcPr marL="68580" marR="68580" marT="0" marB="0" anchor="ctr" anchorCtr="0"/>
                </a:tc>
                <a:tc>
                  <a:txBody>
                    <a:bodyPr/>
                    <a:p>
                      <a:pPr indent="0" algn="l" fontAlgn="auto">
                        <a:lnSpc>
                          <a:spcPct val="150000"/>
                        </a:lnSpc>
                        <a:spcBef>
                          <a:spcPct val="0"/>
                        </a:spcBef>
                        <a:spcAft>
                          <a:spcPct val="0"/>
                        </a:spcAft>
                      </a:pPr>
                      <a:r>
                        <a:rPr lang="zh-CN" sz="1400"/>
                        <a:t>（</a:t>
                      </a:r>
                      <a:r>
                        <a:rPr lang="en-US" altLang="zh-CN" sz="1400"/>
                        <a:t>1</a:t>
                      </a:r>
                      <a:r>
                        <a:rPr lang="zh-CN" sz="1400"/>
                        <a:t>）研究报告与成果完善；</a:t>
                      </a:r>
                      <a:endParaRPr lang="zh-CN" sz="1400"/>
                    </a:p>
                    <a:p>
                      <a:pPr indent="0" algn="l" fontAlgn="auto">
                        <a:lnSpc>
                          <a:spcPct val="150000"/>
                        </a:lnSpc>
                        <a:spcBef>
                          <a:spcPct val="0"/>
                        </a:spcBef>
                        <a:spcAft>
                          <a:spcPct val="0"/>
                        </a:spcAft>
                      </a:pPr>
                      <a:r>
                        <a:rPr lang="zh-CN" sz="1400"/>
                        <a:t>（</a:t>
                      </a:r>
                      <a:r>
                        <a:rPr lang="en-US" altLang="zh-CN" sz="1400"/>
                        <a:t>2</a:t>
                      </a:r>
                      <a:r>
                        <a:rPr lang="zh-CN" sz="1400"/>
                        <a:t>）项目验收</a:t>
                      </a:r>
                      <a:endParaRPr lang="zh-CN" sz="1400"/>
                    </a:p>
                  </a:txBody>
                  <a:tcPr marL="68580" marR="68580" marT="0" marB="0" anchor="ctr" anchorCtr="0"/>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47113" name="Text Box 9"/>
          <p:cNvSpPr/>
          <p:nvPr/>
        </p:nvSpPr>
        <p:spPr>
          <a:xfrm>
            <a:off x="323850" y="2641600"/>
            <a:ext cx="8496300" cy="82994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stStyle>
          <a:p>
            <a:pPr marL="0" lvl="0" indent="0" algn="ctr" eaLnBrk="1" hangingPunct="1">
              <a:spcBef>
                <a:spcPct val="0"/>
              </a:spcBef>
              <a:buNone/>
            </a:pPr>
            <a:r>
              <a:rPr lang="zh-CN" altLang="en-US" sz="4800" b="1" dirty="0">
                <a:solidFill>
                  <a:schemeClr val="tx1"/>
                </a:solidFill>
                <a:latin typeface="+mj-ea"/>
                <a:ea typeface="+mj-ea"/>
                <a:sym typeface="+mn-ea"/>
              </a:rPr>
              <a:t>感谢倾听</a:t>
            </a:r>
            <a:r>
              <a:rPr lang="zh-CN" altLang="en-US" sz="4800" b="1" noProof="0" dirty="0">
                <a:ln>
                  <a:noFill/>
                </a:ln>
                <a:solidFill>
                  <a:schemeClr val="tx1"/>
                </a:solidFill>
                <a:effectLst/>
                <a:uLnTx/>
                <a:uFillTx/>
                <a:latin typeface="+mj-ea"/>
                <a:ea typeface="+mj-ea"/>
                <a:sym typeface="+mn-ea"/>
              </a:rPr>
              <a:t>！</a:t>
            </a:r>
            <a:endParaRPr lang="zh-CN" altLang="en-US" sz="4800" b="1" noProof="0" dirty="0">
              <a:ln>
                <a:noFill/>
              </a:ln>
              <a:solidFill>
                <a:schemeClr val="tx1"/>
              </a:solidFill>
              <a:effectLst/>
              <a:uLnTx/>
              <a:uFillTx/>
              <a:latin typeface="+mj-ea"/>
              <a:ea typeface="+mj-ea"/>
              <a:sym typeface="+mn-ea"/>
            </a:endParaRPr>
          </a:p>
        </p:txBody>
      </p:sp>
    </p:spTree>
  </p:cSld>
  <p:clrMapOvr>
    <a:masterClrMapping/>
  </p:clrMapOvr>
</p:sld>
</file>

<file path=ppt/tags/tag1.xml><?xml version="1.0" encoding="utf-8"?>
<p:tagLst xmlns:p="http://schemas.openxmlformats.org/presentationml/2006/main">
  <p:tag name="TABLE_ENDDRAG_ORIGIN_RECT" val="670*399"/>
  <p:tag name="TABLE_ENDDRAG_RECT" val="25*94*670*399"/>
</p:tagLst>
</file>

<file path=ppt/tags/tag2.xml><?xml version="1.0" encoding="utf-8"?>
<p:tagLst xmlns:p="http://schemas.openxmlformats.org/presentationml/2006/main">
  <p:tag name="TABLE_ENDDRAG_ORIGIN_RECT" val="671*385"/>
  <p:tag name="TABLE_ENDDRAG_RECT" val="24*105*671*385"/>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DIAGRAM_VIRTUALLY_FRAME" val="{&quot;height&quot;:316.25,&quot;left&quot;:37.87503937007874,&quot;top&quot;:184.25,&quot;width&quot;:644.25}"/>
</p:tagLst>
</file>

<file path=ppt/tags/tag27.xml><?xml version="1.0" encoding="utf-8"?>
<p:tagLst xmlns:p="http://schemas.openxmlformats.org/presentationml/2006/main">
  <p:tag name="KSO_WM_DIAGRAM_VIRTUALLY_FRAME" val="{&quot;height&quot;:316.25,&quot;left&quot;:37.87503937007874,&quot;top&quot;:184.25,&quot;width&quot;:644.25}"/>
</p:tagLst>
</file>

<file path=ppt/tags/tag28.xml><?xml version="1.0" encoding="utf-8"?>
<p:tagLst xmlns:p="http://schemas.openxmlformats.org/presentationml/2006/main">
  <p:tag name="KSO_WM_DIAGRAM_VIRTUALLY_FRAME" val="{&quot;height&quot;:316.25,&quot;left&quot;:37.87503937007874,&quot;top&quot;:184.25,&quot;width&quot;:644.25}"/>
</p:tagLst>
</file>

<file path=ppt/tags/tag29.xml><?xml version="1.0" encoding="utf-8"?>
<p:tagLst xmlns:p="http://schemas.openxmlformats.org/presentationml/2006/main">
  <p:tag name="KSO_WM_DIAGRAM_VIRTUALLY_FRAME" val="{&quot;height&quot;:316.25,&quot;left&quot;:37.87503937007874,&quot;top&quot;:184.25,&quot;width&quot;:644.25}"/>
</p:tagLst>
</file>

<file path=ppt/tags/tag30.xml><?xml version="1.0" encoding="utf-8"?>
<p:tagLst xmlns:p="http://schemas.openxmlformats.org/presentationml/2006/main">
  <p:tag name="KSO_WM_DIAGRAM_VIRTUALLY_FRAME" val="{&quot;height&quot;:316.25,&quot;left&quot;:37.87503937007874,&quot;top&quot;:184.25,&quot;width&quot;:644.25}"/>
</p:tagLst>
</file>

<file path=ppt/tags/tag31.xml><?xml version="1.0" encoding="utf-8"?>
<p:tagLst xmlns:p="http://schemas.openxmlformats.org/presentationml/2006/main">
  <p:tag name="KSO_WM_DIAGRAM_VIRTUALLY_FRAME" val="{&quot;height&quot;:316.25,&quot;left&quot;:37.87503937007874,&quot;top&quot;:184.25,&quot;width&quot;:644.25}"/>
</p:tagLst>
</file>

<file path=ppt/tags/tag32.xml><?xml version="1.0" encoding="utf-8"?>
<p:tagLst xmlns:p="http://schemas.openxmlformats.org/presentationml/2006/main">
  <p:tag name="KSO_WM_DIAGRAM_VIRTUALLY_FRAME" val="{&quot;height&quot;:316.25,&quot;left&quot;:37.87503937007874,&quot;top&quot;:184.25,&quot;width&quot;:644.25}"/>
</p:tagLst>
</file>

<file path=ppt/tags/tag33.xml><?xml version="1.0" encoding="utf-8"?>
<p:tagLst xmlns:p="http://schemas.openxmlformats.org/presentationml/2006/main">
  <p:tag name="KSO_WM_DIAGRAM_VIRTUALLY_FRAME" val="{&quot;height&quot;:316.25,&quot;left&quot;:37.87503937007874,&quot;top&quot;:184.25,&quot;width&quot;:644.25}"/>
</p:tagLst>
</file>

<file path=ppt/tags/tag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1709_1*d*1"/>
  <p:tag name="KSO_WM_TEMPLATE_CATEGORY" val="custom"/>
  <p:tag name="KSO_WM_TEMPLATE_INDEX" val="20231709"/>
  <p:tag name="KSO_WM_UNIT_LAYERLEVEL" val="1"/>
  <p:tag name="KSO_WM_TAG_VERSION" val="3.0"/>
  <p:tag name="KSO_WM_UNIT_VALUE" val="1204*869"/>
  <p:tag name="KSO_WM_UNIT_TYPE" val="d"/>
  <p:tag name="KSO_WM_UNIT_INDEX" val="1"/>
  <p:tag name="KSO_WM_UNIT_USESOURCEFORMAT_APPLY" val="1"/>
  <p:tag name="KSO_WM_UNIT_LINE_FORE_SCHEMECOLOR_INDEX" val="1"/>
  <p:tag name="KSO_WM_UNIT_LINE_FILL_TYPE" val="2"/>
  <p:tag name="KSO_WM_UNIT_PICTURE_SUBTYPE" val="b"/>
  <p:tag name="MH_PIC_SOURCE_TYPE" val="generate_slide_ai*VCG211401930681*gallery_gallery_ai_v2.0.9_ONLINE*390ae4f0ce54ecb57425d7bfd696c37f-slide-26"/>
</p:tagLst>
</file>

<file path=ppt/tags/tag3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689_2*l_h_i*1_1_1"/>
  <p:tag name="KSO_WM_TEMPLATE_CATEGORY" val="diagram"/>
  <p:tag name="KSO_WM_TEMPLATE_INDEX" val="20231689"/>
  <p:tag name="KSO_WM_UNIT_LAYERLEVEL" val="1_1_1"/>
  <p:tag name="KSO_WM_TAG_VERSION" val="3.0"/>
  <p:tag name="KSO_WM_DIAGRAM_GROUP_CODE" val="l1-1"/>
  <p:tag name="KSO_WM_DIAGRAM_MAX_ITEMCNT" val="2"/>
  <p:tag name="KSO_WM_DIAGRAM_MIN_ITEMCNT" val="1"/>
  <p:tag name="KSO_WM_DIAGRAM_VIRTUALLY_FRAME" val="{&quot;height&quot;:365.6499938964843,&quot;left&quot;:223.93137490099807,&quot;top&quot;:65.60705029585229,&quot;width&quot;:507.6000061035156}"/>
  <p:tag name="KSO_WM_DIAGRAM_COLOR_MATCH_VALUE" val="{&quot;shape&quot;:{&quot;fill&quot;:{&quot;gradient&quot;:[{&quot;brightness&quot;:0,&quot;colorType&quot;:1,&quot;foreColorIndex&quot;:5,&quot;pos&quot;:1,&quot;transparency&quot;:0.5199999809265137},{&quot;brightness&quot;:0,&quot;colorType&quot;:1,&quot;foreColorIndex&quot;:5,&quot;pos&quot;:0.23000000417232513,&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Lst>
</file>

<file path=ppt/tags/tag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9_2*l_h_a*1_1_1"/>
  <p:tag name="KSO_WM_TEMPLATE_CATEGORY" val="diagram"/>
  <p:tag name="KSO_WM_TEMPLATE_INDEX" val="20231689"/>
  <p:tag name="KSO_WM_UNIT_LAYERLEVEL" val="1_1_1"/>
  <p:tag name="KSO_WM_TAG_VERSION" val="3.0"/>
  <p:tag name="KSO_WM_BEAUTIFY_FLAG" val="#wm#"/>
  <p:tag name="KSO_WM_UNIT_TEXT_FILL_FORE_SCHEMECOLOR_INDEX_BRIGHTNESS" val="0.15"/>
  <p:tag name="KSO_WM_DIAGRAM_GROUP_CODE" val="l1-1"/>
  <p:tag name="KSO_WM_DIAGRAM_MAX_ITEMCNT" val="2"/>
  <p:tag name="KSO_WM_DIAGRAM_MIN_ITEMCNT" val="1"/>
  <p:tag name="KSO_WM_DIAGRAM_VIRTUALLY_FRAME" val="{&quot;height&quot;:365.6499938964843,&quot;left&quot;:223.93137490099807,&quot;top&quot;:65.60705029585229,&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Lst>
</file>

<file path=ppt/tags/tag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689_2*l_h_i*1_1_1"/>
  <p:tag name="KSO_WM_TEMPLATE_CATEGORY" val="diagram"/>
  <p:tag name="KSO_WM_TEMPLATE_INDEX" val="20231689"/>
  <p:tag name="KSO_WM_UNIT_LAYERLEVEL" val="1_1_1"/>
  <p:tag name="KSO_WM_TAG_VERSION" val="3.0"/>
  <p:tag name="KSO_WM_DIAGRAM_GROUP_CODE" val="l1-1"/>
  <p:tag name="KSO_WM_DIAGRAM_MAX_ITEMCNT" val="2"/>
  <p:tag name="KSO_WM_DIAGRAM_MIN_ITEMCNT" val="1"/>
  <p:tag name="KSO_WM_DIAGRAM_VIRTUALLY_FRAME" val="{&quot;height&quot;:365.6499938964843,&quot;left&quot;:223.93137490099807,&quot;top&quot;:65.60705029585229,&quot;width&quot;:507.6000061035156}"/>
  <p:tag name="KSO_WM_DIAGRAM_COLOR_MATCH_VALUE" val="{&quot;shape&quot;:{&quot;fill&quot;:{&quot;gradient&quot;:[{&quot;brightness&quot;:0,&quot;colorType&quot;:1,&quot;foreColorIndex&quot;:5,&quot;pos&quot;:1,&quot;transparency&quot;:0.5199999809265137},{&quot;brightness&quot;:0,&quot;colorType&quot;:1,&quot;foreColorIndex&quot;:5,&quot;pos&quot;:0.23000000417232513,&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Lst>
</file>

<file path=ppt/tags/tag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9_2*l_h_a*1_1_1"/>
  <p:tag name="KSO_WM_TEMPLATE_CATEGORY" val="diagram"/>
  <p:tag name="KSO_WM_TEMPLATE_INDEX" val="20231689"/>
  <p:tag name="KSO_WM_UNIT_LAYERLEVEL" val="1_1_1"/>
  <p:tag name="KSO_WM_TAG_VERSION" val="3.0"/>
  <p:tag name="KSO_WM_BEAUTIFY_FLAG" val="#wm#"/>
  <p:tag name="KSO_WM_UNIT_TEXT_FILL_FORE_SCHEMECOLOR_INDEX_BRIGHTNESS" val="0.15"/>
  <p:tag name="KSO_WM_DIAGRAM_GROUP_CODE" val="l1-1"/>
  <p:tag name="KSO_WM_DIAGRAM_MAX_ITEMCNT" val="2"/>
  <p:tag name="KSO_WM_DIAGRAM_MIN_ITEMCNT" val="1"/>
  <p:tag name="KSO_WM_DIAGRAM_VIRTUALLY_FRAME" val="{&quot;height&quot;:365.6499938964843,&quot;left&quot;:223.93137490099807,&quot;top&quot;:65.60705029585229,&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Lst>
</file>

<file path=ppt/tags/tag39.xml><?xml version="1.0" encoding="utf-8"?>
<p:tagLst xmlns:p="http://schemas.openxmlformats.org/presentationml/2006/main">
  <p:tag name="KSO_WM_DIAGRAM_VIRTUALLY_FRAME" val="{&quot;height&quot;:285.25,&quot;left&quot;:42.5,&quot;top&quot;:183.3,&quot;width&quot;:637.35}"/>
</p:tagLst>
</file>

<file path=ppt/tags/tag40.xml><?xml version="1.0" encoding="utf-8"?>
<p:tagLst xmlns:p="http://schemas.openxmlformats.org/presentationml/2006/main">
  <p:tag name="KSO_WM_DIAGRAM_VIRTUALLY_FRAME" val="{&quot;height&quot;:285.25,&quot;left&quot;:42.5,&quot;top&quot;:183.3,&quot;width&quot;:637.35}"/>
</p:tagLst>
</file>

<file path=ppt/tags/tag41.xml><?xml version="1.0" encoding="utf-8"?>
<p:tagLst xmlns:p="http://schemas.openxmlformats.org/presentationml/2006/main">
  <p:tag name="KSO_WM_DIAGRAM_VIRTUALLY_FRAME" val="{&quot;height&quot;:285.25,&quot;left&quot;:42.5,&quot;top&quot;:183.3,&quot;width&quot;:637.35}"/>
</p:tagLst>
</file>

<file path=ppt/tags/tag42.xml><?xml version="1.0" encoding="utf-8"?>
<p:tagLst xmlns:p="http://schemas.openxmlformats.org/presentationml/2006/main">
  <p:tag name="KSO_WM_DIAGRAM_VIRTUALLY_FRAME" val="{&quot;height&quot;:285.25,&quot;left&quot;:42.5,&quot;top&quot;:183.3,&quot;width&quot;:637.35}"/>
</p:tagLst>
</file>

<file path=ppt/tags/tag43.xml><?xml version="1.0" encoding="utf-8"?>
<p:tagLst xmlns:p="http://schemas.openxmlformats.org/presentationml/2006/main">
  <p:tag name="KSO_WM_DIAGRAM_VIRTUALLY_FRAME" val="{&quot;height&quot;:285.25,&quot;left&quot;:42.5,&quot;top&quot;:183.3,&quot;width&quot;:637.35}"/>
</p:tagLst>
</file>

<file path=ppt/tags/tag44.xml><?xml version="1.0" encoding="utf-8"?>
<p:tagLst xmlns:p="http://schemas.openxmlformats.org/presentationml/2006/main">
  <p:tag name="KSO_WM_DIAGRAM_VIRTUALLY_FRAME" val="{&quot;height&quot;:285.25,&quot;left&quot;:42.5,&quot;top&quot;:183.3,&quot;width&quot;:637.35}"/>
</p:tagLst>
</file>

<file path=ppt/tags/tag45.xml><?xml version="1.0" encoding="utf-8"?>
<p:tagLst xmlns:p="http://schemas.openxmlformats.org/presentationml/2006/main">
  <p:tag name="KSO_WM_DIAGRAM_VIRTUALLY_FRAME" val="{&quot;height&quot;:285.25,&quot;left&quot;:42.5,&quot;top&quot;:183.3,&quot;width&quot;:637.35}"/>
</p:tagLst>
</file>

<file path=ppt/tags/tag46.xml><?xml version="1.0" encoding="utf-8"?>
<p:tagLst xmlns:p="http://schemas.openxmlformats.org/presentationml/2006/main">
  <p:tag name="KSO_WM_DIAGRAM_VIRTUALLY_FRAME" val="{&quot;height&quot;:285.25,&quot;left&quot;:42.5,&quot;top&quot;:183.3,&quot;width&quot;:637.35}"/>
</p:tagLst>
</file>

<file path=ppt/tags/tag47.xml><?xml version="1.0" encoding="utf-8"?>
<p:tagLst xmlns:p="http://schemas.openxmlformats.org/presentationml/2006/main">
  <p:tag name="KSO_WM_DIAGRAM_VIRTUALLY_FRAME" val="{&quot;height&quot;:285.25,&quot;left&quot;:42.5,&quot;top&quot;:183.3,&quot;width&quot;:637.35}"/>
</p:tagLst>
</file>

<file path=ppt/tags/tag48.xml><?xml version="1.0" encoding="utf-8"?>
<p:tagLst xmlns:p="http://schemas.openxmlformats.org/presentationml/2006/main">
  <p:tag name="KSO_WM_DIAGRAM_VIRTUALLY_FRAME" val="{&quot;height&quot;:289.2,&quot;left&quot;:79,&quot;top&quot;:176.3,&quot;width&quot;:307.05}"/>
</p:tagLst>
</file>

<file path=ppt/tags/tag49.xml><?xml version="1.0" encoding="utf-8"?>
<p:tagLst xmlns:p="http://schemas.openxmlformats.org/presentationml/2006/main">
  <p:tag name="KSO_WM_DIAGRAM_VIRTUALLY_FRAME" val="{&quot;height&quot;:289.2,&quot;left&quot;:79,&quot;top&quot;:176.3,&quot;width&quot;:484.55}"/>
</p:tagLst>
</file>

<file path=ppt/tags/tag50.xml><?xml version="1.0" encoding="utf-8"?>
<p:tagLst xmlns:p="http://schemas.openxmlformats.org/presentationml/2006/main">
  <p:tag name="KSO_WM_DIAGRAM_VIRTUALLY_FRAME" val="{&quot;height&quot;:289.2,&quot;left&quot;:79,&quot;top&quot;:176.3,&quot;width&quot;:307.05}"/>
</p:tagLst>
</file>

<file path=ppt/tags/tag51.xml><?xml version="1.0" encoding="utf-8"?>
<p:tagLst xmlns:p="http://schemas.openxmlformats.org/presentationml/2006/main">
  <p:tag name="KSO_WM_DIAGRAM_VIRTUALLY_FRAME" val="{&quot;height&quot;:289.2,&quot;left&quot;:79,&quot;top&quot;:176.3,&quot;width&quot;:484.55}"/>
</p:tagLst>
</file>

<file path=ppt/tags/tag52.xml><?xml version="1.0" encoding="utf-8"?>
<p:tagLst xmlns:p="http://schemas.openxmlformats.org/presentationml/2006/main">
  <p:tag name="KSO_WM_DIAGRAM_VIRTUALLY_FRAME" val="{&quot;height&quot;:289.2,&quot;left&quot;:79,&quot;top&quot;:176.3,&quot;width&quot;:307.05}"/>
</p:tagLst>
</file>

<file path=ppt/tags/tag53.xml><?xml version="1.0" encoding="utf-8"?>
<p:tagLst xmlns:p="http://schemas.openxmlformats.org/presentationml/2006/main">
  <p:tag name="KSO_WM_DIAGRAM_VIRTUALLY_FRAME" val="{&quot;height&quot;:289.2,&quot;left&quot;:79,&quot;top&quot;:176.3,&quot;width&quot;:307.05}"/>
</p:tagLst>
</file>

<file path=ppt/tags/tag54.xml><?xml version="1.0" encoding="utf-8"?>
<p:tagLst xmlns:p="http://schemas.openxmlformats.org/presentationml/2006/main">
  <p:tag name="KSO_WM_DIAGRAM_VIRTUALLY_FRAME" val="{&quot;height&quot;:289.2,&quot;left&quot;:79,&quot;top&quot;:176.3,&quot;width&quot;:307.05}"/>
</p:tagLst>
</file>

<file path=ppt/tags/tag55.xml><?xml version="1.0" encoding="utf-8"?>
<p:tagLst xmlns:p="http://schemas.openxmlformats.org/presentationml/2006/main">
  <p:tag name="KSO_WM_DIAGRAM_VIRTUALLY_FRAME" val="{&quot;height&quot;:289.2,&quot;left&quot;:79,&quot;top&quot;:176.3,&quot;width&quot;:307.05}"/>
</p:tagLst>
</file>

<file path=ppt/tags/tag56.xml><?xml version="1.0" encoding="utf-8"?>
<p:tagLst xmlns:p="http://schemas.openxmlformats.org/presentationml/2006/main">
  <p:tag name="KSO_WM_DIAGRAM_VIRTUALLY_FRAME" val="{&quot;height&quot;:289.2,&quot;left&quot;:79,&quot;top&quot;:176.3,&quot;width&quot;:307.05}"/>
</p:tagLst>
</file>

<file path=ppt/tags/tag57.xml><?xml version="1.0" encoding="utf-8"?>
<p:tagLst xmlns:p="http://schemas.openxmlformats.org/presentationml/2006/main">
  <p:tag name="KSO_WM_DIAGRAM_VIRTUALLY_FRAME" val="{&quot;height&quot;:289.2,&quot;left&quot;:79,&quot;top&quot;:176.3,&quot;width&quot;:307.05}"/>
</p:tagLst>
</file>

<file path=ppt/tags/tag58.xml><?xml version="1.0" encoding="utf-8"?>
<p:tagLst xmlns:p="http://schemas.openxmlformats.org/presentationml/2006/main">
  <p:tag name="KSO_WM_DIAGRAM_VIRTUALLY_FRAME" val="{&quot;height&quot;:289.2,&quot;left&quot;:79,&quot;top&quot;:176.3,&quot;width&quot;:307.05}"/>
</p:tagLst>
</file>

<file path=ppt/tags/tag59.xml><?xml version="1.0" encoding="utf-8"?>
<p:tagLst xmlns:p="http://schemas.openxmlformats.org/presentationml/2006/main">
  <p:tag name="KSO_WM_DIAGRAM_VIRTUALLY_FRAME" val="{&quot;height&quot;:289.2,&quot;left&quot;:79,&quot;top&quot;:176.3,&quot;width&quot;:307.05}"/>
</p:tagLst>
</file>

<file path=ppt/tags/tag60.xml><?xml version="1.0" encoding="utf-8"?>
<p:tagLst xmlns:p="http://schemas.openxmlformats.org/presentationml/2006/main">
  <p:tag name="KSO_WM_DIAGRAM_VIRTUALLY_FRAME" val="{&quot;height&quot;:289.2,&quot;left&quot;:79,&quot;top&quot;:176.3,&quot;width&quot;:307.05}"/>
</p:tagLst>
</file>

<file path=ppt/tags/tag61.xml><?xml version="1.0" encoding="utf-8"?>
<p:tagLst xmlns:p="http://schemas.openxmlformats.org/presentationml/2006/main">
  <p:tag name="KSO_WM_DIAGRAM_VIRTUALLY_FRAME" val="{&quot;height&quot;:289.2,&quot;left&quot;:79,&quot;top&quot;:176.3,&quot;width&quot;:307.05}"/>
</p:tagLst>
</file>

<file path=ppt/tags/tag62.xml><?xml version="1.0" encoding="utf-8"?>
<p:tagLst xmlns:p="http://schemas.openxmlformats.org/presentationml/2006/main">
  <p:tag name="KSO_WM_DIAGRAM_VIRTUALLY_FRAME" val="{&quot;height&quot;:289.2,&quot;left&quot;:79,&quot;top&quot;:176.3,&quot;width&quot;:307.05}"/>
</p:tagLst>
</file>

<file path=ppt/tags/tag63.xml><?xml version="1.0" encoding="utf-8"?>
<p:tagLst xmlns:p="http://schemas.openxmlformats.org/presentationml/2006/main">
  <p:tag name="KSO_WM_DIAGRAM_VIRTUALLY_FRAME" val="{&quot;height&quot;:289.2,&quot;left&quot;:79,&quot;top&quot;:176.3,&quot;width&quot;:307.05}"/>
</p:tagLst>
</file>

<file path=ppt/tags/tag64.xml><?xml version="1.0" encoding="utf-8"?>
<p:tagLst xmlns:p="http://schemas.openxmlformats.org/presentationml/2006/main">
  <p:tag name="KSO_WM_DIAGRAM_VIRTUALLY_FRAME" val="{&quot;height&quot;:289.2,&quot;left&quot;:79,&quot;top&quot;:176.3,&quot;width&quot;:484.55}"/>
</p:tagLst>
</file>

<file path=ppt/tags/tag65.xml><?xml version="1.0" encoding="utf-8"?>
<p:tagLst xmlns:p="http://schemas.openxmlformats.org/presentationml/2006/main">
  <p:tag name="KSO_WM_DIAGRAM_VIRTUALLY_FRAME" val="{&quot;height&quot;:289.2,&quot;left&quot;:79,&quot;top&quot;:176.3,&quot;width&quot;:307.05}"/>
</p:tagLst>
</file>

<file path=ppt/tags/tag66.xml><?xml version="1.0" encoding="utf-8"?>
<p:tagLst xmlns:p="http://schemas.openxmlformats.org/presentationml/2006/main">
  <p:tag name="KSO_WM_DIAGRAM_VIRTUALLY_FRAME" val="{&quot;height&quot;:289.2,&quot;left&quot;:79,&quot;top&quot;:176.3,&quot;width&quot;:307.05}"/>
</p:tagLst>
</file>

<file path=ppt/tags/tag67.xml><?xml version="1.0" encoding="utf-8"?>
<p:tagLst xmlns:p="http://schemas.openxmlformats.org/presentationml/2006/main">
  <p:tag name="KSO_WM_DIAGRAM_VIRTUALLY_FRAME" val="{&quot;height&quot;:289.2,&quot;left&quot;:79,&quot;top&quot;:176.3,&quot;width&quot;:307.05}"/>
</p:tagLst>
</file>

<file path=ppt/tags/tag68.xml><?xml version="1.0" encoding="utf-8"?>
<p:tagLst xmlns:p="http://schemas.openxmlformats.org/presentationml/2006/main">
  <p:tag name="TABLE_ENDDRAG_ORIGIN_RECT" val="621*392"/>
  <p:tag name="TABLE_ENDDRAG_RECT" val="48*109*621*392"/>
</p:tagLst>
</file>

<file path=ppt/tags/tag69.xml><?xml version="1.0" encoding="utf-8"?>
<p:tagLst xmlns:p="http://schemas.openxmlformats.org/presentationml/2006/main">
  <p:tag name="resource_record_key" val="{&quot;13&quot;:[4721696,4721902],&quot;29&quot;:[50053060]}"/>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15406</Words>
  <Application>WPS 演示</Application>
  <PresentationFormat>全屏显示(4:3)</PresentationFormat>
  <Paragraphs>1219</Paragraphs>
  <Slides>40</Slides>
  <Notes>12</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40</vt:i4>
      </vt:variant>
    </vt:vector>
  </HeadingPairs>
  <TitlesOfParts>
    <vt:vector size="60" baseType="lpstr">
      <vt:lpstr>Arial</vt:lpstr>
      <vt:lpstr>宋体</vt:lpstr>
      <vt:lpstr>Wingdings</vt:lpstr>
      <vt:lpstr>黑体</vt:lpstr>
      <vt:lpstr>Calibri</vt:lpstr>
      <vt:lpstr>Microsoft Sans Serif</vt:lpstr>
      <vt:lpstr>Arial</vt:lpstr>
      <vt:lpstr>微软雅黑</vt:lpstr>
      <vt:lpstr>等线</vt:lpstr>
      <vt:lpstr>Times New Roman</vt:lpstr>
      <vt:lpstr>Heiti SC Medium</vt:lpstr>
      <vt:lpstr>Kaiti SC</vt:lpstr>
      <vt:lpstr>Arial Unicode MS</vt:lpstr>
      <vt:lpstr>Kaiti SC</vt:lpstr>
      <vt:lpstr>Wingdings</vt:lpstr>
      <vt:lpstr>Segoe Print</vt:lpstr>
      <vt:lpstr>Inter</vt:lpstr>
      <vt:lpstr>Open Sans</vt:lpstr>
      <vt:lpstr>楷体</vt:lpstr>
      <vt:lpstr>Office 主题</vt:lpstr>
      <vt:lpstr>PowerPoint 演示文稿</vt:lpstr>
      <vt:lpstr>汇报提纲</vt:lpstr>
      <vt:lpstr>项目背景及目标</vt:lpstr>
      <vt:lpstr>项目背景及目标</vt:lpstr>
      <vt:lpstr>项目背景及目标</vt:lpstr>
      <vt:lpstr>汇报提纲</vt:lpstr>
      <vt:lpstr>PowerPoint 演示文稿</vt:lpstr>
      <vt:lpstr>PowerPoint 演示文稿</vt:lpstr>
      <vt:lpstr>PowerPoint 演示文稿</vt:lpstr>
      <vt:lpstr>PowerPoint 演示文稿</vt:lpstr>
      <vt:lpstr>汇报提纲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汇报提纲</vt:lpstr>
      <vt:lpstr>进度安排</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lj</dc:creator>
  <cp:lastModifiedBy>Augenstern</cp:lastModifiedBy>
  <cp:revision>1093</cp:revision>
  <cp:lastPrinted>2019-05-22T07:24:00Z</cp:lastPrinted>
  <dcterms:created xsi:type="dcterms:W3CDTF">2013-09-24T01:41:00Z</dcterms:created>
  <dcterms:modified xsi:type="dcterms:W3CDTF">2025-05-26T09:58:55Z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D6BEB0F4C01C419DA2EDD501F71F6458_13</vt:lpwstr>
  </property>
</Properties>
</file>